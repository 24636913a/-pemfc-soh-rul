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mf" ContentType="image/x-wmf"/>
  <Default Extension="bmp" ContentType="image/bmp"/>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00.svg" ContentType="image/svg+xml"/>
  <Override PartName="/ppt/media/image102.svg" ContentType="image/svg+xml"/>
  <Override PartName="/ppt/media/image104.svg" ContentType="image/svg+xml"/>
  <Override PartName="/ppt/media/image106.svg" ContentType="image/svg+xml"/>
  <Override PartName="/ppt/media/image108.svg" ContentType="image/svg+xml"/>
  <Override PartName="/ppt/media/image113.svg" ContentType="image/svg+xml"/>
  <Override PartName="/ppt/media/image12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90.svg" ContentType="image/svg+xml"/>
  <Override PartName="/ppt/media/image92.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31"/>
  </p:notesMasterIdLst>
  <p:handoutMasterIdLst>
    <p:handoutMasterId r:id="rId48"/>
  </p:handoutMasterIdLst>
  <p:sldIdLst>
    <p:sldId id="302" r:id="rId3"/>
    <p:sldId id="256" r:id="rId4"/>
    <p:sldId id="285" r:id="rId5"/>
    <p:sldId id="259" r:id="rId6"/>
    <p:sldId id="289" r:id="rId7"/>
    <p:sldId id="524" r:id="rId8"/>
    <p:sldId id="525" r:id="rId9"/>
    <p:sldId id="526" r:id="rId10"/>
    <p:sldId id="527" r:id="rId11"/>
    <p:sldId id="271" r:id="rId12"/>
    <p:sldId id="550" r:id="rId13"/>
    <p:sldId id="403" r:id="rId14"/>
    <p:sldId id="646" r:id="rId15"/>
    <p:sldId id="573" r:id="rId16"/>
    <p:sldId id="574" r:id="rId17"/>
    <p:sldId id="619" r:id="rId18"/>
    <p:sldId id="575" r:id="rId19"/>
    <p:sldId id="597" r:id="rId20"/>
    <p:sldId id="576" r:id="rId21"/>
    <p:sldId id="577" r:id="rId22"/>
    <p:sldId id="624" r:id="rId23"/>
    <p:sldId id="645" r:id="rId24"/>
    <p:sldId id="676" r:id="rId25"/>
    <p:sldId id="272" r:id="rId26"/>
    <p:sldId id="697" r:id="rId27"/>
    <p:sldId id="469" r:id="rId28"/>
    <p:sldId id="363" r:id="rId29"/>
    <p:sldId id="450" r:id="rId30"/>
    <p:sldId id="279" r:id="rId32"/>
    <p:sldId id="422" r:id="rId33"/>
    <p:sldId id="423" r:id="rId34"/>
    <p:sldId id="424" r:id="rId35"/>
    <p:sldId id="429" r:id="rId36"/>
    <p:sldId id="425" r:id="rId37"/>
    <p:sldId id="426" r:id="rId38"/>
    <p:sldId id="623" r:id="rId39"/>
    <p:sldId id="427" r:id="rId40"/>
    <p:sldId id="486" r:id="rId41"/>
    <p:sldId id="428" r:id="rId42"/>
    <p:sldId id="275" r:id="rId43"/>
    <p:sldId id="396" r:id="rId44"/>
    <p:sldId id="492" r:id="rId45"/>
    <p:sldId id="448" r:id="rId46"/>
    <p:sldId id="263" r:id="rId47"/>
  </p:sldIdLst>
  <p:sldSz cx="12192000" cy="6858000"/>
  <p:notesSz cx="6858000" cy="9144000"/>
  <p:embeddedFontLst>
    <p:embeddedFont>
      <p:font typeface="微软雅黑" panose="020B0503020204020204" pitchFamily="34" charset="-122"/>
      <p:regular r:id="rId52"/>
    </p:embeddedFont>
    <p:embeddedFont>
      <p:font typeface="Wingdings 3" panose="05040102010807070707" pitchFamily="18" charset="2"/>
      <p:regular r:id="rId53"/>
    </p:embeddedFont>
    <p:embeddedFont>
      <p:font typeface="华文行楷" panose="02010800040101010101" pitchFamily="2" charset="-122"/>
      <p:regular r:id="rId54"/>
    </p:embeddedFont>
    <p:embeddedFont>
      <p:font typeface="楷体" panose="02010609060101010101" pitchFamily="49" charset="-122"/>
      <p:regular r:id="rId55"/>
    </p:embeddedFont>
    <p:embeddedFont>
      <p:font typeface="等线" panose="02010600030101010101" charset="-122"/>
      <p:regular r:id="rId56"/>
    </p:embeddedFont>
    <p:embeddedFont>
      <p:font typeface="Calibri" panose="020F0502020204030204" charset="0"/>
      <p:regular r:id="rId57"/>
      <p:bold r:id="rId58"/>
      <p:italic r:id="rId59"/>
      <p:boldItalic r:id="rId60"/>
    </p:embeddedFont>
    <p:embeddedFont>
      <p:font typeface="等线 Light" panose="02010600030101010101" charset="-122"/>
      <p:regular r:id="rId61"/>
    </p:embeddedFont>
  </p:embeddedFontLst>
  <p:custDataLst>
    <p:tags r:id="rId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开场动画" id="{30A818FA-083C-4099-874D-6A4D745465BC}">
          <p14:sldIdLst>
            <p14:sldId id="302"/>
          </p14:sldIdLst>
        </p14:section>
        <p14:section name="首页" id="{EA064047-5769-4E97-BA8C-0E2080BC3FE0}">
          <p14:sldIdLst>
            <p14:sldId id="256"/>
          </p14:sldIdLst>
        </p14:section>
        <p14:section name="目录页" id="{F2FD038E-7E06-4D2C-95A1-8BCB295A5E25}">
          <p14:sldIdLst>
            <p14:sldId id="285"/>
          </p14:sldIdLst>
        </p14:section>
        <p14:section name="内容页" id="{44BCC6D1-8C4D-4A61-B2CD-F6D19654F4A6}">
          <p14:sldIdLst>
            <p14:sldId id="259"/>
            <p14:sldId id="289"/>
            <p14:sldId id="524"/>
            <p14:sldId id="525"/>
            <p14:sldId id="526"/>
            <p14:sldId id="527"/>
            <p14:sldId id="271"/>
            <p14:sldId id="550"/>
            <p14:sldId id="403"/>
            <p14:sldId id="646"/>
            <p14:sldId id="573"/>
            <p14:sldId id="574"/>
            <p14:sldId id="619"/>
            <p14:sldId id="575"/>
            <p14:sldId id="597"/>
            <p14:sldId id="576"/>
            <p14:sldId id="577"/>
            <p14:sldId id="624"/>
            <p14:sldId id="645"/>
            <p14:sldId id="676"/>
            <p14:sldId id="272"/>
            <p14:sldId id="697"/>
            <p14:sldId id="469"/>
            <p14:sldId id="363"/>
            <p14:sldId id="450"/>
            <p14:sldId id="279"/>
            <p14:sldId id="422"/>
            <p14:sldId id="423"/>
            <p14:sldId id="424"/>
            <p14:sldId id="429"/>
            <p14:sldId id="425"/>
            <p14:sldId id="426"/>
            <p14:sldId id="623"/>
            <p14:sldId id="427"/>
            <p14:sldId id="486"/>
            <p14:sldId id="428"/>
            <p14:sldId id="275"/>
            <p14:sldId id="396"/>
            <p14:sldId id="492"/>
            <p14:sldId id="448"/>
          </p14:sldIdLst>
        </p14:section>
        <p14:section name="结尾页" id="{6F704D34-EA7E-4639-BE89-F9EEDA11EEE8}">
          <p14:sldIdLst>
            <p14:sldId id="263"/>
          </p14:sldIdLst>
        </p14:section>
      </p14:sectionLst>
    </p:ext>
    <p:ext uri="{EFAFB233-063F-42B5-8137-9DF3F51BA10A}">
      <p15:sldGuideLst xmlns:p15="http://schemas.microsoft.com/office/powerpoint/2012/main">
        <p15:guide id="1" pos="208" userDrawn="1">
          <p15:clr>
            <a:srgbClr val="A4A3A4"/>
          </p15:clr>
        </p15:guide>
        <p15:guide id="2" pos="7398" userDrawn="1">
          <p15:clr>
            <a:srgbClr val="A4A3A4"/>
          </p15:clr>
        </p15:guide>
        <p15:guide id="3" orient="horz" pos="1092" userDrawn="1">
          <p15:clr>
            <a:srgbClr val="A4A3A4"/>
          </p15:clr>
        </p15:guide>
        <p15:guide id="4" orient="horz" pos="657" userDrawn="1">
          <p15:clr>
            <a:srgbClr val="A4A3A4"/>
          </p15:clr>
        </p15:guide>
        <p15:guide id="5" orient="horz" pos="4076" userDrawn="1">
          <p15:clr>
            <a:srgbClr val="A4A3A4"/>
          </p15:clr>
        </p15:guide>
        <p15:guide id="6" orient="horz" pos="3403" userDrawn="1">
          <p15:clr>
            <a:srgbClr val="A4A3A4"/>
          </p15:clr>
        </p15:guide>
        <p15:guide id="7" orient="horz" pos="2536" userDrawn="1">
          <p15:clr>
            <a:srgbClr val="A4A3A4"/>
          </p15:clr>
        </p15:guide>
        <p15:guide id="8" orient="horz" pos="2850" userDrawn="1">
          <p15:clr>
            <a:srgbClr val="A4A3A4"/>
          </p15:clr>
        </p15:guide>
        <p15:guide id="9" orient="horz" pos="7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D9F4"/>
    <a:srgbClr val="080EF6"/>
    <a:srgbClr val="FF4545"/>
    <a:srgbClr val="FF6565"/>
    <a:srgbClr val="3947F9"/>
    <a:srgbClr val="414AF9"/>
    <a:srgbClr val="0E56F0"/>
    <a:srgbClr val="FF4F4F"/>
    <a:srgbClr val="0E56F1"/>
    <a:srgbClr val="4780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757" autoAdjust="0"/>
    <p:restoredTop sz="94660"/>
  </p:normalViewPr>
  <p:slideViewPr>
    <p:cSldViewPr snapToGrid="0" showGuides="1">
      <p:cViewPr varScale="1">
        <p:scale>
          <a:sx n="69" d="100"/>
          <a:sy n="69" d="100"/>
        </p:scale>
        <p:origin x="342" y="48"/>
      </p:cViewPr>
      <p:guideLst>
        <p:guide pos="208"/>
        <p:guide pos="7398"/>
        <p:guide orient="horz" pos="1092"/>
        <p:guide orient="horz" pos="657"/>
        <p:guide orient="horz" pos="4076"/>
        <p:guide orient="horz" pos="3403"/>
        <p:guide orient="horz" pos="2536"/>
        <p:guide orient="horz" pos="2850"/>
        <p:guide orient="horz" pos="74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tags" Target="tags/tag278.xml"/><Relationship Id="rId61" Type="http://schemas.openxmlformats.org/officeDocument/2006/relationships/font" Target="fonts/font10.fntdata"/><Relationship Id="rId60" Type="http://schemas.openxmlformats.org/officeDocument/2006/relationships/font" Target="fonts/font9.fntdata"/><Relationship Id="rId6" Type="http://schemas.openxmlformats.org/officeDocument/2006/relationships/slide" Target="slides/slide4.xml"/><Relationship Id="rId59" Type="http://schemas.openxmlformats.org/officeDocument/2006/relationships/font" Target="fonts/font8.fntdata"/><Relationship Id="rId58" Type="http://schemas.openxmlformats.org/officeDocument/2006/relationships/font" Target="fonts/font7.fntdata"/><Relationship Id="rId57" Type="http://schemas.openxmlformats.org/officeDocument/2006/relationships/font" Target="fonts/font6.fntdata"/><Relationship Id="rId56" Type="http://schemas.openxmlformats.org/officeDocument/2006/relationships/font" Target="fonts/font5.fntdata"/><Relationship Id="rId55" Type="http://schemas.openxmlformats.org/officeDocument/2006/relationships/font" Target="fonts/font4.fntdata"/><Relationship Id="rId54" Type="http://schemas.openxmlformats.org/officeDocument/2006/relationships/font" Target="fonts/font3.fntdata"/><Relationship Id="rId53" Type="http://schemas.openxmlformats.org/officeDocument/2006/relationships/font" Target="fonts/font2.fntdata"/><Relationship Id="rId52" Type="http://schemas.openxmlformats.org/officeDocument/2006/relationships/font" Target="fonts/font1.fntdata"/><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handoutMaster" Target="handoutMasters/handoutMaster1.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notesMaster" Target="notesMasters/notesMaster1.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4.wmf"/></Relationships>
</file>

<file path=ppt/drawings/_rels/vmlDrawing3.vml.rels><?xml version="1.0" encoding="UTF-8" standalone="yes"?>
<Relationships xmlns="http://schemas.openxmlformats.org/package/2006/relationships"><Relationship Id="rId6" Type="http://schemas.openxmlformats.org/officeDocument/2006/relationships/image" Target="../media/image147.wmf"/><Relationship Id="rId5" Type="http://schemas.openxmlformats.org/officeDocument/2006/relationships/image" Target="../media/image146.wmf"/><Relationship Id="rId4" Type="http://schemas.openxmlformats.org/officeDocument/2006/relationships/image" Target="../media/image145.wmf"/><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2EA89C-B36C-4E54-9FCA-D96A22B35C4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0085FD-72B7-45ED-A0DD-24A272A90B1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71743F2B-DC0D-40A2-8B22-7E1877618B96}"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5012"/>
            <a:ext cx="12192000" cy="5544076"/>
          </a:xfrm>
          <a:prstGeom prst="rect">
            <a:avLst/>
          </a:prstGeom>
        </p:spPr>
      </p:pic>
      <p:sp>
        <p:nvSpPr>
          <p:cNvPr id="8" name="矩形 7"/>
          <p:cNvSpPr/>
          <p:nvPr userDrawn="1"/>
        </p:nvSpPr>
        <p:spPr>
          <a:xfrm>
            <a:off x="0" y="-25013"/>
            <a:ext cx="12192000" cy="5544075"/>
          </a:xfrm>
          <a:prstGeom prst="rect">
            <a:avLst/>
          </a:prstGeom>
          <a:solidFill>
            <a:schemeClr val="bg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 name="矩形 8"/>
          <p:cNvSpPr/>
          <p:nvPr userDrawn="1"/>
        </p:nvSpPr>
        <p:spPr>
          <a:xfrm>
            <a:off x="0" y="5643862"/>
            <a:ext cx="12192000" cy="1214138"/>
          </a:xfrm>
          <a:prstGeom prst="rect">
            <a:avLst/>
          </a:prstGeom>
          <a:solidFill>
            <a:srgbClr val="177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5" name="矩形 14"/>
          <p:cNvSpPr/>
          <p:nvPr userDrawn="1"/>
        </p:nvSpPr>
        <p:spPr>
          <a:xfrm>
            <a:off x="0" y="5563463"/>
            <a:ext cx="12192000" cy="36000"/>
          </a:xfrm>
          <a:prstGeom prst="rect">
            <a:avLst/>
          </a:prstGeom>
          <a:solidFill>
            <a:srgbClr val="177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userDrawn="1"/>
        </p:nvSpPr>
        <p:spPr>
          <a:xfrm>
            <a:off x="1296269" y="858622"/>
            <a:ext cx="3375348" cy="276999"/>
          </a:xfrm>
          <a:prstGeom prst="rect">
            <a:avLst/>
          </a:prstGeom>
          <a:noFill/>
        </p:spPr>
        <p:txBody>
          <a:bodyPr wrap="none" rtlCol="0">
            <a:spAutoFit/>
          </a:bodyPr>
          <a:lstStyle/>
          <a:p>
            <a:r>
              <a:rPr lang="en-US" altLang="zh-CN" sz="1200" dirty="0">
                <a:solidFill>
                  <a:srgbClr val="1779B2"/>
                </a:solidFill>
                <a:latin typeface="Arial" panose="020B0604020202020204" pitchFamily="34" charset="0"/>
                <a:ea typeface="微软雅黑" panose="020B0503020204020204" pitchFamily="34" charset="-122"/>
                <a:sym typeface="Arial" panose="020B0604020202020204" pitchFamily="34" charset="0"/>
              </a:rPr>
              <a:t>SHENYANG UNIVERSITY OF TECHNOLOGY</a:t>
            </a:r>
            <a:endParaRPr lang="zh-CN" altLang="en-US" sz="1200" dirty="0">
              <a:solidFill>
                <a:srgbClr val="1779B2"/>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文本框 16"/>
          <p:cNvSpPr txBox="1"/>
          <p:nvPr userDrawn="1"/>
        </p:nvSpPr>
        <p:spPr>
          <a:xfrm>
            <a:off x="1290639" y="190648"/>
            <a:ext cx="3375348" cy="738664"/>
          </a:xfrm>
          <a:prstGeom prst="rect">
            <a:avLst/>
          </a:prstGeom>
          <a:noFill/>
        </p:spPr>
        <p:txBody>
          <a:bodyPr wrap="square" rtlCol="0">
            <a:noAutofit/>
          </a:bodyPr>
          <a:lstStyle/>
          <a:p>
            <a:pPr algn="dist"/>
            <a:r>
              <a:rPr lang="zh-CN" altLang="en-US" sz="4000" dirty="0">
                <a:solidFill>
                  <a:srgbClr val="1779B2"/>
                </a:solidFill>
                <a:latin typeface="Arial" panose="020B0604020202020204" pitchFamily="34" charset="0"/>
                <a:ea typeface="微软雅黑" panose="020B0503020204020204" pitchFamily="34" charset="-122"/>
                <a:sym typeface="Arial" panose="020B0604020202020204" pitchFamily="34" charset="0"/>
              </a:rPr>
              <a:t>沈阳工业大学</a:t>
            </a:r>
            <a:endParaRPr lang="zh-CN" altLang="en-US" sz="4000" dirty="0">
              <a:solidFill>
                <a:srgbClr val="1779B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18" name="图片 17"/>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202661" y="201740"/>
            <a:ext cx="995436" cy="995436"/>
          </a:xfrm>
          <a:prstGeom prst="ellipse">
            <a:avLst/>
          </a:prstGeom>
        </p:spPr>
      </p:pic>
      <p:cxnSp>
        <p:nvCxnSpPr>
          <p:cNvPr id="19" name="直接连接符 18"/>
          <p:cNvCxnSpPr/>
          <p:nvPr userDrawn="1"/>
        </p:nvCxnSpPr>
        <p:spPr>
          <a:xfrm>
            <a:off x="1419860" y="858622"/>
            <a:ext cx="3116580" cy="0"/>
          </a:xfrm>
          <a:prstGeom prst="line">
            <a:avLst/>
          </a:prstGeom>
          <a:ln w="9525">
            <a:solidFill>
              <a:srgbClr val="1779B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13" name="图片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96196"/>
            <a:ext cx="12191999" cy="6736466"/>
          </a:xfrm>
          <a:prstGeom prst="rect">
            <a:avLst/>
          </a:prstGeom>
        </p:spPr>
      </p:pic>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71743F2B-DC0D-40A2-8B22-7E1877618B96}" type="slidenum">
              <a:rPr lang="zh-CN" altLang="en-US" smtClean="0"/>
            </a:fld>
            <a:endParaRPr lang="zh-CN" altLang="en-US"/>
          </a:p>
        </p:txBody>
      </p:sp>
      <p:sp>
        <p:nvSpPr>
          <p:cNvPr id="8" name="矩形 7"/>
          <p:cNvSpPr/>
          <p:nvPr userDrawn="1"/>
        </p:nvSpPr>
        <p:spPr>
          <a:xfrm>
            <a:off x="-1" y="0"/>
            <a:ext cx="12192000" cy="5643862"/>
          </a:xfrm>
          <a:prstGeom prst="rect">
            <a:avLst/>
          </a:prstGeom>
          <a:solidFill>
            <a:schemeClr val="bg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 name="矩形 8"/>
          <p:cNvSpPr/>
          <p:nvPr userDrawn="1"/>
        </p:nvSpPr>
        <p:spPr>
          <a:xfrm>
            <a:off x="0" y="5643862"/>
            <a:ext cx="12192000" cy="1214138"/>
          </a:xfrm>
          <a:prstGeom prst="rect">
            <a:avLst/>
          </a:prstGeom>
          <a:solidFill>
            <a:srgbClr val="177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5" name="矩形 14"/>
          <p:cNvSpPr/>
          <p:nvPr userDrawn="1"/>
        </p:nvSpPr>
        <p:spPr>
          <a:xfrm>
            <a:off x="0" y="5563463"/>
            <a:ext cx="12192000" cy="36000"/>
          </a:xfrm>
          <a:prstGeom prst="rect">
            <a:avLst/>
          </a:prstGeom>
          <a:solidFill>
            <a:srgbClr val="177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userDrawn="1"/>
        </p:nvSpPr>
        <p:spPr>
          <a:xfrm>
            <a:off x="1296269" y="858622"/>
            <a:ext cx="3375348" cy="276999"/>
          </a:xfrm>
          <a:prstGeom prst="rect">
            <a:avLst/>
          </a:prstGeom>
          <a:noFill/>
        </p:spPr>
        <p:txBody>
          <a:bodyPr wrap="none" rtlCol="0">
            <a:spAutoFit/>
          </a:bodyPr>
          <a:lstStyle/>
          <a:p>
            <a:r>
              <a:rPr lang="en-US" altLang="zh-CN" sz="1200" dirty="0">
                <a:solidFill>
                  <a:srgbClr val="1779B2"/>
                </a:solidFill>
                <a:latin typeface="Arial" panose="020B0604020202020204" pitchFamily="34" charset="0"/>
                <a:ea typeface="微软雅黑" panose="020B0503020204020204" pitchFamily="34" charset="-122"/>
                <a:sym typeface="Arial" panose="020B0604020202020204" pitchFamily="34" charset="0"/>
              </a:rPr>
              <a:t>SHENYANG UNIVERSITY OF TECHNOLOGY</a:t>
            </a:r>
            <a:endParaRPr lang="zh-CN" altLang="en-US" sz="1200" dirty="0">
              <a:solidFill>
                <a:srgbClr val="1779B2"/>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文本框 16"/>
          <p:cNvSpPr txBox="1"/>
          <p:nvPr userDrawn="1"/>
        </p:nvSpPr>
        <p:spPr>
          <a:xfrm>
            <a:off x="1290639" y="190648"/>
            <a:ext cx="3375348" cy="738664"/>
          </a:xfrm>
          <a:prstGeom prst="rect">
            <a:avLst/>
          </a:prstGeom>
          <a:noFill/>
        </p:spPr>
        <p:txBody>
          <a:bodyPr wrap="square" rtlCol="0">
            <a:noAutofit/>
          </a:bodyPr>
          <a:lstStyle/>
          <a:p>
            <a:pPr algn="dist"/>
            <a:r>
              <a:rPr lang="zh-CN" altLang="en-US" sz="4000" dirty="0">
                <a:solidFill>
                  <a:srgbClr val="1779B2"/>
                </a:solidFill>
                <a:latin typeface="Arial" panose="020B0604020202020204" pitchFamily="34" charset="0"/>
                <a:ea typeface="微软雅黑" panose="020B0503020204020204" pitchFamily="34" charset="-122"/>
                <a:sym typeface="Arial" panose="020B0604020202020204" pitchFamily="34" charset="0"/>
              </a:rPr>
              <a:t>沈阳工业大学</a:t>
            </a:r>
            <a:endParaRPr lang="zh-CN" altLang="en-US" sz="4000" dirty="0">
              <a:solidFill>
                <a:srgbClr val="1779B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18" name="图片 17"/>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202661" y="201740"/>
            <a:ext cx="995436" cy="995436"/>
          </a:xfrm>
          <a:prstGeom prst="ellipse">
            <a:avLst/>
          </a:prstGeom>
        </p:spPr>
      </p:pic>
      <p:cxnSp>
        <p:nvCxnSpPr>
          <p:cNvPr id="19" name="直接连接符 18"/>
          <p:cNvCxnSpPr/>
          <p:nvPr userDrawn="1"/>
        </p:nvCxnSpPr>
        <p:spPr>
          <a:xfrm>
            <a:off x="1419860" y="858622"/>
            <a:ext cx="3116580" cy="0"/>
          </a:xfrm>
          <a:prstGeom prst="line">
            <a:avLst/>
          </a:prstGeom>
          <a:ln w="9525">
            <a:solidFill>
              <a:srgbClr val="1779B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rotWithShape="1">
          <a:blip r:embed="rId2">
            <a:extLst>
              <a:ext uri="{28A0092B-C50C-407E-A947-70E740481C1C}">
                <a14:useLocalDpi xmlns:a14="http://schemas.microsoft.com/office/drawing/2010/main" val="0"/>
              </a:ext>
            </a:extLst>
          </a:blip>
          <a:srcRect r="2979" b="9420"/>
          <a:stretch>
            <a:fillRect/>
          </a:stretch>
        </p:blipFill>
        <p:spPr>
          <a:xfrm>
            <a:off x="0" y="0"/>
            <a:ext cx="12195939" cy="6858000"/>
          </a:xfrm>
          <a:prstGeom prst="rect">
            <a:avLst/>
          </a:prstGeom>
        </p:spPr>
      </p:pic>
      <p:sp>
        <p:nvSpPr>
          <p:cNvPr id="11" name="任意多边形: 形状 10"/>
          <p:cNvSpPr/>
          <p:nvPr userDrawn="1"/>
        </p:nvSpPr>
        <p:spPr>
          <a:xfrm>
            <a:off x="1909822" y="2246935"/>
            <a:ext cx="2592730" cy="2592730"/>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p:cNvSpPr/>
          <p:nvPr userDrawn="1"/>
        </p:nvSpPr>
        <p:spPr>
          <a:xfrm>
            <a:off x="0" y="1959014"/>
            <a:ext cx="12192000" cy="3191883"/>
          </a:xfrm>
          <a:custGeom>
            <a:avLst/>
            <a:gdLst>
              <a:gd name="connsiteX0" fmla="*/ 0 w 12192000"/>
              <a:gd name="connsiteY0" fmla="*/ 0 h 3191718"/>
              <a:gd name="connsiteX1" fmla="*/ 12192000 w 12192000"/>
              <a:gd name="connsiteY1" fmla="*/ 0 h 3191718"/>
              <a:gd name="connsiteX2" fmla="*/ 12192000 w 12192000"/>
              <a:gd name="connsiteY2" fmla="*/ 3191718 h 3191718"/>
              <a:gd name="connsiteX3" fmla="*/ 0 w 12192000"/>
              <a:gd name="connsiteY3" fmla="*/ 3191718 h 3191718"/>
              <a:gd name="connsiteX4" fmla="*/ 0 w 12192000"/>
              <a:gd name="connsiteY4" fmla="*/ 0 h 3191718"/>
              <a:gd name="connsiteX5" fmla="*/ 3206187 w 12192000"/>
              <a:gd name="connsiteY5" fmla="*/ 125875 h 3191718"/>
              <a:gd name="connsiteX6" fmla="*/ 1736203 w 12192000"/>
              <a:gd name="connsiteY6" fmla="*/ 1595859 h 3191718"/>
              <a:gd name="connsiteX7" fmla="*/ 3206187 w 12192000"/>
              <a:gd name="connsiteY7" fmla="*/ 3065843 h 3191718"/>
              <a:gd name="connsiteX8" fmla="*/ 4676171 w 12192000"/>
              <a:gd name="connsiteY8" fmla="*/ 1595859 h 3191718"/>
              <a:gd name="connsiteX9" fmla="*/ 3206187 w 12192000"/>
              <a:gd name="connsiteY9" fmla="*/ 125875 h 319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191718">
                <a:moveTo>
                  <a:pt x="0" y="0"/>
                </a:moveTo>
                <a:lnTo>
                  <a:pt x="12192000" y="0"/>
                </a:lnTo>
                <a:lnTo>
                  <a:pt x="12192000" y="3191718"/>
                </a:lnTo>
                <a:lnTo>
                  <a:pt x="0" y="3191718"/>
                </a:lnTo>
                <a:lnTo>
                  <a:pt x="0" y="0"/>
                </a:lnTo>
                <a:close/>
                <a:moveTo>
                  <a:pt x="3206187" y="125875"/>
                </a:moveTo>
                <a:cubicBezTo>
                  <a:pt x="2394337" y="125875"/>
                  <a:pt x="1736203" y="784009"/>
                  <a:pt x="1736203" y="1595859"/>
                </a:cubicBezTo>
                <a:cubicBezTo>
                  <a:pt x="1736203" y="2407709"/>
                  <a:pt x="2394337" y="3065843"/>
                  <a:pt x="3206187" y="3065843"/>
                </a:cubicBezTo>
                <a:cubicBezTo>
                  <a:pt x="4018037" y="3065843"/>
                  <a:pt x="4676171" y="2407709"/>
                  <a:pt x="4676171" y="1595859"/>
                </a:cubicBezTo>
                <a:cubicBezTo>
                  <a:pt x="4676171" y="784009"/>
                  <a:pt x="4018037" y="125875"/>
                  <a:pt x="3206187" y="125875"/>
                </a:cubicBezTo>
                <a:close/>
              </a:path>
            </a:pathLst>
          </a:cu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5" name="矩形 14"/>
          <p:cNvSpPr/>
          <p:nvPr userDrawn="1"/>
        </p:nvSpPr>
        <p:spPr>
          <a:xfrm>
            <a:off x="0" y="0"/>
            <a:ext cx="12192000" cy="197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6" name="矩形 15"/>
          <p:cNvSpPr/>
          <p:nvPr userDrawn="1"/>
        </p:nvSpPr>
        <p:spPr>
          <a:xfrm>
            <a:off x="0" y="5151064"/>
            <a:ext cx="12192000" cy="17069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7" name="文本框 16"/>
          <p:cNvSpPr txBox="1"/>
          <p:nvPr userDrawn="1"/>
        </p:nvSpPr>
        <p:spPr>
          <a:xfrm>
            <a:off x="7856710" y="6285733"/>
            <a:ext cx="3907801" cy="307777"/>
          </a:xfrm>
          <a:prstGeom prst="rect">
            <a:avLst/>
          </a:prstGeom>
          <a:noFill/>
        </p:spPr>
        <p:txBody>
          <a:bodyPr wrap="none" rtlCol="0">
            <a:spAutoFit/>
          </a:bodyPr>
          <a:lstStyle/>
          <a:p>
            <a:r>
              <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rPr>
              <a:t>SHENYANG UNIVERSITY OF TECHNOLOGY</a:t>
            </a:r>
            <a:endPar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文本框 17"/>
          <p:cNvSpPr txBox="1"/>
          <p:nvPr userDrawn="1"/>
        </p:nvSpPr>
        <p:spPr>
          <a:xfrm>
            <a:off x="7851080" y="5617759"/>
            <a:ext cx="3888000" cy="738664"/>
          </a:xfrm>
          <a:prstGeom prst="rect">
            <a:avLst/>
          </a:prstGeom>
          <a:noFill/>
        </p:spPr>
        <p:txBody>
          <a:bodyPr wrap="square" rtlCol="0">
            <a:noAutofit/>
          </a:bodyPr>
          <a:lstStyle/>
          <a:p>
            <a:pPr algn="dist"/>
            <a:r>
              <a:rPr lang="zh-CN" altLang="en-US" sz="4200" dirty="0">
                <a:solidFill>
                  <a:schemeClr val="bg1"/>
                </a:solidFill>
                <a:latin typeface="Arial" panose="020B0604020202020204" pitchFamily="34" charset="0"/>
                <a:ea typeface="微软雅黑" panose="020B0503020204020204" pitchFamily="34" charset="-122"/>
                <a:sym typeface="Arial" panose="020B0604020202020204" pitchFamily="34" charset="0"/>
              </a:rPr>
              <a:t>沈阳工业大学</a:t>
            </a:r>
            <a:endParaRPr lang="zh-CN" altLang="en-US" sz="42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pic>
        <p:nvPicPr>
          <p:cNvPr id="19" name="图片 18"/>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6763102" y="5628851"/>
            <a:ext cx="995436" cy="995436"/>
          </a:xfrm>
          <a:prstGeom prst="ellipse">
            <a:avLst/>
          </a:prstGeom>
        </p:spPr>
      </p:pic>
      <p:sp>
        <p:nvSpPr>
          <p:cNvPr id="21" name="矩形 20"/>
          <p:cNvSpPr/>
          <p:nvPr userDrawn="1"/>
        </p:nvSpPr>
        <p:spPr>
          <a:xfrm>
            <a:off x="4705943" y="3224014"/>
            <a:ext cx="745717" cy="830997"/>
          </a:xfrm>
          <a:prstGeom prst="rect">
            <a:avLst/>
          </a:prstGeom>
        </p:spPr>
        <p:txBody>
          <a:bodyPr wrap="none">
            <a:spAutoFit/>
          </a:bodyPr>
          <a:lstStyle/>
          <a:p>
            <a:r>
              <a:rPr lang="zh-CN" altLang="en-US" sz="4800" spc="100" dirty="0">
                <a:solidFill>
                  <a:srgbClr val="ED7D31"/>
                </a:solidFill>
                <a:effectLst>
                  <a:outerShdw blurRad="38100" dist="38100" dir="2700000" algn="tl">
                    <a:srgbClr val="000000">
                      <a:alpha val="43137"/>
                    </a:srgbClr>
                  </a:outerShdw>
                </a:effectLst>
                <a:latin typeface="方正大标宋简体" panose="02010600030101010101" pitchFamily="2" charset="-122"/>
                <a:ea typeface="方正大标宋简体" panose="02010600030101010101" pitchFamily="2" charset="-122"/>
                <a:sym typeface="Wingdings 3" panose="05040102010807070707" pitchFamily="18" charset="2"/>
              </a:rPr>
              <a:t></a:t>
            </a:r>
            <a:endParaRPr lang="zh-CN" altLang="en-US" sz="4800" dirty="0">
              <a:solidFill>
                <a:srgbClr val="ED7D31"/>
              </a:solidFill>
              <a:effectLst>
                <a:outerShdw blurRad="38100" dist="38100" dir="2700000" algn="tl">
                  <a:srgbClr val="000000">
                    <a:alpha val="43137"/>
                  </a:srgbClr>
                </a:outerShdw>
              </a:effectLs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71743F2B-DC0D-40A2-8B22-7E1877618B96}" type="slidenum">
              <a:rPr lang="zh-CN" altLang="en-US" smtClean="0"/>
            </a:fld>
            <a:endParaRPr lang="zh-CN" altLang="en-US"/>
          </a:p>
        </p:txBody>
      </p:sp>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r="3931" b="29777"/>
          <a:stretch>
            <a:fillRect/>
          </a:stretch>
        </p:blipFill>
        <p:spPr>
          <a:xfrm>
            <a:off x="-12138" y="0"/>
            <a:ext cx="12216278" cy="3661841"/>
          </a:xfrm>
          <a:prstGeom prst="rect">
            <a:avLst/>
          </a:prstGeom>
        </p:spPr>
      </p:pic>
      <p:sp>
        <p:nvSpPr>
          <p:cNvPr id="7" name="矩形 6"/>
          <p:cNvSpPr/>
          <p:nvPr userDrawn="1"/>
        </p:nvSpPr>
        <p:spPr>
          <a:xfrm>
            <a:off x="4323709" y="0"/>
            <a:ext cx="3544583" cy="366184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 name="文本框 7"/>
          <p:cNvSpPr txBox="1"/>
          <p:nvPr userDrawn="1"/>
        </p:nvSpPr>
        <p:spPr>
          <a:xfrm>
            <a:off x="5215791" y="1489821"/>
            <a:ext cx="1760418" cy="923330"/>
          </a:xfrm>
          <a:prstGeom prst="rect">
            <a:avLst/>
          </a:prstGeom>
          <a:noFill/>
        </p:spPr>
        <p:txBody>
          <a:bodyPr wrap="none" rtlCol="0">
            <a:spAutoFit/>
          </a:bodyPr>
          <a:lstStyle/>
          <a:p>
            <a:r>
              <a:rPr lang="zh-CN" altLang="en-US" sz="5400" b="1" dirty="0">
                <a:solidFill>
                  <a:srgbClr val="1779B2"/>
                </a:solidFill>
                <a:latin typeface="Arial" panose="020B0604020202020204" pitchFamily="34" charset="0"/>
                <a:ea typeface="微软雅黑" panose="020B0503020204020204" pitchFamily="34" charset="-122"/>
                <a:sym typeface="Arial" panose="020B0604020202020204" pitchFamily="34" charset="0"/>
              </a:rPr>
              <a:t>目 录</a:t>
            </a:r>
            <a:endParaRPr lang="zh-CN" altLang="en-US" sz="5400" b="1" dirty="0">
              <a:solidFill>
                <a:srgbClr val="1779B2"/>
              </a:solidFill>
              <a:latin typeface="Arial" panose="020B0604020202020204" pitchFamily="34" charset="0"/>
              <a:ea typeface="微软雅黑" panose="020B0503020204020204" pitchFamily="34" charset="-122"/>
              <a:sym typeface="Arial" panose="020B0604020202020204" pitchFamily="34" charset="0"/>
            </a:endParaRPr>
          </a:p>
        </p:txBody>
      </p:sp>
      <p:sp>
        <p:nvSpPr>
          <p:cNvPr id="9" name="文本框 8"/>
          <p:cNvSpPr txBox="1"/>
          <p:nvPr userDrawn="1"/>
        </p:nvSpPr>
        <p:spPr>
          <a:xfrm>
            <a:off x="4310896" y="2413152"/>
            <a:ext cx="3570208" cy="830997"/>
          </a:xfrm>
          <a:prstGeom prst="rect">
            <a:avLst/>
          </a:prstGeom>
          <a:noFill/>
        </p:spPr>
        <p:txBody>
          <a:bodyPr wrap="none" rtlCol="0">
            <a:spAutoFit/>
          </a:bodyPr>
          <a:lstStyle/>
          <a:p>
            <a:r>
              <a:rPr lang="en-US" altLang="zh-CN" sz="4800" dirty="0">
                <a:solidFill>
                  <a:srgbClr val="1779B2"/>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4800" dirty="0">
              <a:solidFill>
                <a:srgbClr val="1779B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10" name="图片 9"/>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5570220" y="445678"/>
            <a:ext cx="1051560" cy="1051560"/>
          </a:xfrm>
          <a:prstGeom prst="ellipse">
            <a:avLst/>
          </a:prstGeom>
        </p:spPr>
      </p:pic>
      <p:sp>
        <p:nvSpPr>
          <p:cNvPr id="11" name="矩形 10"/>
          <p:cNvSpPr/>
          <p:nvPr userDrawn="1"/>
        </p:nvSpPr>
        <p:spPr>
          <a:xfrm>
            <a:off x="-12140" y="3362409"/>
            <a:ext cx="12216280" cy="299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userDrawn="1"/>
        </p:nvSpPr>
        <p:spPr>
          <a:xfrm>
            <a:off x="-12140" y="-39128"/>
            <a:ext cx="12216280" cy="299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0" name="文本框 19"/>
          <p:cNvSpPr txBox="1"/>
          <p:nvPr userDrawn="1"/>
        </p:nvSpPr>
        <p:spPr>
          <a:xfrm>
            <a:off x="10979514" y="6472841"/>
            <a:ext cx="1055986" cy="400110"/>
          </a:xfrm>
          <a:prstGeom prst="rect">
            <a:avLst/>
          </a:prstGeom>
          <a:noFill/>
        </p:spPr>
        <p:txBody>
          <a:bodyPr wrap="square" rtlCol="0">
            <a:spAutoFit/>
          </a:bodyPr>
          <a:lstStyle/>
          <a:p>
            <a:pPr algn="dist"/>
            <a:r>
              <a:rPr lang="zh-CN" altLang="en-US" sz="2000" dirty="0">
                <a:solidFill>
                  <a:srgbClr val="1779B2"/>
                </a:solidFill>
                <a:latin typeface="华文行楷" panose="02010800040101010101" pitchFamily="2" charset="-122"/>
                <a:ea typeface="华文行楷" panose="02010800040101010101" pitchFamily="2" charset="-122"/>
              </a:rPr>
              <a:t>第</a:t>
            </a:r>
            <a:r>
              <a:rPr lang="en-US" altLang="zh-CN" sz="2000" dirty="0">
                <a:solidFill>
                  <a:srgbClr val="1779B2"/>
                </a:solidFill>
                <a:latin typeface="华文行楷" panose="02010800040101010101" pitchFamily="2" charset="-122"/>
                <a:ea typeface="华文行楷" panose="02010800040101010101" pitchFamily="2" charset="-122"/>
              </a:rPr>
              <a:t> </a:t>
            </a:r>
            <a:r>
              <a:rPr lang="en-US" altLang="zh-CN" sz="2000" dirty="0">
                <a:solidFill>
                  <a:srgbClr val="4472C4"/>
                </a:solidFill>
                <a:latin typeface="华文行楷" panose="02010800040101010101" pitchFamily="2" charset="-122"/>
                <a:ea typeface="华文行楷" panose="02010800040101010101" pitchFamily="2" charset="-122"/>
              </a:rPr>
              <a:t> </a:t>
            </a:r>
            <a:r>
              <a:rPr lang="zh-CN" altLang="en-US" sz="2000" dirty="0">
                <a:solidFill>
                  <a:srgbClr val="1779B2"/>
                </a:solidFill>
                <a:latin typeface="华文行楷" panose="02010800040101010101" pitchFamily="2" charset="-122"/>
                <a:ea typeface="华文行楷" panose="02010800040101010101" pitchFamily="2" charset="-122"/>
              </a:rPr>
              <a:t>页</a:t>
            </a:r>
            <a:endParaRPr lang="zh-CN" altLang="en-US" sz="2000" dirty="0">
              <a:solidFill>
                <a:srgbClr val="1779B2"/>
              </a:solidFill>
              <a:latin typeface="华文行楷" panose="02010800040101010101" pitchFamily="2" charset="-122"/>
              <a:ea typeface="华文行楷" panose="02010800040101010101" pitchFamily="2" charset="-122"/>
            </a:endParaRPr>
          </a:p>
        </p:txBody>
      </p:sp>
      <p:sp>
        <p:nvSpPr>
          <p:cNvPr id="5" name="矩形 4"/>
          <p:cNvSpPr/>
          <p:nvPr userDrawn="1"/>
        </p:nvSpPr>
        <p:spPr>
          <a:xfrm>
            <a:off x="0" y="231494"/>
            <a:ext cx="304800"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1421382" y="231494"/>
            <a:ext cx="8049190"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554195" y="229150"/>
            <a:ext cx="2233926" cy="555583"/>
          </a:xfrm>
          <a:prstGeom prst="rect">
            <a:avLst/>
          </a:prstGeom>
        </p:spPr>
      </p:pic>
      <p:pic>
        <p:nvPicPr>
          <p:cNvPr id="8" name="图片 7"/>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441789" y="230688"/>
            <a:ext cx="604520" cy="604520"/>
          </a:xfrm>
          <a:prstGeom prst="ellipse">
            <a:avLst/>
          </a:prstGeom>
        </p:spPr>
      </p:pic>
      <p:sp>
        <p:nvSpPr>
          <p:cNvPr id="9" name="矩形 8"/>
          <p:cNvSpPr/>
          <p:nvPr userDrawn="1"/>
        </p:nvSpPr>
        <p:spPr>
          <a:xfrm>
            <a:off x="11871745" y="231494"/>
            <a:ext cx="320255"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1183298" y="231494"/>
            <a:ext cx="238083"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内容占位符 12"/>
          <p:cNvSpPr>
            <a:spLocks noGrp="1"/>
          </p:cNvSpPr>
          <p:nvPr>
            <p:ph sz="quarter" idx="13" hasCustomPrompt="1"/>
          </p:nvPr>
        </p:nvSpPr>
        <p:spPr>
          <a:xfrm>
            <a:off x="1231068" y="296983"/>
            <a:ext cx="7206546" cy="471930"/>
          </a:xfrm>
          <a:prstGeom prst="rect">
            <a:avLst/>
          </a:prstGeom>
        </p:spPr>
        <p:txBody>
          <a:bodyPr/>
          <a:lstStyle>
            <a:lvl1pPr marL="0" indent="0">
              <a:buNone/>
              <a:defRPr b="1" spc="300">
                <a:solidFill>
                  <a:schemeClr val="bg1"/>
                </a:solidFill>
                <a:latin typeface="微软雅黑" panose="020B0503020204020204" pitchFamily="34" charset="-122"/>
                <a:ea typeface="微软雅黑" panose="020B0503020204020204" pitchFamily="34" charset="-122"/>
              </a:defRPr>
            </a:lvl1pPr>
          </a:lstStyle>
          <a:p>
            <a:pPr lvl="0"/>
            <a:r>
              <a:rPr lang="zh-CN" altLang="en-US" dirty="0"/>
              <a:t>单击此处添加标题</a:t>
            </a:r>
            <a:endParaRPr lang="zh-CN" altLang="en-US" dirty="0"/>
          </a:p>
        </p:txBody>
      </p:sp>
      <p:sp>
        <p:nvSpPr>
          <p:cNvPr id="12" name="文本框 11"/>
          <p:cNvSpPr txBox="1"/>
          <p:nvPr userDrawn="1"/>
        </p:nvSpPr>
        <p:spPr>
          <a:xfrm>
            <a:off x="185893" y="6428140"/>
            <a:ext cx="1467068" cy="400110"/>
          </a:xfrm>
          <a:prstGeom prst="rect">
            <a:avLst/>
          </a:prstGeom>
          <a:noFill/>
        </p:spPr>
        <p:txBody>
          <a:bodyPr wrap="none" rtlCol="0">
            <a:spAutoFit/>
          </a:bodyPr>
          <a:lstStyle/>
          <a:p>
            <a:r>
              <a:rPr lang="zh-CN" altLang="en-US" sz="2000" dirty="0">
                <a:solidFill>
                  <a:srgbClr val="1779B2"/>
                </a:solidFill>
                <a:latin typeface="华文行楷" panose="02010800040101010101" pitchFamily="2" charset="-122"/>
                <a:ea typeface="华文行楷" panose="02010800040101010101" pitchFamily="2" charset="-122"/>
              </a:rPr>
              <a:t>自强</a:t>
            </a:r>
            <a:r>
              <a:rPr lang="en-US" altLang="zh-CN" sz="2000" dirty="0">
                <a:solidFill>
                  <a:srgbClr val="1779B2"/>
                </a:solidFill>
                <a:latin typeface="华文行楷" panose="02010800040101010101" pitchFamily="2" charset="-122"/>
                <a:ea typeface="华文行楷" panose="02010800040101010101" pitchFamily="2" charset="-122"/>
              </a:rPr>
              <a:t>·</a:t>
            </a:r>
            <a:r>
              <a:rPr lang="zh-CN" altLang="en-US" sz="2000" dirty="0">
                <a:solidFill>
                  <a:srgbClr val="1779B2"/>
                </a:solidFill>
                <a:latin typeface="华文行楷" panose="02010800040101010101" pitchFamily="2" charset="-122"/>
                <a:ea typeface="华文行楷" panose="02010800040101010101" pitchFamily="2" charset="-122"/>
              </a:rPr>
              <a:t>笃行</a:t>
            </a:r>
            <a:endParaRPr lang="zh-CN" altLang="en-US" sz="2000" dirty="0">
              <a:solidFill>
                <a:srgbClr val="1779B2"/>
              </a:solidFill>
              <a:latin typeface="华文行楷" panose="02010800040101010101" pitchFamily="2" charset="-122"/>
              <a:ea typeface="华文行楷" panose="02010800040101010101" pitchFamily="2" charset="-122"/>
            </a:endParaRPr>
          </a:p>
        </p:txBody>
      </p:sp>
      <p:sp>
        <p:nvSpPr>
          <p:cNvPr id="17" name="页脚占位符 16"/>
          <p:cNvSpPr>
            <a:spLocks noGrp="1"/>
          </p:cNvSpPr>
          <p:nvPr>
            <p:ph type="ftr" sz="quarter" idx="15"/>
          </p:nvPr>
        </p:nvSpPr>
        <p:spPr>
          <a:xfrm>
            <a:off x="4038600" y="6402740"/>
            <a:ext cx="4114800" cy="365125"/>
          </a:xfrm>
          <a:prstGeom prst="rect">
            <a:avLst/>
          </a:prstGeom>
        </p:spPr>
        <p:txBody>
          <a:bodyPr/>
          <a:lstStyle/>
          <a:p>
            <a:endParaRPr lang="zh-CN" altLang="en-US"/>
          </a:p>
        </p:txBody>
      </p:sp>
      <p:sp>
        <p:nvSpPr>
          <p:cNvPr id="19" name="灯片编号占位符 6"/>
          <p:cNvSpPr>
            <a:spLocks noGrp="1"/>
          </p:cNvSpPr>
          <p:nvPr>
            <p:ph type="sldNum" sz="quarter" idx="12"/>
          </p:nvPr>
        </p:nvSpPr>
        <p:spPr>
          <a:xfrm>
            <a:off x="11271286" y="6479425"/>
            <a:ext cx="472440" cy="365125"/>
          </a:xfrm>
          <a:prstGeom prst="rect">
            <a:avLst/>
          </a:prstGeom>
        </p:spPr>
        <p:txBody>
          <a:bodyPr/>
          <a:lstStyle>
            <a:lvl1pPr algn="ctr">
              <a:defRPr sz="1800" b="1">
                <a:solidFill>
                  <a:schemeClr val="accent5">
                    <a:lumMod val="50000"/>
                  </a:schemeClr>
                </a:solidFill>
                <a:latin typeface="Arial" panose="020B0604020202020204" pitchFamily="34" charset="0"/>
                <a:cs typeface="Arial" panose="020B0604020202020204" pitchFamily="34" charset="0"/>
              </a:defRPr>
            </a:lvl1pPr>
          </a:lstStyle>
          <a:p>
            <a:fld id="{71743F2B-DC0D-40A2-8B22-7E1877618B96}"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矩形 6"/>
          <p:cNvSpPr/>
          <p:nvPr userDrawn="1"/>
        </p:nvSpPr>
        <p:spPr>
          <a:xfrm>
            <a:off x="1112520" y="-2"/>
            <a:ext cx="4042381" cy="6858002"/>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userDrawn="1"/>
        </p:nvSpPr>
        <p:spPr>
          <a:xfrm>
            <a:off x="334963" y="3900668"/>
            <a:ext cx="483898" cy="2957331"/>
          </a:xfrm>
          <a:prstGeom prst="rect">
            <a:avLst/>
          </a:prstGeom>
          <a:gradFill flip="none" rotWithShape="1">
            <a:gsLst>
              <a:gs pos="0">
                <a:srgbClr val="4472C4"/>
              </a:gs>
              <a:gs pos="60000">
                <a:srgbClr val="4472C4">
                  <a:alpha val="50000"/>
                </a:srgbClr>
              </a:gs>
              <a:gs pos="100000">
                <a:schemeClr val="accent1">
                  <a:lumMod val="30000"/>
                  <a:lumOff val="70000"/>
                  <a:alpha val="1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 name="矩形 8"/>
          <p:cNvSpPr/>
          <p:nvPr userDrawn="1"/>
        </p:nvSpPr>
        <p:spPr>
          <a:xfrm>
            <a:off x="1112520" y="0"/>
            <a:ext cx="4042381" cy="6858000"/>
          </a:xfrm>
          <a:prstGeom prst="rect">
            <a:avLst/>
          </a:prstGeom>
          <a:gradFill flip="none" rotWithShape="1">
            <a:gsLst>
              <a:gs pos="17000">
                <a:srgbClr val="4472C4"/>
              </a:gs>
              <a:gs pos="60000">
                <a:srgbClr val="4472C4">
                  <a:alpha val="60000"/>
                </a:srgbClr>
              </a:gs>
              <a:gs pos="100000">
                <a:schemeClr val="accent1">
                  <a:lumMod val="30000"/>
                  <a:lumOff val="70000"/>
                  <a:alpha val="1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userDrawn="1"/>
        </p:nvSpPr>
        <p:spPr>
          <a:xfrm>
            <a:off x="1706697" y="1666328"/>
            <a:ext cx="2916183" cy="923330"/>
          </a:xfrm>
          <a:prstGeom prst="rect">
            <a:avLst/>
          </a:prstGeom>
          <a:noFill/>
        </p:spPr>
        <p:txBody>
          <a:bodyPr wrap="none" rtlCol="0">
            <a:spAutoFit/>
          </a:bodyPr>
          <a:lstStyle/>
          <a:p>
            <a:r>
              <a:rPr lang="zh-CN" altLang="en-US" sz="54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       录</a:t>
            </a:r>
            <a:endParaRPr lang="zh-CN" altLang="en-US" sz="5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文本框 10"/>
          <p:cNvSpPr txBox="1"/>
          <p:nvPr userDrawn="1"/>
        </p:nvSpPr>
        <p:spPr>
          <a:xfrm>
            <a:off x="1520748" y="2661189"/>
            <a:ext cx="3288080" cy="769441"/>
          </a:xfrm>
          <a:prstGeom prst="rect">
            <a:avLst/>
          </a:prstGeom>
          <a:noFill/>
        </p:spPr>
        <p:txBody>
          <a:bodyPr wrap="none" rtlCol="0">
            <a:spAutoFit/>
          </a:bodyPr>
          <a:lstStyle/>
          <a:p>
            <a:r>
              <a:rPr lang="en-US" altLang="zh-CN" sz="44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4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pic>
        <p:nvPicPr>
          <p:cNvPr id="12" name="图片 11"/>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2707732" y="1666328"/>
            <a:ext cx="914112" cy="914112"/>
          </a:xfrm>
          <a:prstGeom prst="ellipse">
            <a:avLst/>
          </a:prstGeom>
        </p:spPr>
      </p:pic>
      <p:sp>
        <p:nvSpPr>
          <p:cNvPr id="13" name="矩形 12"/>
          <p:cNvSpPr/>
          <p:nvPr userDrawn="1"/>
        </p:nvSpPr>
        <p:spPr>
          <a:xfrm>
            <a:off x="334963" y="2"/>
            <a:ext cx="483898" cy="3900666"/>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 name="文本框 13"/>
          <p:cNvSpPr txBox="1"/>
          <p:nvPr userDrawn="1"/>
        </p:nvSpPr>
        <p:spPr>
          <a:xfrm>
            <a:off x="322989" y="1666328"/>
            <a:ext cx="492443" cy="1855636"/>
          </a:xfrm>
          <a:prstGeom prst="rect">
            <a:avLst/>
          </a:prstGeom>
          <a:noFill/>
        </p:spPr>
        <p:txBody>
          <a:bodyPr vert="eaVert" wrap="none" rtlCol="0">
            <a:spAutoFit/>
          </a:bodyPr>
          <a:lstStyle/>
          <a:p>
            <a:r>
              <a:rPr lang="zh-CN" altLang="en-US" sz="2000" spc="600" dirty="0">
                <a:solidFill>
                  <a:schemeClr val="bg1"/>
                </a:solidFill>
                <a:latin typeface="华文行楷" panose="02010800040101010101" pitchFamily="2" charset="-122"/>
                <a:ea typeface="华文行楷" panose="02010800040101010101" pitchFamily="2" charset="-122"/>
              </a:rPr>
              <a:t>自强</a:t>
            </a:r>
            <a:r>
              <a:rPr lang="en-US" altLang="zh-CN" sz="2000" spc="600" dirty="0">
                <a:solidFill>
                  <a:schemeClr val="bg1"/>
                </a:solidFill>
                <a:latin typeface="华文行楷" panose="02010800040101010101" pitchFamily="2" charset="-122"/>
                <a:ea typeface="华文行楷" panose="02010800040101010101" pitchFamily="2" charset="-122"/>
              </a:rPr>
              <a:t>·</a:t>
            </a:r>
            <a:r>
              <a:rPr lang="zh-CN" altLang="en-US" sz="2000" spc="600" dirty="0">
                <a:solidFill>
                  <a:schemeClr val="bg1"/>
                </a:solidFill>
                <a:latin typeface="华文行楷" panose="02010800040101010101" pitchFamily="2" charset="-122"/>
                <a:ea typeface="华文行楷" panose="02010800040101010101" pitchFamily="2" charset="-122"/>
              </a:rPr>
              <a:t>笃行</a:t>
            </a:r>
            <a:endParaRPr lang="zh-CN" altLang="en-US" sz="2000" spc="600" dirty="0">
              <a:solidFill>
                <a:schemeClr val="bg1"/>
              </a:solidFill>
              <a:latin typeface="华文行楷" panose="02010800040101010101" pitchFamily="2" charset="-122"/>
              <a:ea typeface="华文行楷" panose="02010800040101010101" pitchFamily="2" charset="-122"/>
            </a:endParaRPr>
          </a:p>
        </p:txBody>
      </p:sp>
      <p:cxnSp>
        <p:nvCxnSpPr>
          <p:cNvPr id="15" name="直接连接符 14"/>
          <p:cNvCxnSpPr>
            <a:stCxn id="13" idx="0"/>
          </p:cNvCxnSpPr>
          <p:nvPr userDrawn="1"/>
        </p:nvCxnSpPr>
        <p:spPr>
          <a:xfrm>
            <a:off x="576912" y="2"/>
            <a:ext cx="0" cy="150555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endCxn id="8" idx="2"/>
          </p:cNvCxnSpPr>
          <p:nvPr userDrawn="1"/>
        </p:nvCxnSpPr>
        <p:spPr>
          <a:xfrm>
            <a:off x="576912" y="3514202"/>
            <a:ext cx="0" cy="334379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71743F2B-DC0D-40A2-8B22-7E1877618B9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71743F2B-DC0D-40A2-8B22-7E1877618B9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文本框 7"/>
          <p:cNvSpPr txBox="1"/>
          <p:nvPr userDrawn="1"/>
        </p:nvSpPr>
        <p:spPr>
          <a:xfrm>
            <a:off x="11002664" y="6381750"/>
            <a:ext cx="1055986" cy="461665"/>
          </a:xfrm>
          <a:prstGeom prst="rect">
            <a:avLst/>
          </a:prstGeom>
          <a:noFill/>
        </p:spPr>
        <p:txBody>
          <a:bodyPr wrap="square" rtlCol="0">
            <a:spAutoFit/>
          </a:bodyPr>
          <a:lstStyle/>
          <a:p>
            <a:pPr algn="dist"/>
            <a:r>
              <a:rPr lang="zh-CN" altLang="en-US" sz="2400" dirty="0">
                <a:solidFill>
                  <a:srgbClr val="1779B2"/>
                </a:solidFill>
                <a:latin typeface="华文行楷" panose="02010800040101010101" pitchFamily="2" charset="-122"/>
                <a:ea typeface="华文行楷" panose="02010800040101010101" pitchFamily="2" charset="-122"/>
              </a:rPr>
              <a:t>第</a:t>
            </a:r>
            <a:r>
              <a:rPr lang="en-US" altLang="zh-CN" sz="2400" dirty="0">
                <a:solidFill>
                  <a:srgbClr val="1779B2"/>
                </a:solidFill>
                <a:latin typeface="华文行楷" panose="02010800040101010101" pitchFamily="2" charset="-122"/>
                <a:ea typeface="华文行楷" panose="02010800040101010101" pitchFamily="2" charset="-122"/>
              </a:rPr>
              <a:t> </a:t>
            </a:r>
            <a:r>
              <a:rPr lang="en-US" altLang="zh-CN" sz="2400" dirty="0">
                <a:solidFill>
                  <a:srgbClr val="4472C4"/>
                </a:solidFill>
                <a:latin typeface="华文行楷" panose="02010800040101010101" pitchFamily="2" charset="-122"/>
                <a:ea typeface="华文行楷" panose="02010800040101010101" pitchFamily="2" charset="-122"/>
              </a:rPr>
              <a:t> </a:t>
            </a:r>
            <a:r>
              <a:rPr lang="zh-CN" altLang="en-US" sz="2400" dirty="0">
                <a:solidFill>
                  <a:srgbClr val="1779B2"/>
                </a:solidFill>
                <a:latin typeface="华文行楷" panose="02010800040101010101" pitchFamily="2" charset="-122"/>
                <a:ea typeface="华文行楷" panose="02010800040101010101" pitchFamily="2" charset="-122"/>
              </a:rPr>
              <a:t>页</a:t>
            </a:r>
            <a:endParaRPr lang="zh-CN" altLang="en-US" sz="2400" dirty="0">
              <a:solidFill>
                <a:srgbClr val="1779B2"/>
              </a:solidFill>
              <a:latin typeface="华文行楷" panose="02010800040101010101" pitchFamily="2" charset="-122"/>
              <a:ea typeface="华文行楷" panose="02010800040101010101" pitchFamily="2" charset="-122"/>
            </a:endParaRPr>
          </a:p>
        </p:txBody>
      </p:sp>
      <p:sp>
        <p:nvSpPr>
          <p:cNvPr id="9" name="文本框 8"/>
          <p:cNvSpPr txBox="1"/>
          <p:nvPr userDrawn="1"/>
        </p:nvSpPr>
        <p:spPr>
          <a:xfrm>
            <a:off x="185893" y="6381750"/>
            <a:ext cx="1723549" cy="461665"/>
          </a:xfrm>
          <a:prstGeom prst="rect">
            <a:avLst/>
          </a:prstGeom>
          <a:noFill/>
        </p:spPr>
        <p:txBody>
          <a:bodyPr wrap="none" rtlCol="0">
            <a:spAutoFit/>
          </a:bodyPr>
          <a:lstStyle/>
          <a:p>
            <a:r>
              <a:rPr lang="zh-CN" altLang="en-US" sz="2400" dirty="0">
                <a:solidFill>
                  <a:srgbClr val="1779B2"/>
                </a:solidFill>
                <a:latin typeface="华文行楷" panose="02010800040101010101" pitchFamily="2" charset="-122"/>
                <a:ea typeface="华文行楷" panose="02010800040101010101" pitchFamily="2" charset="-122"/>
              </a:rPr>
              <a:t>自强</a:t>
            </a:r>
            <a:r>
              <a:rPr lang="en-US" altLang="zh-CN" sz="2400" dirty="0">
                <a:solidFill>
                  <a:srgbClr val="1779B2"/>
                </a:solidFill>
                <a:latin typeface="华文行楷" panose="02010800040101010101" pitchFamily="2" charset="-122"/>
                <a:ea typeface="华文行楷" panose="02010800040101010101" pitchFamily="2" charset="-122"/>
              </a:rPr>
              <a:t>·</a:t>
            </a:r>
            <a:r>
              <a:rPr lang="zh-CN" altLang="en-US" sz="2400" dirty="0">
                <a:solidFill>
                  <a:srgbClr val="1779B2"/>
                </a:solidFill>
                <a:latin typeface="华文行楷" panose="02010800040101010101" pitchFamily="2" charset="-122"/>
                <a:ea typeface="华文行楷" panose="02010800040101010101" pitchFamily="2" charset="-122"/>
              </a:rPr>
              <a:t>笃行</a:t>
            </a:r>
            <a:endParaRPr lang="zh-CN" altLang="en-US" sz="2400" dirty="0">
              <a:solidFill>
                <a:srgbClr val="1779B2"/>
              </a:solidFill>
              <a:latin typeface="华文行楷" panose="02010800040101010101" pitchFamily="2" charset="-122"/>
              <a:ea typeface="华文行楷" panose="02010800040101010101" pitchFamily="2" charset="-122"/>
            </a:endParaRPr>
          </a:p>
        </p:txBody>
      </p:sp>
      <p:sp>
        <p:nvSpPr>
          <p:cNvPr id="10" name="灯片编号占位符 6"/>
          <p:cNvSpPr>
            <a:spLocks noGrp="1"/>
          </p:cNvSpPr>
          <p:nvPr>
            <p:ph type="sldNum" sz="quarter" idx="12"/>
          </p:nvPr>
        </p:nvSpPr>
        <p:spPr>
          <a:xfrm>
            <a:off x="11294436" y="6409885"/>
            <a:ext cx="472440" cy="365125"/>
          </a:xfrm>
          <a:prstGeom prst="rect">
            <a:avLst/>
          </a:prstGeom>
        </p:spPr>
        <p:txBody>
          <a:bodyPr/>
          <a:lstStyle>
            <a:lvl1pPr algn="ctr">
              <a:defRPr sz="1800" b="1">
                <a:solidFill>
                  <a:schemeClr val="accent5">
                    <a:lumMod val="50000"/>
                  </a:schemeClr>
                </a:solidFill>
                <a:latin typeface="Arial" panose="020B0604020202020204" pitchFamily="34" charset="0"/>
                <a:cs typeface="Arial" panose="020B0604020202020204" pitchFamily="34" charset="0"/>
              </a:defRPr>
            </a:lvl1pPr>
          </a:lstStyle>
          <a:p>
            <a:fld id="{71743F2B-DC0D-40A2-8B22-7E1877618B96}"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71743F2B-DC0D-40A2-8B22-7E1877618B9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71743F2B-DC0D-40A2-8B22-7E1877618B9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71743F2B-DC0D-40A2-8B22-7E1877618B9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内容页-三人团队">
    <p:spTree>
      <p:nvGrpSpPr>
        <p:cNvPr id="1" name=""/>
        <p:cNvGrpSpPr/>
        <p:nvPr/>
      </p:nvGrpSpPr>
      <p:grpSpPr>
        <a:xfrm>
          <a:off x="0" y="0"/>
          <a:ext cx="0" cy="0"/>
          <a:chOff x="0" y="0"/>
          <a:chExt cx="0" cy="0"/>
        </a:xfrm>
      </p:grpSpPr>
      <p:sp>
        <p:nvSpPr>
          <p:cNvPr id="69" name="图片占位符 68"/>
          <p:cNvSpPr>
            <a:spLocks noGrp="1"/>
          </p:cNvSpPr>
          <p:nvPr>
            <p:ph type="pic" sz="quarter" idx="10"/>
          </p:nvPr>
        </p:nvSpPr>
        <p:spPr>
          <a:xfrm>
            <a:off x="1562470" y="1606744"/>
            <a:ext cx="1767682" cy="1767682"/>
          </a:xfrm>
          <a:custGeom>
            <a:avLst/>
            <a:gdLst>
              <a:gd name="connsiteX0" fmla="*/ 883841 w 1767682"/>
              <a:gd name="connsiteY0" fmla="*/ 0 h 1767682"/>
              <a:gd name="connsiteX1" fmla="*/ 1767682 w 1767682"/>
              <a:gd name="connsiteY1" fmla="*/ 883841 h 1767682"/>
              <a:gd name="connsiteX2" fmla="*/ 883841 w 1767682"/>
              <a:gd name="connsiteY2" fmla="*/ 1767682 h 1767682"/>
              <a:gd name="connsiteX3" fmla="*/ 0 w 1767682"/>
              <a:gd name="connsiteY3" fmla="*/ 883841 h 1767682"/>
              <a:gd name="connsiteX4" fmla="*/ 883841 w 1767682"/>
              <a:gd name="connsiteY4" fmla="*/ 0 h 1767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7682" h="1767682">
                <a:moveTo>
                  <a:pt x="883841" y="0"/>
                </a:moveTo>
                <a:cubicBezTo>
                  <a:pt x="1371973" y="0"/>
                  <a:pt x="1767682" y="395710"/>
                  <a:pt x="1767682" y="883841"/>
                </a:cubicBezTo>
                <a:cubicBezTo>
                  <a:pt x="1767682" y="1371973"/>
                  <a:pt x="1371973" y="1767682"/>
                  <a:pt x="883841" y="1767682"/>
                </a:cubicBezTo>
                <a:cubicBezTo>
                  <a:pt x="395709" y="1767682"/>
                  <a:pt x="0" y="1371973"/>
                  <a:pt x="0" y="883841"/>
                </a:cubicBezTo>
                <a:cubicBezTo>
                  <a:pt x="0" y="395710"/>
                  <a:pt x="395709" y="0"/>
                  <a:pt x="883841" y="0"/>
                </a:cubicBezTo>
                <a:close/>
              </a:path>
            </a:pathLst>
          </a:custGeom>
          <a:solidFill>
            <a:schemeClr val="accent2">
              <a:lumMod val="40000"/>
              <a:lumOff val="60000"/>
            </a:schemeClr>
          </a:solidFill>
          <a:ln w="95250">
            <a:solidFill>
              <a:schemeClr val="bg1"/>
            </a:solidFill>
            <a:miter lim="800000"/>
          </a:ln>
          <a:effectLst>
            <a:outerShdw blurRad="774700" dist="457200" dir="5400000" sx="75000" sy="75000" algn="t" rotWithShape="0">
              <a:prstClr val="black">
                <a:alpha val="40000"/>
              </a:prstClr>
            </a:outerShdw>
          </a:effectLst>
        </p:spPr>
        <p:txBody>
          <a:bodyPr wrap="square">
            <a:noAutofit/>
          </a:bodyPr>
          <a:lstStyle/>
          <a:p>
            <a:endParaRPr lang="zh-CN" altLang="en-US"/>
          </a:p>
        </p:txBody>
      </p:sp>
      <p:sp>
        <p:nvSpPr>
          <p:cNvPr id="71" name="图片占位符 70"/>
          <p:cNvSpPr>
            <a:spLocks noGrp="1"/>
          </p:cNvSpPr>
          <p:nvPr>
            <p:ph type="pic" sz="quarter" idx="11"/>
          </p:nvPr>
        </p:nvSpPr>
        <p:spPr>
          <a:xfrm>
            <a:off x="5212159" y="1606744"/>
            <a:ext cx="1767682" cy="1767682"/>
          </a:xfrm>
          <a:custGeom>
            <a:avLst/>
            <a:gdLst>
              <a:gd name="connsiteX0" fmla="*/ 883841 w 1767682"/>
              <a:gd name="connsiteY0" fmla="*/ 0 h 1767682"/>
              <a:gd name="connsiteX1" fmla="*/ 1767682 w 1767682"/>
              <a:gd name="connsiteY1" fmla="*/ 883841 h 1767682"/>
              <a:gd name="connsiteX2" fmla="*/ 883841 w 1767682"/>
              <a:gd name="connsiteY2" fmla="*/ 1767682 h 1767682"/>
              <a:gd name="connsiteX3" fmla="*/ 0 w 1767682"/>
              <a:gd name="connsiteY3" fmla="*/ 883841 h 1767682"/>
              <a:gd name="connsiteX4" fmla="*/ 883841 w 1767682"/>
              <a:gd name="connsiteY4" fmla="*/ 0 h 1767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7682" h="1767682">
                <a:moveTo>
                  <a:pt x="883841" y="0"/>
                </a:moveTo>
                <a:cubicBezTo>
                  <a:pt x="1371973" y="0"/>
                  <a:pt x="1767682" y="395709"/>
                  <a:pt x="1767682" y="883841"/>
                </a:cubicBezTo>
                <a:cubicBezTo>
                  <a:pt x="1767682" y="1371973"/>
                  <a:pt x="1371973" y="1767682"/>
                  <a:pt x="883841" y="1767682"/>
                </a:cubicBezTo>
                <a:cubicBezTo>
                  <a:pt x="395710" y="1767682"/>
                  <a:pt x="0" y="1371973"/>
                  <a:pt x="0" y="883841"/>
                </a:cubicBezTo>
                <a:cubicBezTo>
                  <a:pt x="0" y="395709"/>
                  <a:pt x="395710" y="0"/>
                  <a:pt x="883841" y="0"/>
                </a:cubicBezTo>
                <a:close/>
              </a:path>
            </a:pathLst>
          </a:custGeom>
          <a:solidFill>
            <a:schemeClr val="accent2">
              <a:lumMod val="40000"/>
              <a:lumOff val="60000"/>
            </a:schemeClr>
          </a:solidFill>
          <a:ln w="95250">
            <a:solidFill>
              <a:schemeClr val="bg1"/>
            </a:solidFill>
            <a:miter lim="800000"/>
          </a:ln>
          <a:effectLst>
            <a:outerShdw blurRad="774700" dist="457200" dir="5400000" sx="75000" sy="75000" algn="t" rotWithShape="0">
              <a:prstClr val="black">
                <a:alpha val="40000"/>
              </a:prstClr>
            </a:outerShdw>
          </a:effectLst>
        </p:spPr>
        <p:txBody>
          <a:bodyPr wrap="square">
            <a:noAutofit/>
          </a:bodyPr>
          <a:lstStyle/>
          <a:p>
            <a:endParaRPr lang="zh-CN" altLang="en-US"/>
          </a:p>
        </p:txBody>
      </p:sp>
      <p:sp>
        <p:nvSpPr>
          <p:cNvPr id="75" name="图片占位符 74"/>
          <p:cNvSpPr>
            <a:spLocks noGrp="1"/>
          </p:cNvSpPr>
          <p:nvPr>
            <p:ph type="pic" sz="quarter" idx="12"/>
          </p:nvPr>
        </p:nvSpPr>
        <p:spPr>
          <a:xfrm>
            <a:off x="8861848" y="1606744"/>
            <a:ext cx="1767682" cy="1767682"/>
          </a:xfrm>
          <a:custGeom>
            <a:avLst/>
            <a:gdLst>
              <a:gd name="connsiteX0" fmla="*/ 883841 w 1767682"/>
              <a:gd name="connsiteY0" fmla="*/ 0 h 1767682"/>
              <a:gd name="connsiteX1" fmla="*/ 1767682 w 1767682"/>
              <a:gd name="connsiteY1" fmla="*/ 883841 h 1767682"/>
              <a:gd name="connsiteX2" fmla="*/ 883841 w 1767682"/>
              <a:gd name="connsiteY2" fmla="*/ 1767682 h 1767682"/>
              <a:gd name="connsiteX3" fmla="*/ 0 w 1767682"/>
              <a:gd name="connsiteY3" fmla="*/ 883841 h 1767682"/>
              <a:gd name="connsiteX4" fmla="*/ 883841 w 1767682"/>
              <a:gd name="connsiteY4" fmla="*/ 0 h 1767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7682" h="1767682">
                <a:moveTo>
                  <a:pt x="883841" y="0"/>
                </a:moveTo>
                <a:cubicBezTo>
                  <a:pt x="1371973" y="0"/>
                  <a:pt x="1767682" y="395710"/>
                  <a:pt x="1767682" y="883841"/>
                </a:cubicBezTo>
                <a:cubicBezTo>
                  <a:pt x="1767682" y="1371973"/>
                  <a:pt x="1371973" y="1767682"/>
                  <a:pt x="883841" y="1767682"/>
                </a:cubicBezTo>
                <a:cubicBezTo>
                  <a:pt x="395709" y="1767682"/>
                  <a:pt x="0" y="1371973"/>
                  <a:pt x="0" y="883841"/>
                </a:cubicBezTo>
                <a:cubicBezTo>
                  <a:pt x="0" y="395710"/>
                  <a:pt x="395709" y="0"/>
                  <a:pt x="883841" y="0"/>
                </a:cubicBezTo>
                <a:close/>
              </a:path>
            </a:pathLst>
          </a:custGeom>
          <a:solidFill>
            <a:schemeClr val="accent2">
              <a:lumMod val="40000"/>
              <a:lumOff val="60000"/>
            </a:schemeClr>
          </a:solidFill>
          <a:ln w="95250">
            <a:solidFill>
              <a:schemeClr val="bg1"/>
            </a:solidFill>
            <a:miter lim="800000"/>
          </a:ln>
          <a:effectLst>
            <a:outerShdw blurRad="774700" dist="457200" dir="5400000" sx="75000" sy="75000" algn="t" rotWithShape="0">
              <a:prstClr val="black">
                <a:alpha val="40000"/>
              </a:prstClr>
            </a:outerShdw>
          </a:effectLst>
        </p:spPr>
        <p:txBody>
          <a:bodyPr wrap="square">
            <a:noAutofit/>
          </a:bodyPr>
          <a:lstStyle/>
          <a:p>
            <a:endParaRPr lang="zh-CN" altLang="en-US"/>
          </a:p>
        </p:txBody>
      </p:sp>
      <p:sp>
        <p:nvSpPr>
          <p:cNvPr id="72" name="文本框 71"/>
          <p:cNvSpPr txBox="1"/>
          <p:nvPr userDrawn="1"/>
        </p:nvSpPr>
        <p:spPr>
          <a:xfrm>
            <a:off x="10979514" y="6472841"/>
            <a:ext cx="1055986" cy="400110"/>
          </a:xfrm>
          <a:prstGeom prst="rect">
            <a:avLst/>
          </a:prstGeom>
          <a:noFill/>
        </p:spPr>
        <p:txBody>
          <a:bodyPr wrap="square" rtlCol="0">
            <a:spAutoFit/>
          </a:bodyPr>
          <a:lstStyle/>
          <a:p>
            <a:pPr algn="dist"/>
            <a:r>
              <a:rPr lang="zh-CN" altLang="en-US" sz="2000" dirty="0">
                <a:solidFill>
                  <a:srgbClr val="1779B2"/>
                </a:solidFill>
                <a:latin typeface="华文行楷" panose="02010800040101010101" pitchFamily="2" charset="-122"/>
                <a:ea typeface="华文行楷" panose="02010800040101010101" pitchFamily="2" charset="-122"/>
              </a:rPr>
              <a:t>第</a:t>
            </a:r>
            <a:r>
              <a:rPr lang="en-US" altLang="zh-CN" sz="2000" dirty="0">
                <a:solidFill>
                  <a:srgbClr val="1779B2"/>
                </a:solidFill>
                <a:latin typeface="华文行楷" panose="02010800040101010101" pitchFamily="2" charset="-122"/>
                <a:ea typeface="华文行楷" panose="02010800040101010101" pitchFamily="2" charset="-122"/>
              </a:rPr>
              <a:t> </a:t>
            </a:r>
            <a:r>
              <a:rPr lang="en-US" altLang="zh-CN" sz="2000" dirty="0">
                <a:solidFill>
                  <a:srgbClr val="4472C4"/>
                </a:solidFill>
                <a:latin typeface="华文行楷" panose="02010800040101010101" pitchFamily="2" charset="-122"/>
                <a:ea typeface="华文行楷" panose="02010800040101010101" pitchFamily="2" charset="-122"/>
              </a:rPr>
              <a:t> </a:t>
            </a:r>
            <a:r>
              <a:rPr lang="zh-CN" altLang="en-US" sz="2000" dirty="0">
                <a:solidFill>
                  <a:srgbClr val="1779B2"/>
                </a:solidFill>
                <a:latin typeface="华文行楷" panose="02010800040101010101" pitchFamily="2" charset="-122"/>
                <a:ea typeface="华文行楷" panose="02010800040101010101" pitchFamily="2" charset="-122"/>
              </a:rPr>
              <a:t>页</a:t>
            </a:r>
            <a:endParaRPr lang="zh-CN" altLang="en-US" sz="2000" dirty="0">
              <a:solidFill>
                <a:srgbClr val="1779B2"/>
              </a:solidFill>
              <a:latin typeface="华文行楷" panose="02010800040101010101" pitchFamily="2" charset="-122"/>
              <a:ea typeface="华文行楷" panose="02010800040101010101" pitchFamily="2" charset="-122"/>
            </a:endParaRPr>
          </a:p>
        </p:txBody>
      </p:sp>
      <p:sp>
        <p:nvSpPr>
          <p:cNvPr id="74" name="矩形 73"/>
          <p:cNvSpPr/>
          <p:nvPr userDrawn="1"/>
        </p:nvSpPr>
        <p:spPr>
          <a:xfrm>
            <a:off x="0" y="231494"/>
            <a:ext cx="304800"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userDrawn="1"/>
        </p:nvSpPr>
        <p:spPr>
          <a:xfrm>
            <a:off x="1421382" y="231494"/>
            <a:ext cx="8049190"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7" name="图片 76"/>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554195" y="229150"/>
            <a:ext cx="2233926" cy="555583"/>
          </a:xfrm>
          <a:prstGeom prst="rect">
            <a:avLst/>
          </a:prstGeom>
        </p:spPr>
      </p:pic>
      <p:pic>
        <p:nvPicPr>
          <p:cNvPr id="78" name="图片 77"/>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441789" y="230688"/>
            <a:ext cx="604520" cy="604520"/>
          </a:xfrm>
          <a:prstGeom prst="ellipse">
            <a:avLst/>
          </a:prstGeom>
        </p:spPr>
      </p:pic>
      <p:sp>
        <p:nvSpPr>
          <p:cNvPr id="79" name="矩形 78"/>
          <p:cNvSpPr/>
          <p:nvPr userDrawn="1"/>
        </p:nvSpPr>
        <p:spPr>
          <a:xfrm>
            <a:off x="11871745" y="231494"/>
            <a:ext cx="320255"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userDrawn="1"/>
        </p:nvSpPr>
        <p:spPr>
          <a:xfrm>
            <a:off x="1183298" y="231494"/>
            <a:ext cx="238083"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内容占位符 12"/>
          <p:cNvSpPr>
            <a:spLocks noGrp="1"/>
          </p:cNvSpPr>
          <p:nvPr>
            <p:ph sz="quarter" idx="13" hasCustomPrompt="1"/>
          </p:nvPr>
        </p:nvSpPr>
        <p:spPr>
          <a:xfrm>
            <a:off x="1231068" y="296983"/>
            <a:ext cx="7206546" cy="471930"/>
          </a:xfrm>
          <a:prstGeom prst="rect">
            <a:avLst/>
          </a:prstGeom>
        </p:spPr>
        <p:txBody>
          <a:bodyPr/>
          <a:lstStyle>
            <a:lvl1pPr marL="0" indent="0">
              <a:buNone/>
              <a:defRPr b="1" spc="300">
                <a:solidFill>
                  <a:schemeClr val="bg1"/>
                </a:solidFill>
                <a:latin typeface="微软雅黑" panose="020B0503020204020204" pitchFamily="34" charset="-122"/>
                <a:ea typeface="微软雅黑" panose="020B0503020204020204" pitchFamily="34" charset="-122"/>
              </a:defRPr>
            </a:lvl1pPr>
          </a:lstStyle>
          <a:p>
            <a:pPr lvl="0"/>
            <a:r>
              <a:rPr lang="zh-CN" altLang="en-US" dirty="0"/>
              <a:t>单击此处添加标题</a:t>
            </a:r>
            <a:endParaRPr lang="zh-CN" altLang="en-US" dirty="0"/>
          </a:p>
        </p:txBody>
      </p:sp>
      <p:sp>
        <p:nvSpPr>
          <p:cNvPr id="82" name="文本框 81"/>
          <p:cNvSpPr txBox="1"/>
          <p:nvPr userDrawn="1"/>
        </p:nvSpPr>
        <p:spPr>
          <a:xfrm>
            <a:off x="185893" y="6428140"/>
            <a:ext cx="1467068" cy="400110"/>
          </a:xfrm>
          <a:prstGeom prst="rect">
            <a:avLst/>
          </a:prstGeom>
          <a:noFill/>
        </p:spPr>
        <p:txBody>
          <a:bodyPr wrap="none" rtlCol="0">
            <a:spAutoFit/>
          </a:bodyPr>
          <a:lstStyle/>
          <a:p>
            <a:r>
              <a:rPr lang="zh-CN" altLang="en-US" sz="2000" dirty="0">
                <a:solidFill>
                  <a:srgbClr val="1779B2"/>
                </a:solidFill>
                <a:latin typeface="华文行楷" panose="02010800040101010101" pitchFamily="2" charset="-122"/>
                <a:ea typeface="华文行楷" panose="02010800040101010101" pitchFamily="2" charset="-122"/>
              </a:rPr>
              <a:t>自强</a:t>
            </a:r>
            <a:r>
              <a:rPr lang="en-US" altLang="zh-CN" sz="2000" dirty="0">
                <a:solidFill>
                  <a:srgbClr val="1779B2"/>
                </a:solidFill>
                <a:latin typeface="华文行楷" panose="02010800040101010101" pitchFamily="2" charset="-122"/>
                <a:ea typeface="华文行楷" panose="02010800040101010101" pitchFamily="2" charset="-122"/>
              </a:rPr>
              <a:t>·</a:t>
            </a:r>
            <a:r>
              <a:rPr lang="zh-CN" altLang="en-US" sz="2000" dirty="0">
                <a:solidFill>
                  <a:srgbClr val="1779B2"/>
                </a:solidFill>
                <a:latin typeface="华文行楷" panose="02010800040101010101" pitchFamily="2" charset="-122"/>
                <a:ea typeface="华文行楷" panose="02010800040101010101" pitchFamily="2" charset="-122"/>
              </a:rPr>
              <a:t>笃行</a:t>
            </a:r>
            <a:endParaRPr lang="zh-CN" altLang="en-US" sz="2000" dirty="0">
              <a:solidFill>
                <a:srgbClr val="1779B2"/>
              </a:solidFill>
              <a:latin typeface="华文行楷" panose="02010800040101010101" pitchFamily="2" charset="-122"/>
              <a:ea typeface="华文行楷" panose="02010800040101010101" pitchFamily="2" charset="-122"/>
            </a:endParaRPr>
          </a:p>
        </p:txBody>
      </p:sp>
      <p:sp>
        <p:nvSpPr>
          <p:cNvPr id="83" name="灯片编号占位符 6"/>
          <p:cNvSpPr>
            <a:spLocks noGrp="1"/>
          </p:cNvSpPr>
          <p:nvPr>
            <p:ph type="sldNum" sz="quarter" idx="14"/>
          </p:nvPr>
        </p:nvSpPr>
        <p:spPr>
          <a:xfrm>
            <a:off x="11271286" y="6479425"/>
            <a:ext cx="472440" cy="365125"/>
          </a:xfrm>
          <a:prstGeom prst="rect">
            <a:avLst/>
          </a:prstGeom>
        </p:spPr>
        <p:txBody>
          <a:bodyPr/>
          <a:lstStyle>
            <a:lvl1pPr algn="ctr">
              <a:defRPr sz="1800" b="1">
                <a:solidFill>
                  <a:schemeClr val="accent5">
                    <a:lumMod val="50000"/>
                  </a:schemeClr>
                </a:solidFill>
                <a:latin typeface="Arial" panose="020B0604020202020204" pitchFamily="34" charset="0"/>
                <a:cs typeface="Arial" panose="020B0604020202020204" pitchFamily="34" charset="0"/>
              </a:defRPr>
            </a:lvl1pPr>
          </a:lstStyle>
          <a:p>
            <a:fld id="{71743F2B-DC0D-40A2-8B22-7E1877618B96}"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内容页-四人团队">
    <p:spTree>
      <p:nvGrpSpPr>
        <p:cNvPr id="1" name=""/>
        <p:cNvGrpSpPr/>
        <p:nvPr/>
      </p:nvGrpSpPr>
      <p:grpSpPr>
        <a:xfrm>
          <a:off x="0" y="0"/>
          <a:ext cx="0" cy="0"/>
          <a:chOff x="0" y="0"/>
          <a:chExt cx="0" cy="0"/>
        </a:xfrm>
      </p:grpSpPr>
      <p:sp>
        <p:nvSpPr>
          <p:cNvPr id="65" name="图片占位符 64"/>
          <p:cNvSpPr>
            <a:spLocks noGrp="1"/>
          </p:cNvSpPr>
          <p:nvPr>
            <p:ph type="pic" sz="quarter" idx="10"/>
          </p:nvPr>
        </p:nvSpPr>
        <p:spPr>
          <a:xfrm>
            <a:off x="1100685" y="1606744"/>
            <a:ext cx="1767682" cy="1767682"/>
          </a:xfrm>
          <a:custGeom>
            <a:avLst/>
            <a:gdLst>
              <a:gd name="connsiteX0" fmla="*/ 883841 w 1767682"/>
              <a:gd name="connsiteY0" fmla="*/ 0 h 1767682"/>
              <a:gd name="connsiteX1" fmla="*/ 1767682 w 1767682"/>
              <a:gd name="connsiteY1" fmla="*/ 883841 h 1767682"/>
              <a:gd name="connsiteX2" fmla="*/ 883841 w 1767682"/>
              <a:gd name="connsiteY2" fmla="*/ 1767682 h 1767682"/>
              <a:gd name="connsiteX3" fmla="*/ 0 w 1767682"/>
              <a:gd name="connsiteY3" fmla="*/ 883841 h 1767682"/>
              <a:gd name="connsiteX4" fmla="*/ 883841 w 1767682"/>
              <a:gd name="connsiteY4" fmla="*/ 0 h 1767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7682" h="1767682">
                <a:moveTo>
                  <a:pt x="883841" y="0"/>
                </a:moveTo>
                <a:cubicBezTo>
                  <a:pt x="1371973" y="0"/>
                  <a:pt x="1767682" y="395710"/>
                  <a:pt x="1767682" y="883841"/>
                </a:cubicBezTo>
                <a:cubicBezTo>
                  <a:pt x="1767682" y="1371973"/>
                  <a:pt x="1371973" y="1767682"/>
                  <a:pt x="883841" y="1767682"/>
                </a:cubicBezTo>
                <a:cubicBezTo>
                  <a:pt x="395709" y="1767682"/>
                  <a:pt x="0" y="1371973"/>
                  <a:pt x="0" y="883841"/>
                </a:cubicBezTo>
                <a:cubicBezTo>
                  <a:pt x="0" y="395710"/>
                  <a:pt x="395709" y="0"/>
                  <a:pt x="883841" y="0"/>
                </a:cubicBezTo>
                <a:close/>
              </a:path>
            </a:pathLst>
          </a:custGeom>
          <a:solidFill>
            <a:schemeClr val="accent2">
              <a:lumMod val="40000"/>
              <a:lumOff val="60000"/>
            </a:schemeClr>
          </a:solidFill>
          <a:ln w="95250">
            <a:solidFill>
              <a:schemeClr val="bg1"/>
            </a:solidFill>
            <a:miter lim="800000"/>
          </a:ln>
          <a:effectLst>
            <a:outerShdw blurRad="774700" dist="457200" dir="5400000" sx="75000" sy="75000" algn="t" rotWithShape="0">
              <a:prstClr val="black">
                <a:alpha val="40000"/>
              </a:prstClr>
            </a:outerShdw>
          </a:effectLst>
        </p:spPr>
        <p:txBody>
          <a:bodyPr wrap="square">
            <a:noAutofit/>
          </a:bodyPr>
          <a:lstStyle/>
          <a:p>
            <a:endParaRPr lang="zh-CN" altLang="en-US"/>
          </a:p>
        </p:txBody>
      </p:sp>
      <p:sp>
        <p:nvSpPr>
          <p:cNvPr id="68" name="图片占位符 67"/>
          <p:cNvSpPr>
            <a:spLocks noGrp="1"/>
          </p:cNvSpPr>
          <p:nvPr>
            <p:ph type="pic" sz="quarter" idx="11"/>
          </p:nvPr>
        </p:nvSpPr>
        <p:spPr>
          <a:xfrm>
            <a:off x="3839227" y="1606744"/>
            <a:ext cx="1767682" cy="1767682"/>
          </a:xfrm>
          <a:custGeom>
            <a:avLst/>
            <a:gdLst>
              <a:gd name="connsiteX0" fmla="*/ 883841 w 1767682"/>
              <a:gd name="connsiteY0" fmla="*/ 0 h 1767682"/>
              <a:gd name="connsiteX1" fmla="*/ 1767682 w 1767682"/>
              <a:gd name="connsiteY1" fmla="*/ 883841 h 1767682"/>
              <a:gd name="connsiteX2" fmla="*/ 883841 w 1767682"/>
              <a:gd name="connsiteY2" fmla="*/ 1767682 h 1767682"/>
              <a:gd name="connsiteX3" fmla="*/ 0 w 1767682"/>
              <a:gd name="connsiteY3" fmla="*/ 883841 h 1767682"/>
              <a:gd name="connsiteX4" fmla="*/ 883841 w 1767682"/>
              <a:gd name="connsiteY4" fmla="*/ 0 h 1767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7682" h="1767682">
                <a:moveTo>
                  <a:pt x="883841" y="0"/>
                </a:moveTo>
                <a:cubicBezTo>
                  <a:pt x="1371973" y="0"/>
                  <a:pt x="1767682" y="395710"/>
                  <a:pt x="1767682" y="883841"/>
                </a:cubicBezTo>
                <a:cubicBezTo>
                  <a:pt x="1767682" y="1371973"/>
                  <a:pt x="1371973" y="1767682"/>
                  <a:pt x="883841" y="1767682"/>
                </a:cubicBezTo>
                <a:cubicBezTo>
                  <a:pt x="395709" y="1767682"/>
                  <a:pt x="0" y="1371973"/>
                  <a:pt x="0" y="883841"/>
                </a:cubicBezTo>
                <a:cubicBezTo>
                  <a:pt x="0" y="395710"/>
                  <a:pt x="395709" y="0"/>
                  <a:pt x="883841" y="0"/>
                </a:cubicBezTo>
                <a:close/>
              </a:path>
            </a:pathLst>
          </a:custGeom>
          <a:solidFill>
            <a:schemeClr val="accent2">
              <a:lumMod val="40000"/>
              <a:lumOff val="60000"/>
            </a:schemeClr>
          </a:solidFill>
          <a:ln w="95250">
            <a:solidFill>
              <a:schemeClr val="bg1"/>
            </a:solidFill>
            <a:miter lim="800000"/>
          </a:ln>
          <a:effectLst>
            <a:outerShdw blurRad="774700" dist="457200" dir="5400000" sx="75000" sy="75000" algn="t" rotWithShape="0">
              <a:prstClr val="black">
                <a:alpha val="40000"/>
              </a:prstClr>
            </a:outerShdw>
          </a:effectLst>
        </p:spPr>
        <p:txBody>
          <a:bodyPr wrap="square">
            <a:noAutofit/>
          </a:bodyPr>
          <a:lstStyle/>
          <a:p>
            <a:endParaRPr lang="zh-CN" altLang="en-US"/>
          </a:p>
        </p:txBody>
      </p:sp>
      <p:sp>
        <p:nvSpPr>
          <p:cNvPr id="70" name="图片占位符 69"/>
          <p:cNvSpPr>
            <a:spLocks noGrp="1"/>
          </p:cNvSpPr>
          <p:nvPr>
            <p:ph type="pic" sz="quarter" idx="12"/>
          </p:nvPr>
        </p:nvSpPr>
        <p:spPr>
          <a:xfrm>
            <a:off x="6577769" y="1606744"/>
            <a:ext cx="1767682" cy="1767682"/>
          </a:xfrm>
          <a:custGeom>
            <a:avLst/>
            <a:gdLst>
              <a:gd name="connsiteX0" fmla="*/ 883841 w 1767682"/>
              <a:gd name="connsiteY0" fmla="*/ 0 h 1767682"/>
              <a:gd name="connsiteX1" fmla="*/ 1767682 w 1767682"/>
              <a:gd name="connsiteY1" fmla="*/ 883841 h 1767682"/>
              <a:gd name="connsiteX2" fmla="*/ 883841 w 1767682"/>
              <a:gd name="connsiteY2" fmla="*/ 1767682 h 1767682"/>
              <a:gd name="connsiteX3" fmla="*/ 0 w 1767682"/>
              <a:gd name="connsiteY3" fmla="*/ 883841 h 1767682"/>
              <a:gd name="connsiteX4" fmla="*/ 883841 w 1767682"/>
              <a:gd name="connsiteY4" fmla="*/ 0 h 1767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7682" h="1767682">
                <a:moveTo>
                  <a:pt x="883841" y="0"/>
                </a:moveTo>
                <a:cubicBezTo>
                  <a:pt x="1371973" y="0"/>
                  <a:pt x="1767682" y="395710"/>
                  <a:pt x="1767682" y="883841"/>
                </a:cubicBezTo>
                <a:cubicBezTo>
                  <a:pt x="1767682" y="1371973"/>
                  <a:pt x="1371973" y="1767682"/>
                  <a:pt x="883841" y="1767682"/>
                </a:cubicBezTo>
                <a:cubicBezTo>
                  <a:pt x="395709" y="1767682"/>
                  <a:pt x="0" y="1371973"/>
                  <a:pt x="0" y="883841"/>
                </a:cubicBezTo>
                <a:cubicBezTo>
                  <a:pt x="0" y="395710"/>
                  <a:pt x="395709" y="0"/>
                  <a:pt x="883841" y="0"/>
                </a:cubicBezTo>
                <a:close/>
              </a:path>
            </a:pathLst>
          </a:custGeom>
          <a:solidFill>
            <a:schemeClr val="accent2">
              <a:lumMod val="40000"/>
              <a:lumOff val="60000"/>
            </a:schemeClr>
          </a:solidFill>
          <a:ln w="95250">
            <a:solidFill>
              <a:schemeClr val="bg1"/>
            </a:solidFill>
            <a:miter lim="800000"/>
          </a:ln>
          <a:effectLst>
            <a:outerShdw blurRad="774700" dist="457200" dir="5400000" sx="75000" sy="75000" algn="t" rotWithShape="0">
              <a:prstClr val="black">
                <a:alpha val="40000"/>
              </a:prstClr>
            </a:outerShdw>
          </a:effectLst>
        </p:spPr>
        <p:txBody>
          <a:bodyPr wrap="square">
            <a:noAutofit/>
          </a:bodyPr>
          <a:lstStyle/>
          <a:p>
            <a:endParaRPr lang="zh-CN" altLang="en-US"/>
          </a:p>
        </p:txBody>
      </p:sp>
      <p:sp>
        <p:nvSpPr>
          <p:cNvPr id="72" name="图片占位符 71"/>
          <p:cNvSpPr>
            <a:spLocks noGrp="1"/>
          </p:cNvSpPr>
          <p:nvPr>
            <p:ph type="pic" sz="quarter" idx="13"/>
          </p:nvPr>
        </p:nvSpPr>
        <p:spPr>
          <a:xfrm>
            <a:off x="9316312" y="1606744"/>
            <a:ext cx="1767682" cy="1767682"/>
          </a:xfrm>
          <a:custGeom>
            <a:avLst/>
            <a:gdLst>
              <a:gd name="connsiteX0" fmla="*/ 883841 w 1767682"/>
              <a:gd name="connsiteY0" fmla="*/ 0 h 1767682"/>
              <a:gd name="connsiteX1" fmla="*/ 1767682 w 1767682"/>
              <a:gd name="connsiteY1" fmla="*/ 883841 h 1767682"/>
              <a:gd name="connsiteX2" fmla="*/ 883841 w 1767682"/>
              <a:gd name="connsiteY2" fmla="*/ 1767682 h 1767682"/>
              <a:gd name="connsiteX3" fmla="*/ 0 w 1767682"/>
              <a:gd name="connsiteY3" fmla="*/ 883841 h 1767682"/>
              <a:gd name="connsiteX4" fmla="*/ 883841 w 1767682"/>
              <a:gd name="connsiteY4" fmla="*/ 0 h 1767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7682" h="1767682">
                <a:moveTo>
                  <a:pt x="883841" y="0"/>
                </a:moveTo>
                <a:cubicBezTo>
                  <a:pt x="1371973" y="0"/>
                  <a:pt x="1767682" y="395710"/>
                  <a:pt x="1767682" y="883841"/>
                </a:cubicBezTo>
                <a:cubicBezTo>
                  <a:pt x="1767682" y="1371973"/>
                  <a:pt x="1371973" y="1767682"/>
                  <a:pt x="883841" y="1767682"/>
                </a:cubicBezTo>
                <a:cubicBezTo>
                  <a:pt x="395709" y="1767682"/>
                  <a:pt x="0" y="1371973"/>
                  <a:pt x="0" y="883841"/>
                </a:cubicBezTo>
                <a:cubicBezTo>
                  <a:pt x="0" y="395710"/>
                  <a:pt x="395709" y="0"/>
                  <a:pt x="883841" y="0"/>
                </a:cubicBezTo>
                <a:close/>
              </a:path>
            </a:pathLst>
          </a:custGeom>
          <a:solidFill>
            <a:schemeClr val="accent2">
              <a:lumMod val="40000"/>
              <a:lumOff val="60000"/>
            </a:schemeClr>
          </a:solidFill>
          <a:ln w="95250">
            <a:solidFill>
              <a:schemeClr val="bg1"/>
            </a:solidFill>
            <a:miter lim="800000"/>
          </a:ln>
          <a:effectLst>
            <a:outerShdw blurRad="774700" dist="457200" dir="5400000" sx="75000" sy="75000" algn="t" rotWithShape="0">
              <a:prstClr val="black">
                <a:alpha val="40000"/>
              </a:prstClr>
            </a:outerShdw>
          </a:effectLst>
        </p:spPr>
        <p:txBody>
          <a:bodyPr wrap="square">
            <a:noAutofit/>
          </a:bodyPr>
          <a:lstStyle/>
          <a:p>
            <a:endParaRPr lang="zh-CN" altLang="en-US"/>
          </a:p>
        </p:txBody>
      </p:sp>
      <p:sp>
        <p:nvSpPr>
          <p:cNvPr id="59" name="文本框 58"/>
          <p:cNvSpPr txBox="1"/>
          <p:nvPr userDrawn="1"/>
        </p:nvSpPr>
        <p:spPr>
          <a:xfrm>
            <a:off x="10979514" y="6472841"/>
            <a:ext cx="1055986" cy="400110"/>
          </a:xfrm>
          <a:prstGeom prst="rect">
            <a:avLst/>
          </a:prstGeom>
          <a:noFill/>
        </p:spPr>
        <p:txBody>
          <a:bodyPr wrap="square" rtlCol="0">
            <a:spAutoFit/>
          </a:bodyPr>
          <a:lstStyle/>
          <a:p>
            <a:pPr algn="dist"/>
            <a:r>
              <a:rPr lang="zh-CN" altLang="en-US" sz="2000" dirty="0">
                <a:solidFill>
                  <a:srgbClr val="1779B2"/>
                </a:solidFill>
                <a:latin typeface="华文行楷" panose="02010800040101010101" pitchFamily="2" charset="-122"/>
                <a:ea typeface="华文行楷" panose="02010800040101010101" pitchFamily="2" charset="-122"/>
              </a:rPr>
              <a:t>第</a:t>
            </a:r>
            <a:r>
              <a:rPr lang="en-US" altLang="zh-CN" sz="2000" dirty="0">
                <a:solidFill>
                  <a:srgbClr val="1779B2"/>
                </a:solidFill>
                <a:latin typeface="华文行楷" panose="02010800040101010101" pitchFamily="2" charset="-122"/>
                <a:ea typeface="华文行楷" panose="02010800040101010101" pitchFamily="2" charset="-122"/>
              </a:rPr>
              <a:t> </a:t>
            </a:r>
            <a:r>
              <a:rPr lang="en-US" altLang="zh-CN" sz="2000" dirty="0">
                <a:solidFill>
                  <a:srgbClr val="4472C4"/>
                </a:solidFill>
                <a:latin typeface="华文行楷" panose="02010800040101010101" pitchFamily="2" charset="-122"/>
                <a:ea typeface="华文行楷" panose="02010800040101010101" pitchFamily="2" charset="-122"/>
              </a:rPr>
              <a:t> </a:t>
            </a:r>
            <a:r>
              <a:rPr lang="zh-CN" altLang="en-US" sz="2000" dirty="0">
                <a:solidFill>
                  <a:srgbClr val="1779B2"/>
                </a:solidFill>
                <a:latin typeface="华文行楷" panose="02010800040101010101" pitchFamily="2" charset="-122"/>
                <a:ea typeface="华文行楷" panose="02010800040101010101" pitchFamily="2" charset="-122"/>
              </a:rPr>
              <a:t>页</a:t>
            </a:r>
            <a:endParaRPr lang="zh-CN" altLang="en-US" sz="2000" dirty="0">
              <a:solidFill>
                <a:srgbClr val="1779B2"/>
              </a:solidFill>
              <a:latin typeface="华文行楷" panose="02010800040101010101" pitchFamily="2" charset="-122"/>
              <a:ea typeface="华文行楷" panose="02010800040101010101" pitchFamily="2" charset="-122"/>
            </a:endParaRPr>
          </a:p>
        </p:txBody>
      </p:sp>
      <p:sp>
        <p:nvSpPr>
          <p:cNvPr id="60" name="矩形 59"/>
          <p:cNvSpPr/>
          <p:nvPr userDrawn="1"/>
        </p:nvSpPr>
        <p:spPr>
          <a:xfrm>
            <a:off x="0" y="231494"/>
            <a:ext cx="304800"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userDrawn="1"/>
        </p:nvSpPr>
        <p:spPr>
          <a:xfrm>
            <a:off x="1421382" y="231494"/>
            <a:ext cx="8049190"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4" name="图片 6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554195" y="229150"/>
            <a:ext cx="2233926" cy="555583"/>
          </a:xfrm>
          <a:prstGeom prst="rect">
            <a:avLst/>
          </a:prstGeom>
        </p:spPr>
      </p:pic>
      <p:pic>
        <p:nvPicPr>
          <p:cNvPr id="66" name="图片 65"/>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441789" y="230688"/>
            <a:ext cx="604520" cy="604520"/>
          </a:xfrm>
          <a:prstGeom prst="ellipse">
            <a:avLst/>
          </a:prstGeom>
        </p:spPr>
      </p:pic>
      <p:sp>
        <p:nvSpPr>
          <p:cNvPr id="67" name="矩形 66"/>
          <p:cNvSpPr/>
          <p:nvPr userDrawn="1"/>
        </p:nvSpPr>
        <p:spPr>
          <a:xfrm>
            <a:off x="11871745" y="231494"/>
            <a:ext cx="320255"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userDrawn="1"/>
        </p:nvSpPr>
        <p:spPr>
          <a:xfrm>
            <a:off x="1183298" y="231494"/>
            <a:ext cx="238083"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内容占位符 12"/>
          <p:cNvSpPr>
            <a:spLocks noGrp="1"/>
          </p:cNvSpPr>
          <p:nvPr>
            <p:ph sz="quarter" idx="14" hasCustomPrompt="1"/>
          </p:nvPr>
        </p:nvSpPr>
        <p:spPr>
          <a:xfrm>
            <a:off x="1231068" y="296983"/>
            <a:ext cx="7206546" cy="471930"/>
          </a:xfrm>
          <a:prstGeom prst="rect">
            <a:avLst/>
          </a:prstGeom>
        </p:spPr>
        <p:txBody>
          <a:bodyPr/>
          <a:lstStyle>
            <a:lvl1pPr marL="0" indent="0">
              <a:buNone/>
              <a:defRPr b="1" spc="300">
                <a:solidFill>
                  <a:schemeClr val="bg1"/>
                </a:solidFill>
                <a:latin typeface="微软雅黑" panose="020B0503020204020204" pitchFamily="34" charset="-122"/>
                <a:ea typeface="微软雅黑" panose="020B0503020204020204" pitchFamily="34" charset="-122"/>
              </a:defRPr>
            </a:lvl1pPr>
          </a:lstStyle>
          <a:p>
            <a:pPr lvl="0"/>
            <a:r>
              <a:rPr lang="zh-CN" altLang="en-US" dirty="0"/>
              <a:t>单击此处添加标题</a:t>
            </a:r>
            <a:endParaRPr lang="zh-CN" altLang="en-US" dirty="0"/>
          </a:p>
        </p:txBody>
      </p:sp>
      <p:sp>
        <p:nvSpPr>
          <p:cNvPr id="74" name="文本框 73"/>
          <p:cNvSpPr txBox="1"/>
          <p:nvPr userDrawn="1"/>
        </p:nvSpPr>
        <p:spPr>
          <a:xfrm>
            <a:off x="185893" y="6428140"/>
            <a:ext cx="1467068" cy="400110"/>
          </a:xfrm>
          <a:prstGeom prst="rect">
            <a:avLst/>
          </a:prstGeom>
          <a:noFill/>
        </p:spPr>
        <p:txBody>
          <a:bodyPr wrap="none" rtlCol="0">
            <a:spAutoFit/>
          </a:bodyPr>
          <a:lstStyle/>
          <a:p>
            <a:r>
              <a:rPr lang="zh-CN" altLang="en-US" sz="2000" dirty="0">
                <a:solidFill>
                  <a:srgbClr val="1779B2"/>
                </a:solidFill>
                <a:latin typeface="华文行楷" panose="02010800040101010101" pitchFamily="2" charset="-122"/>
                <a:ea typeface="华文行楷" panose="02010800040101010101" pitchFamily="2" charset="-122"/>
              </a:rPr>
              <a:t>自强</a:t>
            </a:r>
            <a:r>
              <a:rPr lang="en-US" altLang="zh-CN" sz="2000" dirty="0">
                <a:solidFill>
                  <a:srgbClr val="1779B2"/>
                </a:solidFill>
                <a:latin typeface="华文行楷" panose="02010800040101010101" pitchFamily="2" charset="-122"/>
                <a:ea typeface="华文行楷" panose="02010800040101010101" pitchFamily="2" charset="-122"/>
              </a:rPr>
              <a:t>·</a:t>
            </a:r>
            <a:r>
              <a:rPr lang="zh-CN" altLang="en-US" sz="2000" dirty="0">
                <a:solidFill>
                  <a:srgbClr val="1779B2"/>
                </a:solidFill>
                <a:latin typeface="华文行楷" panose="02010800040101010101" pitchFamily="2" charset="-122"/>
                <a:ea typeface="华文行楷" panose="02010800040101010101" pitchFamily="2" charset="-122"/>
              </a:rPr>
              <a:t>笃行</a:t>
            </a:r>
            <a:endParaRPr lang="zh-CN" altLang="en-US" sz="2000" dirty="0">
              <a:solidFill>
                <a:srgbClr val="1779B2"/>
              </a:solidFill>
              <a:latin typeface="华文行楷" panose="02010800040101010101" pitchFamily="2" charset="-122"/>
              <a:ea typeface="华文行楷" panose="02010800040101010101" pitchFamily="2" charset="-122"/>
            </a:endParaRPr>
          </a:p>
        </p:txBody>
      </p:sp>
      <p:sp>
        <p:nvSpPr>
          <p:cNvPr id="75" name="灯片编号占位符 6"/>
          <p:cNvSpPr>
            <a:spLocks noGrp="1"/>
          </p:cNvSpPr>
          <p:nvPr>
            <p:ph type="sldNum" sz="quarter" idx="15"/>
          </p:nvPr>
        </p:nvSpPr>
        <p:spPr>
          <a:xfrm>
            <a:off x="11271286" y="6479425"/>
            <a:ext cx="472440" cy="365125"/>
          </a:xfrm>
          <a:prstGeom prst="rect">
            <a:avLst/>
          </a:prstGeom>
        </p:spPr>
        <p:txBody>
          <a:bodyPr/>
          <a:lstStyle>
            <a:lvl1pPr algn="ctr">
              <a:defRPr sz="1800" b="1">
                <a:solidFill>
                  <a:schemeClr val="accent5">
                    <a:lumMod val="50000"/>
                  </a:schemeClr>
                </a:solidFill>
                <a:latin typeface="Arial" panose="020B0604020202020204" pitchFamily="34" charset="0"/>
                <a:cs typeface="Arial" panose="020B0604020202020204" pitchFamily="34" charset="0"/>
              </a:defRPr>
            </a:lvl1pPr>
          </a:lstStyle>
          <a:p>
            <a:fld id="{71743F2B-DC0D-40A2-8B22-7E1877618B96}"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内容页-单项图文">
    <p:spTree>
      <p:nvGrpSpPr>
        <p:cNvPr id="1" name=""/>
        <p:cNvGrpSpPr/>
        <p:nvPr/>
      </p:nvGrpSpPr>
      <p:grpSpPr>
        <a:xfrm>
          <a:off x="0" y="0"/>
          <a:ext cx="0" cy="0"/>
          <a:chOff x="0" y="0"/>
          <a:chExt cx="0" cy="0"/>
        </a:xfrm>
      </p:grpSpPr>
      <p:sp>
        <p:nvSpPr>
          <p:cNvPr id="53" name="图片占位符 74"/>
          <p:cNvSpPr>
            <a:spLocks noGrp="1"/>
          </p:cNvSpPr>
          <p:nvPr>
            <p:ph type="pic" sz="quarter" idx="10" hasCustomPrompt="1"/>
          </p:nvPr>
        </p:nvSpPr>
        <p:spPr>
          <a:xfrm>
            <a:off x="621060" y="2026957"/>
            <a:ext cx="5388854" cy="3579165"/>
          </a:xfrm>
          <a:custGeom>
            <a:avLst/>
            <a:gdLst>
              <a:gd name="connsiteX0" fmla="*/ 0 w 3370863"/>
              <a:gd name="connsiteY0" fmla="*/ 0 h 2238857"/>
              <a:gd name="connsiteX1" fmla="*/ 3370863 w 3370863"/>
              <a:gd name="connsiteY1" fmla="*/ 0 h 2238857"/>
              <a:gd name="connsiteX2" fmla="*/ 3370863 w 3370863"/>
              <a:gd name="connsiteY2" fmla="*/ 2238857 h 2238857"/>
              <a:gd name="connsiteX3" fmla="*/ 0 w 3370863"/>
              <a:gd name="connsiteY3" fmla="*/ 2238857 h 2238857"/>
            </a:gdLst>
            <a:ahLst/>
            <a:cxnLst>
              <a:cxn ang="0">
                <a:pos x="connsiteX0" y="connsiteY0"/>
              </a:cxn>
              <a:cxn ang="0">
                <a:pos x="connsiteX1" y="connsiteY1"/>
              </a:cxn>
              <a:cxn ang="0">
                <a:pos x="connsiteX2" y="connsiteY2"/>
              </a:cxn>
              <a:cxn ang="0">
                <a:pos x="connsiteX3" y="connsiteY3"/>
              </a:cxn>
            </a:cxnLst>
            <a:rect l="l" t="t" r="r" b="b"/>
            <a:pathLst>
              <a:path w="3370863" h="2238857">
                <a:moveTo>
                  <a:pt x="0" y="0"/>
                </a:moveTo>
                <a:lnTo>
                  <a:pt x="3370863" y="0"/>
                </a:lnTo>
                <a:lnTo>
                  <a:pt x="3370863" y="2238857"/>
                </a:lnTo>
                <a:lnTo>
                  <a:pt x="0" y="2238857"/>
                </a:lnTo>
                <a:close/>
              </a:path>
            </a:pathLst>
          </a:custGeom>
          <a:solidFill>
            <a:schemeClr val="accent2">
              <a:lumMod val="40000"/>
              <a:lumOff val="60000"/>
            </a:schemeClr>
          </a:solidFill>
          <a:ln w="95250">
            <a:solidFill>
              <a:schemeClr val="bg1"/>
            </a:solidFill>
            <a:miter lim="800000"/>
          </a:ln>
          <a:effectLst>
            <a:outerShdw blurRad="774700" dist="457200" dir="5400000" sx="75000" sy="75000" algn="t" rotWithShape="0">
              <a:prstClr val="black">
                <a:alpha val="40000"/>
              </a:prstClr>
            </a:outerShdw>
          </a:effectLst>
        </p:spPr>
        <p:txBody>
          <a:bodyPr wrap="square">
            <a:noAutofit/>
          </a:bodyPr>
          <a:lstStyle>
            <a:lvl1pPr>
              <a:defRPr sz="2800"/>
            </a:lvl1pPr>
          </a:lstStyle>
          <a:p>
            <a:r>
              <a:rPr lang="zh-CN" altLang="en-US" dirty="0"/>
              <a:t>单机中间图标添加图片</a:t>
            </a:r>
            <a:endParaRPr lang="zh-CN" altLang="en-US" dirty="0"/>
          </a:p>
        </p:txBody>
      </p:sp>
      <p:sp>
        <p:nvSpPr>
          <p:cNvPr id="62" name="文本框 61"/>
          <p:cNvSpPr txBox="1"/>
          <p:nvPr userDrawn="1"/>
        </p:nvSpPr>
        <p:spPr>
          <a:xfrm>
            <a:off x="10979514" y="6472841"/>
            <a:ext cx="1055986" cy="400110"/>
          </a:xfrm>
          <a:prstGeom prst="rect">
            <a:avLst/>
          </a:prstGeom>
          <a:noFill/>
        </p:spPr>
        <p:txBody>
          <a:bodyPr wrap="square" rtlCol="0">
            <a:spAutoFit/>
          </a:bodyPr>
          <a:lstStyle/>
          <a:p>
            <a:pPr algn="dist"/>
            <a:r>
              <a:rPr lang="zh-CN" altLang="en-US" sz="2000" dirty="0">
                <a:solidFill>
                  <a:srgbClr val="1779B2"/>
                </a:solidFill>
                <a:latin typeface="华文行楷" panose="02010800040101010101" pitchFamily="2" charset="-122"/>
                <a:ea typeface="华文行楷" panose="02010800040101010101" pitchFamily="2" charset="-122"/>
              </a:rPr>
              <a:t>第</a:t>
            </a:r>
            <a:r>
              <a:rPr lang="en-US" altLang="zh-CN" sz="2000" dirty="0">
                <a:solidFill>
                  <a:srgbClr val="1779B2"/>
                </a:solidFill>
                <a:latin typeface="华文行楷" panose="02010800040101010101" pitchFamily="2" charset="-122"/>
                <a:ea typeface="华文行楷" panose="02010800040101010101" pitchFamily="2" charset="-122"/>
              </a:rPr>
              <a:t> </a:t>
            </a:r>
            <a:r>
              <a:rPr lang="en-US" altLang="zh-CN" sz="2000" dirty="0">
                <a:solidFill>
                  <a:srgbClr val="4472C4"/>
                </a:solidFill>
                <a:latin typeface="华文行楷" panose="02010800040101010101" pitchFamily="2" charset="-122"/>
                <a:ea typeface="华文行楷" panose="02010800040101010101" pitchFamily="2" charset="-122"/>
              </a:rPr>
              <a:t> </a:t>
            </a:r>
            <a:r>
              <a:rPr lang="zh-CN" altLang="en-US" sz="2000" dirty="0">
                <a:solidFill>
                  <a:srgbClr val="1779B2"/>
                </a:solidFill>
                <a:latin typeface="华文行楷" panose="02010800040101010101" pitchFamily="2" charset="-122"/>
                <a:ea typeface="华文行楷" panose="02010800040101010101" pitchFamily="2" charset="-122"/>
              </a:rPr>
              <a:t>页</a:t>
            </a:r>
            <a:endParaRPr lang="zh-CN" altLang="en-US" sz="2000" dirty="0">
              <a:solidFill>
                <a:srgbClr val="1779B2"/>
              </a:solidFill>
              <a:latin typeface="华文行楷" panose="02010800040101010101" pitchFamily="2" charset="-122"/>
              <a:ea typeface="华文行楷" panose="02010800040101010101" pitchFamily="2" charset="-122"/>
            </a:endParaRPr>
          </a:p>
        </p:txBody>
      </p:sp>
      <p:sp>
        <p:nvSpPr>
          <p:cNvPr id="65" name="矩形 64"/>
          <p:cNvSpPr/>
          <p:nvPr userDrawn="1"/>
        </p:nvSpPr>
        <p:spPr>
          <a:xfrm>
            <a:off x="0" y="231494"/>
            <a:ext cx="304800"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userDrawn="1"/>
        </p:nvSpPr>
        <p:spPr>
          <a:xfrm>
            <a:off x="1421382" y="231494"/>
            <a:ext cx="8049190"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7" name="图片 66"/>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554195" y="229150"/>
            <a:ext cx="2233926" cy="555583"/>
          </a:xfrm>
          <a:prstGeom prst="rect">
            <a:avLst/>
          </a:prstGeom>
        </p:spPr>
      </p:pic>
      <p:pic>
        <p:nvPicPr>
          <p:cNvPr id="68" name="图片 67"/>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441789" y="230688"/>
            <a:ext cx="604520" cy="604520"/>
          </a:xfrm>
          <a:prstGeom prst="ellipse">
            <a:avLst/>
          </a:prstGeom>
        </p:spPr>
      </p:pic>
      <p:sp>
        <p:nvSpPr>
          <p:cNvPr id="69" name="矩形 68"/>
          <p:cNvSpPr/>
          <p:nvPr userDrawn="1"/>
        </p:nvSpPr>
        <p:spPr>
          <a:xfrm>
            <a:off x="11871745" y="231494"/>
            <a:ext cx="320255"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userDrawn="1"/>
        </p:nvSpPr>
        <p:spPr>
          <a:xfrm>
            <a:off x="1183298" y="231494"/>
            <a:ext cx="238083"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内容占位符 12"/>
          <p:cNvSpPr>
            <a:spLocks noGrp="1"/>
          </p:cNvSpPr>
          <p:nvPr>
            <p:ph sz="quarter" idx="14" hasCustomPrompt="1"/>
          </p:nvPr>
        </p:nvSpPr>
        <p:spPr>
          <a:xfrm>
            <a:off x="1231068" y="296983"/>
            <a:ext cx="7206546" cy="471930"/>
          </a:xfrm>
          <a:prstGeom prst="rect">
            <a:avLst/>
          </a:prstGeom>
        </p:spPr>
        <p:txBody>
          <a:bodyPr/>
          <a:lstStyle>
            <a:lvl1pPr marL="0" indent="0">
              <a:buNone/>
              <a:defRPr b="1" spc="300">
                <a:solidFill>
                  <a:schemeClr val="bg1"/>
                </a:solidFill>
                <a:latin typeface="微软雅黑" panose="020B0503020204020204" pitchFamily="34" charset="-122"/>
                <a:ea typeface="微软雅黑" panose="020B0503020204020204" pitchFamily="34" charset="-122"/>
              </a:defRPr>
            </a:lvl1pPr>
          </a:lstStyle>
          <a:p>
            <a:pPr lvl="0"/>
            <a:r>
              <a:rPr lang="zh-CN" altLang="en-US" dirty="0"/>
              <a:t>单击此处添加标题</a:t>
            </a:r>
            <a:endParaRPr lang="zh-CN" altLang="en-US" dirty="0"/>
          </a:p>
        </p:txBody>
      </p:sp>
      <p:sp>
        <p:nvSpPr>
          <p:cNvPr id="72" name="文本框 71"/>
          <p:cNvSpPr txBox="1"/>
          <p:nvPr userDrawn="1"/>
        </p:nvSpPr>
        <p:spPr>
          <a:xfrm>
            <a:off x="185893" y="6428140"/>
            <a:ext cx="1467068" cy="400110"/>
          </a:xfrm>
          <a:prstGeom prst="rect">
            <a:avLst/>
          </a:prstGeom>
          <a:noFill/>
        </p:spPr>
        <p:txBody>
          <a:bodyPr wrap="none" rtlCol="0">
            <a:spAutoFit/>
          </a:bodyPr>
          <a:lstStyle/>
          <a:p>
            <a:r>
              <a:rPr lang="zh-CN" altLang="en-US" sz="2000" dirty="0">
                <a:solidFill>
                  <a:srgbClr val="1779B2"/>
                </a:solidFill>
                <a:latin typeface="华文行楷" panose="02010800040101010101" pitchFamily="2" charset="-122"/>
                <a:ea typeface="华文行楷" panose="02010800040101010101" pitchFamily="2" charset="-122"/>
              </a:rPr>
              <a:t>自强</a:t>
            </a:r>
            <a:r>
              <a:rPr lang="en-US" altLang="zh-CN" sz="2000" dirty="0">
                <a:solidFill>
                  <a:srgbClr val="1779B2"/>
                </a:solidFill>
                <a:latin typeface="华文行楷" panose="02010800040101010101" pitchFamily="2" charset="-122"/>
                <a:ea typeface="华文行楷" panose="02010800040101010101" pitchFamily="2" charset="-122"/>
              </a:rPr>
              <a:t>·</a:t>
            </a:r>
            <a:r>
              <a:rPr lang="zh-CN" altLang="en-US" sz="2000" dirty="0">
                <a:solidFill>
                  <a:srgbClr val="1779B2"/>
                </a:solidFill>
                <a:latin typeface="华文行楷" panose="02010800040101010101" pitchFamily="2" charset="-122"/>
                <a:ea typeface="华文行楷" panose="02010800040101010101" pitchFamily="2" charset="-122"/>
              </a:rPr>
              <a:t>笃行</a:t>
            </a:r>
            <a:endParaRPr lang="zh-CN" altLang="en-US" sz="2000" dirty="0">
              <a:solidFill>
                <a:srgbClr val="1779B2"/>
              </a:solidFill>
              <a:latin typeface="华文行楷" panose="02010800040101010101" pitchFamily="2" charset="-122"/>
              <a:ea typeface="华文行楷" panose="02010800040101010101" pitchFamily="2" charset="-122"/>
            </a:endParaRPr>
          </a:p>
        </p:txBody>
      </p:sp>
      <p:sp>
        <p:nvSpPr>
          <p:cNvPr id="74" name="灯片编号占位符 6"/>
          <p:cNvSpPr>
            <a:spLocks noGrp="1"/>
          </p:cNvSpPr>
          <p:nvPr>
            <p:ph type="sldNum" sz="quarter" idx="15"/>
          </p:nvPr>
        </p:nvSpPr>
        <p:spPr>
          <a:xfrm>
            <a:off x="11271286" y="6479425"/>
            <a:ext cx="472440" cy="365125"/>
          </a:xfrm>
          <a:prstGeom prst="rect">
            <a:avLst/>
          </a:prstGeom>
        </p:spPr>
        <p:txBody>
          <a:bodyPr/>
          <a:lstStyle>
            <a:lvl1pPr algn="ctr">
              <a:defRPr sz="1800" b="1">
                <a:solidFill>
                  <a:schemeClr val="accent5">
                    <a:lumMod val="50000"/>
                  </a:schemeClr>
                </a:solidFill>
                <a:latin typeface="Arial" panose="020B0604020202020204" pitchFamily="34" charset="0"/>
                <a:cs typeface="Arial" panose="020B0604020202020204" pitchFamily="34" charset="0"/>
              </a:defRPr>
            </a:lvl1pPr>
          </a:lstStyle>
          <a:p>
            <a:fld id="{71743F2B-DC0D-40A2-8B22-7E1877618B96}"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内容页-二项图文">
    <p:spTree>
      <p:nvGrpSpPr>
        <p:cNvPr id="1" name=""/>
        <p:cNvGrpSpPr/>
        <p:nvPr/>
      </p:nvGrpSpPr>
      <p:grpSpPr>
        <a:xfrm>
          <a:off x="0" y="0"/>
          <a:ext cx="0" cy="0"/>
          <a:chOff x="0" y="0"/>
          <a:chExt cx="0" cy="0"/>
        </a:xfrm>
      </p:grpSpPr>
      <p:sp>
        <p:nvSpPr>
          <p:cNvPr id="53" name="图片占位符 74"/>
          <p:cNvSpPr>
            <a:spLocks noGrp="1"/>
          </p:cNvSpPr>
          <p:nvPr>
            <p:ph type="pic" sz="quarter" idx="10" hasCustomPrompt="1"/>
          </p:nvPr>
        </p:nvSpPr>
        <p:spPr>
          <a:xfrm>
            <a:off x="7229236" y="1041145"/>
            <a:ext cx="3602353" cy="2392608"/>
          </a:xfrm>
          <a:custGeom>
            <a:avLst/>
            <a:gdLst>
              <a:gd name="connsiteX0" fmla="*/ 0 w 3370863"/>
              <a:gd name="connsiteY0" fmla="*/ 0 h 2238857"/>
              <a:gd name="connsiteX1" fmla="*/ 3370863 w 3370863"/>
              <a:gd name="connsiteY1" fmla="*/ 0 h 2238857"/>
              <a:gd name="connsiteX2" fmla="*/ 3370863 w 3370863"/>
              <a:gd name="connsiteY2" fmla="*/ 2238857 h 2238857"/>
              <a:gd name="connsiteX3" fmla="*/ 0 w 3370863"/>
              <a:gd name="connsiteY3" fmla="*/ 2238857 h 2238857"/>
            </a:gdLst>
            <a:ahLst/>
            <a:cxnLst>
              <a:cxn ang="0">
                <a:pos x="connsiteX0" y="connsiteY0"/>
              </a:cxn>
              <a:cxn ang="0">
                <a:pos x="connsiteX1" y="connsiteY1"/>
              </a:cxn>
              <a:cxn ang="0">
                <a:pos x="connsiteX2" y="connsiteY2"/>
              </a:cxn>
              <a:cxn ang="0">
                <a:pos x="connsiteX3" y="connsiteY3"/>
              </a:cxn>
            </a:cxnLst>
            <a:rect l="l" t="t" r="r" b="b"/>
            <a:pathLst>
              <a:path w="3370863" h="2238857">
                <a:moveTo>
                  <a:pt x="0" y="0"/>
                </a:moveTo>
                <a:lnTo>
                  <a:pt x="3370863" y="0"/>
                </a:lnTo>
                <a:lnTo>
                  <a:pt x="3370863" y="2238857"/>
                </a:lnTo>
                <a:lnTo>
                  <a:pt x="0" y="2238857"/>
                </a:lnTo>
                <a:close/>
              </a:path>
            </a:pathLst>
          </a:custGeom>
          <a:solidFill>
            <a:schemeClr val="accent2">
              <a:lumMod val="40000"/>
              <a:lumOff val="60000"/>
            </a:schemeClr>
          </a:solidFill>
          <a:ln w="95250">
            <a:solidFill>
              <a:schemeClr val="bg1"/>
            </a:solidFill>
            <a:miter lim="800000"/>
          </a:ln>
          <a:effectLst>
            <a:outerShdw blurRad="774700" dist="457200" dir="5400000" sx="75000" sy="75000" algn="t" rotWithShape="0">
              <a:prstClr val="black">
                <a:alpha val="40000"/>
              </a:prstClr>
            </a:outerShdw>
          </a:effectLst>
        </p:spPr>
        <p:txBody>
          <a:bodyPr wrap="square">
            <a:noAutofit/>
          </a:bodyPr>
          <a:lstStyle>
            <a:lvl1pPr>
              <a:defRPr sz="2800"/>
            </a:lvl1pPr>
          </a:lstStyle>
          <a:p>
            <a:r>
              <a:rPr lang="zh-CN" altLang="en-US" dirty="0"/>
              <a:t>单机中间图标添加图片</a:t>
            </a:r>
            <a:endParaRPr lang="zh-CN" altLang="en-US" dirty="0"/>
          </a:p>
        </p:txBody>
      </p:sp>
      <p:sp>
        <p:nvSpPr>
          <p:cNvPr id="61" name="图片占位符 74"/>
          <p:cNvSpPr>
            <a:spLocks noGrp="1"/>
          </p:cNvSpPr>
          <p:nvPr>
            <p:ph type="pic" sz="quarter" idx="11" hasCustomPrompt="1"/>
          </p:nvPr>
        </p:nvSpPr>
        <p:spPr>
          <a:xfrm>
            <a:off x="7229236" y="3745319"/>
            <a:ext cx="3602353" cy="2392608"/>
          </a:xfrm>
          <a:custGeom>
            <a:avLst/>
            <a:gdLst>
              <a:gd name="connsiteX0" fmla="*/ 0 w 3370863"/>
              <a:gd name="connsiteY0" fmla="*/ 0 h 2238857"/>
              <a:gd name="connsiteX1" fmla="*/ 3370863 w 3370863"/>
              <a:gd name="connsiteY1" fmla="*/ 0 h 2238857"/>
              <a:gd name="connsiteX2" fmla="*/ 3370863 w 3370863"/>
              <a:gd name="connsiteY2" fmla="*/ 2238857 h 2238857"/>
              <a:gd name="connsiteX3" fmla="*/ 0 w 3370863"/>
              <a:gd name="connsiteY3" fmla="*/ 2238857 h 2238857"/>
            </a:gdLst>
            <a:ahLst/>
            <a:cxnLst>
              <a:cxn ang="0">
                <a:pos x="connsiteX0" y="connsiteY0"/>
              </a:cxn>
              <a:cxn ang="0">
                <a:pos x="connsiteX1" y="connsiteY1"/>
              </a:cxn>
              <a:cxn ang="0">
                <a:pos x="connsiteX2" y="connsiteY2"/>
              </a:cxn>
              <a:cxn ang="0">
                <a:pos x="connsiteX3" y="connsiteY3"/>
              </a:cxn>
            </a:cxnLst>
            <a:rect l="l" t="t" r="r" b="b"/>
            <a:pathLst>
              <a:path w="3370863" h="2238857">
                <a:moveTo>
                  <a:pt x="0" y="0"/>
                </a:moveTo>
                <a:lnTo>
                  <a:pt x="3370863" y="0"/>
                </a:lnTo>
                <a:lnTo>
                  <a:pt x="3370863" y="2238857"/>
                </a:lnTo>
                <a:lnTo>
                  <a:pt x="0" y="2238857"/>
                </a:lnTo>
                <a:close/>
              </a:path>
            </a:pathLst>
          </a:custGeom>
          <a:solidFill>
            <a:schemeClr val="accent2">
              <a:lumMod val="40000"/>
              <a:lumOff val="60000"/>
            </a:schemeClr>
          </a:solidFill>
          <a:ln w="95250">
            <a:solidFill>
              <a:schemeClr val="bg1"/>
            </a:solidFill>
            <a:miter lim="800000"/>
          </a:ln>
          <a:effectLst>
            <a:outerShdw blurRad="774700" dist="457200" dir="5400000" sx="75000" sy="75000" algn="t" rotWithShape="0">
              <a:prstClr val="black">
                <a:alpha val="40000"/>
              </a:prstClr>
            </a:outerShdw>
          </a:effectLst>
        </p:spPr>
        <p:txBody>
          <a:bodyPr wrap="square">
            <a:noAutofit/>
          </a:bodyPr>
          <a:lstStyle>
            <a:lvl1pPr>
              <a:defRPr sz="2800"/>
            </a:lvl1pPr>
          </a:lstStyle>
          <a:p>
            <a:r>
              <a:rPr lang="zh-CN" altLang="en-US" dirty="0"/>
              <a:t>单机中间图标添加图片</a:t>
            </a:r>
            <a:endParaRPr lang="zh-CN" altLang="en-US" dirty="0"/>
          </a:p>
        </p:txBody>
      </p:sp>
      <p:sp>
        <p:nvSpPr>
          <p:cNvPr id="64" name="文本框 63"/>
          <p:cNvSpPr txBox="1"/>
          <p:nvPr userDrawn="1"/>
        </p:nvSpPr>
        <p:spPr>
          <a:xfrm>
            <a:off x="10979514" y="6472841"/>
            <a:ext cx="1055986" cy="400110"/>
          </a:xfrm>
          <a:prstGeom prst="rect">
            <a:avLst/>
          </a:prstGeom>
          <a:noFill/>
        </p:spPr>
        <p:txBody>
          <a:bodyPr wrap="square" rtlCol="0">
            <a:spAutoFit/>
          </a:bodyPr>
          <a:lstStyle/>
          <a:p>
            <a:pPr algn="dist"/>
            <a:r>
              <a:rPr lang="zh-CN" altLang="en-US" sz="2000" dirty="0">
                <a:solidFill>
                  <a:srgbClr val="1779B2"/>
                </a:solidFill>
                <a:latin typeface="华文行楷" panose="02010800040101010101" pitchFamily="2" charset="-122"/>
                <a:ea typeface="华文行楷" panose="02010800040101010101" pitchFamily="2" charset="-122"/>
              </a:rPr>
              <a:t>第</a:t>
            </a:r>
            <a:r>
              <a:rPr lang="en-US" altLang="zh-CN" sz="2000" dirty="0">
                <a:solidFill>
                  <a:srgbClr val="1779B2"/>
                </a:solidFill>
                <a:latin typeface="华文行楷" panose="02010800040101010101" pitchFamily="2" charset="-122"/>
                <a:ea typeface="华文行楷" panose="02010800040101010101" pitchFamily="2" charset="-122"/>
              </a:rPr>
              <a:t> </a:t>
            </a:r>
            <a:r>
              <a:rPr lang="en-US" altLang="zh-CN" sz="2000" dirty="0">
                <a:solidFill>
                  <a:srgbClr val="4472C4"/>
                </a:solidFill>
                <a:latin typeface="华文行楷" panose="02010800040101010101" pitchFamily="2" charset="-122"/>
                <a:ea typeface="华文行楷" panose="02010800040101010101" pitchFamily="2" charset="-122"/>
              </a:rPr>
              <a:t> </a:t>
            </a:r>
            <a:r>
              <a:rPr lang="zh-CN" altLang="en-US" sz="2000" dirty="0">
                <a:solidFill>
                  <a:srgbClr val="1779B2"/>
                </a:solidFill>
                <a:latin typeface="华文行楷" panose="02010800040101010101" pitchFamily="2" charset="-122"/>
                <a:ea typeface="华文行楷" panose="02010800040101010101" pitchFamily="2" charset="-122"/>
              </a:rPr>
              <a:t>页</a:t>
            </a:r>
            <a:endParaRPr lang="zh-CN" altLang="en-US" sz="2000" dirty="0">
              <a:solidFill>
                <a:srgbClr val="1779B2"/>
              </a:solidFill>
              <a:latin typeface="华文行楷" panose="02010800040101010101" pitchFamily="2" charset="-122"/>
              <a:ea typeface="华文行楷" panose="02010800040101010101" pitchFamily="2" charset="-122"/>
            </a:endParaRPr>
          </a:p>
        </p:txBody>
      </p:sp>
      <p:sp>
        <p:nvSpPr>
          <p:cNvPr id="65" name="矩形 64"/>
          <p:cNvSpPr/>
          <p:nvPr userDrawn="1"/>
        </p:nvSpPr>
        <p:spPr>
          <a:xfrm>
            <a:off x="0" y="231494"/>
            <a:ext cx="304800"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userDrawn="1"/>
        </p:nvSpPr>
        <p:spPr>
          <a:xfrm>
            <a:off x="1421382" y="231494"/>
            <a:ext cx="8049190"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7" name="图片 66"/>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554195" y="229150"/>
            <a:ext cx="2233926" cy="555583"/>
          </a:xfrm>
          <a:prstGeom prst="rect">
            <a:avLst/>
          </a:prstGeom>
        </p:spPr>
      </p:pic>
      <p:pic>
        <p:nvPicPr>
          <p:cNvPr id="68" name="图片 67"/>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441789" y="230688"/>
            <a:ext cx="604520" cy="604520"/>
          </a:xfrm>
          <a:prstGeom prst="ellipse">
            <a:avLst/>
          </a:prstGeom>
        </p:spPr>
      </p:pic>
      <p:sp>
        <p:nvSpPr>
          <p:cNvPr id="70" name="矩形 69"/>
          <p:cNvSpPr/>
          <p:nvPr userDrawn="1"/>
        </p:nvSpPr>
        <p:spPr>
          <a:xfrm>
            <a:off x="11871745" y="231494"/>
            <a:ext cx="320255"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userDrawn="1"/>
        </p:nvSpPr>
        <p:spPr>
          <a:xfrm>
            <a:off x="1183298" y="231494"/>
            <a:ext cx="238083"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内容占位符 12"/>
          <p:cNvSpPr>
            <a:spLocks noGrp="1"/>
          </p:cNvSpPr>
          <p:nvPr>
            <p:ph sz="quarter" idx="14" hasCustomPrompt="1"/>
          </p:nvPr>
        </p:nvSpPr>
        <p:spPr>
          <a:xfrm>
            <a:off x="1231068" y="296983"/>
            <a:ext cx="7206546" cy="471930"/>
          </a:xfrm>
          <a:prstGeom prst="rect">
            <a:avLst/>
          </a:prstGeom>
        </p:spPr>
        <p:txBody>
          <a:bodyPr/>
          <a:lstStyle>
            <a:lvl1pPr marL="0" indent="0">
              <a:buNone/>
              <a:defRPr b="1" spc="300">
                <a:solidFill>
                  <a:schemeClr val="bg1"/>
                </a:solidFill>
                <a:latin typeface="微软雅黑" panose="020B0503020204020204" pitchFamily="34" charset="-122"/>
                <a:ea typeface="微软雅黑" panose="020B0503020204020204" pitchFamily="34" charset="-122"/>
              </a:defRPr>
            </a:lvl1pPr>
          </a:lstStyle>
          <a:p>
            <a:pPr lvl="0"/>
            <a:r>
              <a:rPr lang="zh-CN" altLang="en-US" dirty="0"/>
              <a:t>单击此处添加标题</a:t>
            </a:r>
            <a:endParaRPr lang="zh-CN" altLang="en-US" dirty="0"/>
          </a:p>
        </p:txBody>
      </p:sp>
      <p:sp>
        <p:nvSpPr>
          <p:cNvPr id="74" name="文本框 73"/>
          <p:cNvSpPr txBox="1"/>
          <p:nvPr userDrawn="1"/>
        </p:nvSpPr>
        <p:spPr>
          <a:xfrm>
            <a:off x="185893" y="6428140"/>
            <a:ext cx="1467068" cy="400110"/>
          </a:xfrm>
          <a:prstGeom prst="rect">
            <a:avLst/>
          </a:prstGeom>
          <a:noFill/>
        </p:spPr>
        <p:txBody>
          <a:bodyPr wrap="none" rtlCol="0">
            <a:spAutoFit/>
          </a:bodyPr>
          <a:lstStyle/>
          <a:p>
            <a:r>
              <a:rPr lang="zh-CN" altLang="en-US" sz="2000" dirty="0">
                <a:solidFill>
                  <a:srgbClr val="1779B2"/>
                </a:solidFill>
                <a:latin typeface="华文行楷" panose="02010800040101010101" pitchFamily="2" charset="-122"/>
                <a:ea typeface="华文行楷" panose="02010800040101010101" pitchFamily="2" charset="-122"/>
              </a:rPr>
              <a:t>自强</a:t>
            </a:r>
            <a:r>
              <a:rPr lang="en-US" altLang="zh-CN" sz="2000" dirty="0">
                <a:solidFill>
                  <a:srgbClr val="1779B2"/>
                </a:solidFill>
                <a:latin typeface="华文行楷" panose="02010800040101010101" pitchFamily="2" charset="-122"/>
                <a:ea typeface="华文行楷" panose="02010800040101010101" pitchFamily="2" charset="-122"/>
              </a:rPr>
              <a:t>·</a:t>
            </a:r>
            <a:r>
              <a:rPr lang="zh-CN" altLang="en-US" sz="2000" dirty="0">
                <a:solidFill>
                  <a:srgbClr val="1779B2"/>
                </a:solidFill>
                <a:latin typeface="华文行楷" panose="02010800040101010101" pitchFamily="2" charset="-122"/>
                <a:ea typeface="华文行楷" panose="02010800040101010101" pitchFamily="2" charset="-122"/>
              </a:rPr>
              <a:t>笃行</a:t>
            </a:r>
            <a:endParaRPr lang="zh-CN" altLang="en-US" sz="2000" dirty="0">
              <a:solidFill>
                <a:srgbClr val="1779B2"/>
              </a:solidFill>
              <a:latin typeface="华文行楷" panose="02010800040101010101" pitchFamily="2" charset="-122"/>
              <a:ea typeface="华文行楷" panose="02010800040101010101" pitchFamily="2" charset="-122"/>
            </a:endParaRPr>
          </a:p>
        </p:txBody>
      </p:sp>
      <p:sp>
        <p:nvSpPr>
          <p:cNvPr id="75" name="灯片编号占位符 6"/>
          <p:cNvSpPr>
            <a:spLocks noGrp="1"/>
          </p:cNvSpPr>
          <p:nvPr>
            <p:ph type="sldNum" sz="quarter" idx="15"/>
          </p:nvPr>
        </p:nvSpPr>
        <p:spPr>
          <a:xfrm>
            <a:off x="11271286" y="6479425"/>
            <a:ext cx="472440" cy="365125"/>
          </a:xfrm>
          <a:prstGeom prst="rect">
            <a:avLst/>
          </a:prstGeom>
        </p:spPr>
        <p:txBody>
          <a:bodyPr/>
          <a:lstStyle>
            <a:lvl1pPr algn="ctr">
              <a:defRPr sz="1800" b="1">
                <a:solidFill>
                  <a:schemeClr val="accent5">
                    <a:lumMod val="50000"/>
                  </a:schemeClr>
                </a:solidFill>
                <a:latin typeface="Arial" panose="020B0604020202020204" pitchFamily="34" charset="0"/>
                <a:cs typeface="Arial" panose="020B0604020202020204" pitchFamily="34" charset="0"/>
              </a:defRPr>
            </a:lvl1pPr>
          </a:lstStyle>
          <a:p>
            <a:fld id="{71743F2B-DC0D-40A2-8B22-7E1877618B96}"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内容页-danxinag ">
    <p:spTree>
      <p:nvGrpSpPr>
        <p:cNvPr id="1" name=""/>
        <p:cNvGrpSpPr/>
        <p:nvPr/>
      </p:nvGrpSpPr>
      <p:grpSpPr>
        <a:xfrm>
          <a:off x="0" y="0"/>
          <a:ext cx="0" cy="0"/>
          <a:chOff x="0" y="0"/>
          <a:chExt cx="0" cy="0"/>
        </a:xfrm>
      </p:grpSpPr>
      <p:sp>
        <p:nvSpPr>
          <p:cNvPr id="62" name="图片占位符 61"/>
          <p:cNvSpPr>
            <a:spLocks noGrp="1"/>
          </p:cNvSpPr>
          <p:nvPr>
            <p:ph type="pic" sz="quarter" idx="10" hasCustomPrompt="1"/>
          </p:nvPr>
        </p:nvSpPr>
        <p:spPr>
          <a:xfrm>
            <a:off x="1091719" y="1370263"/>
            <a:ext cx="3282796" cy="4716212"/>
          </a:xfrm>
          <a:custGeom>
            <a:avLst/>
            <a:gdLst>
              <a:gd name="connsiteX0" fmla="*/ 0 w 3282796"/>
              <a:gd name="connsiteY0" fmla="*/ 0 h 4716212"/>
              <a:gd name="connsiteX1" fmla="*/ 3282796 w 3282796"/>
              <a:gd name="connsiteY1" fmla="*/ 0 h 4716212"/>
              <a:gd name="connsiteX2" fmla="*/ 3282796 w 3282796"/>
              <a:gd name="connsiteY2" fmla="*/ 4716212 h 4716212"/>
              <a:gd name="connsiteX3" fmla="*/ 0 w 3282796"/>
              <a:gd name="connsiteY3" fmla="*/ 4716212 h 4716212"/>
            </a:gdLst>
            <a:ahLst/>
            <a:cxnLst>
              <a:cxn ang="0">
                <a:pos x="connsiteX0" y="connsiteY0"/>
              </a:cxn>
              <a:cxn ang="0">
                <a:pos x="connsiteX1" y="connsiteY1"/>
              </a:cxn>
              <a:cxn ang="0">
                <a:pos x="connsiteX2" y="connsiteY2"/>
              </a:cxn>
              <a:cxn ang="0">
                <a:pos x="connsiteX3" y="connsiteY3"/>
              </a:cxn>
            </a:cxnLst>
            <a:rect l="l" t="t" r="r" b="b"/>
            <a:pathLst>
              <a:path w="3282796" h="4716212">
                <a:moveTo>
                  <a:pt x="0" y="0"/>
                </a:moveTo>
                <a:lnTo>
                  <a:pt x="3282796" y="0"/>
                </a:lnTo>
                <a:lnTo>
                  <a:pt x="3282796" y="4716212"/>
                </a:lnTo>
                <a:lnTo>
                  <a:pt x="0" y="4716212"/>
                </a:lnTo>
                <a:close/>
              </a:path>
            </a:pathLst>
          </a:custGeom>
          <a:solidFill>
            <a:schemeClr val="accent2">
              <a:lumMod val="40000"/>
              <a:lumOff val="60000"/>
            </a:schemeClr>
          </a:solidFill>
          <a:ln w="98425">
            <a:solidFill>
              <a:schemeClr val="bg1"/>
            </a:solidFill>
            <a:miter lim="800000"/>
          </a:ln>
          <a:effectLst>
            <a:outerShdw blurRad="698500" dist="406400" dir="5400000" sx="97000" sy="97000" algn="t" rotWithShape="0">
              <a:prstClr val="black">
                <a:alpha val="26000"/>
              </a:prstClr>
            </a:outerShdw>
          </a:effectLst>
        </p:spPr>
        <p:txBody>
          <a:bodyPr wrap="square">
            <a:noAutofit/>
          </a:bodyPr>
          <a:lstStyle>
            <a:lvl1pPr>
              <a:defRPr sz="2800"/>
            </a:lvl1pPr>
          </a:lstStyle>
          <a:p>
            <a:r>
              <a:rPr lang="zh-CN" altLang="en-US" dirty="0"/>
              <a:t>单机中间图标添加图片</a:t>
            </a:r>
            <a:endParaRPr lang="zh-CN" altLang="en-US" dirty="0"/>
          </a:p>
        </p:txBody>
      </p:sp>
      <p:sp>
        <p:nvSpPr>
          <p:cNvPr id="61" name="文本框 60"/>
          <p:cNvSpPr txBox="1"/>
          <p:nvPr userDrawn="1"/>
        </p:nvSpPr>
        <p:spPr>
          <a:xfrm>
            <a:off x="10979514" y="6472841"/>
            <a:ext cx="1055986" cy="400110"/>
          </a:xfrm>
          <a:prstGeom prst="rect">
            <a:avLst/>
          </a:prstGeom>
          <a:noFill/>
        </p:spPr>
        <p:txBody>
          <a:bodyPr wrap="square" rtlCol="0">
            <a:spAutoFit/>
          </a:bodyPr>
          <a:lstStyle/>
          <a:p>
            <a:pPr algn="dist"/>
            <a:r>
              <a:rPr lang="zh-CN" altLang="en-US" sz="2000" dirty="0">
                <a:solidFill>
                  <a:srgbClr val="1779B2"/>
                </a:solidFill>
                <a:latin typeface="华文行楷" panose="02010800040101010101" pitchFamily="2" charset="-122"/>
                <a:ea typeface="华文行楷" panose="02010800040101010101" pitchFamily="2" charset="-122"/>
              </a:rPr>
              <a:t>第</a:t>
            </a:r>
            <a:r>
              <a:rPr lang="en-US" altLang="zh-CN" sz="2000" dirty="0">
                <a:solidFill>
                  <a:srgbClr val="1779B2"/>
                </a:solidFill>
                <a:latin typeface="华文行楷" panose="02010800040101010101" pitchFamily="2" charset="-122"/>
                <a:ea typeface="华文行楷" panose="02010800040101010101" pitchFamily="2" charset="-122"/>
              </a:rPr>
              <a:t> </a:t>
            </a:r>
            <a:r>
              <a:rPr lang="en-US" altLang="zh-CN" sz="2000" dirty="0">
                <a:solidFill>
                  <a:srgbClr val="4472C4"/>
                </a:solidFill>
                <a:latin typeface="华文行楷" panose="02010800040101010101" pitchFamily="2" charset="-122"/>
                <a:ea typeface="华文行楷" panose="02010800040101010101" pitchFamily="2" charset="-122"/>
              </a:rPr>
              <a:t> </a:t>
            </a:r>
            <a:r>
              <a:rPr lang="zh-CN" altLang="en-US" sz="2000" dirty="0">
                <a:solidFill>
                  <a:srgbClr val="1779B2"/>
                </a:solidFill>
                <a:latin typeface="华文行楷" panose="02010800040101010101" pitchFamily="2" charset="-122"/>
                <a:ea typeface="华文行楷" panose="02010800040101010101" pitchFamily="2" charset="-122"/>
              </a:rPr>
              <a:t>页</a:t>
            </a:r>
            <a:endParaRPr lang="zh-CN" altLang="en-US" sz="2000" dirty="0">
              <a:solidFill>
                <a:srgbClr val="1779B2"/>
              </a:solidFill>
              <a:latin typeface="华文行楷" panose="02010800040101010101" pitchFamily="2" charset="-122"/>
              <a:ea typeface="华文行楷" panose="02010800040101010101" pitchFamily="2" charset="-122"/>
            </a:endParaRPr>
          </a:p>
        </p:txBody>
      </p:sp>
      <p:sp>
        <p:nvSpPr>
          <p:cNvPr id="65" name="矩形 64"/>
          <p:cNvSpPr/>
          <p:nvPr userDrawn="1"/>
        </p:nvSpPr>
        <p:spPr>
          <a:xfrm>
            <a:off x="0" y="231494"/>
            <a:ext cx="304800"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userDrawn="1"/>
        </p:nvSpPr>
        <p:spPr>
          <a:xfrm>
            <a:off x="1421382" y="231494"/>
            <a:ext cx="8049190"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7" name="图片 66"/>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554195" y="229150"/>
            <a:ext cx="2233926" cy="555583"/>
          </a:xfrm>
          <a:prstGeom prst="rect">
            <a:avLst/>
          </a:prstGeom>
        </p:spPr>
      </p:pic>
      <p:pic>
        <p:nvPicPr>
          <p:cNvPr id="68" name="图片 67"/>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441789" y="230688"/>
            <a:ext cx="604520" cy="604520"/>
          </a:xfrm>
          <a:prstGeom prst="ellipse">
            <a:avLst/>
          </a:prstGeom>
        </p:spPr>
      </p:pic>
      <p:sp>
        <p:nvSpPr>
          <p:cNvPr id="69" name="矩形 68"/>
          <p:cNvSpPr/>
          <p:nvPr userDrawn="1"/>
        </p:nvSpPr>
        <p:spPr>
          <a:xfrm>
            <a:off x="11871745" y="231494"/>
            <a:ext cx="320255"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userDrawn="1"/>
        </p:nvSpPr>
        <p:spPr>
          <a:xfrm>
            <a:off x="1183298" y="231494"/>
            <a:ext cx="238083"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内容占位符 12"/>
          <p:cNvSpPr>
            <a:spLocks noGrp="1"/>
          </p:cNvSpPr>
          <p:nvPr>
            <p:ph sz="quarter" idx="14" hasCustomPrompt="1"/>
          </p:nvPr>
        </p:nvSpPr>
        <p:spPr>
          <a:xfrm>
            <a:off x="1231068" y="296983"/>
            <a:ext cx="7206546" cy="471930"/>
          </a:xfrm>
          <a:prstGeom prst="rect">
            <a:avLst/>
          </a:prstGeom>
        </p:spPr>
        <p:txBody>
          <a:bodyPr/>
          <a:lstStyle>
            <a:lvl1pPr marL="0" indent="0">
              <a:buNone/>
              <a:defRPr b="1" spc="300">
                <a:solidFill>
                  <a:schemeClr val="bg1"/>
                </a:solidFill>
                <a:latin typeface="微软雅黑" panose="020B0503020204020204" pitchFamily="34" charset="-122"/>
                <a:ea typeface="微软雅黑" panose="020B0503020204020204" pitchFamily="34" charset="-122"/>
              </a:defRPr>
            </a:lvl1pPr>
          </a:lstStyle>
          <a:p>
            <a:pPr lvl="0"/>
            <a:r>
              <a:rPr lang="zh-CN" altLang="en-US" dirty="0"/>
              <a:t>单击此处添加标题</a:t>
            </a:r>
            <a:endParaRPr lang="zh-CN" altLang="en-US" dirty="0"/>
          </a:p>
        </p:txBody>
      </p:sp>
      <p:sp>
        <p:nvSpPr>
          <p:cNvPr id="72" name="文本框 71"/>
          <p:cNvSpPr txBox="1"/>
          <p:nvPr userDrawn="1"/>
        </p:nvSpPr>
        <p:spPr>
          <a:xfrm>
            <a:off x="185893" y="6428140"/>
            <a:ext cx="1467068" cy="400110"/>
          </a:xfrm>
          <a:prstGeom prst="rect">
            <a:avLst/>
          </a:prstGeom>
          <a:noFill/>
        </p:spPr>
        <p:txBody>
          <a:bodyPr wrap="none" rtlCol="0">
            <a:spAutoFit/>
          </a:bodyPr>
          <a:lstStyle/>
          <a:p>
            <a:r>
              <a:rPr lang="zh-CN" altLang="en-US" sz="2000" dirty="0">
                <a:solidFill>
                  <a:srgbClr val="1779B2"/>
                </a:solidFill>
                <a:latin typeface="华文行楷" panose="02010800040101010101" pitchFamily="2" charset="-122"/>
                <a:ea typeface="华文行楷" panose="02010800040101010101" pitchFamily="2" charset="-122"/>
              </a:rPr>
              <a:t>自强</a:t>
            </a:r>
            <a:r>
              <a:rPr lang="en-US" altLang="zh-CN" sz="2000" dirty="0">
                <a:solidFill>
                  <a:srgbClr val="1779B2"/>
                </a:solidFill>
                <a:latin typeface="华文行楷" panose="02010800040101010101" pitchFamily="2" charset="-122"/>
                <a:ea typeface="华文行楷" panose="02010800040101010101" pitchFamily="2" charset="-122"/>
              </a:rPr>
              <a:t>·</a:t>
            </a:r>
            <a:r>
              <a:rPr lang="zh-CN" altLang="en-US" sz="2000" dirty="0">
                <a:solidFill>
                  <a:srgbClr val="1779B2"/>
                </a:solidFill>
                <a:latin typeface="华文行楷" panose="02010800040101010101" pitchFamily="2" charset="-122"/>
                <a:ea typeface="华文行楷" panose="02010800040101010101" pitchFamily="2" charset="-122"/>
              </a:rPr>
              <a:t>笃行</a:t>
            </a:r>
            <a:endParaRPr lang="zh-CN" altLang="en-US" sz="2000" dirty="0">
              <a:solidFill>
                <a:srgbClr val="1779B2"/>
              </a:solidFill>
              <a:latin typeface="华文行楷" panose="02010800040101010101" pitchFamily="2" charset="-122"/>
              <a:ea typeface="华文行楷" panose="02010800040101010101" pitchFamily="2" charset="-122"/>
            </a:endParaRPr>
          </a:p>
        </p:txBody>
      </p:sp>
      <p:sp>
        <p:nvSpPr>
          <p:cNvPr id="74" name="灯片编号占位符 6"/>
          <p:cNvSpPr>
            <a:spLocks noGrp="1"/>
          </p:cNvSpPr>
          <p:nvPr>
            <p:ph type="sldNum" sz="quarter" idx="15"/>
          </p:nvPr>
        </p:nvSpPr>
        <p:spPr>
          <a:xfrm>
            <a:off x="11271286" y="6479425"/>
            <a:ext cx="472440" cy="365125"/>
          </a:xfrm>
          <a:prstGeom prst="rect">
            <a:avLst/>
          </a:prstGeom>
        </p:spPr>
        <p:txBody>
          <a:bodyPr/>
          <a:lstStyle>
            <a:lvl1pPr algn="ctr">
              <a:defRPr sz="1800" b="1">
                <a:solidFill>
                  <a:schemeClr val="accent5">
                    <a:lumMod val="50000"/>
                  </a:schemeClr>
                </a:solidFill>
                <a:latin typeface="Arial" panose="020B0604020202020204" pitchFamily="34" charset="0"/>
                <a:cs typeface="Arial" panose="020B0604020202020204" pitchFamily="34" charset="0"/>
              </a:defRPr>
            </a:lvl1pPr>
          </a:lstStyle>
          <a:p>
            <a:fld id="{71743F2B-DC0D-40A2-8B22-7E1877618B96}" type="slidenum">
              <a:rPr lang="zh-CN" altLang="en-US" smtClean="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内容页-三项图文">
    <p:spTree>
      <p:nvGrpSpPr>
        <p:cNvPr id="1" name=""/>
        <p:cNvGrpSpPr/>
        <p:nvPr/>
      </p:nvGrpSpPr>
      <p:grpSpPr>
        <a:xfrm>
          <a:off x="0" y="0"/>
          <a:ext cx="0" cy="0"/>
          <a:chOff x="0" y="0"/>
          <a:chExt cx="0" cy="0"/>
        </a:xfrm>
      </p:grpSpPr>
      <p:sp>
        <p:nvSpPr>
          <p:cNvPr id="65" name="矩形 64"/>
          <p:cNvSpPr/>
          <p:nvPr userDrawn="1"/>
        </p:nvSpPr>
        <p:spPr>
          <a:xfrm>
            <a:off x="0" y="3081986"/>
            <a:ext cx="12192000" cy="110867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6" name="矩形 65"/>
          <p:cNvSpPr/>
          <p:nvPr userDrawn="1"/>
        </p:nvSpPr>
        <p:spPr>
          <a:xfrm>
            <a:off x="-1" y="3122690"/>
            <a:ext cx="12192000" cy="3735310"/>
          </a:xfrm>
          <a:prstGeom prst="rect">
            <a:avLst/>
          </a:prstGeom>
          <a:gradFill>
            <a:gsLst>
              <a:gs pos="100000">
                <a:schemeClr val="accent1"/>
              </a:gs>
              <a:gs pos="0">
                <a:schemeClr val="accent1">
                  <a:lumMod val="7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图片占位符 74"/>
          <p:cNvSpPr>
            <a:spLocks noGrp="1"/>
          </p:cNvSpPr>
          <p:nvPr>
            <p:ph type="pic" sz="quarter" idx="10" hasCustomPrompt="1"/>
          </p:nvPr>
        </p:nvSpPr>
        <p:spPr>
          <a:xfrm>
            <a:off x="924311" y="1688948"/>
            <a:ext cx="3064250" cy="2035212"/>
          </a:xfrm>
          <a:custGeom>
            <a:avLst/>
            <a:gdLst>
              <a:gd name="connsiteX0" fmla="*/ 0 w 3370863"/>
              <a:gd name="connsiteY0" fmla="*/ 0 h 2238857"/>
              <a:gd name="connsiteX1" fmla="*/ 3370863 w 3370863"/>
              <a:gd name="connsiteY1" fmla="*/ 0 h 2238857"/>
              <a:gd name="connsiteX2" fmla="*/ 3370863 w 3370863"/>
              <a:gd name="connsiteY2" fmla="*/ 2238857 h 2238857"/>
              <a:gd name="connsiteX3" fmla="*/ 0 w 3370863"/>
              <a:gd name="connsiteY3" fmla="*/ 2238857 h 2238857"/>
            </a:gdLst>
            <a:ahLst/>
            <a:cxnLst>
              <a:cxn ang="0">
                <a:pos x="connsiteX0" y="connsiteY0"/>
              </a:cxn>
              <a:cxn ang="0">
                <a:pos x="connsiteX1" y="connsiteY1"/>
              </a:cxn>
              <a:cxn ang="0">
                <a:pos x="connsiteX2" y="connsiteY2"/>
              </a:cxn>
              <a:cxn ang="0">
                <a:pos x="connsiteX3" y="connsiteY3"/>
              </a:cxn>
            </a:cxnLst>
            <a:rect l="l" t="t" r="r" b="b"/>
            <a:pathLst>
              <a:path w="3370863" h="2238857">
                <a:moveTo>
                  <a:pt x="0" y="0"/>
                </a:moveTo>
                <a:lnTo>
                  <a:pt x="3370863" y="0"/>
                </a:lnTo>
                <a:lnTo>
                  <a:pt x="3370863" y="2238857"/>
                </a:lnTo>
                <a:lnTo>
                  <a:pt x="0" y="2238857"/>
                </a:lnTo>
                <a:close/>
              </a:path>
            </a:pathLst>
          </a:custGeom>
          <a:solidFill>
            <a:schemeClr val="accent2">
              <a:lumMod val="40000"/>
              <a:lumOff val="60000"/>
            </a:schemeClr>
          </a:solidFill>
          <a:ln w="95250">
            <a:solidFill>
              <a:schemeClr val="bg1"/>
            </a:solidFill>
            <a:miter lim="800000"/>
          </a:ln>
          <a:effectLst>
            <a:outerShdw blurRad="774700" dist="457200" dir="5400000" sx="75000" sy="75000" algn="t" rotWithShape="0">
              <a:prstClr val="black">
                <a:alpha val="40000"/>
              </a:prstClr>
            </a:outerShdw>
          </a:effectLst>
        </p:spPr>
        <p:txBody>
          <a:bodyPr wrap="square">
            <a:noAutofit/>
          </a:bodyPr>
          <a:lstStyle>
            <a:lvl1pPr>
              <a:defRPr sz="2800"/>
            </a:lvl1pPr>
          </a:lstStyle>
          <a:p>
            <a:r>
              <a:rPr lang="zh-CN" altLang="en-US" dirty="0"/>
              <a:t>单机中间图标添加图片</a:t>
            </a:r>
            <a:endParaRPr lang="zh-CN" altLang="en-US" dirty="0"/>
          </a:p>
        </p:txBody>
      </p:sp>
      <p:sp>
        <p:nvSpPr>
          <p:cNvPr id="59" name="图片占位符 80"/>
          <p:cNvSpPr>
            <a:spLocks noGrp="1"/>
          </p:cNvSpPr>
          <p:nvPr>
            <p:ph type="pic" sz="quarter" idx="12" hasCustomPrompt="1"/>
          </p:nvPr>
        </p:nvSpPr>
        <p:spPr>
          <a:xfrm>
            <a:off x="4574801" y="1688948"/>
            <a:ext cx="3064250" cy="2035212"/>
          </a:xfrm>
          <a:custGeom>
            <a:avLst/>
            <a:gdLst>
              <a:gd name="connsiteX0" fmla="*/ 0 w 3370863"/>
              <a:gd name="connsiteY0" fmla="*/ 0 h 2238857"/>
              <a:gd name="connsiteX1" fmla="*/ 3370863 w 3370863"/>
              <a:gd name="connsiteY1" fmla="*/ 0 h 2238857"/>
              <a:gd name="connsiteX2" fmla="*/ 3370863 w 3370863"/>
              <a:gd name="connsiteY2" fmla="*/ 2238857 h 2238857"/>
              <a:gd name="connsiteX3" fmla="*/ 0 w 3370863"/>
              <a:gd name="connsiteY3" fmla="*/ 2238857 h 2238857"/>
            </a:gdLst>
            <a:ahLst/>
            <a:cxnLst>
              <a:cxn ang="0">
                <a:pos x="connsiteX0" y="connsiteY0"/>
              </a:cxn>
              <a:cxn ang="0">
                <a:pos x="connsiteX1" y="connsiteY1"/>
              </a:cxn>
              <a:cxn ang="0">
                <a:pos x="connsiteX2" y="connsiteY2"/>
              </a:cxn>
              <a:cxn ang="0">
                <a:pos x="connsiteX3" y="connsiteY3"/>
              </a:cxn>
            </a:cxnLst>
            <a:rect l="l" t="t" r="r" b="b"/>
            <a:pathLst>
              <a:path w="3370863" h="2238857">
                <a:moveTo>
                  <a:pt x="0" y="0"/>
                </a:moveTo>
                <a:lnTo>
                  <a:pt x="3370863" y="0"/>
                </a:lnTo>
                <a:lnTo>
                  <a:pt x="3370863" y="2238857"/>
                </a:lnTo>
                <a:lnTo>
                  <a:pt x="0" y="2238857"/>
                </a:lnTo>
                <a:close/>
              </a:path>
            </a:pathLst>
          </a:custGeom>
          <a:solidFill>
            <a:schemeClr val="accent2">
              <a:lumMod val="40000"/>
              <a:lumOff val="60000"/>
            </a:schemeClr>
          </a:solidFill>
          <a:ln w="95250">
            <a:solidFill>
              <a:schemeClr val="bg1"/>
            </a:solidFill>
            <a:miter lim="800000"/>
          </a:ln>
          <a:effectLst>
            <a:outerShdw blurRad="774700" dist="457200" dir="5400000" sx="75000" sy="75000" algn="t" rotWithShape="0">
              <a:prstClr val="black">
                <a:alpha val="40000"/>
              </a:prstClr>
            </a:outerShdw>
          </a:effectLst>
        </p:spPr>
        <p:txBody>
          <a:bodyPr wrap="square">
            <a:noAutofit/>
          </a:bodyPr>
          <a:lstStyle>
            <a:lvl1pPr>
              <a:defRPr sz="2800"/>
            </a:lvl1pPr>
          </a:lstStyle>
          <a:p>
            <a:r>
              <a:rPr lang="zh-CN" altLang="en-US" dirty="0"/>
              <a:t>单机中间图标添加图片</a:t>
            </a:r>
            <a:endParaRPr lang="zh-CN" altLang="en-US" dirty="0"/>
          </a:p>
        </p:txBody>
      </p:sp>
      <p:sp>
        <p:nvSpPr>
          <p:cNvPr id="63" name="图片占位符 82"/>
          <p:cNvSpPr>
            <a:spLocks noGrp="1"/>
          </p:cNvSpPr>
          <p:nvPr>
            <p:ph type="pic" sz="quarter" idx="14" hasCustomPrompt="1"/>
          </p:nvPr>
        </p:nvSpPr>
        <p:spPr>
          <a:xfrm>
            <a:off x="8225291" y="1705726"/>
            <a:ext cx="3064250" cy="2035212"/>
          </a:xfrm>
          <a:custGeom>
            <a:avLst/>
            <a:gdLst>
              <a:gd name="connsiteX0" fmla="*/ 0 w 3370863"/>
              <a:gd name="connsiteY0" fmla="*/ 0 h 2238857"/>
              <a:gd name="connsiteX1" fmla="*/ 3370863 w 3370863"/>
              <a:gd name="connsiteY1" fmla="*/ 0 h 2238857"/>
              <a:gd name="connsiteX2" fmla="*/ 3370863 w 3370863"/>
              <a:gd name="connsiteY2" fmla="*/ 2238857 h 2238857"/>
              <a:gd name="connsiteX3" fmla="*/ 0 w 3370863"/>
              <a:gd name="connsiteY3" fmla="*/ 2238857 h 2238857"/>
            </a:gdLst>
            <a:ahLst/>
            <a:cxnLst>
              <a:cxn ang="0">
                <a:pos x="connsiteX0" y="connsiteY0"/>
              </a:cxn>
              <a:cxn ang="0">
                <a:pos x="connsiteX1" y="connsiteY1"/>
              </a:cxn>
              <a:cxn ang="0">
                <a:pos x="connsiteX2" y="connsiteY2"/>
              </a:cxn>
              <a:cxn ang="0">
                <a:pos x="connsiteX3" y="connsiteY3"/>
              </a:cxn>
            </a:cxnLst>
            <a:rect l="l" t="t" r="r" b="b"/>
            <a:pathLst>
              <a:path w="3370863" h="2238857">
                <a:moveTo>
                  <a:pt x="0" y="0"/>
                </a:moveTo>
                <a:lnTo>
                  <a:pt x="3370863" y="0"/>
                </a:lnTo>
                <a:lnTo>
                  <a:pt x="3370863" y="2238857"/>
                </a:lnTo>
                <a:lnTo>
                  <a:pt x="0" y="2238857"/>
                </a:lnTo>
                <a:close/>
              </a:path>
            </a:pathLst>
          </a:custGeom>
          <a:solidFill>
            <a:schemeClr val="accent2">
              <a:lumMod val="40000"/>
              <a:lumOff val="60000"/>
            </a:schemeClr>
          </a:solidFill>
          <a:ln w="95250">
            <a:solidFill>
              <a:schemeClr val="bg1"/>
            </a:solidFill>
            <a:miter lim="800000"/>
          </a:ln>
          <a:effectLst>
            <a:outerShdw blurRad="774700" dist="457200" dir="5400000" sx="75000" sy="75000" algn="t" rotWithShape="0">
              <a:prstClr val="black">
                <a:alpha val="40000"/>
              </a:prstClr>
            </a:outerShdw>
          </a:effectLst>
        </p:spPr>
        <p:txBody>
          <a:bodyPr wrap="square">
            <a:noAutofit/>
          </a:bodyPr>
          <a:lstStyle>
            <a:lvl1pPr>
              <a:defRPr sz="2800"/>
            </a:lvl1pPr>
          </a:lstStyle>
          <a:p>
            <a:r>
              <a:rPr lang="zh-CN" altLang="en-US" dirty="0"/>
              <a:t>单机中间图标添加图片</a:t>
            </a:r>
            <a:endParaRPr lang="zh-CN" altLang="en-US" dirty="0"/>
          </a:p>
        </p:txBody>
      </p:sp>
      <p:cxnSp>
        <p:nvCxnSpPr>
          <p:cNvPr id="85" name="直接连接符 84"/>
          <p:cNvCxnSpPr/>
          <p:nvPr userDrawn="1"/>
        </p:nvCxnSpPr>
        <p:spPr>
          <a:xfrm>
            <a:off x="442913" y="6416675"/>
            <a:ext cx="1130617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文本框 59"/>
          <p:cNvSpPr txBox="1"/>
          <p:nvPr userDrawn="1"/>
        </p:nvSpPr>
        <p:spPr>
          <a:xfrm>
            <a:off x="10979514" y="6472841"/>
            <a:ext cx="1055986" cy="400110"/>
          </a:xfrm>
          <a:prstGeom prst="rect">
            <a:avLst/>
          </a:prstGeom>
          <a:noFill/>
        </p:spPr>
        <p:txBody>
          <a:bodyPr wrap="square" rtlCol="0">
            <a:spAutoFit/>
          </a:bodyPr>
          <a:lstStyle/>
          <a:p>
            <a:pPr algn="dist"/>
            <a:r>
              <a:rPr lang="zh-CN" altLang="en-US" sz="2000" dirty="0">
                <a:solidFill>
                  <a:schemeClr val="bg1"/>
                </a:solidFill>
                <a:latin typeface="华文行楷" panose="02010800040101010101" pitchFamily="2" charset="-122"/>
                <a:ea typeface="华文行楷" panose="02010800040101010101" pitchFamily="2" charset="-122"/>
              </a:rPr>
              <a:t>第</a:t>
            </a:r>
            <a:r>
              <a:rPr lang="en-US" altLang="zh-CN" sz="2000" dirty="0">
                <a:solidFill>
                  <a:schemeClr val="bg1"/>
                </a:solidFill>
                <a:latin typeface="华文行楷" panose="02010800040101010101" pitchFamily="2" charset="-122"/>
                <a:ea typeface="华文行楷" panose="02010800040101010101" pitchFamily="2" charset="-122"/>
              </a:rPr>
              <a:t>  </a:t>
            </a:r>
            <a:r>
              <a:rPr lang="zh-CN" altLang="en-US" sz="2000" dirty="0">
                <a:solidFill>
                  <a:schemeClr val="bg1"/>
                </a:solidFill>
                <a:latin typeface="华文行楷" panose="02010800040101010101" pitchFamily="2" charset="-122"/>
                <a:ea typeface="华文行楷" panose="02010800040101010101" pitchFamily="2" charset="-122"/>
              </a:rPr>
              <a:t>页</a:t>
            </a:r>
            <a:endParaRPr lang="zh-CN" altLang="en-US" sz="2000" dirty="0">
              <a:solidFill>
                <a:schemeClr val="bg1"/>
              </a:solidFill>
              <a:latin typeface="华文行楷" panose="02010800040101010101" pitchFamily="2" charset="-122"/>
              <a:ea typeface="华文行楷" panose="02010800040101010101" pitchFamily="2" charset="-122"/>
            </a:endParaRPr>
          </a:p>
        </p:txBody>
      </p:sp>
      <p:sp>
        <p:nvSpPr>
          <p:cNvPr id="62" name="矩形 61"/>
          <p:cNvSpPr/>
          <p:nvPr userDrawn="1"/>
        </p:nvSpPr>
        <p:spPr>
          <a:xfrm>
            <a:off x="0" y="231494"/>
            <a:ext cx="304800"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userDrawn="1"/>
        </p:nvSpPr>
        <p:spPr>
          <a:xfrm>
            <a:off x="1421382" y="231494"/>
            <a:ext cx="8049190"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9" name="图片 68"/>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554195" y="229150"/>
            <a:ext cx="2233926" cy="555583"/>
          </a:xfrm>
          <a:prstGeom prst="rect">
            <a:avLst/>
          </a:prstGeom>
        </p:spPr>
      </p:pic>
      <p:pic>
        <p:nvPicPr>
          <p:cNvPr id="70" name="图片 69"/>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441789" y="230688"/>
            <a:ext cx="604520" cy="604520"/>
          </a:xfrm>
          <a:prstGeom prst="ellipse">
            <a:avLst/>
          </a:prstGeom>
        </p:spPr>
      </p:pic>
      <p:sp>
        <p:nvSpPr>
          <p:cNvPr id="71" name="矩形 70"/>
          <p:cNvSpPr/>
          <p:nvPr userDrawn="1"/>
        </p:nvSpPr>
        <p:spPr>
          <a:xfrm>
            <a:off x="11871745" y="231494"/>
            <a:ext cx="320255"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userDrawn="1"/>
        </p:nvSpPr>
        <p:spPr>
          <a:xfrm>
            <a:off x="1183298" y="231494"/>
            <a:ext cx="238083" cy="5555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内容占位符 12"/>
          <p:cNvSpPr>
            <a:spLocks noGrp="1"/>
          </p:cNvSpPr>
          <p:nvPr>
            <p:ph sz="quarter" idx="15" hasCustomPrompt="1"/>
          </p:nvPr>
        </p:nvSpPr>
        <p:spPr>
          <a:xfrm>
            <a:off x="1231068" y="296983"/>
            <a:ext cx="7206546" cy="471930"/>
          </a:xfrm>
          <a:prstGeom prst="rect">
            <a:avLst/>
          </a:prstGeom>
        </p:spPr>
        <p:txBody>
          <a:bodyPr/>
          <a:lstStyle>
            <a:lvl1pPr marL="0" indent="0">
              <a:buNone/>
              <a:defRPr b="1" spc="300">
                <a:solidFill>
                  <a:schemeClr val="bg1"/>
                </a:solidFill>
                <a:latin typeface="微软雅黑" panose="020B0503020204020204" pitchFamily="34" charset="-122"/>
                <a:ea typeface="微软雅黑" panose="020B0503020204020204" pitchFamily="34" charset="-122"/>
              </a:defRPr>
            </a:lvl1pPr>
          </a:lstStyle>
          <a:p>
            <a:pPr lvl="0"/>
            <a:r>
              <a:rPr lang="zh-CN" altLang="en-US" dirty="0"/>
              <a:t>单击此处添加标题</a:t>
            </a:r>
            <a:endParaRPr lang="zh-CN" altLang="en-US" dirty="0"/>
          </a:p>
        </p:txBody>
      </p:sp>
      <p:sp>
        <p:nvSpPr>
          <p:cNvPr id="75" name="文本框 74"/>
          <p:cNvSpPr txBox="1"/>
          <p:nvPr userDrawn="1"/>
        </p:nvSpPr>
        <p:spPr>
          <a:xfrm>
            <a:off x="185893" y="6428140"/>
            <a:ext cx="1467068" cy="400110"/>
          </a:xfrm>
          <a:prstGeom prst="rect">
            <a:avLst/>
          </a:prstGeom>
          <a:noFill/>
        </p:spPr>
        <p:txBody>
          <a:bodyPr wrap="none" rtlCol="0">
            <a:spAutoFit/>
          </a:bodyPr>
          <a:lstStyle/>
          <a:p>
            <a:r>
              <a:rPr lang="zh-CN" altLang="en-US" sz="2000" dirty="0">
                <a:solidFill>
                  <a:schemeClr val="bg1"/>
                </a:solidFill>
                <a:latin typeface="华文行楷" panose="02010800040101010101" pitchFamily="2" charset="-122"/>
                <a:ea typeface="华文行楷" panose="02010800040101010101" pitchFamily="2" charset="-122"/>
              </a:rPr>
              <a:t>自强</a:t>
            </a:r>
            <a:r>
              <a:rPr lang="en-US" altLang="zh-CN" sz="2000" dirty="0">
                <a:solidFill>
                  <a:schemeClr val="bg1"/>
                </a:solidFill>
                <a:latin typeface="华文行楷" panose="02010800040101010101" pitchFamily="2" charset="-122"/>
                <a:ea typeface="华文行楷" panose="02010800040101010101" pitchFamily="2" charset="-122"/>
              </a:rPr>
              <a:t>·</a:t>
            </a:r>
            <a:r>
              <a:rPr lang="zh-CN" altLang="en-US" sz="2000" dirty="0">
                <a:solidFill>
                  <a:schemeClr val="bg1"/>
                </a:solidFill>
                <a:latin typeface="华文行楷" panose="02010800040101010101" pitchFamily="2" charset="-122"/>
                <a:ea typeface="华文行楷" panose="02010800040101010101" pitchFamily="2" charset="-122"/>
              </a:rPr>
              <a:t>笃行</a:t>
            </a:r>
            <a:endParaRPr lang="zh-CN" altLang="en-US" sz="2000" dirty="0">
              <a:solidFill>
                <a:schemeClr val="bg1"/>
              </a:solidFill>
              <a:latin typeface="华文行楷" panose="02010800040101010101" pitchFamily="2" charset="-122"/>
              <a:ea typeface="华文行楷" panose="02010800040101010101" pitchFamily="2" charset="-122"/>
            </a:endParaRPr>
          </a:p>
        </p:txBody>
      </p:sp>
      <p:sp>
        <p:nvSpPr>
          <p:cNvPr id="76" name="灯片编号占位符 6"/>
          <p:cNvSpPr>
            <a:spLocks noGrp="1"/>
          </p:cNvSpPr>
          <p:nvPr>
            <p:ph type="sldNum" sz="quarter" idx="16"/>
          </p:nvPr>
        </p:nvSpPr>
        <p:spPr>
          <a:xfrm>
            <a:off x="11271286" y="6479425"/>
            <a:ext cx="472440" cy="365125"/>
          </a:xfrm>
          <a:prstGeom prst="rect">
            <a:avLst/>
          </a:prstGeom>
        </p:spPr>
        <p:txBody>
          <a:bodyPr/>
          <a:lstStyle>
            <a:lvl1pPr algn="ctr">
              <a:defRPr sz="1800" b="1">
                <a:solidFill>
                  <a:schemeClr val="bg1"/>
                </a:solidFill>
                <a:latin typeface="Arial" panose="020B0604020202020204" pitchFamily="34" charset="0"/>
                <a:cs typeface="Arial" panose="020B0604020202020204" pitchFamily="34" charset="0"/>
              </a:defRPr>
            </a:lvl1pPr>
          </a:lstStyle>
          <a:p>
            <a:fld id="{71743F2B-DC0D-40A2-8B22-7E1877618B96}"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内容页-单句总结">
    <p:spTree>
      <p:nvGrpSpPr>
        <p:cNvPr id="1" name=""/>
        <p:cNvGrpSpPr/>
        <p:nvPr/>
      </p:nvGrpSpPr>
      <p:grpSpPr>
        <a:xfrm>
          <a:off x="0" y="0"/>
          <a:ext cx="0" cy="0"/>
          <a:chOff x="0" y="0"/>
          <a:chExt cx="0" cy="0"/>
        </a:xfrm>
      </p:grpSpPr>
      <p:pic>
        <p:nvPicPr>
          <p:cNvPr id="36" name="图片 3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60767"/>
            <a:ext cx="12191999" cy="6736466"/>
          </a:xfrm>
          <a:prstGeom prst="rect">
            <a:avLst/>
          </a:prstGeom>
        </p:spPr>
      </p:pic>
      <p:pic>
        <p:nvPicPr>
          <p:cNvPr id="32" name="图片 31"/>
          <p:cNvPicPr>
            <a:picLocks noChangeAspect="1"/>
          </p:cNvPicPr>
          <p:nvPr userDrawn="1"/>
        </p:nvPicPr>
        <p:blipFill>
          <a:blip r:embed="rId3">
            <a:alphaModFix amt="25000"/>
          </a:blip>
          <a:stretch>
            <a:fillRect/>
          </a:stretch>
        </p:blipFill>
        <p:spPr>
          <a:xfrm>
            <a:off x="0" y="6097"/>
            <a:ext cx="12192000" cy="6845807"/>
          </a:xfrm>
          <a:prstGeom prst="rect">
            <a:avLst/>
          </a:prstGeom>
        </p:spPr>
      </p:pic>
      <p:sp>
        <p:nvSpPr>
          <p:cNvPr id="33" name="矩形 32"/>
          <p:cNvSpPr/>
          <p:nvPr userDrawn="1"/>
        </p:nvSpPr>
        <p:spPr>
          <a:xfrm>
            <a:off x="0" y="0"/>
            <a:ext cx="12192000" cy="6858000"/>
          </a:xfrm>
          <a:prstGeom prst="rect">
            <a:avLst/>
          </a:prstGeom>
          <a:gradFill flip="none" rotWithShape="1">
            <a:gsLst>
              <a:gs pos="25000">
                <a:schemeClr val="accent1">
                  <a:alpha val="0"/>
                </a:schemeClr>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矩形 33"/>
          <p:cNvSpPr/>
          <p:nvPr userDrawn="1"/>
        </p:nvSpPr>
        <p:spPr>
          <a:xfrm flipH="1">
            <a:off x="0" y="0"/>
            <a:ext cx="12192000" cy="6858000"/>
          </a:xfrm>
          <a:prstGeom prst="rect">
            <a:avLst/>
          </a:prstGeom>
          <a:gradFill flip="none" rotWithShape="1">
            <a:gsLst>
              <a:gs pos="25000">
                <a:schemeClr val="accent1">
                  <a:alpha val="0"/>
                </a:schemeClr>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ysClr val="windowText" lastClr="000000"/>
                </a:solidFill>
              </a:ln>
            </a:endParaRPr>
          </a:p>
        </p:txBody>
      </p:sp>
      <p:sp>
        <p:nvSpPr>
          <p:cNvPr id="35" name="矩形 34"/>
          <p:cNvSpPr/>
          <p:nvPr userDrawn="1"/>
        </p:nvSpPr>
        <p:spPr>
          <a:xfrm>
            <a:off x="0" y="1"/>
            <a:ext cx="12192000" cy="68579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userDrawn="1"/>
        </p:nvPicPr>
        <p:blipFill>
          <a:blip r:embed="rId4">
            <a:alphaModFix amt="33000"/>
          </a:blip>
          <a:stretch>
            <a:fillRect/>
          </a:stretch>
        </p:blipFill>
        <p:spPr>
          <a:xfrm>
            <a:off x="-1828800" y="-4492478"/>
            <a:ext cx="15849600" cy="15842956"/>
          </a:xfrm>
          <a:prstGeom prst="rect">
            <a:avLst/>
          </a:prstGeom>
        </p:spPr>
      </p:pic>
      <p:grpSp>
        <p:nvGrpSpPr>
          <p:cNvPr id="129" name="组合 128"/>
          <p:cNvGrpSpPr/>
          <p:nvPr userDrawn="1"/>
        </p:nvGrpSpPr>
        <p:grpSpPr>
          <a:xfrm>
            <a:off x="2581275" y="1969454"/>
            <a:ext cx="7029450" cy="256858"/>
            <a:chOff x="2581275" y="1751010"/>
            <a:chExt cx="7029450" cy="256858"/>
          </a:xfrm>
        </p:grpSpPr>
        <p:grpSp>
          <p:nvGrpSpPr>
            <p:cNvPr id="130" name="组合 129"/>
            <p:cNvGrpSpPr/>
            <p:nvPr/>
          </p:nvGrpSpPr>
          <p:grpSpPr>
            <a:xfrm>
              <a:off x="2581275" y="1962149"/>
              <a:ext cx="7029450" cy="45719"/>
              <a:chOff x="838200" y="1962150"/>
              <a:chExt cx="10858500" cy="0"/>
            </a:xfrm>
          </p:grpSpPr>
          <p:cxnSp>
            <p:nvCxnSpPr>
              <p:cNvPr id="138" name="直接连接符 137"/>
              <p:cNvCxnSpPr/>
              <p:nvPr/>
            </p:nvCxnSpPr>
            <p:spPr>
              <a:xfrm>
                <a:off x="838200" y="1962150"/>
                <a:ext cx="4629150"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7067550" y="1962150"/>
                <a:ext cx="4629150"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31" name="组合 130"/>
            <p:cNvGrpSpPr/>
            <p:nvPr/>
          </p:nvGrpSpPr>
          <p:grpSpPr>
            <a:xfrm>
              <a:off x="5931098" y="1751010"/>
              <a:ext cx="329804" cy="255589"/>
              <a:chOff x="6042819" y="923130"/>
              <a:chExt cx="329804" cy="255589"/>
            </a:xfrm>
          </p:grpSpPr>
          <p:grpSp>
            <p:nvGrpSpPr>
              <p:cNvPr id="132" name="组合 131"/>
              <p:cNvGrpSpPr/>
              <p:nvPr/>
            </p:nvGrpSpPr>
            <p:grpSpPr>
              <a:xfrm>
                <a:off x="6042819" y="923130"/>
                <a:ext cx="179785" cy="255589"/>
                <a:chOff x="6042819" y="923130"/>
                <a:chExt cx="179785" cy="255589"/>
              </a:xfrm>
            </p:grpSpPr>
            <p:sp>
              <p:nvSpPr>
                <p:cNvPr id="136" name="椭圆 135"/>
                <p:cNvSpPr/>
                <p:nvPr/>
              </p:nvSpPr>
              <p:spPr>
                <a:xfrm flipH="1">
                  <a:off x="6042819" y="1072357"/>
                  <a:ext cx="106362" cy="10636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7" name="直接连接符 136"/>
                <p:cNvCxnSpPr/>
                <p:nvPr/>
              </p:nvCxnSpPr>
              <p:spPr>
                <a:xfrm flipV="1">
                  <a:off x="6056710" y="923130"/>
                  <a:ext cx="165894" cy="16589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33" name="组合 132"/>
              <p:cNvGrpSpPr/>
              <p:nvPr/>
            </p:nvGrpSpPr>
            <p:grpSpPr>
              <a:xfrm>
                <a:off x="6192838" y="923130"/>
                <a:ext cx="179785" cy="255589"/>
                <a:chOff x="6042819" y="923130"/>
                <a:chExt cx="179785" cy="255589"/>
              </a:xfrm>
            </p:grpSpPr>
            <p:sp>
              <p:nvSpPr>
                <p:cNvPr id="134" name="椭圆 133"/>
                <p:cNvSpPr/>
                <p:nvPr/>
              </p:nvSpPr>
              <p:spPr>
                <a:xfrm flipH="1">
                  <a:off x="6042819" y="1072357"/>
                  <a:ext cx="106362" cy="10636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5" name="直接连接符 134"/>
                <p:cNvCxnSpPr/>
                <p:nvPr/>
              </p:nvCxnSpPr>
              <p:spPr>
                <a:xfrm flipV="1">
                  <a:off x="6056710" y="923130"/>
                  <a:ext cx="165894" cy="16589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140" name="组合 139"/>
          <p:cNvGrpSpPr/>
          <p:nvPr userDrawn="1"/>
        </p:nvGrpSpPr>
        <p:grpSpPr>
          <a:xfrm flipH="1" flipV="1">
            <a:off x="2581275" y="4433254"/>
            <a:ext cx="7029450" cy="256858"/>
            <a:chOff x="2581275" y="1751010"/>
            <a:chExt cx="7029450" cy="256858"/>
          </a:xfrm>
        </p:grpSpPr>
        <p:grpSp>
          <p:nvGrpSpPr>
            <p:cNvPr id="141" name="组合 140"/>
            <p:cNvGrpSpPr/>
            <p:nvPr/>
          </p:nvGrpSpPr>
          <p:grpSpPr>
            <a:xfrm>
              <a:off x="2581275" y="1962149"/>
              <a:ext cx="7029450" cy="45719"/>
              <a:chOff x="838200" y="1962150"/>
              <a:chExt cx="10858500" cy="0"/>
            </a:xfrm>
          </p:grpSpPr>
          <p:cxnSp>
            <p:nvCxnSpPr>
              <p:cNvPr id="149" name="直接连接符 148"/>
              <p:cNvCxnSpPr/>
              <p:nvPr/>
            </p:nvCxnSpPr>
            <p:spPr>
              <a:xfrm>
                <a:off x="838200" y="1962150"/>
                <a:ext cx="4629150"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a:off x="7067550" y="1962150"/>
                <a:ext cx="4629150"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42" name="组合 141"/>
            <p:cNvGrpSpPr/>
            <p:nvPr/>
          </p:nvGrpSpPr>
          <p:grpSpPr>
            <a:xfrm>
              <a:off x="5931098" y="1751010"/>
              <a:ext cx="329804" cy="255589"/>
              <a:chOff x="6042819" y="923130"/>
              <a:chExt cx="329804" cy="255589"/>
            </a:xfrm>
          </p:grpSpPr>
          <p:grpSp>
            <p:nvGrpSpPr>
              <p:cNvPr id="143" name="组合 142"/>
              <p:cNvGrpSpPr/>
              <p:nvPr/>
            </p:nvGrpSpPr>
            <p:grpSpPr>
              <a:xfrm>
                <a:off x="6042819" y="923130"/>
                <a:ext cx="179785" cy="255589"/>
                <a:chOff x="6042819" y="923130"/>
                <a:chExt cx="179785" cy="255589"/>
              </a:xfrm>
            </p:grpSpPr>
            <p:sp>
              <p:nvSpPr>
                <p:cNvPr id="147" name="椭圆 146"/>
                <p:cNvSpPr/>
                <p:nvPr/>
              </p:nvSpPr>
              <p:spPr>
                <a:xfrm flipH="1">
                  <a:off x="6042819" y="1072357"/>
                  <a:ext cx="106362" cy="10636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8" name="直接连接符 147"/>
                <p:cNvCxnSpPr/>
                <p:nvPr/>
              </p:nvCxnSpPr>
              <p:spPr>
                <a:xfrm flipV="1">
                  <a:off x="6056710" y="923130"/>
                  <a:ext cx="165894" cy="16589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p:nvGrpSpPr>
            <p:grpSpPr>
              <a:xfrm>
                <a:off x="6192838" y="923130"/>
                <a:ext cx="179785" cy="255589"/>
                <a:chOff x="6042819" y="923130"/>
                <a:chExt cx="179785" cy="255589"/>
              </a:xfrm>
            </p:grpSpPr>
            <p:sp>
              <p:nvSpPr>
                <p:cNvPr id="145" name="椭圆 144"/>
                <p:cNvSpPr/>
                <p:nvPr/>
              </p:nvSpPr>
              <p:spPr>
                <a:xfrm flipH="1">
                  <a:off x="6042819" y="1072357"/>
                  <a:ext cx="106362" cy="10636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6" name="直接连接符 145"/>
                <p:cNvCxnSpPr/>
                <p:nvPr/>
              </p:nvCxnSpPr>
              <p:spPr>
                <a:xfrm flipV="1">
                  <a:off x="6056710" y="923130"/>
                  <a:ext cx="165894" cy="16589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sp>
        <p:nvSpPr>
          <p:cNvPr id="21" name="文本占位符 20"/>
          <p:cNvSpPr>
            <a:spLocks noGrp="1"/>
          </p:cNvSpPr>
          <p:nvPr userDrawn="1">
            <p:ph type="body" sz="quarter" idx="10" hasCustomPrompt="1"/>
          </p:nvPr>
        </p:nvSpPr>
        <p:spPr>
          <a:xfrm>
            <a:off x="2551708" y="2072136"/>
            <a:ext cx="7086600" cy="2335213"/>
          </a:xfrm>
          <a:prstGeom prst="rect">
            <a:avLst/>
          </a:prstGeom>
        </p:spPr>
        <p:txBody>
          <a:bodyPr anchor="ctr" anchorCtr="0"/>
          <a:lstStyle>
            <a:lvl1pPr marL="0" indent="0" algn="ctr" fontAlgn="ctr">
              <a:lnSpc>
                <a:spcPct val="130000"/>
              </a:lnSpc>
              <a:spcBef>
                <a:spcPts val="0"/>
              </a:spcBef>
              <a:buNone/>
              <a:defRPr sz="3600" spc="150" baseline="0">
                <a:solidFill>
                  <a:schemeClr val="bg1"/>
                </a:solidFill>
                <a:latin typeface="+mj-ea"/>
                <a:ea typeface="+mj-ea"/>
              </a:defRPr>
            </a:lvl1pPr>
          </a:lstStyle>
          <a:p>
            <a:pPr lvl="0"/>
            <a:r>
              <a:rPr lang="zh-CN" altLang="en-US" dirty="0"/>
              <a:t>如果你需要用一句话来总结</a:t>
            </a:r>
            <a:endParaRPr lang="en-US" altLang="zh-CN" dirty="0"/>
          </a:p>
          <a:p>
            <a:pPr lvl="0"/>
            <a:r>
              <a:rPr lang="zh-CN" altLang="en-US" dirty="0"/>
              <a:t>你的观点</a:t>
            </a:r>
            <a:endParaRPr lang="en-US" altLang="zh-CN"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内容页-单句总结">
    <p:spTree>
      <p:nvGrpSpPr>
        <p:cNvPr id="1" name=""/>
        <p:cNvGrpSpPr/>
        <p:nvPr/>
      </p:nvGrpSpPr>
      <p:grpSpPr>
        <a:xfrm>
          <a:off x="0" y="0"/>
          <a:ext cx="0" cy="0"/>
          <a:chOff x="0" y="0"/>
          <a:chExt cx="0" cy="0"/>
        </a:xfrm>
      </p:grpSpPr>
      <p:pic>
        <p:nvPicPr>
          <p:cNvPr id="31" name="图片 30"/>
          <p:cNvPicPr>
            <a:picLocks noChangeAspect="1"/>
          </p:cNvPicPr>
          <p:nvPr userDrawn="1"/>
        </p:nvPicPr>
        <p:blipFill rotWithShape="1">
          <a:blip r:embed="rId2">
            <a:extLst>
              <a:ext uri="{28A0092B-C50C-407E-A947-70E740481C1C}">
                <a14:useLocalDpi xmlns:a14="http://schemas.microsoft.com/office/drawing/2010/main" val="0"/>
              </a:ext>
            </a:extLst>
          </a:blip>
          <a:srcRect b="11408"/>
          <a:stretch>
            <a:fillRect/>
          </a:stretch>
        </p:blipFill>
        <p:spPr>
          <a:xfrm>
            <a:off x="0" y="0"/>
            <a:ext cx="12192000" cy="6858000"/>
          </a:xfrm>
          <a:prstGeom prst="rect">
            <a:avLst/>
          </a:prstGeom>
        </p:spPr>
      </p:pic>
      <p:pic>
        <p:nvPicPr>
          <p:cNvPr id="32" name="图片 31"/>
          <p:cNvPicPr>
            <a:picLocks noChangeAspect="1"/>
          </p:cNvPicPr>
          <p:nvPr userDrawn="1"/>
        </p:nvPicPr>
        <p:blipFill>
          <a:blip r:embed="rId3">
            <a:alphaModFix amt="25000"/>
          </a:blip>
          <a:stretch>
            <a:fillRect/>
          </a:stretch>
        </p:blipFill>
        <p:spPr>
          <a:xfrm>
            <a:off x="0" y="6097"/>
            <a:ext cx="12192000" cy="6845807"/>
          </a:xfrm>
          <a:prstGeom prst="rect">
            <a:avLst/>
          </a:prstGeom>
        </p:spPr>
      </p:pic>
      <p:sp>
        <p:nvSpPr>
          <p:cNvPr id="33" name="矩形 32"/>
          <p:cNvSpPr/>
          <p:nvPr userDrawn="1"/>
        </p:nvSpPr>
        <p:spPr>
          <a:xfrm>
            <a:off x="0" y="0"/>
            <a:ext cx="12192000" cy="6858000"/>
          </a:xfrm>
          <a:prstGeom prst="rect">
            <a:avLst/>
          </a:prstGeom>
          <a:gradFill flip="none" rotWithShape="1">
            <a:gsLst>
              <a:gs pos="25000">
                <a:schemeClr val="accent1">
                  <a:alpha val="0"/>
                </a:schemeClr>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矩形 33"/>
          <p:cNvSpPr/>
          <p:nvPr userDrawn="1"/>
        </p:nvSpPr>
        <p:spPr>
          <a:xfrm flipH="1">
            <a:off x="0" y="0"/>
            <a:ext cx="12192000" cy="6858000"/>
          </a:xfrm>
          <a:prstGeom prst="rect">
            <a:avLst/>
          </a:prstGeom>
          <a:gradFill flip="none" rotWithShape="1">
            <a:gsLst>
              <a:gs pos="25000">
                <a:schemeClr val="accent1">
                  <a:alpha val="0"/>
                </a:schemeClr>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ysClr val="windowText" lastClr="000000"/>
                </a:solidFill>
              </a:ln>
            </a:endParaRPr>
          </a:p>
        </p:txBody>
      </p:sp>
      <p:sp>
        <p:nvSpPr>
          <p:cNvPr id="35" name="矩形 34"/>
          <p:cNvSpPr/>
          <p:nvPr userDrawn="1"/>
        </p:nvSpPr>
        <p:spPr>
          <a:xfrm>
            <a:off x="0" y="1"/>
            <a:ext cx="12192000" cy="68579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userDrawn="1"/>
        </p:nvPicPr>
        <p:blipFill>
          <a:blip r:embed="rId4">
            <a:alphaModFix amt="33000"/>
          </a:blip>
          <a:stretch>
            <a:fillRect/>
          </a:stretch>
        </p:blipFill>
        <p:spPr>
          <a:xfrm>
            <a:off x="-1828800" y="-4492478"/>
            <a:ext cx="15849600" cy="15842956"/>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内容页-名人名言">
    <p:spTree>
      <p:nvGrpSpPr>
        <p:cNvPr id="1" name=""/>
        <p:cNvGrpSpPr/>
        <p:nvPr/>
      </p:nvGrpSpPr>
      <p:grpSpPr>
        <a:xfrm>
          <a:off x="0" y="0"/>
          <a:ext cx="0" cy="0"/>
          <a:chOff x="0" y="0"/>
          <a:chExt cx="0" cy="0"/>
        </a:xfrm>
      </p:grpSpPr>
      <p:pic>
        <p:nvPicPr>
          <p:cNvPr id="18" name="图片 1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60767"/>
            <a:ext cx="12191999" cy="6736466"/>
          </a:xfrm>
          <a:prstGeom prst="rect">
            <a:avLst/>
          </a:prstGeom>
        </p:spPr>
      </p:pic>
      <p:pic>
        <p:nvPicPr>
          <p:cNvPr id="22" name="图片 21"/>
          <p:cNvPicPr>
            <a:picLocks noChangeAspect="1"/>
          </p:cNvPicPr>
          <p:nvPr userDrawn="1"/>
        </p:nvPicPr>
        <p:blipFill>
          <a:blip r:embed="rId3">
            <a:alphaModFix amt="25000"/>
          </a:blip>
          <a:stretch>
            <a:fillRect/>
          </a:stretch>
        </p:blipFill>
        <p:spPr>
          <a:xfrm>
            <a:off x="975360" y="4832928"/>
            <a:ext cx="12192000" cy="6845807"/>
          </a:xfrm>
          <a:prstGeom prst="rect">
            <a:avLst/>
          </a:prstGeom>
        </p:spPr>
      </p:pic>
      <p:sp>
        <p:nvSpPr>
          <p:cNvPr id="23" name="矩形 22"/>
          <p:cNvSpPr/>
          <p:nvPr userDrawn="1"/>
        </p:nvSpPr>
        <p:spPr>
          <a:xfrm>
            <a:off x="0" y="0"/>
            <a:ext cx="12192000" cy="6858000"/>
          </a:xfrm>
          <a:prstGeom prst="rect">
            <a:avLst/>
          </a:prstGeom>
          <a:gradFill flip="none" rotWithShape="1">
            <a:gsLst>
              <a:gs pos="25000">
                <a:schemeClr val="accent1">
                  <a:alpha val="0"/>
                </a:schemeClr>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p:cNvSpPr/>
          <p:nvPr userDrawn="1"/>
        </p:nvSpPr>
        <p:spPr>
          <a:xfrm flipH="1">
            <a:off x="0" y="0"/>
            <a:ext cx="12192000" cy="6858000"/>
          </a:xfrm>
          <a:prstGeom prst="rect">
            <a:avLst/>
          </a:prstGeom>
          <a:gradFill flip="none" rotWithShape="1">
            <a:gsLst>
              <a:gs pos="25000">
                <a:schemeClr val="accent1">
                  <a:alpha val="0"/>
                </a:schemeClr>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ysClr val="windowText" lastClr="000000"/>
                </a:solidFill>
              </a:ln>
            </a:endParaRPr>
          </a:p>
        </p:txBody>
      </p:sp>
      <p:sp>
        <p:nvSpPr>
          <p:cNvPr id="25" name="矩形 24"/>
          <p:cNvSpPr/>
          <p:nvPr userDrawn="1"/>
        </p:nvSpPr>
        <p:spPr>
          <a:xfrm>
            <a:off x="0" y="1"/>
            <a:ext cx="12192000" cy="685799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p:cNvPicPr>
            <a:picLocks noChangeAspect="1"/>
          </p:cNvPicPr>
          <p:nvPr userDrawn="1"/>
        </p:nvPicPr>
        <p:blipFill>
          <a:blip r:embed="rId4">
            <a:alphaModFix amt="33000"/>
          </a:blip>
          <a:stretch>
            <a:fillRect/>
          </a:stretch>
        </p:blipFill>
        <p:spPr>
          <a:xfrm>
            <a:off x="-1828800" y="-4492478"/>
            <a:ext cx="15849600" cy="15842956"/>
          </a:xfrm>
          <a:prstGeom prst="rect">
            <a:avLst/>
          </a:prstGeom>
        </p:spPr>
      </p:pic>
      <p:grpSp>
        <p:nvGrpSpPr>
          <p:cNvPr id="131" name="组合 130"/>
          <p:cNvGrpSpPr/>
          <p:nvPr/>
        </p:nvGrpSpPr>
        <p:grpSpPr>
          <a:xfrm>
            <a:off x="2179772" y="1657819"/>
            <a:ext cx="620578" cy="480931"/>
            <a:chOff x="6042819" y="923130"/>
            <a:chExt cx="329804" cy="255589"/>
          </a:xfrm>
        </p:grpSpPr>
        <p:grpSp>
          <p:nvGrpSpPr>
            <p:cNvPr id="132" name="组合 131"/>
            <p:cNvGrpSpPr/>
            <p:nvPr/>
          </p:nvGrpSpPr>
          <p:grpSpPr>
            <a:xfrm>
              <a:off x="6042819" y="923130"/>
              <a:ext cx="179785" cy="255589"/>
              <a:chOff x="6042819" y="923130"/>
              <a:chExt cx="179785" cy="255589"/>
            </a:xfrm>
          </p:grpSpPr>
          <p:sp>
            <p:nvSpPr>
              <p:cNvPr id="136" name="椭圆 135"/>
              <p:cNvSpPr/>
              <p:nvPr/>
            </p:nvSpPr>
            <p:spPr>
              <a:xfrm flipH="1">
                <a:off x="6042819" y="1072357"/>
                <a:ext cx="106362" cy="10636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7" name="直接连接符 136"/>
              <p:cNvCxnSpPr/>
              <p:nvPr/>
            </p:nvCxnSpPr>
            <p:spPr>
              <a:xfrm flipV="1">
                <a:off x="6056710" y="923130"/>
                <a:ext cx="165894" cy="16589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33" name="组合 132"/>
            <p:cNvGrpSpPr/>
            <p:nvPr/>
          </p:nvGrpSpPr>
          <p:grpSpPr>
            <a:xfrm>
              <a:off x="6192838" y="923130"/>
              <a:ext cx="179785" cy="255589"/>
              <a:chOff x="6042819" y="923130"/>
              <a:chExt cx="179785" cy="255589"/>
            </a:xfrm>
          </p:grpSpPr>
          <p:sp>
            <p:nvSpPr>
              <p:cNvPr id="134" name="椭圆 133"/>
              <p:cNvSpPr/>
              <p:nvPr/>
            </p:nvSpPr>
            <p:spPr>
              <a:xfrm flipH="1">
                <a:off x="6042819" y="1072357"/>
                <a:ext cx="106362" cy="10636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5" name="直接连接符 134"/>
              <p:cNvCxnSpPr/>
              <p:nvPr/>
            </p:nvCxnSpPr>
            <p:spPr>
              <a:xfrm flipV="1">
                <a:off x="6056710" y="923130"/>
                <a:ext cx="165894" cy="16589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21" name="文本占位符 20"/>
          <p:cNvSpPr>
            <a:spLocks noGrp="1"/>
          </p:cNvSpPr>
          <p:nvPr userDrawn="1">
            <p:ph type="body" sz="quarter" idx="10" hasCustomPrompt="1"/>
          </p:nvPr>
        </p:nvSpPr>
        <p:spPr>
          <a:xfrm>
            <a:off x="2090935" y="1943403"/>
            <a:ext cx="8010130" cy="2335213"/>
          </a:xfrm>
          <a:prstGeom prst="rect">
            <a:avLst/>
          </a:prstGeom>
        </p:spPr>
        <p:txBody>
          <a:bodyPr anchor="ctr" anchorCtr="0"/>
          <a:lstStyle>
            <a:lvl1pPr marL="0" indent="0" algn="l" fontAlgn="ctr">
              <a:lnSpc>
                <a:spcPct val="130000"/>
              </a:lnSpc>
              <a:spcBef>
                <a:spcPts val="0"/>
              </a:spcBef>
              <a:buNone/>
              <a:defRPr sz="3600" spc="150" baseline="0">
                <a:solidFill>
                  <a:schemeClr val="bg1"/>
                </a:solidFill>
                <a:latin typeface="+mj-ea"/>
                <a:ea typeface="+mj-ea"/>
              </a:defRPr>
            </a:lvl1pPr>
          </a:lstStyle>
          <a:p>
            <a:pPr lvl="0"/>
            <a:r>
              <a:rPr lang="zh-CN" altLang="en-US" dirty="0"/>
              <a:t>如果有需要</a:t>
            </a:r>
            <a:endParaRPr lang="en-US" altLang="zh-CN" dirty="0"/>
          </a:p>
          <a:p>
            <a:pPr lvl="0"/>
            <a:r>
              <a:rPr lang="zh-CN" altLang="en-US" dirty="0"/>
              <a:t>这里可以放一句名人名言。</a:t>
            </a:r>
            <a:endParaRPr lang="en-US" altLang="zh-CN" dirty="0"/>
          </a:p>
        </p:txBody>
      </p:sp>
      <p:cxnSp>
        <p:nvCxnSpPr>
          <p:cNvPr id="3" name="直接连接符 2"/>
          <p:cNvCxnSpPr/>
          <p:nvPr userDrawn="1"/>
        </p:nvCxnSpPr>
        <p:spPr>
          <a:xfrm>
            <a:off x="2179772" y="4278616"/>
            <a:ext cx="7921293"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6" name="文本占位符 5"/>
          <p:cNvSpPr>
            <a:spLocks noGrp="1"/>
          </p:cNvSpPr>
          <p:nvPr>
            <p:ph type="body" sz="quarter" idx="11" hasCustomPrompt="1"/>
          </p:nvPr>
        </p:nvSpPr>
        <p:spPr>
          <a:xfrm>
            <a:off x="8411965" y="4432878"/>
            <a:ext cx="1689100" cy="400050"/>
          </a:xfrm>
          <a:prstGeom prst="rect">
            <a:avLst/>
          </a:prstGeom>
        </p:spPr>
        <p:txBody>
          <a:bodyPr rIns="0"/>
          <a:lstStyle>
            <a:lvl1pPr marL="0" indent="0" algn="r">
              <a:buNone/>
              <a:defRPr sz="1600">
                <a:solidFill>
                  <a:schemeClr val="bg1"/>
                </a:solidFill>
              </a:defRPr>
            </a:lvl1pPr>
          </a:lstStyle>
          <a:p>
            <a:pPr lvl="0"/>
            <a:r>
              <a:rPr lang="en-US" altLang="zh-CN" dirty="0"/>
              <a:t>By </a:t>
            </a:r>
            <a:r>
              <a:rPr lang="zh-CN" altLang="en-US" dirty="0"/>
              <a:t>作者</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2D9000A-BA61-4F5F-A33D-3AA6C75C5EA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46FF9BE-3596-4BEB-9202-242A6D6E8B0F}"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jpeg"/><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5.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tags" Target="../tags/tag2.xml"/><Relationship Id="rId3" Type="http://schemas.openxmlformats.org/officeDocument/2006/relationships/image" Target="../media/image20.jpeg"/><Relationship Id="rId2" Type="http://schemas.openxmlformats.org/officeDocument/2006/relationships/tags" Target="../tags/tag1.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27.jpeg"/><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9" Type="http://schemas.openxmlformats.org/officeDocument/2006/relationships/image" Target="../media/image37.svg"/><Relationship Id="rId8" Type="http://schemas.openxmlformats.org/officeDocument/2006/relationships/image" Target="../media/image36.png"/><Relationship Id="rId7" Type="http://schemas.openxmlformats.org/officeDocument/2006/relationships/image" Target="../media/image35.svg"/><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emf"/><Relationship Id="rId16" Type="http://schemas.openxmlformats.org/officeDocument/2006/relationships/slideLayout" Target="../slideLayouts/slideLayout5.xml"/><Relationship Id="rId15" Type="http://schemas.openxmlformats.org/officeDocument/2006/relationships/image" Target="../media/image43.svg"/><Relationship Id="rId14" Type="http://schemas.openxmlformats.org/officeDocument/2006/relationships/image" Target="../media/image42.png"/><Relationship Id="rId13" Type="http://schemas.openxmlformats.org/officeDocument/2006/relationships/image" Target="../media/image41.svg"/><Relationship Id="rId12" Type="http://schemas.openxmlformats.org/officeDocument/2006/relationships/image" Target="../media/image40.png"/><Relationship Id="rId11" Type="http://schemas.openxmlformats.org/officeDocument/2006/relationships/image" Target="../media/image39.svg"/><Relationship Id="rId10" Type="http://schemas.openxmlformats.org/officeDocument/2006/relationships/image" Target="../media/image38.pn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image" Target="../media/image44.png"/><Relationship Id="rId6" Type="http://schemas.openxmlformats.org/officeDocument/2006/relationships/tags" Target="../tags/tag7.xml"/><Relationship Id="rId5" Type="http://schemas.openxmlformats.org/officeDocument/2006/relationships/image" Target="../media/image13.png"/><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0" Type="http://schemas.openxmlformats.org/officeDocument/2006/relationships/slideLayout" Target="../slideLayouts/slideLayout5.xml"/><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15.xml"/><Relationship Id="rId5" Type="http://schemas.openxmlformats.org/officeDocument/2006/relationships/image" Target="../media/image46.svg"/><Relationship Id="rId4" Type="http://schemas.openxmlformats.org/officeDocument/2006/relationships/image" Target="../media/image45.png"/><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9" Type="http://schemas.openxmlformats.org/officeDocument/2006/relationships/image" Target="../media/image51.png"/><Relationship Id="rId8" Type="http://schemas.openxmlformats.org/officeDocument/2006/relationships/image" Target="../media/image50.svg"/><Relationship Id="rId7" Type="http://schemas.openxmlformats.org/officeDocument/2006/relationships/image" Target="../media/image49.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13.png"/><Relationship Id="rId3" Type="http://schemas.openxmlformats.org/officeDocument/2006/relationships/tags" Target="../tags/tag14.xml"/><Relationship Id="rId2" Type="http://schemas.openxmlformats.org/officeDocument/2006/relationships/tags" Target="../tags/tag13.xml"/><Relationship Id="rId18" Type="http://schemas.openxmlformats.org/officeDocument/2006/relationships/slideLayout" Target="../slideLayouts/slideLayout5.xml"/><Relationship Id="rId17" Type="http://schemas.openxmlformats.org/officeDocument/2006/relationships/image" Target="../media/image56.svg"/><Relationship Id="rId16" Type="http://schemas.openxmlformats.org/officeDocument/2006/relationships/image" Target="../media/image55.png"/><Relationship Id="rId15" Type="http://schemas.openxmlformats.org/officeDocument/2006/relationships/image" Target="../media/image54.svg"/><Relationship Id="rId14" Type="http://schemas.openxmlformats.org/officeDocument/2006/relationships/image" Target="../media/image53.png"/><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image" Target="../media/image52.svg"/><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9" Type="http://schemas.openxmlformats.org/officeDocument/2006/relationships/image" Target="../media/image50.svg"/><Relationship Id="rId8" Type="http://schemas.openxmlformats.org/officeDocument/2006/relationships/image" Target="../media/image49.png"/><Relationship Id="rId7" Type="http://schemas.openxmlformats.org/officeDocument/2006/relationships/tags" Target="../tags/tag21.xml"/><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tags" Target="../tags/tag20.xml"/><Relationship Id="rId3" Type="http://schemas.openxmlformats.org/officeDocument/2006/relationships/image" Target="../media/image13.png"/><Relationship Id="rId2" Type="http://schemas.openxmlformats.org/officeDocument/2006/relationships/tags" Target="../tags/tag19.xml"/><Relationship Id="rId18" Type="http://schemas.openxmlformats.org/officeDocument/2006/relationships/slideLayout" Target="../slideLayouts/slideLayout5.xml"/><Relationship Id="rId17" Type="http://schemas.openxmlformats.org/officeDocument/2006/relationships/image" Target="../media/image59.png"/><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image" Target="../media/image58.svg"/><Relationship Id="rId13" Type="http://schemas.openxmlformats.org/officeDocument/2006/relationships/image" Target="../media/image57.png"/><Relationship Id="rId12" Type="http://schemas.openxmlformats.org/officeDocument/2006/relationships/image" Target="../media/image52.svg"/><Relationship Id="rId11" Type="http://schemas.openxmlformats.org/officeDocument/2006/relationships/image" Target="../media/image51.png"/><Relationship Id="rId10" Type="http://schemas.openxmlformats.org/officeDocument/2006/relationships/tags" Target="../tags/tag22.xml"/><Relationship Id="rId1" Type="http://schemas.openxmlformats.org/officeDocument/2006/relationships/tags" Target="../tags/tag18.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60.png"/><Relationship Id="rId3" Type="http://schemas.openxmlformats.org/officeDocument/2006/relationships/tags" Target="../tags/tag26.xml"/><Relationship Id="rId2" Type="http://schemas.openxmlformats.org/officeDocument/2006/relationships/image" Target="../media/image13.png"/><Relationship Id="rId1" Type="http://schemas.openxmlformats.org/officeDocument/2006/relationships/tags" Target="../tags/tag25.xml"/></Relationships>
</file>

<file path=ppt/slides/_rels/slide18.xml.rels><?xml version="1.0" encoding="UTF-8" standalone="yes"?>
<Relationships xmlns="http://schemas.openxmlformats.org/package/2006/relationships"><Relationship Id="rId9" Type="http://schemas.openxmlformats.org/officeDocument/2006/relationships/image" Target="../media/image67.png"/><Relationship Id="rId8" Type="http://schemas.openxmlformats.org/officeDocument/2006/relationships/image" Target="../media/image66.svg"/><Relationship Id="rId7" Type="http://schemas.openxmlformats.org/officeDocument/2006/relationships/image" Target="../media/image65.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 Id="rId32" Type="http://schemas.openxmlformats.org/officeDocument/2006/relationships/slideLayout" Target="../slideLayouts/slideLayout5.xml"/><Relationship Id="rId31" Type="http://schemas.openxmlformats.org/officeDocument/2006/relationships/image" Target="../media/image79.jpeg"/><Relationship Id="rId30" Type="http://schemas.openxmlformats.org/officeDocument/2006/relationships/tags" Target="../tags/tag37.xml"/><Relationship Id="rId3" Type="http://schemas.openxmlformats.org/officeDocument/2006/relationships/image" Target="../media/image61.png"/><Relationship Id="rId29" Type="http://schemas.openxmlformats.org/officeDocument/2006/relationships/tags" Target="../tags/tag36.xml"/><Relationship Id="rId28" Type="http://schemas.openxmlformats.org/officeDocument/2006/relationships/tags" Target="../tags/tag35.xml"/><Relationship Id="rId27" Type="http://schemas.openxmlformats.org/officeDocument/2006/relationships/tags" Target="../tags/tag34.xml"/><Relationship Id="rId26" Type="http://schemas.openxmlformats.org/officeDocument/2006/relationships/tags" Target="../tags/tag33.xml"/><Relationship Id="rId25" Type="http://schemas.openxmlformats.org/officeDocument/2006/relationships/tags" Target="../tags/tag32.xml"/><Relationship Id="rId24" Type="http://schemas.openxmlformats.org/officeDocument/2006/relationships/tags" Target="../tags/tag31.xml"/><Relationship Id="rId23" Type="http://schemas.openxmlformats.org/officeDocument/2006/relationships/tags" Target="../tags/tag30.xml"/><Relationship Id="rId22" Type="http://schemas.openxmlformats.org/officeDocument/2006/relationships/tags" Target="../tags/tag29.xml"/><Relationship Id="rId21" Type="http://schemas.openxmlformats.org/officeDocument/2006/relationships/tags" Target="../tags/tag28.xml"/><Relationship Id="rId20" Type="http://schemas.openxmlformats.org/officeDocument/2006/relationships/image" Target="../media/image78.svg"/><Relationship Id="rId2" Type="http://schemas.openxmlformats.org/officeDocument/2006/relationships/image" Target="../media/image13.png"/><Relationship Id="rId19" Type="http://schemas.openxmlformats.org/officeDocument/2006/relationships/image" Target="../media/image77.png"/><Relationship Id="rId18" Type="http://schemas.openxmlformats.org/officeDocument/2006/relationships/image" Target="../media/image76.svg"/><Relationship Id="rId17" Type="http://schemas.openxmlformats.org/officeDocument/2006/relationships/image" Target="../media/image75.png"/><Relationship Id="rId16" Type="http://schemas.openxmlformats.org/officeDocument/2006/relationships/image" Target="../media/image74.svg"/><Relationship Id="rId15" Type="http://schemas.openxmlformats.org/officeDocument/2006/relationships/image" Target="../media/image73.png"/><Relationship Id="rId14" Type="http://schemas.openxmlformats.org/officeDocument/2006/relationships/image" Target="../media/image72.svg"/><Relationship Id="rId13" Type="http://schemas.openxmlformats.org/officeDocument/2006/relationships/image" Target="../media/image71.png"/><Relationship Id="rId12" Type="http://schemas.openxmlformats.org/officeDocument/2006/relationships/image" Target="../media/image70.svg"/><Relationship Id="rId11" Type="http://schemas.openxmlformats.org/officeDocument/2006/relationships/image" Target="../media/image69.png"/><Relationship Id="rId10" Type="http://schemas.openxmlformats.org/officeDocument/2006/relationships/image" Target="../media/image68.svg"/><Relationship Id="rId1" Type="http://schemas.openxmlformats.org/officeDocument/2006/relationships/tags" Target="../tags/tag27.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50.svg"/><Relationship Id="rId7" Type="http://schemas.openxmlformats.org/officeDocument/2006/relationships/image" Target="../media/image49.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80.png"/><Relationship Id="rId3" Type="http://schemas.openxmlformats.org/officeDocument/2006/relationships/tags" Target="../tags/tag39.xml"/><Relationship Id="rId2" Type="http://schemas.openxmlformats.org/officeDocument/2006/relationships/image" Target="../media/image13.png"/><Relationship Id="rId1" Type="http://schemas.openxmlformats.org/officeDocument/2006/relationships/tags" Target="../tags/tag38.xml"/></Relationships>
</file>

<file path=ppt/slides/_rels/slide20.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image" Target="../media/image13.png"/><Relationship Id="rId4" Type="http://schemas.openxmlformats.org/officeDocument/2006/relationships/tags" Target="../tags/tag43.xml"/><Relationship Id="rId31" Type="http://schemas.openxmlformats.org/officeDocument/2006/relationships/slideLayout" Target="../slideLayouts/slideLayout5.xml"/><Relationship Id="rId30" Type="http://schemas.openxmlformats.org/officeDocument/2006/relationships/image" Target="../media/image86.svg"/><Relationship Id="rId3" Type="http://schemas.openxmlformats.org/officeDocument/2006/relationships/tags" Target="../tags/tag42.xml"/><Relationship Id="rId29" Type="http://schemas.openxmlformats.org/officeDocument/2006/relationships/image" Target="../media/image85.png"/><Relationship Id="rId28" Type="http://schemas.openxmlformats.org/officeDocument/2006/relationships/image" Target="../media/image84.svg"/><Relationship Id="rId27" Type="http://schemas.openxmlformats.org/officeDocument/2006/relationships/image" Target="../media/image83.png"/><Relationship Id="rId26" Type="http://schemas.openxmlformats.org/officeDocument/2006/relationships/image" Target="../media/image82.svg"/><Relationship Id="rId25" Type="http://schemas.openxmlformats.org/officeDocument/2006/relationships/image" Target="../media/image81.png"/><Relationship Id="rId24" Type="http://schemas.openxmlformats.org/officeDocument/2006/relationships/tags" Target="../tags/tag62.xml"/><Relationship Id="rId23" Type="http://schemas.openxmlformats.org/officeDocument/2006/relationships/tags" Target="../tags/tag61.xml"/><Relationship Id="rId22" Type="http://schemas.openxmlformats.org/officeDocument/2006/relationships/tags" Target="../tags/tag60.xml"/><Relationship Id="rId21" Type="http://schemas.openxmlformats.org/officeDocument/2006/relationships/tags" Target="../tags/tag59.xml"/><Relationship Id="rId20" Type="http://schemas.openxmlformats.org/officeDocument/2006/relationships/tags" Target="../tags/tag58.xml"/><Relationship Id="rId2" Type="http://schemas.openxmlformats.org/officeDocument/2006/relationships/tags" Target="../tags/tag41.xml"/><Relationship Id="rId19" Type="http://schemas.openxmlformats.org/officeDocument/2006/relationships/tags" Target="../tags/tag57.xml"/><Relationship Id="rId18" Type="http://schemas.openxmlformats.org/officeDocument/2006/relationships/tags" Target="../tags/tag56.xml"/><Relationship Id="rId17" Type="http://schemas.openxmlformats.org/officeDocument/2006/relationships/tags" Target="../tags/tag55.xml"/><Relationship Id="rId16" Type="http://schemas.openxmlformats.org/officeDocument/2006/relationships/tags" Target="../tags/tag54.xml"/><Relationship Id="rId15" Type="http://schemas.openxmlformats.org/officeDocument/2006/relationships/tags" Target="../tags/tag53.xml"/><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tags" Target="../tags/tag40.xml"/></Relationships>
</file>

<file path=ppt/slides/_rels/slide21.xml.rels><?xml version="1.0" encoding="UTF-8" standalone="yes"?>
<Relationships xmlns="http://schemas.openxmlformats.org/package/2006/relationships"><Relationship Id="rId9" Type="http://schemas.openxmlformats.org/officeDocument/2006/relationships/image" Target="../media/image88.svg"/><Relationship Id="rId8" Type="http://schemas.openxmlformats.org/officeDocument/2006/relationships/image" Target="../media/image87.png"/><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image" Target="../media/image13.png"/><Relationship Id="rId3" Type="http://schemas.openxmlformats.org/officeDocument/2006/relationships/tags" Target="../tags/tag65.xml"/><Relationship Id="rId2" Type="http://schemas.openxmlformats.org/officeDocument/2006/relationships/tags" Target="../tags/tag64.xml"/><Relationship Id="rId16" Type="http://schemas.openxmlformats.org/officeDocument/2006/relationships/slideLayout" Target="../slideLayouts/slideLayout5.xml"/><Relationship Id="rId15" Type="http://schemas.openxmlformats.org/officeDocument/2006/relationships/image" Target="../media/image94.svg"/><Relationship Id="rId14" Type="http://schemas.openxmlformats.org/officeDocument/2006/relationships/image" Target="../media/image93.png"/><Relationship Id="rId13" Type="http://schemas.openxmlformats.org/officeDocument/2006/relationships/image" Target="../media/image92.svg"/><Relationship Id="rId12" Type="http://schemas.openxmlformats.org/officeDocument/2006/relationships/image" Target="../media/image91.png"/><Relationship Id="rId11" Type="http://schemas.openxmlformats.org/officeDocument/2006/relationships/image" Target="../media/image90.svg"/><Relationship Id="rId10" Type="http://schemas.openxmlformats.org/officeDocument/2006/relationships/image" Target="../media/image89.png"/><Relationship Id="rId1" Type="http://schemas.openxmlformats.org/officeDocument/2006/relationships/tags" Target="../tags/tag63.xml"/></Relationships>
</file>

<file path=ppt/slides/_rels/slide22.xml.rels><?xml version="1.0" encoding="UTF-8" standalone="yes"?>
<Relationships xmlns="http://schemas.openxmlformats.org/package/2006/relationships"><Relationship Id="rId99" Type="http://schemas.openxmlformats.org/officeDocument/2006/relationships/tags" Target="../tags/tag167.xml"/><Relationship Id="rId98" Type="http://schemas.openxmlformats.org/officeDocument/2006/relationships/tags" Target="../tags/tag166.xml"/><Relationship Id="rId97" Type="http://schemas.openxmlformats.org/officeDocument/2006/relationships/tags" Target="../tags/tag165.xml"/><Relationship Id="rId96" Type="http://schemas.openxmlformats.org/officeDocument/2006/relationships/tags" Target="../tags/tag164.xml"/><Relationship Id="rId95" Type="http://schemas.openxmlformats.org/officeDocument/2006/relationships/tags" Target="../tags/tag163.xml"/><Relationship Id="rId94" Type="http://schemas.openxmlformats.org/officeDocument/2006/relationships/tags" Target="../tags/tag162.xml"/><Relationship Id="rId93" Type="http://schemas.openxmlformats.org/officeDocument/2006/relationships/tags" Target="../tags/tag161.xml"/><Relationship Id="rId92" Type="http://schemas.openxmlformats.org/officeDocument/2006/relationships/tags" Target="../tags/tag160.xml"/><Relationship Id="rId91" Type="http://schemas.openxmlformats.org/officeDocument/2006/relationships/tags" Target="../tags/tag159.xml"/><Relationship Id="rId90" Type="http://schemas.openxmlformats.org/officeDocument/2006/relationships/tags" Target="../tags/tag158.xml"/><Relationship Id="rId9" Type="http://schemas.openxmlformats.org/officeDocument/2006/relationships/tags" Target="../tags/tag77.xml"/><Relationship Id="rId89" Type="http://schemas.openxmlformats.org/officeDocument/2006/relationships/tags" Target="../tags/tag157.xml"/><Relationship Id="rId88" Type="http://schemas.openxmlformats.org/officeDocument/2006/relationships/tags" Target="../tags/tag156.xml"/><Relationship Id="rId87" Type="http://schemas.openxmlformats.org/officeDocument/2006/relationships/tags" Target="../tags/tag155.xml"/><Relationship Id="rId86" Type="http://schemas.openxmlformats.org/officeDocument/2006/relationships/tags" Target="../tags/tag154.xml"/><Relationship Id="rId85" Type="http://schemas.openxmlformats.org/officeDocument/2006/relationships/tags" Target="../tags/tag153.xml"/><Relationship Id="rId84" Type="http://schemas.openxmlformats.org/officeDocument/2006/relationships/tags" Target="../tags/tag152.xml"/><Relationship Id="rId83" Type="http://schemas.openxmlformats.org/officeDocument/2006/relationships/tags" Target="../tags/tag151.xml"/><Relationship Id="rId82" Type="http://schemas.openxmlformats.org/officeDocument/2006/relationships/tags" Target="../tags/tag150.xml"/><Relationship Id="rId81" Type="http://schemas.openxmlformats.org/officeDocument/2006/relationships/tags" Target="../tags/tag149.xml"/><Relationship Id="rId80" Type="http://schemas.openxmlformats.org/officeDocument/2006/relationships/tags" Target="../tags/tag148.xml"/><Relationship Id="rId8" Type="http://schemas.openxmlformats.org/officeDocument/2006/relationships/tags" Target="../tags/tag76.xml"/><Relationship Id="rId79" Type="http://schemas.openxmlformats.org/officeDocument/2006/relationships/tags" Target="../tags/tag147.xml"/><Relationship Id="rId78" Type="http://schemas.openxmlformats.org/officeDocument/2006/relationships/tags" Target="../tags/tag146.xml"/><Relationship Id="rId77" Type="http://schemas.openxmlformats.org/officeDocument/2006/relationships/tags" Target="../tags/tag145.xml"/><Relationship Id="rId76" Type="http://schemas.openxmlformats.org/officeDocument/2006/relationships/tags" Target="../tags/tag144.xml"/><Relationship Id="rId75" Type="http://schemas.openxmlformats.org/officeDocument/2006/relationships/tags" Target="../tags/tag143.xml"/><Relationship Id="rId74" Type="http://schemas.openxmlformats.org/officeDocument/2006/relationships/tags" Target="../tags/tag142.xml"/><Relationship Id="rId73" Type="http://schemas.openxmlformats.org/officeDocument/2006/relationships/tags" Target="../tags/tag141.xml"/><Relationship Id="rId72" Type="http://schemas.openxmlformats.org/officeDocument/2006/relationships/tags" Target="../tags/tag140.xml"/><Relationship Id="rId71" Type="http://schemas.openxmlformats.org/officeDocument/2006/relationships/tags" Target="../tags/tag139.xml"/><Relationship Id="rId70" Type="http://schemas.openxmlformats.org/officeDocument/2006/relationships/tags" Target="../tags/tag138.xml"/><Relationship Id="rId7" Type="http://schemas.openxmlformats.org/officeDocument/2006/relationships/tags" Target="../tags/tag75.xml"/><Relationship Id="rId69" Type="http://schemas.openxmlformats.org/officeDocument/2006/relationships/tags" Target="../tags/tag137.xml"/><Relationship Id="rId68" Type="http://schemas.openxmlformats.org/officeDocument/2006/relationships/tags" Target="../tags/tag136.xml"/><Relationship Id="rId67" Type="http://schemas.openxmlformats.org/officeDocument/2006/relationships/tags" Target="../tags/tag135.xml"/><Relationship Id="rId66" Type="http://schemas.openxmlformats.org/officeDocument/2006/relationships/tags" Target="../tags/tag134.xml"/><Relationship Id="rId65" Type="http://schemas.openxmlformats.org/officeDocument/2006/relationships/tags" Target="../tags/tag133.xml"/><Relationship Id="rId64" Type="http://schemas.openxmlformats.org/officeDocument/2006/relationships/tags" Target="../tags/tag132.xml"/><Relationship Id="rId63" Type="http://schemas.openxmlformats.org/officeDocument/2006/relationships/tags" Target="../tags/tag131.xml"/><Relationship Id="rId62" Type="http://schemas.openxmlformats.org/officeDocument/2006/relationships/tags" Target="../tags/tag130.xml"/><Relationship Id="rId61" Type="http://schemas.openxmlformats.org/officeDocument/2006/relationships/tags" Target="../tags/tag129.xml"/><Relationship Id="rId60" Type="http://schemas.openxmlformats.org/officeDocument/2006/relationships/tags" Target="../tags/tag128.xml"/><Relationship Id="rId6" Type="http://schemas.openxmlformats.org/officeDocument/2006/relationships/tags" Target="../tags/tag74.xml"/><Relationship Id="rId59" Type="http://schemas.openxmlformats.org/officeDocument/2006/relationships/tags" Target="../tags/tag127.xml"/><Relationship Id="rId58" Type="http://schemas.openxmlformats.org/officeDocument/2006/relationships/tags" Target="../tags/tag126.xml"/><Relationship Id="rId57" Type="http://schemas.openxmlformats.org/officeDocument/2006/relationships/tags" Target="../tags/tag125.xml"/><Relationship Id="rId56" Type="http://schemas.openxmlformats.org/officeDocument/2006/relationships/tags" Target="../tags/tag124.xml"/><Relationship Id="rId55" Type="http://schemas.openxmlformats.org/officeDocument/2006/relationships/tags" Target="../tags/tag123.xml"/><Relationship Id="rId54" Type="http://schemas.openxmlformats.org/officeDocument/2006/relationships/tags" Target="../tags/tag122.xml"/><Relationship Id="rId53" Type="http://schemas.openxmlformats.org/officeDocument/2006/relationships/tags" Target="../tags/tag121.xml"/><Relationship Id="rId52" Type="http://schemas.openxmlformats.org/officeDocument/2006/relationships/tags" Target="../tags/tag120.xml"/><Relationship Id="rId51" Type="http://schemas.openxmlformats.org/officeDocument/2006/relationships/tags" Target="../tags/tag119.xml"/><Relationship Id="rId50" Type="http://schemas.openxmlformats.org/officeDocument/2006/relationships/tags" Target="../tags/tag118.xml"/><Relationship Id="rId5" Type="http://schemas.openxmlformats.org/officeDocument/2006/relationships/tags" Target="../tags/tag73.xml"/><Relationship Id="rId49" Type="http://schemas.openxmlformats.org/officeDocument/2006/relationships/tags" Target="../tags/tag117.xml"/><Relationship Id="rId48" Type="http://schemas.openxmlformats.org/officeDocument/2006/relationships/tags" Target="../tags/tag116.xml"/><Relationship Id="rId47" Type="http://schemas.openxmlformats.org/officeDocument/2006/relationships/tags" Target="../tags/tag115.xml"/><Relationship Id="rId46" Type="http://schemas.openxmlformats.org/officeDocument/2006/relationships/tags" Target="../tags/tag114.xml"/><Relationship Id="rId45" Type="http://schemas.openxmlformats.org/officeDocument/2006/relationships/tags" Target="../tags/tag113.xml"/><Relationship Id="rId44" Type="http://schemas.openxmlformats.org/officeDocument/2006/relationships/tags" Target="../tags/tag112.xml"/><Relationship Id="rId43" Type="http://schemas.openxmlformats.org/officeDocument/2006/relationships/tags" Target="../tags/tag111.xml"/><Relationship Id="rId42" Type="http://schemas.openxmlformats.org/officeDocument/2006/relationships/tags" Target="../tags/tag110.xml"/><Relationship Id="rId41" Type="http://schemas.openxmlformats.org/officeDocument/2006/relationships/tags" Target="../tags/tag109.xml"/><Relationship Id="rId40" Type="http://schemas.openxmlformats.org/officeDocument/2006/relationships/tags" Target="../tags/tag108.xml"/><Relationship Id="rId4" Type="http://schemas.openxmlformats.org/officeDocument/2006/relationships/tags" Target="../tags/tag72.xml"/><Relationship Id="rId39" Type="http://schemas.openxmlformats.org/officeDocument/2006/relationships/tags" Target="../tags/tag107.xml"/><Relationship Id="rId38" Type="http://schemas.openxmlformats.org/officeDocument/2006/relationships/tags" Target="../tags/tag106.xml"/><Relationship Id="rId37" Type="http://schemas.openxmlformats.org/officeDocument/2006/relationships/tags" Target="../tags/tag105.xml"/><Relationship Id="rId36" Type="http://schemas.openxmlformats.org/officeDocument/2006/relationships/tags" Target="../tags/tag104.xml"/><Relationship Id="rId35" Type="http://schemas.openxmlformats.org/officeDocument/2006/relationships/tags" Target="../tags/tag103.xml"/><Relationship Id="rId34" Type="http://schemas.openxmlformats.org/officeDocument/2006/relationships/tags" Target="../tags/tag102.xml"/><Relationship Id="rId33" Type="http://schemas.openxmlformats.org/officeDocument/2006/relationships/tags" Target="../tags/tag101.xml"/><Relationship Id="rId32" Type="http://schemas.openxmlformats.org/officeDocument/2006/relationships/tags" Target="../tags/tag100.xml"/><Relationship Id="rId31" Type="http://schemas.openxmlformats.org/officeDocument/2006/relationships/tags" Target="../tags/tag99.xml"/><Relationship Id="rId30" Type="http://schemas.openxmlformats.org/officeDocument/2006/relationships/tags" Target="../tags/tag98.xml"/><Relationship Id="rId3" Type="http://schemas.openxmlformats.org/officeDocument/2006/relationships/tags" Target="../tags/tag71.xml"/><Relationship Id="rId29" Type="http://schemas.openxmlformats.org/officeDocument/2006/relationships/tags" Target="../tags/tag97.xml"/><Relationship Id="rId28" Type="http://schemas.openxmlformats.org/officeDocument/2006/relationships/tags" Target="../tags/tag96.xml"/><Relationship Id="rId27" Type="http://schemas.openxmlformats.org/officeDocument/2006/relationships/tags" Target="../tags/tag95.xml"/><Relationship Id="rId26" Type="http://schemas.openxmlformats.org/officeDocument/2006/relationships/tags" Target="../tags/tag94.xml"/><Relationship Id="rId25" Type="http://schemas.openxmlformats.org/officeDocument/2006/relationships/tags" Target="../tags/tag93.xml"/><Relationship Id="rId24" Type="http://schemas.openxmlformats.org/officeDocument/2006/relationships/tags" Target="../tags/tag92.xml"/><Relationship Id="rId23" Type="http://schemas.openxmlformats.org/officeDocument/2006/relationships/tags" Target="../tags/tag91.xml"/><Relationship Id="rId22" Type="http://schemas.openxmlformats.org/officeDocument/2006/relationships/tags" Target="../tags/tag90.xml"/><Relationship Id="rId21" Type="http://schemas.openxmlformats.org/officeDocument/2006/relationships/tags" Target="../tags/tag89.xml"/><Relationship Id="rId20" Type="http://schemas.openxmlformats.org/officeDocument/2006/relationships/tags" Target="../tags/tag88.xml"/><Relationship Id="rId2" Type="http://schemas.openxmlformats.org/officeDocument/2006/relationships/tags" Target="../tags/tag70.xml"/><Relationship Id="rId19" Type="http://schemas.openxmlformats.org/officeDocument/2006/relationships/tags" Target="../tags/tag87.xml"/><Relationship Id="rId18" Type="http://schemas.openxmlformats.org/officeDocument/2006/relationships/tags" Target="../tags/tag86.xml"/><Relationship Id="rId17" Type="http://schemas.openxmlformats.org/officeDocument/2006/relationships/tags" Target="../tags/tag85.xml"/><Relationship Id="rId16" Type="http://schemas.openxmlformats.org/officeDocument/2006/relationships/tags" Target="../tags/tag84.xml"/><Relationship Id="rId15" Type="http://schemas.openxmlformats.org/officeDocument/2006/relationships/tags" Target="../tags/tag83.xml"/><Relationship Id="rId147" Type="http://schemas.openxmlformats.org/officeDocument/2006/relationships/slideLayout" Target="../slideLayouts/slideLayout5.xml"/><Relationship Id="rId146" Type="http://schemas.openxmlformats.org/officeDocument/2006/relationships/tags" Target="../tags/tag202.xml"/><Relationship Id="rId145" Type="http://schemas.openxmlformats.org/officeDocument/2006/relationships/tags" Target="../tags/tag201.xml"/><Relationship Id="rId144" Type="http://schemas.openxmlformats.org/officeDocument/2006/relationships/tags" Target="../tags/tag200.xml"/><Relationship Id="rId143" Type="http://schemas.openxmlformats.org/officeDocument/2006/relationships/tags" Target="../tags/tag199.xml"/><Relationship Id="rId142" Type="http://schemas.openxmlformats.org/officeDocument/2006/relationships/tags" Target="../tags/tag198.xml"/><Relationship Id="rId141" Type="http://schemas.openxmlformats.org/officeDocument/2006/relationships/image" Target="../media/image106.svg"/><Relationship Id="rId140" Type="http://schemas.openxmlformats.org/officeDocument/2006/relationships/image" Target="../media/image105.png"/><Relationship Id="rId14" Type="http://schemas.openxmlformats.org/officeDocument/2006/relationships/tags" Target="../tags/tag82.xml"/><Relationship Id="rId139" Type="http://schemas.openxmlformats.org/officeDocument/2006/relationships/tags" Target="../tags/tag197.xml"/><Relationship Id="rId138" Type="http://schemas.openxmlformats.org/officeDocument/2006/relationships/image" Target="../media/image104.svg"/><Relationship Id="rId137" Type="http://schemas.openxmlformats.org/officeDocument/2006/relationships/image" Target="../media/image103.png"/><Relationship Id="rId136" Type="http://schemas.openxmlformats.org/officeDocument/2006/relationships/tags" Target="../tags/tag196.xml"/><Relationship Id="rId135" Type="http://schemas.openxmlformats.org/officeDocument/2006/relationships/tags" Target="../tags/tag195.xml"/><Relationship Id="rId134" Type="http://schemas.openxmlformats.org/officeDocument/2006/relationships/image" Target="../media/image102.svg"/><Relationship Id="rId133" Type="http://schemas.openxmlformats.org/officeDocument/2006/relationships/image" Target="../media/image101.png"/><Relationship Id="rId132" Type="http://schemas.openxmlformats.org/officeDocument/2006/relationships/tags" Target="../tags/tag194.xml"/><Relationship Id="rId131" Type="http://schemas.openxmlformats.org/officeDocument/2006/relationships/tags" Target="../tags/tag193.xml"/><Relationship Id="rId130" Type="http://schemas.openxmlformats.org/officeDocument/2006/relationships/image" Target="../media/image100.svg"/><Relationship Id="rId13" Type="http://schemas.openxmlformats.org/officeDocument/2006/relationships/tags" Target="../tags/tag81.xml"/><Relationship Id="rId129" Type="http://schemas.openxmlformats.org/officeDocument/2006/relationships/image" Target="../media/image99.png"/><Relationship Id="rId128" Type="http://schemas.openxmlformats.org/officeDocument/2006/relationships/tags" Target="../tags/tag192.xml"/><Relationship Id="rId127" Type="http://schemas.openxmlformats.org/officeDocument/2006/relationships/tags" Target="../tags/tag191.xml"/><Relationship Id="rId126" Type="http://schemas.openxmlformats.org/officeDocument/2006/relationships/image" Target="../media/image98.svg"/><Relationship Id="rId125" Type="http://schemas.openxmlformats.org/officeDocument/2006/relationships/image" Target="../media/image97.png"/><Relationship Id="rId124" Type="http://schemas.openxmlformats.org/officeDocument/2006/relationships/tags" Target="../tags/tag190.xml"/><Relationship Id="rId123" Type="http://schemas.openxmlformats.org/officeDocument/2006/relationships/tags" Target="../tags/tag189.xml"/><Relationship Id="rId122" Type="http://schemas.openxmlformats.org/officeDocument/2006/relationships/image" Target="../media/image96.svg"/><Relationship Id="rId121" Type="http://schemas.openxmlformats.org/officeDocument/2006/relationships/image" Target="../media/image95.png"/><Relationship Id="rId120" Type="http://schemas.openxmlformats.org/officeDocument/2006/relationships/tags" Target="../tags/tag188.xml"/><Relationship Id="rId12" Type="http://schemas.openxmlformats.org/officeDocument/2006/relationships/tags" Target="../tags/tag80.xml"/><Relationship Id="rId119" Type="http://schemas.openxmlformats.org/officeDocument/2006/relationships/tags" Target="../tags/tag187.xml"/><Relationship Id="rId118" Type="http://schemas.openxmlformats.org/officeDocument/2006/relationships/tags" Target="../tags/tag186.xml"/><Relationship Id="rId117" Type="http://schemas.openxmlformats.org/officeDocument/2006/relationships/tags" Target="../tags/tag185.xml"/><Relationship Id="rId116" Type="http://schemas.openxmlformats.org/officeDocument/2006/relationships/tags" Target="../tags/tag184.xml"/><Relationship Id="rId115" Type="http://schemas.openxmlformats.org/officeDocument/2006/relationships/tags" Target="../tags/tag183.xml"/><Relationship Id="rId114" Type="http://schemas.openxmlformats.org/officeDocument/2006/relationships/tags" Target="../tags/tag182.xml"/><Relationship Id="rId113" Type="http://schemas.openxmlformats.org/officeDocument/2006/relationships/tags" Target="../tags/tag181.xml"/><Relationship Id="rId112" Type="http://schemas.openxmlformats.org/officeDocument/2006/relationships/tags" Target="../tags/tag180.xml"/><Relationship Id="rId111" Type="http://schemas.openxmlformats.org/officeDocument/2006/relationships/tags" Target="../tags/tag179.xml"/><Relationship Id="rId110" Type="http://schemas.openxmlformats.org/officeDocument/2006/relationships/tags" Target="../tags/tag178.xml"/><Relationship Id="rId11" Type="http://schemas.openxmlformats.org/officeDocument/2006/relationships/tags" Target="../tags/tag79.xml"/><Relationship Id="rId109" Type="http://schemas.openxmlformats.org/officeDocument/2006/relationships/tags" Target="../tags/tag177.xml"/><Relationship Id="rId108" Type="http://schemas.openxmlformats.org/officeDocument/2006/relationships/tags" Target="../tags/tag176.xml"/><Relationship Id="rId107" Type="http://schemas.openxmlformats.org/officeDocument/2006/relationships/tags" Target="../tags/tag175.xml"/><Relationship Id="rId106" Type="http://schemas.openxmlformats.org/officeDocument/2006/relationships/tags" Target="../tags/tag174.xml"/><Relationship Id="rId105" Type="http://schemas.openxmlformats.org/officeDocument/2006/relationships/tags" Target="../tags/tag173.xml"/><Relationship Id="rId104" Type="http://schemas.openxmlformats.org/officeDocument/2006/relationships/tags" Target="../tags/tag172.xml"/><Relationship Id="rId103" Type="http://schemas.openxmlformats.org/officeDocument/2006/relationships/tags" Target="../tags/tag171.xml"/><Relationship Id="rId102" Type="http://schemas.openxmlformats.org/officeDocument/2006/relationships/tags" Target="../tags/tag170.xml"/><Relationship Id="rId101" Type="http://schemas.openxmlformats.org/officeDocument/2006/relationships/tags" Target="../tags/tag169.xml"/><Relationship Id="rId100" Type="http://schemas.openxmlformats.org/officeDocument/2006/relationships/tags" Target="../tags/tag168.xml"/><Relationship Id="rId10" Type="http://schemas.openxmlformats.org/officeDocument/2006/relationships/tags" Target="../tags/tag78.xml"/><Relationship Id="rId1" Type="http://schemas.openxmlformats.org/officeDocument/2006/relationships/tags" Target="../tags/tag69.xml"/></Relationships>
</file>

<file path=ppt/slides/_rels/slide23.xml.rels><?xml version="1.0" encoding="UTF-8" standalone="yes"?>
<Relationships xmlns="http://schemas.openxmlformats.org/package/2006/relationships"><Relationship Id="rId9" Type="http://schemas.openxmlformats.org/officeDocument/2006/relationships/tags" Target="../tags/tag211.xml"/><Relationship Id="rId8" Type="http://schemas.openxmlformats.org/officeDocument/2006/relationships/tags" Target="../tags/tag210.xml"/><Relationship Id="rId7" Type="http://schemas.openxmlformats.org/officeDocument/2006/relationships/tags" Target="../tags/tag209.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 Id="rId38" Type="http://schemas.openxmlformats.org/officeDocument/2006/relationships/slideLayout" Target="../slideLayouts/slideLayout5.xml"/><Relationship Id="rId37" Type="http://schemas.openxmlformats.org/officeDocument/2006/relationships/tags" Target="../tags/tag239.xml"/><Relationship Id="rId36" Type="http://schemas.openxmlformats.org/officeDocument/2006/relationships/tags" Target="../tags/tag238.xml"/><Relationship Id="rId35" Type="http://schemas.openxmlformats.org/officeDocument/2006/relationships/tags" Target="../tags/tag237.xml"/><Relationship Id="rId34" Type="http://schemas.openxmlformats.org/officeDocument/2006/relationships/tags" Target="../tags/tag236.xml"/><Relationship Id="rId33" Type="http://schemas.openxmlformats.org/officeDocument/2006/relationships/tags" Target="../tags/tag235.xml"/><Relationship Id="rId32" Type="http://schemas.openxmlformats.org/officeDocument/2006/relationships/tags" Target="../tags/tag234.xml"/><Relationship Id="rId31" Type="http://schemas.openxmlformats.org/officeDocument/2006/relationships/tags" Target="../tags/tag233.xml"/><Relationship Id="rId30" Type="http://schemas.openxmlformats.org/officeDocument/2006/relationships/tags" Target="../tags/tag232.xml"/><Relationship Id="rId3" Type="http://schemas.openxmlformats.org/officeDocument/2006/relationships/tags" Target="../tags/tag205.xml"/><Relationship Id="rId29" Type="http://schemas.openxmlformats.org/officeDocument/2006/relationships/tags" Target="../tags/tag231.xml"/><Relationship Id="rId28" Type="http://schemas.openxmlformats.org/officeDocument/2006/relationships/tags" Target="../tags/tag230.xml"/><Relationship Id="rId27" Type="http://schemas.openxmlformats.org/officeDocument/2006/relationships/tags" Target="../tags/tag229.xml"/><Relationship Id="rId26" Type="http://schemas.openxmlformats.org/officeDocument/2006/relationships/tags" Target="../tags/tag228.xml"/><Relationship Id="rId25" Type="http://schemas.openxmlformats.org/officeDocument/2006/relationships/tags" Target="../tags/tag227.xml"/><Relationship Id="rId24" Type="http://schemas.openxmlformats.org/officeDocument/2006/relationships/tags" Target="../tags/tag226.xml"/><Relationship Id="rId23" Type="http://schemas.openxmlformats.org/officeDocument/2006/relationships/tags" Target="../tags/tag225.xml"/><Relationship Id="rId22" Type="http://schemas.openxmlformats.org/officeDocument/2006/relationships/tags" Target="../tags/tag224.xml"/><Relationship Id="rId21" Type="http://schemas.openxmlformats.org/officeDocument/2006/relationships/tags" Target="../tags/tag223.xml"/><Relationship Id="rId20" Type="http://schemas.openxmlformats.org/officeDocument/2006/relationships/tags" Target="../tags/tag222.xml"/><Relationship Id="rId2" Type="http://schemas.openxmlformats.org/officeDocument/2006/relationships/tags" Target="../tags/tag204.xml"/><Relationship Id="rId19" Type="http://schemas.openxmlformats.org/officeDocument/2006/relationships/tags" Target="../tags/tag221.xml"/><Relationship Id="rId18" Type="http://schemas.openxmlformats.org/officeDocument/2006/relationships/tags" Target="../tags/tag220.xml"/><Relationship Id="rId17" Type="http://schemas.openxmlformats.org/officeDocument/2006/relationships/tags" Target="../tags/tag219.xml"/><Relationship Id="rId16" Type="http://schemas.openxmlformats.org/officeDocument/2006/relationships/tags" Target="../tags/tag218.xml"/><Relationship Id="rId15" Type="http://schemas.openxmlformats.org/officeDocument/2006/relationships/tags" Target="../tags/tag217.xml"/><Relationship Id="rId14" Type="http://schemas.openxmlformats.org/officeDocument/2006/relationships/tags" Target="../tags/tag216.xml"/><Relationship Id="rId13" Type="http://schemas.openxmlformats.org/officeDocument/2006/relationships/tags" Target="../tags/tag215.xml"/><Relationship Id="rId12" Type="http://schemas.openxmlformats.org/officeDocument/2006/relationships/tags" Target="../tags/tag214.xml"/><Relationship Id="rId11" Type="http://schemas.openxmlformats.org/officeDocument/2006/relationships/tags" Target="../tags/tag213.xml"/><Relationship Id="rId10" Type="http://schemas.openxmlformats.org/officeDocument/2006/relationships/tags" Target="../tags/tag212.xml"/><Relationship Id="rId1" Type="http://schemas.openxmlformats.org/officeDocument/2006/relationships/tags" Target="../tags/tag20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9" Type="http://schemas.openxmlformats.org/officeDocument/2006/relationships/tags" Target="../tags/tag248.xml"/><Relationship Id="rId8" Type="http://schemas.openxmlformats.org/officeDocument/2006/relationships/tags" Target="../tags/tag247.xml"/><Relationship Id="rId7" Type="http://schemas.openxmlformats.org/officeDocument/2006/relationships/tags" Target="../tags/tag246.xml"/><Relationship Id="rId6" Type="http://schemas.openxmlformats.org/officeDocument/2006/relationships/tags" Target="../tags/tag245.xml"/><Relationship Id="rId5" Type="http://schemas.openxmlformats.org/officeDocument/2006/relationships/tags" Target="../tags/tag244.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7" Type="http://schemas.openxmlformats.org/officeDocument/2006/relationships/slideLayout" Target="../slideLayouts/slideLayout5.xml"/><Relationship Id="rId16" Type="http://schemas.openxmlformats.org/officeDocument/2006/relationships/tags" Target="../tags/tag255.xml"/><Relationship Id="rId15" Type="http://schemas.openxmlformats.org/officeDocument/2006/relationships/tags" Target="../tags/tag254.xml"/><Relationship Id="rId14" Type="http://schemas.openxmlformats.org/officeDocument/2006/relationships/tags" Target="../tags/tag253.xml"/><Relationship Id="rId13" Type="http://schemas.openxmlformats.org/officeDocument/2006/relationships/tags" Target="../tags/tag252.xml"/><Relationship Id="rId12" Type="http://schemas.openxmlformats.org/officeDocument/2006/relationships/tags" Target="../tags/tag251.xml"/><Relationship Id="rId11" Type="http://schemas.openxmlformats.org/officeDocument/2006/relationships/tags" Target="../tags/tag250.xml"/><Relationship Id="rId10" Type="http://schemas.openxmlformats.org/officeDocument/2006/relationships/tags" Target="../tags/tag249.xml"/><Relationship Id="rId1" Type="http://schemas.openxmlformats.org/officeDocument/2006/relationships/tags" Target="../tags/tag240.xml"/></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5.xml"/><Relationship Id="rId7" Type="http://schemas.openxmlformats.org/officeDocument/2006/relationships/tags" Target="../tags/tag259.xml"/><Relationship Id="rId6" Type="http://schemas.openxmlformats.org/officeDocument/2006/relationships/tags" Target="../tags/tag258.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image" Target="../media/image108.svg"/><Relationship Id="rId2" Type="http://schemas.openxmlformats.org/officeDocument/2006/relationships/image" Target="../media/image107.png"/><Relationship Id="rId1" Type="http://schemas.openxmlformats.org/officeDocument/2006/relationships/image" Target="../media/image13.png"/></Relationships>
</file>

<file path=ppt/slides/_rels/slide27.xml.rels><?xml version="1.0" encoding="UTF-8" standalone="yes"?>
<Relationships xmlns="http://schemas.openxmlformats.org/package/2006/relationships"><Relationship Id="rId9" Type="http://schemas.openxmlformats.org/officeDocument/2006/relationships/image" Target="../media/image84.svg"/><Relationship Id="rId8" Type="http://schemas.openxmlformats.org/officeDocument/2006/relationships/image" Target="../media/image83.png"/><Relationship Id="rId7" Type="http://schemas.openxmlformats.org/officeDocument/2006/relationships/image" Target="../media/image82.svg"/><Relationship Id="rId6" Type="http://schemas.openxmlformats.org/officeDocument/2006/relationships/image" Target="../media/image81.png"/><Relationship Id="rId5" Type="http://schemas.openxmlformats.org/officeDocument/2006/relationships/image" Target="../media/image111.png"/><Relationship Id="rId4" Type="http://schemas.openxmlformats.org/officeDocument/2006/relationships/image" Target="../media/image110.png"/><Relationship Id="rId3" Type="http://schemas.openxmlformats.org/officeDocument/2006/relationships/image" Target="../media/image109.jpeg"/><Relationship Id="rId2" Type="http://schemas.openxmlformats.org/officeDocument/2006/relationships/image" Target="../media/image107.png"/><Relationship Id="rId16" Type="http://schemas.openxmlformats.org/officeDocument/2006/relationships/slideLayout" Target="../slideLayouts/slideLayout5.xml"/><Relationship Id="rId15" Type="http://schemas.openxmlformats.org/officeDocument/2006/relationships/image" Target="../media/image114.png"/><Relationship Id="rId14" Type="http://schemas.openxmlformats.org/officeDocument/2006/relationships/tags" Target="../tags/tag260.xml"/><Relationship Id="rId13" Type="http://schemas.openxmlformats.org/officeDocument/2006/relationships/image" Target="../media/image113.svg"/><Relationship Id="rId12" Type="http://schemas.openxmlformats.org/officeDocument/2006/relationships/image" Target="../media/image112.png"/><Relationship Id="rId11" Type="http://schemas.openxmlformats.org/officeDocument/2006/relationships/image" Target="../media/image86.svg"/><Relationship Id="rId10" Type="http://schemas.openxmlformats.org/officeDocument/2006/relationships/image" Target="../media/image85.png"/><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121.svg"/><Relationship Id="rId7" Type="http://schemas.openxmlformats.org/officeDocument/2006/relationships/image" Target="../media/image120.png"/><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3.png"/><Relationship Id="rId3" Type="http://schemas.openxmlformats.org/officeDocument/2006/relationships/image" Target="../media/image117.png"/><Relationship Id="rId2" Type="http://schemas.openxmlformats.org/officeDocument/2006/relationships/image" Target="../media/image116.png"/><Relationship Id="rId10" Type="http://schemas.openxmlformats.org/officeDocument/2006/relationships/notesSlide" Target="../notesSlides/notesSlide1.xml"/><Relationship Id="rId1" Type="http://schemas.openxmlformats.org/officeDocument/2006/relationships/image" Target="../media/image115.png"/></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126.GIF"/><Relationship Id="rId7" Type="http://schemas.openxmlformats.org/officeDocument/2006/relationships/image" Target="../media/image125.GIF"/><Relationship Id="rId6" Type="http://schemas.openxmlformats.org/officeDocument/2006/relationships/image" Target="../media/image124.GIF"/><Relationship Id="rId5" Type="http://schemas.openxmlformats.org/officeDocument/2006/relationships/image" Target="../media/image123.GIF"/><Relationship Id="rId4" Type="http://schemas.openxmlformats.org/officeDocument/2006/relationships/image" Target="../media/image122.GIF"/><Relationship Id="rId3" Type="http://schemas.openxmlformats.org/officeDocument/2006/relationships/image" Target="../media/image79.jpeg"/><Relationship Id="rId2" Type="http://schemas.openxmlformats.org/officeDocument/2006/relationships/tags" Target="../tags/tag261.xml"/><Relationship Id="rId10" Type="http://schemas.openxmlformats.org/officeDocument/2006/relationships/notesSlide" Target="../notesSlides/notesSlide2.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3.bin"/><Relationship Id="rId8" Type="http://schemas.openxmlformats.org/officeDocument/2006/relationships/image" Target="../media/image130.wmf"/><Relationship Id="rId7" Type="http://schemas.openxmlformats.org/officeDocument/2006/relationships/oleObject" Target="../embeddings/oleObject2.bin"/><Relationship Id="rId6" Type="http://schemas.openxmlformats.org/officeDocument/2006/relationships/image" Target="../media/image129.wmf"/><Relationship Id="rId5" Type="http://schemas.openxmlformats.org/officeDocument/2006/relationships/oleObject" Target="../embeddings/oleObject1.bin"/><Relationship Id="rId4" Type="http://schemas.openxmlformats.org/officeDocument/2006/relationships/image" Target="../media/image128.png"/><Relationship Id="rId3" Type="http://schemas.openxmlformats.org/officeDocument/2006/relationships/tags" Target="../tags/tag262.xml"/><Relationship Id="rId2" Type="http://schemas.openxmlformats.org/officeDocument/2006/relationships/image" Target="../media/image127.png"/><Relationship Id="rId14" Type="http://schemas.openxmlformats.org/officeDocument/2006/relationships/notesSlide" Target="../notesSlides/notesSlide3.xml"/><Relationship Id="rId13" Type="http://schemas.openxmlformats.org/officeDocument/2006/relationships/vmlDrawing" Target="../drawings/vmlDrawing1.vml"/><Relationship Id="rId12" Type="http://schemas.openxmlformats.org/officeDocument/2006/relationships/slideLayout" Target="../slideLayouts/slideLayout5.xml"/><Relationship Id="rId11" Type="http://schemas.openxmlformats.org/officeDocument/2006/relationships/image" Target="../media/image132.png"/><Relationship Id="rId10" Type="http://schemas.openxmlformats.org/officeDocument/2006/relationships/image" Target="../media/image131.wmf"/><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vmlDrawing" Target="../drawings/vmlDrawing2.vml"/><Relationship Id="rId7" Type="http://schemas.openxmlformats.org/officeDocument/2006/relationships/slideLayout" Target="../slideLayouts/slideLayout5.xml"/><Relationship Id="rId6" Type="http://schemas.openxmlformats.org/officeDocument/2006/relationships/image" Target="../media/image136.GIF"/><Relationship Id="rId5" Type="http://schemas.openxmlformats.org/officeDocument/2006/relationships/image" Target="../media/image135.png"/><Relationship Id="rId4" Type="http://schemas.openxmlformats.org/officeDocument/2006/relationships/image" Target="../media/image134.wmf"/><Relationship Id="rId3" Type="http://schemas.openxmlformats.org/officeDocument/2006/relationships/oleObject" Target="../embeddings/oleObject4.bin"/><Relationship Id="rId2" Type="http://schemas.openxmlformats.org/officeDocument/2006/relationships/image" Target="../media/image133.png"/><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5.xml"/><Relationship Id="rId5" Type="http://schemas.openxmlformats.org/officeDocument/2006/relationships/image" Target="../media/image139.png"/><Relationship Id="rId4" Type="http://schemas.openxmlformats.org/officeDocument/2006/relationships/image" Target="../media/image138.png"/><Relationship Id="rId3" Type="http://schemas.openxmlformats.org/officeDocument/2006/relationships/image" Target="../media/image133.png"/><Relationship Id="rId2" Type="http://schemas.openxmlformats.org/officeDocument/2006/relationships/image" Target="../media/image13.png"/><Relationship Id="rId1" Type="http://schemas.openxmlformats.org/officeDocument/2006/relationships/image" Target="../media/image137.png"/></Relationships>
</file>

<file path=ppt/slides/_rels/slide33.xml.rels><?xml version="1.0" encoding="UTF-8" standalone="yes"?>
<Relationships xmlns="http://schemas.openxmlformats.org/package/2006/relationships"><Relationship Id="rId9" Type="http://schemas.openxmlformats.org/officeDocument/2006/relationships/image" Target="../media/image144.wmf"/><Relationship Id="rId8" Type="http://schemas.openxmlformats.org/officeDocument/2006/relationships/oleObject" Target="../embeddings/oleObject7.bin"/><Relationship Id="rId7" Type="http://schemas.openxmlformats.org/officeDocument/2006/relationships/image" Target="../media/image143.wmf"/><Relationship Id="rId6" Type="http://schemas.openxmlformats.org/officeDocument/2006/relationships/oleObject" Target="../embeddings/oleObject6.bin"/><Relationship Id="rId5" Type="http://schemas.openxmlformats.org/officeDocument/2006/relationships/image" Target="../media/image142.wmf"/><Relationship Id="rId4" Type="http://schemas.openxmlformats.org/officeDocument/2006/relationships/oleObject" Target="../embeddings/oleObject5.bin"/><Relationship Id="rId3" Type="http://schemas.openxmlformats.org/officeDocument/2006/relationships/image" Target="../media/image141.GIF"/><Relationship Id="rId2" Type="http://schemas.openxmlformats.org/officeDocument/2006/relationships/image" Target="../media/image13.png"/><Relationship Id="rId18" Type="http://schemas.openxmlformats.org/officeDocument/2006/relationships/notesSlide" Target="../notesSlides/notesSlide6.xml"/><Relationship Id="rId17" Type="http://schemas.openxmlformats.org/officeDocument/2006/relationships/vmlDrawing" Target="../drawings/vmlDrawing3.vml"/><Relationship Id="rId16" Type="http://schemas.openxmlformats.org/officeDocument/2006/relationships/slideLayout" Target="../slideLayouts/slideLayout5.xml"/><Relationship Id="rId15" Type="http://schemas.openxmlformats.org/officeDocument/2006/relationships/image" Target="../media/image147.wmf"/><Relationship Id="rId14" Type="http://schemas.openxmlformats.org/officeDocument/2006/relationships/oleObject" Target="../embeddings/oleObject10.bin"/><Relationship Id="rId13" Type="http://schemas.openxmlformats.org/officeDocument/2006/relationships/image" Target="../media/image146.wmf"/><Relationship Id="rId12" Type="http://schemas.openxmlformats.org/officeDocument/2006/relationships/oleObject" Target="../embeddings/oleObject9.bin"/><Relationship Id="rId11" Type="http://schemas.openxmlformats.org/officeDocument/2006/relationships/image" Target="../media/image145.wmf"/><Relationship Id="rId10" Type="http://schemas.openxmlformats.org/officeDocument/2006/relationships/oleObject" Target="../embeddings/oleObject8.bin"/><Relationship Id="rId1" Type="http://schemas.openxmlformats.org/officeDocument/2006/relationships/image" Target="../media/image140.bmp"/></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153.emf"/><Relationship Id="rId7" Type="http://schemas.openxmlformats.org/officeDocument/2006/relationships/image" Target="../media/image152.emf"/><Relationship Id="rId6" Type="http://schemas.openxmlformats.org/officeDocument/2006/relationships/image" Target="../media/image151.emf"/><Relationship Id="rId5" Type="http://schemas.openxmlformats.org/officeDocument/2006/relationships/image" Target="../media/image150.wmf"/><Relationship Id="rId4" Type="http://schemas.openxmlformats.org/officeDocument/2006/relationships/oleObject" Target="../embeddings/oleObject11.bin"/><Relationship Id="rId3" Type="http://schemas.openxmlformats.org/officeDocument/2006/relationships/image" Target="../media/image149.png"/><Relationship Id="rId2" Type="http://schemas.openxmlformats.org/officeDocument/2006/relationships/image" Target="../media/image13.png"/><Relationship Id="rId11" Type="http://schemas.openxmlformats.org/officeDocument/2006/relationships/notesSlide" Target="../notesSlides/notesSlide7.xml"/><Relationship Id="rId10" Type="http://schemas.openxmlformats.org/officeDocument/2006/relationships/vmlDrawing" Target="../drawings/vmlDrawing4.vml"/><Relationship Id="rId1" Type="http://schemas.openxmlformats.org/officeDocument/2006/relationships/image" Target="../media/image148.png"/></Relationships>
</file>

<file path=ppt/slides/_rels/slide35.xml.rels><?xml version="1.0" encoding="UTF-8" standalone="yes"?>
<Relationships xmlns="http://schemas.openxmlformats.org/package/2006/relationships"><Relationship Id="rId9" Type="http://schemas.openxmlformats.org/officeDocument/2006/relationships/image" Target="../media/image160.emf"/><Relationship Id="rId8" Type="http://schemas.openxmlformats.org/officeDocument/2006/relationships/image" Target="../media/image159.emf"/><Relationship Id="rId7" Type="http://schemas.openxmlformats.org/officeDocument/2006/relationships/image" Target="../media/image158.emf"/><Relationship Id="rId6" Type="http://schemas.openxmlformats.org/officeDocument/2006/relationships/image" Target="../media/image157.emf"/><Relationship Id="rId5" Type="http://schemas.openxmlformats.org/officeDocument/2006/relationships/image" Target="../media/image156.emf"/><Relationship Id="rId4" Type="http://schemas.openxmlformats.org/officeDocument/2006/relationships/image" Target="../media/image155.wmf"/><Relationship Id="rId3" Type="http://schemas.openxmlformats.org/officeDocument/2006/relationships/oleObject" Target="../embeddings/oleObject12.bin"/><Relationship Id="rId20" Type="http://schemas.openxmlformats.org/officeDocument/2006/relationships/notesSlide" Target="../notesSlides/notesSlide8.xml"/><Relationship Id="rId2" Type="http://schemas.openxmlformats.org/officeDocument/2006/relationships/image" Target="../media/image154.png"/><Relationship Id="rId19" Type="http://schemas.openxmlformats.org/officeDocument/2006/relationships/vmlDrawing" Target="../drawings/vmlDrawing5.vml"/><Relationship Id="rId18" Type="http://schemas.openxmlformats.org/officeDocument/2006/relationships/slideLayout" Target="../slideLayouts/slideLayout5.xml"/><Relationship Id="rId17" Type="http://schemas.openxmlformats.org/officeDocument/2006/relationships/image" Target="../media/image168.emf"/><Relationship Id="rId16" Type="http://schemas.openxmlformats.org/officeDocument/2006/relationships/image" Target="../media/image167.emf"/><Relationship Id="rId15" Type="http://schemas.openxmlformats.org/officeDocument/2006/relationships/image" Target="../media/image166.emf"/><Relationship Id="rId14" Type="http://schemas.openxmlformats.org/officeDocument/2006/relationships/image" Target="../media/image165.emf"/><Relationship Id="rId13" Type="http://schemas.openxmlformats.org/officeDocument/2006/relationships/image" Target="../media/image164.emf"/><Relationship Id="rId12" Type="http://schemas.openxmlformats.org/officeDocument/2006/relationships/image" Target="../media/image163.emf"/><Relationship Id="rId11" Type="http://schemas.openxmlformats.org/officeDocument/2006/relationships/image" Target="../media/image162.emf"/><Relationship Id="rId10" Type="http://schemas.openxmlformats.org/officeDocument/2006/relationships/image" Target="../media/image161.emf"/><Relationship Id="rId1" Type="http://schemas.openxmlformats.org/officeDocument/2006/relationships/image" Target="../media/image13.png"/></Relationships>
</file>

<file path=ppt/slides/_rels/slide36.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5.xml"/><Relationship Id="rId7" Type="http://schemas.openxmlformats.org/officeDocument/2006/relationships/tags" Target="../tags/tag267.xml"/><Relationship Id="rId6" Type="http://schemas.openxmlformats.org/officeDocument/2006/relationships/tags" Target="../tags/tag266.xml"/><Relationship Id="rId5" Type="http://schemas.openxmlformats.org/officeDocument/2006/relationships/tags" Target="../tags/tag265.xml"/><Relationship Id="rId4" Type="http://schemas.openxmlformats.org/officeDocument/2006/relationships/image" Target="../media/image13.png"/><Relationship Id="rId3" Type="http://schemas.openxmlformats.org/officeDocument/2006/relationships/tags" Target="../tags/tag264.xml"/><Relationship Id="rId2" Type="http://schemas.openxmlformats.org/officeDocument/2006/relationships/tags" Target="../tags/tag263.xml"/><Relationship Id="rId1" Type="http://schemas.openxmlformats.org/officeDocument/2006/relationships/image" Target="../media/image169.jpe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5.xml"/><Relationship Id="rId3" Type="http://schemas.openxmlformats.org/officeDocument/2006/relationships/image" Target="../media/image111.png"/><Relationship Id="rId2" Type="http://schemas.openxmlformats.org/officeDocument/2006/relationships/image" Target="../media/image170.png"/><Relationship Id="rId1" Type="http://schemas.openxmlformats.org/officeDocument/2006/relationships/image" Target="../media/image13.png"/></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5.xml"/><Relationship Id="rId5" Type="http://schemas.openxmlformats.org/officeDocument/2006/relationships/image" Target="../media/image172.png"/><Relationship Id="rId4" Type="http://schemas.openxmlformats.org/officeDocument/2006/relationships/tags" Target="../tags/tag269.xml"/><Relationship Id="rId3" Type="http://schemas.openxmlformats.org/officeDocument/2006/relationships/image" Target="../media/image13.png"/><Relationship Id="rId2" Type="http://schemas.openxmlformats.org/officeDocument/2006/relationships/image" Target="../media/image171.emf"/><Relationship Id="rId1" Type="http://schemas.openxmlformats.org/officeDocument/2006/relationships/tags" Target="../tags/tag268.xml"/></Relationships>
</file>

<file path=ppt/slides/_rels/slide39.xml.rels><?xml version="1.0" encoding="UTF-8" standalone="yes"?>
<Relationships xmlns="http://schemas.openxmlformats.org/package/2006/relationships"><Relationship Id="rId9" Type="http://schemas.openxmlformats.org/officeDocument/2006/relationships/image" Target="../media/image180.emf"/><Relationship Id="rId8" Type="http://schemas.openxmlformats.org/officeDocument/2006/relationships/image" Target="../media/image179.emf"/><Relationship Id="rId7" Type="http://schemas.openxmlformats.org/officeDocument/2006/relationships/image" Target="../media/image178.emf"/><Relationship Id="rId6" Type="http://schemas.openxmlformats.org/officeDocument/2006/relationships/image" Target="../media/image177.emf"/><Relationship Id="rId5" Type="http://schemas.openxmlformats.org/officeDocument/2006/relationships/image" Target="../media/image176.emf"/><Relationship Id="rId4" Type="http://schemas.openxmlformats.org/officeDocument/2006/relationships/image" Target="../media/image175.emf"/><Relationship Id="rId3" Type="http://schemas.openxmlformats.org/officeDocument/2006/relationships/image" Target="../media/image174.png"/><Relationship Id="rId2" Type="http://schemas.openxmlformats.org/officeDocument/2006/relationships/image" Target="../media/image173.png"/><Relationship Id="rId14" Type="http://schemas.openxmlformats.org/officeDocument/2006/relationships/notesSlide" Target="../notesSlides/notesSlide12.xml"/><Relationship Id="rId13" Type="http://schemas.openxmlformats.org/officeDocument/2006/relationships/slideLayout" Target="../slideLayouts/slideLayout5.xml"/><Relationship Id="rId12" Type="http://schemas.openxmlformats.org/officeDocument/2006/relationships/image" Target="../media/image183.emf"/><Relationship Id="rId11" Type="http://schemas.openxmlformats.org/officeDocument/2006/relationships/image" Target="../media/image182.emf"/><Relationship Id="rId10" Type="http://schemas.openxmlformats.org/officeDocument/2006/relationships/image" Target="../media/image181.emf"/><Relationship Id="rId1" Type="http://schemas.openxmlformats.org/officeDocument/2006/relationships/image" Target="../media/image1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jpeg"/></Relationships>
</file>

<file path=ppt/slides/_rels/slide41.xml.rels><?xml version="1.0" encoding="UTF-8" standalone="yes"?>
<Relationships xmlns="http://schemas.openxmlformats.org/package/2006/relationships"><Relationship Id="rId9" Type="http://schemas.openxmlformats.org/officeDocument/2006/relationships/image" Target="../media/image85.png"/><Relationship Id="rId8" Type="http://schemas.openxmlformats.org/officeDocument/2006/relationships/image" Target="../media/image83.png"/><Relationship Id="rId7" Type="http://schemas.openxmlformats.org/officeDocument/2006/relationships/image" Target="../media/image81.png"/><Relationship Id="rId6" Type="http://schemas.openxmlformats.org/officeDocument/2006/relationships/image" Target="../media/image13.png"/><Relationship Id="rId5" Type="http://schemas.openxmlformats.org/officeDocument/2006/relationships/image" Target="../media/image186.png"/><Relationship Id="rId4" Type="http://schemas.openxmlformats.org/officeDocument/2006/relationships/image" Target="../media/image185.png"/><Relationship Id="rId3" Type="http://schemas.openxmlformats.org/officeDocument/2006/relationships/tags" Target="../tags/tag271.xml"/><Relationship Id="rId2" Type="http://schemas.openxmlformats.org/officeDocument/2006/relationships/image" Target="../media/image184.png"/><Relationship Id="rId12" Type="http://schemas.openxmlformats.org/officeDocument/2006/relationships/notesSlide" Target="../notesSlides/notesSlide13.xml"/><Relationship Id="rId11" Type="http://schemas.openxmlformats.org/officeDocument/2006/relationships/slideLayout" Target="../slideLayouts/slideLayout16.xml"/><Relationship Id="rId10" Type="http://schemas.openxmlformats.org/officeDocument/2006/relationships/image" Target="../media/image112.png"/><Relationship Id="rId1" Type="http://schemas.openxmlformats.org/officeDocument/2006/relationships/tags" Target="../tags/tag270.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6.xml"/><Relationship Id="rId2" Type="http://schemas.openxmlformats.org/officeDocument/2006/relationships/tags" Target="../tags/tag272.xml"/><Relationship Id="rId1" Type="http://schemas.openxmlformats.org/officeDocument/2006/relationships/image" Target="../media/image13.png"/></Relationships>
</file>

<file path=ppt/slides/_rels/slide43.xml.rels><?xml version="1.0" encoding="UTF-8" standalone="yes"?>
<Relationships xmlns="http://schemas.openxmlformats.org/package/2006/relationships"><Relationship Id="rId9" Type="http://schemas.openxmlformats.org/officeDocument/2006/relationships/image" Target="../media/image191.jpeg"/><Relationship Id="rId8" Type="http://schemas.openxmlformats.org/officeDocument/2006/relationships/tags" Target="../tags/tag275.xml"/><Relationship Id="rId7" Type="http://schemas.openxmlformats.org/officeDocument/2006/relationships/image" Target="../media/image190.jpeg"/><Relationship Id="rId6" Type="http://schemas.openxmlformats.org/officeDocument/2006/relationships/tags" Target="../tags/tag274.xml"/><Relationship Id="rId5" Type="http://schemas.openxmlformats.org/officeDocument/2006/relationships/image" Target="../media/image189.jpeg"/><Relationship Id="rId4" Type="http://schemas.openxmlformats.org/officeDocument/2006/relationships/image" Target="../media/image13.png"/><Relationship Id="rId3" Type="http://schemas.openxmlformats.org/officeDocument/2006/relationships/image" Target="../media/image188.jpeg"/><Relationship Id="rId21" Type="http://schemas.openxmlformats.org/officeDocument/2006/relationships/notesSlide" Target="../notesSlides/notesSlide15.xml"/><Relationship Id="rId20" Type="http://schemas.openxmlformats.org/officeDocument/2006/relationships/slideLayout" Target="../slideLayouts/slideLayout16.xml"/><Relationship Id="rId2" Type="http://schemas.openxmlformats.org/officeDocument/2006/relationships/tags" Target="../tags/tag273.xml"/><Relationship Id="rId19" Type="http://schemas.openxmlformats.org/officeDocument/2006/relationships/tags" Target="../tags/tag277.xml"/><Relationship Id="rId18" Type="http://schemas.openxmlformats.org/officeDocument/2006/relationships/tags" Target="../tags/tag276.xml"/><Relationship Id="rId17" Type="http://schemas.openxmlformats.org/officeDocument/2006/relationships/image" Target="../media/image199.png"/><Relationship Id="rId16" Type="http://schemas.openxmlformats.org/officeDocument/2006/relationships/image" Target="../media/image198.jpeg"/><Relationship Id="rId15" Type="http://schemas.openxmlformats.org/officeDocument/2006/relationships/image" Target="../media/image197.png"/><Relationship Id="rId14" Type="http://schemas.openxmlformats.org/officeDocument/2006/relationships/image" Target="../media/image196.png"/><Relationship Id="rId13" Type="http://schemas.openxmlformats.org/officeDocument/2006/relationships/image" Target="../media/image195.png"/><Relationship Id="rId12" Type="http://schemas.openxmlformats.org/officeDocument/2006/relationships/image" Target="../media/image194.png"/><Relationship Id="rId11" Type="http://schemas.openxmlformats.org/officeDocument/2006/relationships/image" Target="../media/image193.png"/><Relationship Id="rId10" Type="http://schemas.openxmlformats.org/officeDocument/2006/relationships/image" Target="../media/image192.jpeg"/><Relationship Id="rId1" Type="http://schemas.openxmlformats.org/officeDocument/2006/relationships/image" Target="../media/image187.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任意多边形: 形状 27"/>
          <p:cNvSpPr/>
          <p:nvPr/>
        </p:nvSpPr>
        <p:spPr>
          <a:xfrm>
            <a:off x="6401272" y="5218887"/>
            <a:ext cx="11841480" cy="4175875"/>
          </a:xfrm>
          <a:custGeom>
            <a:avLst/>
            <a:gdLst>
              <a:gd name="connsiteX0" fmla="*/ 0 w 11841480"/>
              <a:gd name="connsiteY0" fmla="*/ 731635 h 4175875"/>
              <a:gd name="connsiteX1" fmla="*/ 1097280 w 11841480"/>
              <a:gd name="connsiteY1" fmla="*/ 115 h 4175875"/>
              <a:gd name="connsiteX2" fmla="*/ 2179320 w 11841480"/>
              <a:gd name="connsiteY2" fmla="*/ 777355 h 4175875"/>
              <a:gd name="connsiteX3" fmla="*/ 3261360 w 11841480"/>
              <a:gd name="connsiteY3" fmla="*/ 115 h 4175875"/>
              <a:gd name="connsiteX4" fmla="*/ 4358640 w 11841480"/>
              <a:gd name="connsiteY4" fmla="*/ 762115 h 4175875"/>
              <a:gd name="connsiteX5" fmla="*/ 5425440 w 11841480"/>
              <a:gd name="connsiteY5" fmla="*/ 30595 h 4175875"/>
              <a:gd name="connsiteX6" fmla="*/ 6537960 w 11841480"/>
              <a:gd name="connsiteY6" fmla="*/ 746875 h 4175875"/>
              <a:gd name="connsiteX7" fmla="*/ 7604760 w 11841480"/>
              <a:gd name="connsiteY7" fmla="*/ 30595 h 4175875"/>
              <a:gd name="connsiteX8" fmla="*/ 8702040 w 11841480"/>
              <a:gd name="connsiteY8" fmla="*/ 746875 h 4175875"/>
              <a:gd name="connsiteX9" fmla="*/ 9738360 w 11841480"/>
              <a:gd name="connsiteY9" fmla="*/ 15355 h 4175875"/>
              <a:gd name="connsiteX10" fmla="*/ 10850880 w 11841480"/>
              <a:gd name="connsiteY10" fmla="*/ 746875 h 4175875"/>
              <a:gd name="connsiteX11" fmla="*/ 11826240 w 11841480"/>
              <a:gd name="connsiteY11" fmla="*/ 30595 h 4175875"/>
              <a:gd name="connsiteX12" fmla="*/ 11841480 w 11841480"/>
              <a:gd name="connsiteY12" fmla="*/ 4160635 h 4175875"/>
              <a:gd name="connsiteX13" fmla="*/ 15240 w 11841480"/>
              <a:gd name="connsiteY13" fmla="*/ 4175875 h 4175875"/>
              <a:gd name="connsiteX14" fmla="*/ 0 w 11841480"/>
              <a:gd name="connsiteY14" fmla="*/ 731635 h 4175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841480" h="4175875">
                <a:moveTo>
                  <a:pt x="0" y="731635"/>
                </a:moveTo>
                <a:cubicBezTo>
                  <a:pt x="367030" y="362065"/>
                  <a:pt x="734060" y="-7505"/>
                  <a:pt x="1097280" y="115"/>
                </a:cubicBezTo>
                <a:cubicBezTo>
                  <a:pt x="1460500" y="7735"/>
                  <a:pt x="1818640" y="777355"/>
                  <a:pt x="2179320" y="777355"/>
                </a:cubicBezTo>
                <a:cubicBezTo>
                  <a:pt x="2540000" y="777355"/>
                  <a:pt x="2898140" y="2655"/>
                  <a:pt x="3261360" y="115"/>
                </a:cubicBezTo>
                <a:cubicBezTo>
                  <a:pt x="3624580" y="-2425"/>
                  <a:pt x="3997960" y="757035"/>
                  <a:pt x="4358640" y="762115"/>
                </a:cubicBezTo>
                <a:cubicBezTo>
                  <a:pt x="4719320" y="767195"/>
                  <a:pt x="5062220" y="33135"/>
                  <a:pt x="5425440" y="30595"/>
                </a:cubicBezTo>
                <a:cubicBezTo>
                  <a:pt x="5788660" y="28055"/>
                  <a:pt x="6174740" y="746875"/>
                  <a:pt x="6537960" y="746875"/>
                </a:cubicBezTo>
                <a:cubicBezTo>
                  <a:pt x="6901180" y="746875"/>
                  <a:pt x="7244080" y="30595"/>
                  <a:pt x="7604760" y="30595"/>
                </a:cubicBezTo>
                <a:cubicBezTo>
                  <a:pt x="7965440" y="30595"/>
                  <a:pt x="8346440" y="749415"/>
                  <a:pt x="8702040" y="746875"/>
                </a:cubicBezTo>
                <a:cubicBezTo>
                  <a:pt x="9057640" y="744335"/>
                  <a:pt x="9380220" y="15355"/>
                  <a:pt x="9738360" y="15355"/>
                </a:cubicBezTo>
                <a:cubicBezTo>
                  <a:pt x="10096500" y="15355"/>
                  <a:pt x="10502900" y="744335"/>
                  <a:pt x="10850880" y="746875"/>
                </a:cubicBezTo>
                <a:cubicBezTo>
                  <a:pt x="11198860" y="749415"/>
                  <a:pt x="11668760" y="-2425"/>
                  <a:pt x="11826240" y="30595"/>
                </a:cubicBezTo>
                <a:lnTo>
                  <a:pt x="11841480" y="4160635"/>
                </a:lnTo>
                <a:lnTo>
                  <a:pt x="15240" y="4175875"/>
                </a:lnTo>
                <a:lnTo>
                  <a:pt x="0" y="731635"/>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a:off x="0" y="0"/>
            <a:ext cx="12192000" cy="6858000"/>
          </a:xfrm>
          <a:custGeom>
            <a:avLst/>
            <a:gdLst>
              <a:gd name="connsiteX0" fmla="*/ 6096000 w 12192000"/>
              <a:gd name="connsiteY0" fmla="*/ 1236407 h 6858000"/>
              <a:gd name="connsiteX1" fmla="*/ 3903407 w 12192000"/>
              <a:gd name="connsiteY1" fmla="*/ 3429000 h 6858000"/>
              <a:gd name="connsiteX2" fmla="*/ 6096000 w 12192000"/>
              <a:gd name="connsiteY2" fmla="*/ 5621593 h 6858000"/>
              <a:gd name="connsiteX3" fmla="*/ 8288593 w 12192000"/>
              <a:gd name="connsiteY3" fmla="*/ 3429000 h 6858000"/>
              <a:gd name="connsiteX4" fmla="*/ 6096000 w 12192000"/>
              <a:gd name="connsiteY4" fmla="*/ 1236407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6096000" y="1236407"/>
                </a:moveTo>
                <a:cubicBezTo>
                  <a:pt x="4885064" y="1236407"/>
                  <a:pt x="3903407" y="2218064"/>
                  <a:pt x="3903407" y="3429000"/>
                </a:cubicBezTo>
                <a:cubicBezTo>
                  <a:pt x="3903407" y="4639936"/>
                  <a:pt x="4885064" y="5621593"/>
                  <a:pt x="6096000" y="5621593"/>
                </a:cubicBezTo>
                <a:cubicBezTo>
                  <a:pt x="7306936" y="5621593"/>
                  <a:pt x="8288593" y="4639936"/>
                  <a:pt x="8288593" y="3429000"/>
                </a:cubicBezTo>
                <a:cubicBezTo>
                  <a:pt x="8288593" y="2218064"/>
                  <a:pt x="7306936" y="1236407"/>
                  <a:pt x="6096000" y="1236407"/>
                </a:cubicBezTo>
                <a:close/>
                <a:moveTo>
                  <a:pt x="0" y="0"/>
                </a:moveTo>
                <a:lnTo>
                  <a:pt x="12192000" y="0"/>
                </a:lnTo>
                <a:lnTo>
                  <a:pt x="12192000" y="6858000"/>
                </a:lnTo>
                <a:lnTo>
                  <a:pt x="0" y="685800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3903407" y="1236407"/>
            <a:ext cx="4385186" cy="4385186"/>
          </a:xfrm>
          <a:prstGeom prst="ellipse">
            <a:avLst/>
          </a:prstGeom>
          <a:noFill/>
          <a:ln w="38100">
            <a:solidFill>
              <a:schemeClr val="bg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 空心 26"/>
          <p:cNvSpPr/>
          <p:nvPr/>
        </p:nvSpPr>
        <p:spPr>
          <a:xfrm>
            <a:off x="3972000" y="1305000"/>
            <a:ext cx="4248000" cy="4248000"/>
          </a:xfrm>
          <a:prstGeom prst="donut">
            <a:avLst>
              <a:gd name="adj" fmla="val 1736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5" name="组合 24"/>
          <p:cNvGrpSpPr/>
          <p:nvPr/>
        </p:nvGrpSpPr>
        <p:grpSpPr>
          <a:xfrm>
            <a:off x="3936000" y="1269000"/>
            <a:ext cx="4320000" cy="4320000"/>
            <a:chOff x="4298066" y="1631066"/>
            <a:chExt cx="3595868" cy="3595868"/>
          </a:xfrm>
        </p:grpSpPr>
        <p:sp>
          <p:nvSpPr>
            <p:cNvPr id="17" name="椭圆 16"/>
            <p:cNvSpPr/>
            <p:nvPr/>
          </p:nvSpPr>
          <p:spPr>
            <a:xfrm>
              <a:off x="4298066" y="1631066"/>
              <a:ext cx="3595868" cy="3595868"/>
            </a:xfrm>
            <a:prstGeom prst="ellipse">
              <a:avLst/>
            </a:prstGeom>
            <a:noFill/>
            <a:ln w="698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928941" y="2261941"/>
              <a:ext cx="2334118" cy="2334118"/>
            </a:xfrm>
            <a:prstGeom prst="ellipse">
              <a:avLst/>
            </a:prstGeom>
            <a:noFill/>
            <a:ln w="57150">
              <a:solidFill>
                <a:srgbClr val="2F52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4620583" y="2479151"/>
              <a:ext cx="2950835" cy="2489256"/>
            </a:xfrm>
            <a:prstGeom prst="rect">
              <a:avLst/>
            </a:prstGeom>
            <a:noFill/>
          </p:spPr>
          <p:txBody>
            <a:bodyPr wrap="none" rtlCol="0">
              <a:prstTxWarp prst="textArchDown">
                <a:avLst>
                  <a:gd name="adj" fmla="val 173715"/>
                </a:avLst>
              </a:prstTxWarp>
              <a:spAutoFit/>
            </a:bodyPr>
            <a:lstStyle/>
            <a:p>
              <a:r>
                <a:rPr lang="en-US" altLang="zh-CN" dirty="0">
                  <a:solidFill>
                    <a:srgbClr val="2F528F"/>
                  </a:solidFill>
                  <a:latin typeface="Arial" panose="020B0604020202020204" pitchFamily="34" charset="0"/>
                  <a:cs typeface="Arial" panose="020B0604020202020204" pitchFamily="34" charset="0"/>
                </a:rPr>
                <a:t>SHENYANG  UNIVERSITY  OF  TECHNOLOGY</a:t>
              </a:r>
              <a:endParaRPr lang="zh-CN" altLang="en-US" dirty="0">
                <a:solidFill>
                  <a:srgbClr val="2F528F"/>
                </a:solidFill>
                <a:latin typeface="Arial" panose="020B0604020202020204" pitchFamily="34" charset="0"/>
                <a:cs typeface="Arial" panose="020B0604020202020204" pitchFamily="34" charset="0"/>
              </a:endParaRPr>
            </a:p>
          </p:txBody>
        </p:sp>
        <p:sp>
          <p:nvSpPr>
            <p:cNvPr id="20" name="文本框 19"/>
            <p:cNvSpPr txBox="1"/>
            <p:nvPr/>
          </p:nvSpPr>
          <p:spPr>
            <a:xfrm rot="180000">
              <a:off x="4792498" y="2125498"/>
              <a:ext cx="2607004" cy="2607004"/>
            </a:xfrm>
            <a:prstGeom prst="rect">
              <a:avLst/>
            </a:prstGeom>
            <a:noFill/>
          </p:spPr>
          <p:txBody>
            <a:bodyPr wrap="none" rtlCol="0">
              <a:prstTxWarp prst="textArchUp">
                <a:avLst>
                  <a:gd name="adj" fmla="val 10621385"/>
                </a:avLst>
              </a:prstTxWarp>
              <a:spAutoFit/>
            </a:bodyPr>
            <a:lstStyle/>
            <a:p>
              <a:r>
                <a:rPr lang="zh-CN" altLang="en-US" sz="400000" spc="6000" dirty="0">
                  <a:solidFill>
                    <a:srgbClr val="2F528F"/>
                  </a:solidFill>
                  <a:latin typeface="华文行楷" panose="02010800040101010101" pitchFamily="2" charset="-122"/>
                  <a:ea typeface="华文行楷" panose="02010800040101010101" pitchFamily="2" charset="-122"/>
                </a:rPr>
                <a:t>沈阳工业大学</a:t>
              </a:r>
              <a:endParaRPr lang="zh-CN" altLang="en-US" sz="400000" spc="6000" dirty="0">
                <a:solidFill>
                  <a:srgbClr val="2F528F"/>
                </a:solidFill>
                <a:latin typeface="华文行楷" panose="02010800040101010101" pitchFamily="2" charset="-122"/>
                <a:ea typeface="华文行楷" panose="02010800040101010101" pitchFamily="2" charset="-122"/>
              </a:endParaRPr>
            </a:p>
          </p:txBody>
        </p:sp>
        <p:sp>
          <p:nvSpPr>
            <p:cNvPr id="21" name="任意多边形: 形状 20"/>
            <p:cNvSpPr/>
            <p:nvPr/>
          </p:nvSpPr>
          <p:spPr>
            <a:xfrm>
              <a:off x="5349278" y="3440849"/>
              <a:ext cx="1559073" cy="844417"/>
            </a:xfrm>
            <a:custGeom>
              <a:avLst/>
              <a:gdLst>
                <a:gd name="connsiteX0" fmla="*/ 725142 w 1298254"/>
                <a:gd name="connsiteY0" fmla="*/ 9292 h 673775"/>
                <a:gd name="connsiteX1" fmla="*/ 1084806 w 1298254"/>
                <a:gd name="connsiteY1" fmla="*/ 198268 h 673775"/>
                <a:gd name="connsiteX2" fmla="*/ 170406 w 1298254"/>
                <a:gd name="connsiteY2" fmla="*/ 429916 h 673775"/>
                <a:gd name="connsiteX3" fmla="*/ 48486 w 1298254"/>
                <a:gd name="connsiteY3" fmla="*/ 673756 h 673775"/>
                <a:gd name="connsiteX4" fmla="*/ 1048230 w 1298254"/>
                <a:gd name="connsiteY4" fmla="*/ 442108 h 673775"/>
                <a:gd name="connsiteX5" fmla="*/ 1298166 w 1298254"/>
                <a:gd name="connsiteY5" fmla="*/ 198268 h 673775"/>
                <a:gd name="connsiteX6" fmla="*/ 1072614 w 1298254"/>
                <a:gd name="connsiteY6" fmla="*/ 45868 h 673775"/>
                <a:gd name="connsiteX7" fmla="*/ 725142 w 1298254"/>
                <a:gd name="connsiteY7" fmla="*/ 9292 h 673775"/>
                <a:gd name="connsiteX0-1" fmla="*/ 716481 w 1289593"/>
                <a:gd name="connsiteY0-2" fmla="*/ 9292 h 671236"/>
                <a:gd name="connsiteX1-3" fmla="*/ 1076145 w 1289593"/>
                <a:gd name="connsiteY1-4" fmla="*/ 198268 h 671236"/>
                <a:gd name="connsiteX2-5" fmla="*/ 161745 w 1289593"/>
                <a:gd name="connsiteY2-6" fmla="*/ 429916 h 671236"/>
                <a:gd name="connsiteX3-7" fmla="*/ 49985 w 1289593"/>
                <a:gd name="connsiteY3-8" fmla="*/ 671216 h 671236"/>
                <a:gd name="connsiteX4-9" fmla="*/ 1039569 w 1289593"/>
                <a:gd name="connsiteY4-10" fmla="*/ 442108 h 671236"/>
                <a:gd name="connsiteX5-11" fmla="*/ 1289505 w 1289593"/>
                <a:gd name="connsiteY5-12" fmla="*/ 198268 h 671236"/>
                <a:gd name="connsiteX6-13" fmla="*/ 1063953 w 1289593"/>
                <a:gd name="connsiteY6-14" fmla="*/ 45868 h 671236"/>
                <a:gd name="connsiteX7-15" fmla="*/ 716481 w 1289593"/>
                <a:gd name="connsiteY7-16" fmla="*/ 9292 h 671236"/>
                <a:gd name="connsiteX0-17" fmla="*/ 667615 w 1240727"/>
                <a:gd name="connsiteY0-18" fmla="*/ 9292 h 671217"/>
                <a:gd name="connsiteX1-19" fmla="*/ 1027279 w 1240727"/>
                <a:gd name="connsiteY1-20" fmla="*/ 198268 h 671217"/>
                <a:gd name="connsiteX2-21" fmla="*/ 112879 w 1240727"/>
                <a:gd name="connsiteY2-22" fmla="*/ 429916 h 671217"/>
                <a:gd name="connsiteX3-23" fmla="*/ 1119 w 1240727"/>
                <a:gd name="connsiteY3-24" fmla="*/ 671216 h 671217"/>
                <a:gd name="connsiteX4-25" fmla="*/ 990703 w 1240727"/>
                <a:gd name="connsiteY4-26" fmla="*/ 442108 h 671217"/>
                <a:gd name="connsiteX5-27" fmla="*/ 1240639 w 1240727"/>
                <a:gd name="connsiteY5-28" fmla="*/ 198268 h 671217"/>
                <a:gd name="connsiteX6-29" fmla="*/ 1015087 w 1240727"/>
                <a:gd name="connsiteY6-30" fmla="*/ 45868 h 671217"/>
                <a:gd name="connsiteX7-31" fmla="*/ 667615 w 1240727"/>
                <a:gd name="connsiteY7-32" fmla="*/ 9292 h 671217"/>
                <a:gd name="connsiteX0-33" fmla="*/ 667615 w 1240727"/>
                <a:gd name="connsiteY0-34" fmla="*/ 4 h 661929"/>
                <a:gd name="connsiteX1-35" fmla="*/ 1027279 w 1240727"/>
                <a:gd name="connsiteY1-36" fmla="*/ 188980 h 661929"/>
                <a:gd name="connsiteX2-37" fmla="*/ 112879 w 1240727"/>
                <a:gd name="connsiteY2-38" fmla="*/ 420628 h 661929"/>
                <a:gd name="connsiteX3-39" fmla="*/ 1119 w 1240727"/>
                <a:gd name="connsiteY3-40" fmla="*/ 661928 h 661929"/>
                <a:gd name="connsiteX4-41" fmla="*/ 990703 w 1240727"/>
                <a:gd name="connsiteY4-42" fmla="*/ 432820 h 661929"/>
                <a:gd name="connsiteX5-43" fmla="*/ 1240639 w 1240727"/>
                <a:gd name="connsiteY5-44" fmla="*/ 188980 h 661929"/>
                <a:gd name="connsiteX6-45" fmla="*/ 1015087 w 1240727"/>
                <a:gd name="connsiteY6-46" fmla="*/ 36580 h 661929"/>
                <a:gd name="connsiteX7-47" fmla="*/ 667615 w 1240727"/>
                <a:gd name="connsiteY7-48" fmla="*/ 4 h 6619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240727" h="661929">
                  <a:moveTo>
                    <a:pt x="667615" y="4"/>
                  </a:moveTo>
                  <a:cubicBezTo>
                    <a:pt x="667754" y="-699"/>
                    <a:pt x="1119735" y="118876"/>
                    <a:pt x="1027279" y="188980"/>
                  </a:cubicBezTo>
                  <a:cubicBezTo>
                    <a:pt x="934823" y="259084"/>
                    <a:pt x="523851" y="339856"/>
                    <a:pt x="112879" y="420628"/>
                  </a:cubicBezTo>
                  <a:cubicBezTo>
                    <a:pt x="72239" y="501908"/>
                    <a:pt x="-10565" y="662436"/>
                    <a:pt x="1119" y="661928"/>
                  </a:cubicBezTo>
                  <a:cubicBezTo>
                    <a:pt x="12803" y="661420"/>
                    <a:pt x="784116" y="511645"/>
                    <a:pt x="990703" y="432820"/>
                  </a:cubicBezTo>
                  <a:cubicBezTo>
                    <a:pt x="1197290" y="353995"/>
                    <a:pt x="1236575" y="255020"/>
                    <a:pt x="1240639" y="188980"/>
                  </a:cubicBezTo>
                  <a:cubicBezTo>
                    <a:pt x="1244703" y="122940"/>
                    <a:pt x="1108559" y="67060"/>
                    <a:pt x="1015087" y="36580"/>
                  </a:cubicBezTo>
                  <a:cubicBezTo>
                    <a:pt x="921615" y="6100"/>
                    <a:pt x="667476" y="707"/>
                    <a:pt x="667615" y="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rot="11196614">
              <a:off x="5541796" y="2553886"/>
              <a:ext cx="1174038" cy="1099136"/>
            </a:xfrm>
            <a:custGeom>
              <a:avLst/>
              <a:gdLst>
                <a:gd name="connsiteX0" fmla="*/ 725142 w 1298254"/>
                <a:gd name="connsiteY0" fmla="*/ 9292 h 673775"/>
                <a:gd name="connsiteX1" fmla="*/ 1084806 w 1298254"/>
                <a:gd name="connsiteY1" fmla="*/ 198268 h 673775"/>
                <a:gd name="connsiteX2" fmla="*/ 170406 w 1298254"/>
                <a:gd name="connsiteY2" fmla="*/ 429916 h 673775"/>
                <a:gd name="connsiteX3" fmla="*/ 48486 w 1298254"/>
                <a:gd name="connsiteY3" fmla="*/ 673756 h 673775"/>
                <a:gd name="connsiteX4" fmla="*/ 1048230 w 1298254"/>
                <a:gd name="connsiteY4" fmla="*/ 442108 h 673775"/>
                <a:gd name="connsiteX5" fmla="*/ 1298166 w 1298254"/>
                <a:gd name="connsiteY5" fmla="*/ 198268 h 673775"/>
                <a:gd name="connsiteX6" fmla="*/ 1072614 w 1298254"/>
                <a:gd name="connsiteY6" fmla="*/ 45868 h 673775"/>
                <a:gd name="connsiteX7" fmla="*/ 725142 w 1298254"/>
                <a:gd name="connsiteY7" fmla="*/ 9292 h 673775"/>
                <a:gd name="connsiteX0-1" fmla="*/ 716481 w 1289593"/>
                <a:gd name="connsiteY0-2" fmla="*/ 9292 h 671236"/>
                <a:gd name="connsiteX1-3" fmla="*/ 1076145 w 1289593"/>
                <a:gd name="connsiteY1-4" fmla="*/ 198268 h 671236"/>
                <a:gd name="connsiteX2-5" fmla="*/ 161745 w 1289593"/>
                <a:gd name="connsiteY2-6" fmla="*/ 429916 h 671236"/>
                <a:gd name="connsiteX3-7" fmla="*/ 49985 w 1289593"/>
                <a:gd name="connsiteY3-8" fmla="*/ 671216 h 671236"/>
                <a:gd name="connsiteX4-9" fmla="*/ 1039569 w 1289593"/>
                <a:gd name="connsiteY4-10" fmla="*/ 442108 h 671236"/>
                <a:gd name="connsiteX5-11" fmla="*/ 1289505 w 1289593"/>
                <a:gd name="connsiteY5-12" fmla="*/ 198268 h 671236"/>
                <a:gd name="connsiteX6-13" fmla="*/ 1063953 w 1289593"/>
                <a:gd name="connsiteY6-14" fmla="*/ 45868 h 671236"/>
                <a:gd name="connsiteX7-15" fmla="*/ 716481 w 1289593"/>
                <a:gd name="connsiteY7-16" fmla="*/ 9292 h 671236"/>
                <a:gd name="connsiteX0-17" fmla="*/ 667615 w 1240727"/>
                <a:gd name="connsiteY0-18" fmla="*/ 9292 h 671217"/>
                <a:gd name="connsiteX1-19" fmla="*/ 1027279 w 1240727"/>
                <a:gd name="connsiteY1-20" fmla="*/ 198268 h 671217"/>
                <a:gd name="connsiteX2-21" fmla="*/ 112879 w 1240727"/>
                <a:gd name="connsiteY2-22" fmla="*/ 429916 h 671217"/>
                <a:gd name="connsiteX3-23" fmla="*/ 1119 w 1240727"/>
                <a:gd name="connsiteY3-24" fmla="*/ 671216 h 671217"/>
                <a:gd name="connsiteX4-25" fmla="*/ 990703 w 1240727"/>
                <a:gd name="connsiteY4-26" fmla="*/ 442108 h 671217"/>
                <a:gd name="connsiteX5-27" fmla="*/ 1240639 w 1240727"/>
                <a:gd name="connsiteY5-28" fmla="*/ 198268 h 671217"/>
                <a:gd name="connsiteX6-29" fmla="*/ 1015087 w 1240727"/>
                <a:gd name="connsiteY6-30" fmla="*/ 45868 h 671217"/>
                <a:gd name="connsiteX7-31" fmla="*/ 667615 w 1240727"/>
                <a:gd name="connsiteY7-32" fmla="*/ 9292 h 671217"/>
                <a:gd name="connsiteX0-33" fmla="*/ 667615 w 1240727"/>
                <a:gd name="connsiteY0-34" fmla="*/ 10361 h 672286"/>
                <a:gd name="connsiteX1-35" fmla="*/ 1023975 w 1240727"/>
                <a:gd name="connsiteY1-36" fmla="*/ 214368 h 672286"/>
                <a:gd name="connsiteX2-37" fmla="*/ 112879 w 1240727"/>
                <a:gd name="connsiteY2-38" fmla="*/ 430985 h 672286"/>
                <a:gd name="connsiteX3-39" fmla="*/ 1119 w 1240727"/>
                <a:gd name="connsiteY3-40" fmla="*/ 672285 h 672286"/>
                <a:gd name="connsiteX4-41" fmla="*/ 990703 w 1240727"/>
                <a:gd name="connsiteY4-42" fmla="*/ 443177 h 672286"/>
                <a:gd name="connsiteX5-43" fmla="*/ 1240639 w 1240727"/>
                <a:gd name="connsiteY5-44" fmla="*/ 199337 h 672286"/>
                <a:gd name="connsiteX6-45" fmla="*/ 1015087 w 1240727"/>
                <a:gd name="connsiteY6-46" fmla="*/ 46937 h 672286"/>
                <a:gd name="connsiteX7-47" fmla="*/ 667615 w 1240727"/>
                <a:gd name="connsiteY7-48" fmla="*/ 10361 h 672286"/>
                <a:gd name="connsiteX0-49" fmla="*/ 667615 w 1240727"/>
                <a:gd name="connsiteY0-50" fmla="*/ 10361 h 672286"/>
                <a:gd name="connsiteX1-51" fmla="*/ 1023975 w 1240727"/>
                <a:gd name="connsiteY1-52" fmla="*/ 214368 h 672286"/>
                <a:gd name="connsiteX2-53" fmla="*/ 112879 w 1240727"/>
                <a:gd name="connsiteY2-54" fmla="*/ 430985 h 672286"/>
                <a:gd name="connsiteX3-55" fmla="*/ 1119 w 1240727"/>
                <a:gd name="connsiteY3-56" fmla="*/ 672285 h 672286"/>
                <a:gd name="connsiteX4-57" fmla="*/ 990703 w 1240727"/>
                <a:gd name="connsiteY4-58" fmla="*/ 443177 h 672286"/>
                <a:gd name="connsiteX5-59" fmla="*/ 1240639 w 1240727"/>
                <a:gd name="connsiteY5-60" fmla="*/ 199337 h 672286"/>
                <a:gd name="connsiteX6-61" fmla="*/ 1015087 w 1240727"/>
                <a:gd name="connsiteY6-62" fmla="*/ 46937 h 672286"/>
                <a:gd name="connsiteX7-63" fmla="*/ 667615 w 1240727"/>
                <a:gd name="connsiteY7-64" fmla="*/ 10361 h 672286"/>
                <a:gd name="connsiteX0-65" fmla="*/ 667615 w 1240727"/>
                <a:gd name="connsiteY0-66" fmla="*/ 10361 h 672286"/>
                <a:gd name="connsiteX1-67" fmla="*/ 1023975 w 1240727"/>
                <a:gd name="connsiteY1-68" fmla="*/ 214368 h 672286"/>
                <a:gd name="connsiteX2-69" fmla="*/ 112879 w 1240727"/>
                <a:gd name="connsiteY2-70" fmla="*/ 430985 h 672286"/>
                <a:gd name="connsiteX3-71" fmla="*/ 1119 w 1240727"/>
                <a:gd name="connsiteY3-72" fmla="*/ 672285 h 672286"/>
                <a:gd name="connsiteX4-73" fmla="*/ 990703 w 1240727"/>
                <a:gd name="connsiteY4-74" fmla="*/ 443177 h 672286"/>
                <a:gd name="connsiteX5-75" fmla="*/ 1240639 w 1240727"/>
                <a:gd name="connsiteY5-76" fmla="*/ 199337 h 672286"/>
                <a:gd name="connsiteX6-77" fmla="*/ 1015087 w 1240727"/>
                <a:gd name="connsiteY6-78" fmla="*/ 46937 h 672286"/>
                <a:gd name="connsiteX7-79" fmla="*/ 667615 w 1240727"/>
                <a:gd name="connsiteY7-80" fmla="*/ 10361 h 672286"/>
                <a:gd name="connsiteX0-81" fmla="*/ 667615 w 1240727"/>
                <a:gd name="connsiteY0-82" fmla="*/ 12575 h 674500"/>
                <a:gd name="connsiteX1-83" fmla="*/ 1005051 w 1240727"/>
                <a:gd name="connsiteY1-84" fmla="*/ 247490 h 674500"/>
                <a:gd name="connsiteX2-85" fmla="*/ 112879 w 1240727"/>
                <a:gd name="connsiteY2-86" fmla="*/ 433199 h 674500"/>
                <a:gd name="connsiteX3-87" fmla="*/ 1119 w 1240727"/>
                <a:gd name="connsiteY3-88" fmla="*/ 674499 h 674500"/>
                <a:gd name="connsiteX4-89" fmla="*/ 990703 w 1240727"/>
                <a:gd name="connsiteY4-90" fmla="*/ 445391 h 674500"/>
                <a:gd name="connsiteX5-91" fmla="*/ 1240639 w 1240727"/>
                <a:gd name="connsiteY5-92" fmla="*/ 201551 h 674500"/>
                <a:gd name="connsiteX6-93" fmla="*/ 1015087 w 1240727"/>
                <a:gd name="connsiteY6-94" fmla="*/ 49151 h 674500"/>
                <a:gd name="connsiteX7-95" fmla="*/ 667615 w 1240727"/>
                <a:gd name="connsiteY7-96" fmla="*/ 12575 h 674500"/>
                <a:gd name="connsiteX0-97" fmla="*/ 667615 w 1240727"/>
                <a:gd name="connsiteY0-98" fmla="*/ 10453 h 672378"/>
                <a:gd name="connsiteX1-99" fmla="*/ 1005501 w 1240727"/>
                <a:gd name="connsiteY1-100" fmla="*/ 215731 h 672378"/>
                <a:gd name="connsiteX2-101" fmla="*/ 112879 w 1240727"/>
                <a:gd name="connsiteY2-102" fmla="*/ 431077 h 672378"/>
                <a:gd name="connsiteX3-103" fmla="*/ 1119 w 1240727"/>
                <a:gd name="connsiteY3-104" fmla="*/ 672377 h 672378"/>
                <a:gd name="connsiteX4-105" fmla="*/ 990703 w 1240727"/>
                <a:gd name="connsiteY4-106" fmla="*/ 443269 h 672378"/>
                <a:gd name="connsiteX5-107" fmla="*/ 1240639 w 1240727"/>
                <a:gd name="connsiteY5-108" fmla="*/ 199429 h 672378"/>
                <a:gd name="connsiteX6-109" fmla="*/ 1015087 w 1240727"/>
                <a:gd name="connsiteY6-110" fmla="*/ 47029 h 672378"/>
                <a:gd name="connsiteX7-111" fmla="*/ 667615 w 1240727"/>
                <a:gd name="connsiteY7-112" fmla="*/ 10453 h 672378"/>
                <a:gd name="connsiteX0-113" fmla="*/ 667615 w 1240727"/>
                <a:gd name="connsiteY0-114" fmla="*/ 10453 h 672378"/>
                <a:gd name="connsiteX1-115" fmla="*/ 1005501 w 1240727"/>
                <a:gd name="connsiteY1-116" fmla="*/ 215731 h 672378"/>
                <a:gd name="connsiteX2-117" fmla="*/ 112879 w 1240727"/>
                <a:gd name="connsiteY2-118" fmla="*/ 431077 h 672378"/>
                <a:gd name="connsiteX3-119" fmla="*/ 1119 w 1240727"/>
                <a:gd name="connsiteY3-120" fmla="*/ 672377 h 672378"/>
                <a:gd name="connsiteX4-121" fmla="*/ 990703 w 1240727"/>
                <a:gd name="connsiteY4-122" fmla="*/ 443269 h 672378"/>
                <a:gd name="connsiteX5-123" fmla="*/ 1240639 w 1240727"/>
                <a:gd name="connsiteY5-124" fmla="*/ 199429 h 672378"/>
                <a:gd name="connsiteX6-125" fmla="*/ 1015087 w 1240727"/>
                <a:gd name="connsiteY6-126" fmla="*/ 47029 h 672378"/>
                <a:gd name="connsiteX7-127" fmla="*/ 667615 w 1240727"/>
                <a:gd name="connsiteY7-128" fmla="*/ 10453 h 672378"/>
                <a:gd name="connsiteX0-129" fmla="*/ 727637 w 1300749"/>
                <a:gd name="connsiteY0-130" fmla="*/ 10453 h 672402"/>
                <a:gd name="connsiteX1-131" fmla="*/ 1065523 w 1300749"/>
                <a:gd name="connsiteY1-132" fmla="*/ 215731 h 672402"/>
                <a:gd name="connsiteX2-133" fmla="*/ 127916 w 1300749"/>
                <a:gd name="connsiteY2-134" fmla="*/ 456373 h 672402"/>
                <a:gd name="connsiteX3-135" fmla="*/ 61141 w 1300749"/>
                <a:gd name="connsiteY3-136" fmla="*/ 672377 h 672402"/>
                <a:gd name="connsiteX4-137" fmla="*/ 1050725 w 1300749"/>
                <a:gd name="connsiteY4-138" fmla="*/ 443269 h 672402"/>
                <a:gd name="connsiteX5-139" fmla="*/ 1300661 w 1300749"/>
                <a:gd name="connsiteY5-140" fmla="*/ 199429 h 672402"/>
                <a:gd name="connsiteX6-141" fmla="*/ 1075109 w 1300749"/>
                <a:gd name="connsiteY6-142" fmla="*/ 47029 h 672402"/>
                <a:gd name="connsiteX7-143" fmla="*/ 727637 w 1300749"/>
                <a:gd name="connsiteY7-144" fmla="*/ 10453 h 672402"/>
                <a:gd name="connsiteX0-145" fmla="*/ 724011 w 1297123"/>
                <a:gd name="connsiteY0-146" fmla="*/ 10453 h 672393"/>
                <a:gd name="connsiteX1-147" fmla="*/ 1061897 w 1297123"/>
                <a:gd name="connsiteY1-148" fmla="*/ 215731 h 672393"/>
                <a:gd name="connsiteX2-149" fmla="*/ 124290 w 1297123"/>
                <a:gd name="connsiteY2-150" fmla="*/ 456373 h 672393"/>
                <a:gd name="connsiteX3-151" fmla="*/ 57515 w 1297123"/>
                <a:gd name="connsiteY3-152" fmla="*/ 672377 h 672393"/>
                <a:gd name="connsiteX4-153" fmla="*/ 1047099 w 1297123"/>
                <a:gd name="connsiteY4-154" fmla="*/ 443269 h 672393"/>
                <a:gd name="connsiteX5-155" fmla="*/ 1297035 w 1297123"/>
                <a:gd name="connsiteY5-156" fmla="*/ 199429 h 672393"/>
                <a:gd name="connsiteX6-157" fmla="*/ 1071483 w 1297123"/>
                <a:gd name="connsiteY6-158" fmla="*/ 47029 h 672393"/>
                <a:gd name="connsiteX7-159" fmla="*/ 724011 w 1297123"/>
                <a:gd name="connsiteY7-160" fmla="*/ 10453 h 672393"/>
                <a:gd name="connsiteX0-161" fmla="*/ 724011 w 1297123"/>
                <a:gd name="connsiteY0-162" fmla="*/ 10453 h 672393"/>
                <a:gd name="connsiteX1-163" fmla="*/ 1061897 w 1297123"/>
                <a:gd name="connsiteY1-164" fmla="*/ 215731 h 672393"/>
                <a:gd name="connsiteX2-165" fmla="*/ 124290 w 1297123"/>
                <a:gd name="connsiteY2-166" fmla="*/ 456373 h 672393"/>
                <a:gd name="connsiteX3-167" fmla="*/ 57515 w 1297123"/>
                <a:gd name="connsiteY3-168" fmla="*/ 672377 h 672393"/>
                <a:gd name="connsiteX4-169" fmla="*/ 1047099 w 1297123"/>
                <a:gd name="connsiteY4-170" fmla="*/ 443269 h 672393"/>
                <a:gd name="connsiteX5-171" fmla="*/ 1297035 w 1297123"/>
                <a:gd name="connsiteY5-172" fmla="*/ 199429 h 672393"/>
                <a:gd name="connsiteX6-173" fmla="*/ 1071483 w 1297123"/>
                <a:gd name="connsiteY6-174" fmla="*/ 47029 h 672393"/>
                <a:gd name="connsiteX7-175" fmla="*/ 724011 w 1297123"/>
                <a:gd name="connsiteY7-176" fmla="*/ 10453 h 672393"/>
                <a:gd name="connsiteX0-177" fmla="*/ 667959 w 1241071"/>
                <a:gd name="connsiteY0-178" fmla="*/ 10453 h 672449"/>
                <a:gd name="connsiteX1-179" fmla="*/ 1005845 w 1241071"/>
                <a:gd name="connsiteY1-180" fmla="*/ 215731 h 672449"/>
                <a:gd name="connsiteX2-181" fmla="*/ 68238 w 1241071"/>
                <a:gd name="connsiteY2-182" fmla="*/ 456373 h 672449"/>
                <a:gd name="connsiteX3-183" fmla="*/ 1463 w 1241071"/>
                <a:gd name="connsiteY3-184" fmla="*/ 672377 h 672449"/>
                <a:gd name="connsiteX4-185" fmla="*/ 991047 w 1241071"/>
                <a:gd name="connsiteY4-186" fmla="*/ 443269 h 672449"/>
                <a:gd name="connsiteX5-187" fmla="*/ 1240983 w 1241071"/>
                <a:gd name="connsiteY5-188" fmla="*/ 199429 h 672449"/>
                <a:gd name="connsiteX6-189" fmla="*/ 1015431 w 1241071"/>
                <a:gd name="connsiteY6-190" fmla="*/ 47029 h 672449"/>
                <a:gd name="connsiteX7-191" fmla="*/ 667959 w 1241071"/>
                <a:gd name="connsiteY7-192" fmla="*/ 10453 h 672449"/>
                <a:gd name="connsiteX0-193" fmla="*/ 720452 w 1293564"/>
                <a:gd name="connsiteY0-194" fmla="*/ 10453 h 672429"/>
                <a:gd name="connsiteX1-195" fmla="*/ 1058338 w 1293564"/>
                <a:gd name="connsiteY1-196" fmla="*/ 215731 h 672429"/>
                <a:gd name="connsiteX2-197" fmla="*/ 135187 w 1293564"/>
                <a:gd name="connsiteY2-198" fmla="*/ 466482 h 672429"/>
                <a:gd name="connsiteX3-199" fmla="*/ 53956 w 1293564"/>
                <a:gd name="connsiteY3-200" fmla="*/ 672377 h 672429"/>
                <a:gd name="connsiteX4-201" fmla="*/ 1043540 w 1293564"/>
                <a:gd name="connsiteY4-202" fmla="*/ 443269 h 672429"/>
                <a:gd name="connsiteX5-203" fmla="*/ 1293476 w 1293564"/>
                <a:gd name="connsiteY5-204" fmla="*/ 199429 h 672429"/>
                <a:gd name="connsiteX6-205" fmla="*/ 1067924 w 1293564"/>
                <a:gd name="connsiteY6-206" fmla="*/ 47029 h 672429"/>
                <a:gd name="connsiteX7-207" fmla="*/ 720452 w 1293564"/>
                <a:gd name="connsiteY7-208" fmla="*/ 10453 h 672429"/>
                <a:gd name="connsiteX0-209" fmla="*/ 720452 w 1293564"/>
                <a:gd name="connsiteY0-210" fmla="*/ 10453 h 672429"/>
                <a:gd name="connsiteX1-211" fmla="*/ 1058338 w 1293564"/>
                <a:gd name="connsiteY1-212" fmla="*/ 215731 h 672429"/>
                <a:gd name="connsiteX2-213" fmla="*/ 135187 w 1293564"/>
                <a:gd name="connsiteY2-214" fmla="*/ 466482 h 672429"/>
                <a:gd name="connsiteX3-215" fmla="*/ 53956 w 1293564"/>
                <a:gd name="connsiteY3-216" fmla="*/ 672377 h 672429"/>
                <a:gd name="connsiteX4-217" fmla="*/ 1043540 w 1293564"/>
                <a:gd name="connsiteY4-218" fmla="*/ 443269 h 672429"/>
                <a:gd name="connsiteX5-219" fmla="*/ 1293476 w 1293564"/>
                <a:gd name="connsiteY5-220" fmla="*/ 199429 h 672429"/>
                <a:gd name="connsiteX6-221" fmla="*/ 1067924 w 1293564"/>
                <a:gd name="connsiteY6-222" fmla="*/ 47029 h 672429"/>
                <a:gd name="connsiteX7-223" fmla="*/ 720452 w 1293564"/>
                <a:gd name="connsiteY7-224" fmla="*/ 10453 h 672429"/>
                <a:gd name="connsiteX0-225" fmla="*/ 666550 w 1239662"/>
                <a:gd name="connsiteY0-226" fmla="*/ 10453 h 672380"/>
                <a:gd name="connsiteX1-227" fmla="*/ 1004436 w 1239662"/>
                <a:gd name="connsiteY1-228" fmla="*/ 215731 h 672380"/>
                <a:gd name="connsiteX2-229" fmla="*/ 81285 w 1239662"/>
                <a:gd name="connsiteY2-230" fmla="*/ 466482 h 672380"/>
                <a:gd name="connsiteX3-231" fmla="*/ 54 w 1239662"/>
                <a:gd name="connsiteY3-232" fmla="*/ 672377 h 672380"/>
                <a:gd name="connsiteX4-233" fmla="*/ 989638 w 1239662"/>
                <a:gd name="connsiteY4-234" fmla="*/ 443269 h 672380"/>
                <a:gd name="connsiteX5-235" fmla="*/ 1239574 w 1239662"/>
                <a:gd name="connsiteY5-236" fmla="*/ 199429 h 672380"/>
                <a:gd name="connsiteX6-237" fmla="*/ 1014022 w 1239662"/>
                <a:gd name="connsiteY6-238" fmla="*/ 47029 h 672380"/>
                <a:gd name="connsiteX7-239" fmla="*/ 666550 w 1239662"/>
                <a:gd name="connsiteY7-240" fmla="*/ 10453 h 672380"/>
                <a:gd name="connsiteX0-241" fmla="*/ 666550 w 1239662"/>
                <a:gd name="connsiteY0-242" fmla="*/ 16984 h 678911"/>
                <a:gd name="connsiteX1-243" fmla="*/ 978455 w 1239662"/>
                <a:gd name="connsiteY1-244" fmla="*/ 312868 h 678911"/>
                <a:gd name="connsiteX2-245" fmla="*/ 81285 w 1239662"/>
                <a:gd name="connsiteY2-246" fmla="*/ 473013 h 678911"/>
                <a:gd name="connsiteX3-247" fmla="*/ 54 w 1239662"/>
                <a:gd name="connsiteY3-248" fmla="*/ 678908 h 678911"/>
                <a:gd name="connsiteX4-249" fmla="*/ 989638 w 1239662"/>
                <a:gd name="connsiteY4-250" fmla="*/ 449800 h 678911"/>
                <a:gd name="connsiteX5-251" fmla="*/ 1239574 w 1239662"/>
                <a:gd name="connsiteY5-252" fmla="*/ 205960 h 678911"/>
                <a:gd name="connsiteX6-253" fmla="*/ 1014022 w 1239662"/>
                <a:gd name="connsiteY6-254" fmla="*/ 53560 h 678911"/>
                <a:gd name="connsiteX7-255" fmla="*/ 666550 w 1239662"/>
                <a:gd name="connsiteY7-256" fmla="*/ 16984 h 678911"/>
                <a:gd name="connsiteX0-257" fmla="*/ 666550 w 1239662"/>
                <a:gd name="connsiteY0-258" fmla="*/ 14247 h 676174"/>
                <a:gd name="connsiteX1-259" fmla="*/ 989794 w 1239662"/>
                <a:gd name="connsiteY1-260" fmla="*/ 272344 h 676174"/>
                <a:gd name="connsiteX2-261" fmla="*/ 81285 w 1239662"/>
                <a:gd name="connsiteY2-262" fmla="*/ 470276 h 676174"/>
                <a:gd name="connsiteX3-263" fmla="*/ 54 w 1239662"/>
                <a:gd name="connsiteY3-264" fmla="*/ 676171 h 676174"/>
                <a:gd name="connsiteX4-265" fmla="*/ 989638 w 1239662"/>
                <a:gd name="connsiteY4-266" fmla="*/ 447063 h 676174"/>
                <a:gd name="connsiteX5-267" fmla="*/ 1239574 w 1239662"/>
                <a:gd name="connsiteY5-268" fmla="*/ 203223 h 676174"/>
                <a:gd name="connsiteX6-269" fmla="*/ 1014022 w 1239662"/>
                <a:gd name="connsiteY6-270" fmla="*/ 50823 h 676174"/>
                <a:gd name="connsiteX7-271" fmla="*/ 666550 w 1239662"/>
                <a:gd name="connsiteY7-272" fmla="*/ 14247 h 676174"/>
                <a:gd name="connsiteX0-273" fmla="*/ 730766 w 1239657"/>
                <a:gd name="connsiteY0-274" fmla="*/ 19832 h 656565"/>
                <a:gd name="connsiteX1-275" fmla="*/ 989794 w 1239657"/>
                <a:gd name="connsiteY1-276" fmla="*/ 252735 h 656565"/>
                <a:gd name="connsiteX2-277" fmla="*/ 81285 w 1239657"/>
                <a:gd name="connsiteY2-278" fmla="*/ 450667 h 656565"/>
                <a:gd name="connsiteX3-279" fmla="*/ 54 w 1239657"/>
                <a:gd name="connsiteY3-280" fmla="*/ 656562 h 656565"/>
                <a:gd name="connsiteX4-281" fmla="*/ 989638 w 1239657"/>
                <a:gd name="connsiteY4-282" fmla="*/ 427454 h 656565"/>
                <a:gd name="connsiteX5-283" fmla="*/ 1239574 w 1239657"/>
                <a:gd name="connsiteY5-284" fmla="*/ 183614 h 656565"/>
                <a:gd name="connsiteX6-285" fmla="*/ 1014022 w 1239657"/>
                <a:gd name="connsiteY6-286" fmla="*/ 31214 h 656565"/>
                <a:gd name="connsiteX7-287" fmla="*/ 730766 w 1239657"/>
                <a:gd name="connsiteY7-288" fmla="*/ 19832 h 656565"/>
                <a:gd name="connsiteX0-289" fmla="*/ 730766 w 1239657"/>
                <a:gd name="connsiteY0-290" fmla="*/ 4460 h 641193"/>
                <a:gd name="connsiteX1-291" fmla="*/ 989794 w 1239657"/>
                <a:gd name="connsiteY1-292" fmla="*/ 237363 h 641193"/>
                <a:gd name="connsiteX2-293" fmla="*/ 81285 w 1239657"/>
                <a:gd name="connsiteY2-294" fmla="*/ 435295 h 641193"/>
                <a:gd name="connsiteX3-295" fmla="*/ 54 w 1239657"/>
                <a:gd name="connsiteY3-296" fmla="*/ 641190 h 641193"/>
                <a:gd name="connsiteX4-297" fmla="*/ 989638 w 1239657"/>
                <a:gd name="connsiteY4-298" fmla="*/ 412082 h 641193"/>
                <a:gd name="connsiteX5-299" fmla="*/ 1239574 w 1239657"/>
                <a:gd name="connsiteY5-300" fmla="*/ 168242 h 641193"/>
                <a:gd name="connsiteX6-301" fmla="*/ 1014022 w 1239657"/>
                <a:gd name="connsiteY6-302" fmla="*/ 15842 h 641193"/>
                <a:gd name="connsiteX7-303" fmla="*/ 730766 w 1239657"/>
                <a:gd name="connsiteY7-304" fmla="*/ 4460 h 641193"/>
                <a:gd name="connsiteX0-305" fmla="*/ 730766 w 1239653"/>
                <a:gd name="connsiteY0-306" fmla="*/ 8381 h 645114"/>
                <a:gd name="connsiteX1-307" fmla="*/ 989794 w 1239653"/>
                <a:gd name="connsiteY1-308" fmla="*/ 241284 h 645114"/>
                <a:gd name="connsiteX2-309" fmla="*/ 81285 w 1239653"/>
                <a:gd name="connsiteY2-310" fmla="*/ 439216 h 645114"/>
                <a:gd name="connsiteX3-311" fmla="*/ 54 w 1239653"/>
                <a:gd name="connsiteY3-312" fmla="*/ 645111 h 645114"/>
                <a:gd name="connsiteX4-313" fmla="*/ 989638 w 1239653"/>
                <a:gd name="connsiteY4-314" fmla="*/ 416003 h 645114"/>
                <a:gd name="connsiteX5-315" fmla="*/ 1239574 w 1239653"/>
                <a:gd name="connsiteY5-316" fmla="*/ 172163 h 645114"/>
                <a:gd name="connsiteX6-317" fmla="*/ 1006833 w 1239653"/>
                <a:gd name="connsiteY6-318" fmla="*/ 62817 h 645114"/>
                <a:gd name="connsiteX7-319" fmla="*/ 730766 w 1239653"/>
                <a:gd name="connsiteY7-320" fmla="*/ 8381 h 645114"/>
                <a:gd name="connsiteX0-321" fmla="*/ 730766 w 1159560"/>
                <a:gd name="connsiteY0-322" fmla="*/ 8998 h 645731"/>
                <a:gd name="connsiteX1-323" fmla="*/ 989794 w 1159560"/>
                <a:gd name="connsiteY1-324" fmla="*/ 241901 h 645731"/>
                <a:gd name="connsiteX2-325" fmla="*/ 81285 w 1159560"/>
                <a:gd name="connsiteY2-326" fmla="*/ 439833 h 645731"/>
                <a:gd name="connsiteX3-327" fmla="*/ 54 w 1159560"/>
                <a:gd name="connsiteY3-328" fmla="*/ 645728 h 645731"/>
                <a:gd name="connsiteX4-329" fmla="*/ 989638 w 1159560"/>
                <a:gd name="connsiteY4-330" fmla="*/ 416620 h 645731"/>
                <a:gd name="connsiteX5-331" fmla="*/ 1159421 w 1159560"/>
                <a:gd name="connsiteY5-332" fmla="*/ 209745 h 645731"/>
                <a:gd name="connsiteX6-333" fmla="*/ 1006833 w 1159560"/>
                <a:gd name="connsiteY6-334" fmla="*/ 63434 h 645731"/>
                <a:gd name="connsiteX7-335" fmla="*/ 730766 w 1159560"/>
                <a:gd name="connsiteY7-336" fmla="*/ 8998 h 645731"/>
                <a:gd name="connsiteX0-337" fmla="*/ 780876 w 1209670"/>
                <a:gd name="connsiteY0-338" fmla="*/ 8998 h 645789"/>
                <a:gd name="connsiteX1-339" fmla="*/ 1039904 w 1209670"/>
                <a:gd name="connsiteY1-340" fmla="*/ 241901 h 645789"/>
                <a:gd name="connsiteX2-341" fmla="*/ 131395 w 1209670"/>
                <a:gd name="connsiteY2-342" fmla="*/ 439833 h 645789"/>
                <a:gd name="connsiteX3-343" fmla="*/ 50164 w 1209670"/>
                <a:gd name="connsiteY3-344" fmla="*/ 645728 h 645789"/>
                <a:gd name="connsiteX4-345" fmla="*/ 986330 w 1209670"/>
                <a:gd name="connsiteY4-346" fmla="*/ 414739 h 645789"/>
                <a:gd name="connsiteX5-347" fmla="*/ 1209531 w 1209670"/>
                <a:gd name="connsiteY5-348" fmla="*/ 209745 h 645789"/>
                <a:gd name="connsiteX6-349" fmla="*/ 1056943 w 1209670"/>
                <a:gd name="connsiteY6-350" fmla="*/ 63434 h 645789"/>
                <a:gd name="connsiteX7-351" fmla="*/ 780876 w 1209670"/>
                <a:gd name="connsiteY7-352" fmla="*/ 8998 h 645789"/>
                <a:gd name="connsiteX0-353" fmla="*/ 780877 w 1197729"/>
                <a:gd name="connsiteY0-354" fmla="*/ 9046 h 645837"/>
                <a:gd name="connsiteX1-355" fmla="*/ 1039905 w 1197729"/>
                <a:gd name="connsiteY1-356" fmla="*/ 241949 h 645837"/>
                <a:gd name="connsiteX2-357" fmla="*/ 131396 w 1197729"/>
                <a:gd name="connsiteY2-358" fmla="*/ 439881 h 645837"/>
                <a:gd name="connsiteX3-359" fmla="*/ 50165 w 1197729"/>
                <a:gd name="connsiteY3-360" fmla="*/ 645776 h 645837"/>
                <a:gd name="connsiteX4-361" fmla="*/ 986331 w 1197729"/>
                <a:gd name="connsiteY4-362" fmla="*/ 414787 h 645837"/>
                <a:gd name="connsiteX5-363" fmla="*/ 1197572 w 1197729"/>
                <a:gd name="connsiteY5-364" fmla="*/ 212465 h 645837"/>
                <a:gd name="connsiteX6-365" fmla="*/ 1056944 w 1197729"/>
                <a:gd name="connsiteY6-366" fmla="*/ 63482 h 645837"/>
                <a:gd name="connsiteX7-367" fmla="*/ 780877 w 1197729"/>
                <a:gd name="connsiteY7-368" fmla="*/ 9046 h 645837"/>
                <a:gd name="connsiteX0-369" fmla="*/ 780877 w 1197729"/>
                <a:gd name="connsiteY0-370" fmla="*/ 9046 h 645837"/>
                <a:gd name="connsiteX1-371" fmla="*/ 1039905 w 1197729"/>
                <a:gd name="connsiteY1-372" fmla="*/ 241949 h 645837"/>
                <a:gd name="connsiteX2-373" fmla="*/ 131396 w 1197729"/>
                <a:gd name="connsiteY2-374" fmla="*/ 439881 h 645837"/>
                <a:gd name="connsiteX3-375" fmla="*/ 50165 w 1197729"/>
                <a:gd name="connsiteY3-376" fmla="*/ 645776 h 645837"/>
                <a:gd name="connsiteX4-377" fmla="*/ 986331 w 1197729"/>
                <a:gd name="connsiteY4-378" fmla="*/ 414787 h 645837"/>
                <a:gd name="connsiteX5-379" fmla="*/ 1197572 w 1197729"/>
                <a:gd name="connsiteY5-380" fmla="*/ 212465 h 645837"/>
                <a:gd name="connsiteX6-381" fmla="*/ 1056944 w 1197729"/>
                <a:gd name="connsiteY6-382" fmla="*/ 63482 h 645837"/>
                <a:gd name="connsiteX7-383" fmla="*/ 780877 w 1197729"/>
                <a:gd name="connsiteY7-384" fmla="*/ 9046 h 645837"/>
                <a:gd name="connsiteX0-385" fmla="*/ 780877 w 1197729"/>
                <a:gd name="connsiteY0-386" fmla="*/ 9046 h 645837"/>
                <a:gd name="connsiteX1-387" fmla="*/ 1039905 w 1197729"/>
                <a:gd name="connsiteY1-388" fmla="*/ 241949 h 645837"/>
                <a:gd name="connsiteX2-389" fmla="*/ 131396 w 1197729"/>
                <a:gd name="connsiteY2-390" fmla="*/ 439881 h 645837"/>
                <a:gd name="connsiteX3-391" fmla="*/ 50165 w 1197729"/>
                <a:gd name="connsiteY3-392" fmla="*/ 645776 h 645837"/>
                <a:gd name="connsiteX4-393" fmla="*/ 986331 w 1197729"/>
                <a:gd name="connsiteY4-394" fmla="*/ 414787 h 645837"/>
                <a:gd name="connsiteX5-395" fmla="*/ 1197572 w 1197729"/>
                <a:gd name="connsiteY5-396" fmla="*/ 212465 h 645837"/>
                <a:gd name="connsiteX6-397" fmla="*/ 1056944 w 1197729"/>
                <a:gd name="connsiteY6-398" fmla="*/ 63482 h 645837"/>
                <a:gd name="connsiteX7-399" fmla="*/ 780877 w 1197729"/>
                <a:gd name="connsiteY7-400" fmla="*/ 9046 h 645837"/>
                <a:gd name="connsiteX0-401" fmla="*/ 780877 w 1197729"/>
                <a:gd name="connsiteY0-402" fmla="*/ 9046 h 645837"/>
                <a:gd name="connsiteX1-403" fmla="*/ 1039905 w 1197729"/>
                <a:gd name="connsiteY1-404" fmla="*/ 241949 h 645837"/>
                <a:gd name="connsiteX2-405" fmla="*/ 131396 w 1197729"/>
                <a:gd name="connsiteY2-406" fmla="*/ 439881 h 645837"/>
                <a:gd name="connsiteX3-407" fmla="*/ 50165 w 1197729"/>
                <a:gd name="connsiteY3-408" fmla="*/ 645776 h 645837"/>
                <a:gd name="connsiteX4-409" fmla="*/ 986331 w 1197729"/>
                <a:gd name="connsiteY4-410" fmla="*/ 414787 h 645837"/>
                <a:gd name="connsiteX5-411" fmla="*/ 1197572 w 1197729"/>
                <a:gd name="connsiteY5-412" fmla="*/ 212465 h 645837"/>
                <a:gd name="connsiteX6-413" fmla="*/ 1056944 w 1197729"/>
                <a:gd name="connsiteY6-414" fmla="*/ 63482 h 645837"/>
                <a:gd name="connsiteX7-415" fmla="*/ 780877 w 1197729"/>
                <a:gd name="connsiteY7-416" fmla="*/ 9046 h 645837"/>
                <a:gd name="connsiteX0-417" fmla="*/ 780877 w 1197729"/>
                <a:gd name="connsiteY0-418" fmla="*/ 311 h 637102"/>
                <a:gd name="connsiteX1-419" fmla="*/ 1039905 w 1197729"/>
                <a:gd name="connsiteY1-420" fmla="*/ 233214 h 637102"/>
                <a:gd name="connsiteX2-421" fmla="*/ 131396 w 1197729"/>
                <a:gd name="connsiteY2-422" fmla="*/ 431146 h 637102"/>
                <a:gd name="connsiteX3-423" fmla="*/ 50165 w 1197729"/>
                <a:gd name="connsiteY3-424" fmla="*/ 637041 h 637102"/>
                <a:gd name="connsiteX4-425" fmla="*/ 986331 w 1197729"/>
                <a:gd name="connsiteY4-426" fmla="*/ 406052 h 637102"/>
                <a:gd name="connsiteX5-427" fmla="*/ 1197572 w 1197729"/>
                <a:gd name="connsiteY5-428" fmla="*/ 203730 h 637102"/>
                <a:gd name="connsiteX6-429" fmla="*/ 1056944 w 1197729"/>
                <a:gd name="connsiteY6-430" fmla="*/ 54747 h 637102"/>
                <a:gd name="connsiteX7-431" fmla="*/ 780877 w 1197729"/>
                <a:gd name="connsiteY7-432" fmla="*/ 311 h 637102"/>
                <a:gd name="connsiteX0-433" fmla="*/ 730721 w 1147573"/>
                <a:gd name="connsiteY0-434" fmla="*/ 311 h 637061"/>
                <a:gd name="connsiteX1-435" fmla="*/ 989749 w 1147573"/>
                <a:gd name="connsiteY1-436" fmla="*/ 233214 h 637061"/>
                <a:gd name="connsiteX2-437" fmla="*/ 81240 w 1147573"/>
                <a:gd name="connsiteY2-438" fmla="*/ 431146 h 637061"/>
                <a:gd name="connsiteX3-439" fmla="*/ 9 w 1147573"/>
                <a:gd name="connsiteY3-440" fmla="*/ 637041 h 637061"/>
                <a:gd name="connsiteX4-441" fmla="*/ 936175 w 1147573"/>
                <a:gd name="connsiteY4-442" fmla="*/ 406052 h 637061"/>
                <a:gd name="connsiteX5-443" fmla="*/ 1147416 w 1147573"/>
                <a:gd name="connsiteY5-444" fmla="*/ 203730 h 637061"/>
                <a:gd name="connsiteX6-445" fmla="*/ 1006788 w 1147573"/>
                <a:gd name="connsiteY6-446" fmla="*/ 54747 h 637061"/>
                <a:gd name="connsiteX7-447" fmla="*/ 730721 w 1147573"/>
                <a:gd name="connsiteY7-448" fmla="*/ 311 h 63706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147573" h="637061">
                  <a:moveTo>
                    <a:pt x="730721" y="311"/>
                  </a:moveTo>
                  <a:cubicBezTo>
                    <a:pt x="735203" y="3644"/>
                    <a:pt x="1140936" y="93693"/>
                    <a:pt x="989749" y="233214"/>
                  </a:cubicBezTo>
                  <a:cubicBezTo>
                    <a:pt x="838562" y="372735"/>
                    <a:pt x="63521" y="424242"/>
                    <a:pt x="81240" y="431146"/>
                  </a:cubicBezTo>
                  <a:cubicBezTo>
                    <a:pt x="61850" y="429548"/>
                    <a:pt x="2959" y="634930"/>
                    <a:pt x="9" y="637041"/>
                  </a:cubicBezTo>
                  <a:cubicBezTo>
                    <a:pt x="-2941" y="639152"/>
                    <a:pt x="744941" y="478271"/>
                    <a:pt x="936175" y="406052"/>
                  </a:cubicBezTo>
                  <a:cubicBezTo>
                    <a:pt x="1127410" y="333834"/>
                    <a:pt x="1143352" y="269770"/>
                    <a:pt x="1147416" y="203730"/>
                  </a:cubicBezTo>
                  <a:cubicBezTo>
                    <a:pt x="1151480" y="137690"/>
                    <a:pt x="1076237" y="88650"/>
                    <a:pt x="1006788" y="54747"/>
                  </a:cubicBezTo>
                  <a:cubicBezTo>
                    <a:pt x="937339" y="20844"/>
                    <a:pt x="726239" y="-3022"/>
                    <a:pt x="730721" y="31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p:cNvSpPr/>
            <p:nvPr/>
          </p:nvSpPr>
          <p:spPr>
            <a:xfrm>
              <a:off x="5334445" y="2401136"/>
              <a:ext cx="1264733" cy="1104221"/>
            </a:xfrm>
            <a:custGeom>
              <a:avLst/>
              <a:gdLst>
                <a:gd name="connsiteX0" fmla="*/ 205762 w 1101027"/>
                <a:gd name="connsiteY0" fmla="*/ 910406 h 910425"/>
                <a:gd name="connsiteX1" fmla="*/ 171472 w 1101027"/>
                <a:gd name="connsiteY1" fmla="*/ 498926 h 910425"/>
                <a:gd name="connsiteX2" fmla="*/ 983002 w 1101027"/>
                <a:gd name="connsiteY2" fmla="*/ 178886 h 910425"/>
                <a:gd name="connsiteX3" fmla="*/ 1040152 w 1101027"/>
                <a:gd name="connsiteY3" fmla="*/ 11246 h 910425"/>
                <a:gd name="connsiteX4" fmla="*/ 38122 w 1101027"/>
                <a:gd name="connsiteY4" fmla="*/ 514166 h 910425"/>
                <a:gd name="connsiteX5" fmla="*/ 205762 w 1101027"/>
                <a:gd name="connsiteY5" fmla="*/ 910406 h 910425"/>
                <a:gd name="connsiteX0-1" fmla="*/ 180555 w 1075820"/>
                <a:gd name="connsiteY0-2" fmla="*/ 910406 h 910442"/>
                <a:gd name="connsiteX1-3" fmla="*/ 146265 w 1075820"/>
                <a:gd name="connsiteY1-4" fmla="*/ 498926 h 910442"/>
                <a:gd name="connsiteX2-5" fmla="*/ 957795 w 1075820"/>
                <a:gd name="connsiteY2-6" fmla="*/ 178886 h 910442"/>
                <a:gd name="connsiteX3-7" fmla="*/ 1014945 w 1075820"/>
                <a:gd name="connsiteY3-8" fmla="*/ 11246 h 910442"/>
                <a:gd name="connsiteX4-9" fmla="*/ 12915 w 1075820"/>
                <a:gd name="connsiteY4-10" fmla="*/ 514166 h 910442"/>
                <a:gd name="connsiteX5-11" fmla="*/ 180555 w 1075820"/>
                <a:gd name="connsiteY5-12" fmla="*/ 910406 h 910442"/>
                <a:gd name="connsiteX0-13" fmla="*/ 180555 w 1016052"/>
                <a:gd name="connsiteY0-14" fmla="*/ 899758 h 899794"/>
                <a:gd name="connsiteX1-15" fmla="*/ 146265 w 1016052"/>
                <a:gd name="connsiteY1-16" fmla="*/ 488278 h 899794"/>
                <a:gd name="connsiteX2-17" fmla="*/ 957795 w 1016052"/>
                <a:gd name="connsiteY2-18" fmla="*/ 168238 h 899794"/>
                <a:gd name="connsiteX3-19" fmla="*/ 1014945 w 1016052"/>
                <a:gd name="connsiteY3-20" fmla="*/ 598 h 899794"/>
                <a:gd name="connsiteX4-21" fmla="*/ 12915 w 1016052"/>
                <a:gd name="connsiteY4-22" fmla="*/ 503518 h 899794"/>
                <a:gd name="connsiteX5-23" fmla="*/ 180555 w 1016052"/>
                <a:gd name="connsiteY5-24" fmla="*/ 899758 h 899794"/>
                <a:gd name="connsiteX0-25" fmla="*/ 180555 w 1016052"/>
                <a:gd name="connsiteY0-26" fmla="*/ 899758 h 899794"/>
                <a:gd name="connsiteX1-27" fmla="*/ 146265 w 1016052"/>
                <a:gd name="connsiteY1-28" fmla="*/ 488278 h 899794"/>
                <a:gd name="connsiteX2-29" fmla="*/ 957795 w 1016052"/>
                <a:gd name="connsiteY2-30" fmla="*/ 168238 h 899794"/>
                <a:gd name="connsiteX3-31" fmla="*/ 1014945 w 1016052"/>
                <a:gd name="connsiteY3-32" fmla="*/ 598 h 899794"/>
                <a:gd name="connsiteX4-33" fmla="*/ 12915 w 1016052"/>
                <a:gd name="connsiteY4-34" fmla="*/ 503518 h 899794"/>
                <a:gd name="connsiteX5-35" fmla="*/ 180555 w 1016052"/>
                <a:gd name="connsiteY5-36" fmla="*/ 899758 h 899794"/>
                <a:gd name="connsiteX0-37" fmla="*/ 180555 w 1015727"/>
                <a:gd name="connsiteY0-38" fmla="*/ 899604 h 899640"/>
                <a:gd name="connsiteX1-39" fmla="*/ 146265 w 1015727"/>
                <a:gd name="connsiteY1-40" fmla="*/ 488124 h 899640"/>
                <a:gd name="connsiteX2-41" fmla="*/ 957795 w 1015727"/>
                <a:gd name="connsiteY2-42" fmla="*/ 168084 h 899640"/>
                <a:gd name="connsiteX3-43" fmla="*/ 1014945 w 1015727"/>
                <a:gd name="connsiteY3-44" fmla="*/ 444 h 899640"/>
                <a:gd name="connsiteX4-45" fmla="*/ 12915 w 1015727"/>
                <a:gd name="connsiteY4-46" fmla="*/ 503364 h 899640"/>
                <a:gd name="connsiteX5-47" fmla="*/ 180555 w 1015727"/>
                <a:gd name="connsiteY5-48" fmla="*/ 899604 h 899640"/>
                <a:gd name="connsiteX0-49" fmla="*/ 180555 w 1015727"/>
                <a:gd name="connsiteY0-50" fmla="*/ 899604 h 899640"/>
                <a:gd name="connsiteX1-51" fmla="*/ 146265 w 1015727"/>
                <a:gd name="connsiteY1-52" fmla="*/ 488124 h 899640"/>
                <a:gd name="connsiteX2-53" fmla="*/ 957795 w 1015727"/>
                <a:gd name="connsiteY2-54" fmla="*/ 168084 h 899640"/>
                <a:gd name="connsiteX3-55" fmla="*/ 1014945 w 1015727"/>
                <a:gd name="connsiteY3-56" fmla="*/ 444 h 899640"/>
                <a:gd name="connsiteX4-57" fmla="*/ 12915 w 1015727"/>
                <a:gd name="connsiteY4-58" fmla="*/ 503364 h 899640"/>
                <a:gd name="connsiteX5-59" fmla="*/ 180555 w 1015727"/>
                <a:gd name="connsiteY5-60" fmla="*/ 899604 h 899640"/>
                <a:gd name="connsiteX0-61" fmla="*/ 179555 w 1014727"/>
                <a:gd name="connsiteY0-62" fmla="*/ 899604 h 899608"/>
                <a:gd name="connsiteX1-63" fmla="*/ 145265 w 1014727"/>
                <a:gd name="connsiteY1-64" fmla="*/ 488124 h 899608"/>
                <a:gd name="connsiteX2-65" fmla="*/ 956795 w 1014727"/>
                <a:gd name="connsiteY2-66" fmla="*/ 168084 h 899608"/>
                <a:gd name="connsiteX3-67" fmla="*/ 1013945 w 1014727"/>
                <a:gd name="connsiteY3-68" fmla="*/ 444 h 899608"/>
                <a:gd name="connsiteX4-69" fmla="*/ 11915 w 1014727"/>
                <a:gd name="connsiteY4-70" fmla="*/ 503364 h 899608"/>
                <a:gd name="connsiteX5-71" fmla="*/ 179555 w 1014727"/>
                <a:gd name="connsiteY5-72" fmla="*/ 899604 h 899608"/>
                <a:gd name="connsiteX0-73" fmla="*/ 180554 w 1015726"/>
                <a:gd name="connsiteY0-74" fmla="*/ 899604 h 899640"/>
                <a:gd name="connsiteX1-75" fmla="*/ 146264 w 1015726"/>
                <a:gd name="connsiteY1-76" fmla="*/ 488124 h 899640"/>
                <a:gd name="connsiteX2-77" fmla="*/ 957794 w 1015726"/>
                <a:gd name="connsiteY2-78" fmla="*/ 168084 h 899640"/>
                <a:gd name="connsiteX3-79" fmla="*/ 1014944 w 1015726"/>
                <a:gd name="connsiteY3-80" fmla="*/ 444 h 899640"/>
                <a:gd name="connsiteX4-81" fmla="*/ 12914 w 1015726"/>
                <a:gd name="connsiteY4-82" fmla="*/ 503364 h 899640"/>
                <a:gd name="connsiteX5-83" fmla="*/ 180554 w 1015726"/>
                <a:gd name="connsiteY5-84" fmla="*/ 899604 h 899640"/>
                <a:gd name="connsiteX0-85" fmla="*/ 180554 w 1015726"/>
                <a:gd name="connsiteY0-86" fmla="*/ 899580 h 899616"/>
                <a:gd name="connsiteX1-87" fmla="*/ 146264 w 1015726"/>
                <a:gd name="connsiteY1-88" fmla="*/ 488100 h 899616"/>
                <a:gd name="connsiteX2-89" fmla="*/ 957794 w 1015726"/>
                <a:gd name="connsiteY2-90" fmla="*/ 178220 h 899616"/>
                <a:gd name="connsiteX3-91" fmla="*/ 1014944 w 1015726"/>
                <a:gd name="connsiteY3-92" fmla="*/ 420 h 899616"/>
                <a:gd name="connsiteX4-93" fmla="*/ 12914 w 1015726"/>
                <a:gd name="connsiteY4-94" fmla="*/ 503340 h 899616"/>
                <a:gd name="connsiteX5-95" fmla="*/ 180554 w 1015726"/>
                <a:gd name="connsiteY5-96" fmla="*/ 899580 h 899616"/>
                <a:gd name="connsiteX0-97" fmla="*/ 180554 w 1015726"/>
                <a:gd name="connsiteY0-98" fmla="*/ 899580 h 899616"/>
                <a:gd name="connsiteX1-99" fmla="*/ 146264 w 1015726"/>
                <a:gd name="connsiteY1-100" fmla="*/ 488100 h 899616"/>
                <a:gd name="connsiteX2-101" fmla="*/ 957794 w 1015726"/>
                <a:gd name="connsiteY2-102" fmla="*/ 178220 h 899616"/>
                <a:gd name="connsiteX3-103" fmla="*/ 1014944 w 1015726"/>
                <a:gd name="connsiteY3-104" fmla="*/ 420 h 899616"/>
                <a:gd name="connsiteX4-105" fmla="*/ 12914 w 1015726"/>
                <a:gd name="connsiteY4-106" fmla="*/ 503340 h 899616"/>
                <a:gd name="connsiteX5-107" fmla="*/ 180554 w 1015726"/>
                <a:gd name="connsiteY5-108" fmla="*/ 899580 h 899616"/>
                <a:gd name="connsiteX0-109" fmla="*/ 180635 w 1015807"/>
                <a:gd name="connsiteY0-110" fmla="*/ 899580 h 899589"/>
                <a:gd name="connsiteX1-111" fmla="*/ 156505 w 1015807"/>
                <a:gd name="connsiteY1-112" fmla="*/ 513500 h 899589"/>
                <a:gd name="connsiteX2-113" fmla="*/ 957875 w 1015807"/>
                <a:gd name="connsiteY2-114" fmla="*/ 178220 h 899589"/>
                <a:gd name="connsiteX3-115" fmla="*/ 1015025 w 1015807"/>
                <a:gd name="connsiteY3-116" fmla="*/ 420 h 899589"/>
                <a:gd name="connsiteX4-117" fmla="*/ 12995 w 1015807"/>
                <a:gd name="connsiteY4-118" fmla="*/ 503340 h 899589"/>
                <a:gd name="connsiteX5-119" fmla="*/ 180635 w 1015807"/>
                <a:gd name="connsiteY5-120" fmla="*/ 899580 h 899589"/>
                <a:gd name="connsiteX0-121" fmla="*/ 180596 w 1015768"/>
                <a:gd name="connsiteY0-122" fmla="*/ 899580 h 899582"/>
                <a:gd name="connsiteX1-123" fmla="*/ 151386 w 1015768"/>
                <a:gd name="connsiteY1-124" fmla="*/ 508420 h 899582"/>
                <a:gd name="connsiteX2-125" fmla="*/ 957836 w 1015768"/>
                <a:gd name="connsiteY2-126" fmla="*/ 178220 h 899582"/>
                <a:gd name="connsiteX3-127" fmla="*/ 1014986 w 1015768"/>
                <a:gd name="connsiteY3-128" fmla="*/ 420 h 899582"/>
                <a:gd name="connsiteX4-129" fmla="*/ 12956 w 1015768"/>
                <a:gd name="connsiteY4-130" fmla="*/ 503340 h 899582"/>
                <a:gd name="connsiteX5-131" fmla="*/ 180596 w 1015768"/>
                <a:gd name="connsiteY5-132" fmla="*/ 899580 h 899582"/>
                <a:gd name="connsiteX0-133" fmla="*/ 180596 w 1015825"/>
                <a:gd name="connsiteY0-134" fmla="*/ 899630 h 899632"/>
                <a:gd name="connsiteX1-135" fmla="*/ 151386 w 1015825"/>
                <a:gd name="connsiteY1-136" fmla="*/ 508470 h 899632"/>
                <a:gd name="connsiteX2-137" fmla="*/ 962916 w 1015825"/>
                <a:gd name="connsiteY2-138" fmla="*/ 157950 h 899632"/>
                <a:gd name="connsiteX3-139" fmla="*/ 1014986 w 1015825"/>
                <a:gd name="connsiteY3-140" fmla="*/ 470 h 899632"/>
                <a:gd name="connsiteX4-141" fmla="*/ 12956 w 1015825"/>
                <a:gd name="connsiteY4-142" fmla="*/ 503390 h 899632"/>
                <a:gd name="connsiteX5-143" fmla="*/ 180596 w 1015825"/>
                <a:gd name="connsiteY5-144" fmla="*/ 899630 h 899632"/>
                <a:gd name="connsiteX0-145" fmla="*/ 180596 w 1015825"/>
                <a:gd name="connsiteY0-146" fmla="*/ 899630 h 899632"/>
                <a:gd name="connsiteX1-147" fmla="*/ 151386 w 1015825"/>
                <a:gd name="connsiteY1-148" fmla="*/ 508470 h 899632"/>
                <a:gd name="connsiteX2-149" fmla="*/ 962916 w 1015825"/>
                <a:gd name="connsiteY2-150" fmla="*/ 157950 h 899632"/>
                <a:gd name="connsiteX3-151" fmla="*/ 1014986 w 1015825"/>
                <a:gd name="connsiteY3-152" fmla="*/ 470 h 899632"/>
                <a:gd name="connsiteX4-153" fmla="*/ 12956 w 1015825"/>
                <a:gd name="connsiteY4-154" fmla="*/ 503390 h 899632"/>
                <a:gd name="connsiteX5-155" fmla="*/ 180596 w 1015825"/>
                <a:gd name="connsiteY5-156" fmla="*/ 899630 h 899632"/>
                <a:gd name="connsiteX0-157" fmla="*/ 180596 w 1015825"/>
                <a:gd name="connsiteY0-158" fmla="*/ 899630 h 899632"/>
                <a:gd name="connsiteX1-159" fmla="*/ 151386 w 1015825"/>
                <a:gd name="connsiteY1-160" fmla="*/ 508470 h 899632"/>
                <a:gd name="connsiteX2-161" fmla="*/ 962916 w 1015825"/>
                <a:gd name="connsiteY2-162" fmla="*/ 157950 h 899632"/>
                <a:gd name="connsiteX3-163" fmla="*/ 1014986 w 1015825"/>
                <a:gd name="connsiteY3-164" fmla="*/ 470 h 899632"/>
                <a:gd name="connsiteX4-165" fmla="*/ 12956 w 1015825"/>
                <a:gd name="connsiteY4-166" fmla="*/ 503390 h 899632"/>
                <a:gd name="connsiteX5-167" fmla="*/ 180596 w 1015825"/>
                <a:gd name="connsiteY5-168" fmla="*/ 899630 h 899632"/>
                <a:gd name="connsiteX0-169" fmla="*/ 179286 w 1014515"/>
                <a:gd name="connsiteY0-170" fmla="*/ 899630 h 899632"/>
                <a:gd name="connsiteX1-171" fmla="*/ 150076 w 1014515"/>
                <a:gd name="connsiteY1-172" fmla="*/ 508470 h 899632"/>
                <a:gd name="connsiteX2-173" fmla="*/ 961606 w 1014515"/>
                <a:gd name="connsiteY2-174" fmla="*/ 157950 h 899632"/>
                <a:gd name="connsiteX3-175" fmla="*/ 1013676 w 1014515"/>
                <a:gd name="connsiteY3-176" fmla="*/ 470 h 899632"/>
                <a:gd name="connsiteX4-177" fmla="*/ 11646 w 1014515"/>
                <a:gd name="connsiteY4-178" fmla="*/ 503390 h 899632"/>
                <a:gd name="connsiteX5-179" fmla="*/ 179286 w 1014515"/>
                <a:gd name="connsiteY5-180" fmla="*/ 899630 h 899632"/>
                <a:gd name="connsiteX0-181" fmla="*/ 209718 w 1037327"/>
                <a:gd name="connsiteY0-182" fmla="*/ 884390 h 884392"/>
                <a:gd name="connsiteX1-183" fmla="*/ 172888 w 1037327"/>
                <a:gd name="connsiteY1-184" fmla="*/ 508470 h 884392"/>
                <a:gd name="connsiteX2-185" fmla="*/ 984418 w 1037327"/>
                <a:gd name="connsiteY2-186" fmla="*/ 157950 h 884392"/>
                <a:gd name="connsiteX3-187" fmla="*/ 1036488 w 1037327"/>
                <a:gd name="connsiteY3-188" fmla="*/ 470 h 884392"/>
                <a:gd name="connsiteX4-189" fmla="*/ 34458 w 1037327"/>
                <a:gd name="connsiteY4-190" fmla="*/ 503390 h 884392"/>
                <a:gd name="connsiteX5-191" fmla="*/ 209718 w 1037327"/>
                <a:gd name="connsiteY5-192" fmla="*/ 884390 h 884392"/>
                <a:gd name="connsiteX0-193" fmla="*/ 209718 w 1037327"/>
                <a:gd name="connsiteY0-194" fmla="*/ 884390 h 884393"/>
                <a:gd name="connsiteX1-195" fmla="*/ 172888 w 1037327"/>
                <a:gd name="connsiteY1-196" fmla="*/ 508470 h 884393"/>
                <a:gd name="connsiteX2-197" fmla="*/ 984418 w 1037327"/>
                <a:gd name="connsiteY2-198" fmla="*/ 157950 h 884393"/>
                <a:gd name="connsiteX3-199" fmla="*/ 1036488 w 1037327"/>
                <a:gd name="connsiteY3-200" fmla="*/ 470 h 884393"/>
                <a:gd name="connsiteX4-201" fmla="*/ 34458 w 1037327"/>
                <a:gd name="connsiteY4-202" fmla="*/ 503390 h 884393"/>
                <a:gd name="connsiteX5-203" fmla="*/ 209718 w 1037327"/>
                <a:gd name="connsiteY5-204" fmla="*/ 884390 h 884393"/>
                <a:gd name="connsiteX0-205" fmla="*/ 189500 w 1017109"/>
                <a:gd name="connsiteY0-206" fmla="*/ 884390 h 884393"/>
                <a:gd name="connsiteX1-207" fmla="*/ 152670 w 1017109"/>
                <a:gd name="connsiteY1-208" fmla="*/ 508470 h 884393"/>
                <a:gd name="connsiteX2-209" fmla="*/ 964200 w 1017109"/>
                <a:gd name="connsiteY2-210" fmla="*/ 157950 h 884393"/>
                <a:gd name="connsiteX3-211" fmla="*/ 1016270 w 1017109"/>
                <a:gd name="connsiteY3-212" fmla="*/ 470 h 884393"/>
                <a:gd name="connsiteX4-213" fmla="*/ 14240 w 1017109"/>
                <a:gd name="connsiteY4-214" fmla="*/ 503390 h 884393"/>
                <a:gd name="connsiteX5-215" fmla="*/ 189500 w 1017109"/>
                <a:gd name="connsiteY5-216" fmla="*/ 884390 h 884393"/>
                <a:gd name="connsiteX0-217" fmla="*/ 219549 w 1035728"/>
                <a:gd name="connsiteY0-218" fmla="*/ 884390 h 884392"/>
                <a:gd name="connsiteX1-219" fmla="*/ 171289 w 1035728"/>
                <a:gd name="connsiteY1-220" fmla="*/ 508470 h 884392"/>
                <a:gd name="connsiteX2-221" fmla="*/ 982819 w 1035728"/>
                <a:gd name="connsiteY2-222" fmla="*/ 157950 h 884392"/>
                <a:gd name="connsiteX3-223" fmla="*/ 1034889 w 1035728"/>
                <a:gd name="connsiteY3-224" fmla="*/ 470 h 884392"/>
                <a:gd name="connsiteX4-225" fmla="*/ 32859 w 1035728"/>
                <a:gd name="connsiteY4-226" fmla="*/ 503390 h 884392"/>
                <a:gd name="connsiteX5-227" fmla="*/ 219549 w 1035728"/>
                <a:gd name="connsiteY5-228" fmla="*/ 884390 h 884392"/>
                <a:gd name="connsiteX0-229" fmla="*/ 219549 w 1035728"/>
                <a:gd name="connsiteY0-230" fmla="*/ 884390 h 884392"/>
                <a:gd name="connsiteX1-231" fmla="*/ 171289 w 1035728"/>
                <a:gd name="connsiteY1-232" fmla="*/ 508470 h 884392"/>
                <a:gd name="connsiteX2-233" fmla="*/ 982819 w 1035728"/>
                <a:gd name="connsiteY2-234" fmla="*/ 157950 h 884392"/>
                <a:gd name="connsiteX3-235" fmla="*/ 1034889 w 1035728"/>
                <a:gd name="connsiteY3-236" fmla="*/ 470 h 884392"/>
                <a:gd name="connsiteX4-237" fmla="*/ 32859 w 1035728"/>
                <a:gd name="connsiteY4-238" fmla="*/ 503390 h 884392"/>
                <a:gd name="connsiteX5-239" fmla="*/ 219549 w 1035728"/>
                <a:gd name="connsiteY5-240" fmla="*/ 884390 h 884392"/>
                <a:gd name="connsiteX0-241" fmla="*/ 196770 w 1012949"/>
                <a:gd name="connsiteY0-242" fmla="*/ 884390 h 884392"/>
                <a:gd name="connsiteX1-243" fmla="*/ 148510 w 1012949"/>
                <a:gd name="connsiteY1-244" fmla="*/ 508470 h 884392"/>
                <a:gd name="connsiteX2-245" fmla="*/ 960040 w 1012949"/>
                <a:gd name="connsiteY2-246" fmla="*/ 157950 h 884392"/>
                <a:gd name="connsiteX3-247" fmla="*/ 1012110 w 1012949"/>
                <a:gd name="connsiteY3-248" fmla="*/ 470 h 884392"/>
                <a:gd name="connsiteX4-249" fmla="*/ 10080 w 1012949"/>
                <a:gd name="connsiteY4-250" fmla="*/ 503390 h 884392"/>
                <a:gd name="connsiteX5-251" fmla="*/ 196770 w 1012949"/>
                <a:gd name="connsiteY5-252" fmla="*/ 884390 h 88439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12949" h="884392">
                  <a:moveTo>
                    <a:pt x="196770" y="884390"/>
                  </a:moveTo>
                  <a:cubicBezTo>
                    <a:pt x="189362" y="885237"/>
                    <a:pt x="-1562" y="701933"/>
                    <a:pt x="148510" y="508470"/>
                  </a:cubicBezTo>
                  <a:cubicBezTo>
                    <a:pt x="298582" y="315007"/>
                    <a:pt x="958770" y="159220"/>
                    <a:pt x="960040" y="157950"/>
                  </a:cubicBezTo>
                  <a:cubicBezTo>
                    <a:pt x="956230" y="147790"/>
                    <a:pt x="1021000" y="-9690"/>
                    <a:pt x="1012110" y="470"/>
                  </a:cubicBezTo>
                  <a:cubicBezTo>
                    <a:pt x="1026080" y="-4610"/>
                    <a:pt x="73580" y="268440"/>
                    <a:pt x="10080" y="503390"/>
                  </a:cubicBezTo>
                  <a:cubicBezTo>
                    <a:pt x="-53420" y="738340"/>
                    <a:pt x="204178" y="883543"/>
                    <a:pt x="196770" y="88439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5773631" y="4169907"/>
              <a:ext cx="722804" cy="384279"/>
            </a:xfrm>
            <a:prstGeom prst="rect">
              <a:avLst/>
            </a:prstGeom>
            <a:noFill/>
          </p:spPr>
          <p:txBody>
            <a:bodyPr wrap="square" rtlCol="0">
              <a:spAutoFit/>
            </a:bodyPr>
            <a:lstStyle/>
            <a:p>
              <a:r>
                <a:rPr lang="en-US" altLang="zh-CN" sz="2400" b="1" dirty="0">
                  <a:solidFill>
                    <a:schemeClr val="bg1"/>
                  </a:solidFill>
                  <a:latin typeface="楷体" panose="02010609060101010101" pitchFamily="49" charset="-122"/>
                  <a:ea typeface="楷体" panose="02010609060101010101" pitchFamily="49" charset="-122"/>
                </a:rPr>
                <a:t>1949</a:t>
              </a:r>
              <a:endParaRPr lang="zh-CN" altLang="en-US" sz="1400" b="1" dirty="0">
                <a:solidFill>
                  <a:schemeClr val="bg1"/>
                </a:solidFill>
                <a:latin typeface="楷体" panose="02010609060101010101" pitchFamily="49" charset="-122"/>
                <a:ea typeface="楷体" panose="020106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5667">
        <p14:ripple/>
      </p:transition>
    </mc:Choice>
    <mc:Fallback>
      <p:transition spd="slow" advTm="566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withEffect">
                                  <p:stCondLst>
                                    <p:cond delay="0"/>
                                  </p:stCondLst>
                                  <p:childTnLst>
                                    <p:animRot by="21600000">
                                      <p:cBhvr>
                                        <p:cTn id="6" dur="5000" fill="hold"/>
                                        <p:tgtEl>
                                          <p:spTgt spid="5"/>
                                        </p:tgtEl>
                                        <p:attrNameLst>
                                          <p:attrName>r</p:attrName>
                                        </p:attrNameLst>
                                      </p:cBhvr>
                                    </p:animRot>
                                  </p:childTnLst>
                                </p:cTn>
                              </p:par>
                              <p:par>
                                <p:cTn id="7" presetID="42" presetClass="path" presetSubtype="0" fill="hold" grpId="0" nodeType="withEffect">
                                  <p:stCondLst>
                                    <p:cond delay="0"/>
                                  </p:stCondLst>
                                  <p:childTnLst>
                                    <p:animMotion origin="layout" path="M 0.0582 -0.11111 L -0.8056 -0.54306 " pathEditMode="relative" rAng="0" ptsTypes="AA">
                                      <p:cBhvr>
                                        <p:cTn id="8" dur="5000" fill="hold"/>
                                        <p:tgtEl>
                                          <p:spTgt spid="28"/>
                                        </p:tgtEl>
                                        <p:attrNameLst>
                                          <p:attrName>ppt_x</p:attrName>
                                          <p:attrName>ppt_y</p:attrName>
                                        </p:attrNameLst>
                                      </p:cBhvr>
                                      <p:rCtr x="-43190" y="-2159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759772" y="5679502"/>
            <a:ext cx="2672080" cy="521970"/>
          </a:xfrm>
          <a:prstGeom prst="rect">
            <a:avLst/>
          </a:prstGeom>
          <a:noFill/>
        </p:spPr>
        <p:txBody>
          <a:bodyPr wrap="none" rtlCol="0">
            <a:spAutoFit/>
          </a:bodyPr>
          <a:lstStyle/>
          <a:p>
            <a:r>
              <a:rPr lang="zh-CN" altLang="en-US" sz="2800" b="1" dirty="0">
                <a:solidFill>
                  <a:schemeClr val="bg1"/>
                </a:solidFill>
                <a:latin typeface="Arial" panose="020B0604020202020204" pitchFamily="34" charset="0"/>
                <a:ea typeface="微软雅黑" panose="020B0503020204020204" pitchFamily="34" charset="-122"/>
                <a:sym typeface="Arial" panose="020B0604020202020204" pitchFamily="34" charset="0"/>
              </a:rPr>
              <a:t>开题人</a:t>
            </a:r>
            <a:r>
              <a:rPr lang="zh-CN" altLang="en-US" sz="28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：张鹏飞</a:t>
            </a:r>
            <a:endParaRPr lang="zh-CN" altLang="en-US" sz="28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文本框 13"/>
          <p:cNvSpPr txBox="1"/>
          <p:nvPr/>
        </p:nvSpPr>
        <p:spPr>
          <a:xfrm>
            <a:off x="5115372" y="6275187"/>
            <a:ext cx="1960880" cy="521970"/>
          </a:xfrm>
          <a:prstGeom prst="rect">
            <a:avLst/>
          </a:prstGeom>
          <a:noFill/>
        </p:spPr>
        <p:txBody>
          <a:bodyPr wrap="none" rtlCol="0">
            <a:spAutoFit/>
          </a:bodyPr>
          <a:lstStyle/>
          <a:p>
            <a:r>
              <a:rPr lang="zh-CN" altLang="en-US" sz="2800" b="1" dirty="0">
                <a:solidFill>
                  <a:schemeClr val="bg1"/>
                </a:solidFill>
                <a:latin typeface="Arial" panose="020B0604020202020204" pitchFamily="34" charset="0"/>
                <a:ea typeface="微软雅黑" panose="020B0503020204020204" pitchFamily="34" charset="-122"/>
                <a:sym typeface="Arial" panose="020B0604020202020204" pitchFamily="34" charset="0"/>
              </a:rPr>
              <a:t>导师</a:t>
            </a:r>
            <a:r>
              <a:rPr lang="zh-CN" altLang="en-US" sz="28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rPr>
              <a:t>：胡博</a:t>
            </a:r>
            <a:endParaRPr lang="zh-CN" altLang="en-US" sz="2800" b="1" dirty="0" smtClean="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矩形 2"/>
          <p:cNvSpPr/>
          <p:nvPr/>
        </p:nvSpPr>
        <p:spPr>
          <a:xfrm>
            <a:off x="1753235" y="2019976"/>
            <a:ext cx="8685530" cy="1938020"/>
          </a:xfrm>
          <a:prstGeom prst="rect">
            <a:avLst/>
          </a:prstGeom>
          <a:effectLst>
            <a:outerShdw blurRad="50800" dist="38100" dir="2700000" algn="tl" rotWithShape="0">
              <a:prstClr val="black">
                <a:alpha val="40000"/>
              </a:prstClr>
            </a:outerShdw>
          </a:effectLst>
        </p:spPr>
        <p:txBody>
          <a:bodyPr wrap="none">
            <a:spAutoFit/>
          </a:bodyPr>
          <a:lstStyle/>
          <a:p>
            <a:pPr algn="ctr" fontAlgn="auto">
              <a:lnSpc>
                <a:spcPct val="125000"/>
              </a:lnSpc>
            </a:pPr>
            <a:r>
              <a:rPr lang="zh-CN" altLang="en-US" sz="4800" b="1" spc="350" dirty="0" smtClean="0">
                <a:solidFill>
                  <a:schemeClr val="tx1"/>
                </a:solidFill>
                <a:uFillTx/>
                <a:latin typeface="Arial" panose="020B0604020202020204" pitchFamily="34" charset="0"/>
                <a:ea typeface="微软雅黑" panose="020B0503020204020204" pitchFamily="34" charset="-122"/>
                <a:sym typeface="Arial" panose="020B0604020202020204" pitchFamily="34" charset="0"/>
              </a:rPr>
              <a:t>基于时空数据挖掘的电力负荷</a:t>
            </a:r>
            <a:endParaRPr lang="zh-CN" altLang="en-US" sz="4800" b="1" spc="350" dirty="0" smtClean="0">
              <a:solidFill>
                <a:schemeClr val="tx1"/>
              </a:solidFill>
              <a:uFillTx/>
              <a:latin typeface="Arial" panose="020B0604020202020204" pitchFamily="34" charset="0"/>
              <a:ea typeface="微软雅黑" panose="020B0503020204020204" pitchFamily="34" charset="-122"/>
              <a:sym typeface="Arial" panose="020B0604020202020204" pitchFamily="34" charset="0"/>
            </a:endParaRPr>
          </a:p>
          <a:p>
            <a:pPr algn="ctr" fontAlgn="auto">
              <a:lnSpc>
                <a:spcPct val="125000"/>
              </a:lnSpc>
            </a:pPr>
            <a:r>
              <a:rPr lang="zh-CN" altLang="en-US" sz="4800" b="1" spc="350" dirty="0" smtClean="0">
                <a:solidFill>
                  <a:schemeClr val="tx1"/>
                </a:solidFill>
                <a:uFillTx/>
                <a:latin typeface="Arial" panose="020B0604020202020204" pitchFamily="34" charset="0"/>
                <a:ea typeface="微软雅黑" panose="020B0503020204020204" pitchFamily="34" charset="-122"/>
                <a:sym typeface="Arial" panose="020B0604020202020204" pitchFamily="34" charset="0"/>
              </a:rPr>
              <a:t>及现货电价预测方法研究</a:t>
            </a:r>
            <a:endParaRPr lang="zh-CN" altLang="en-US" sz="4800" b="1" spc="350" dirty="0" smtClean="0">
              <a:solidFill>
                <a:schemeClr val="tx1"/>
              </a:solidFill>
              <a:uFillTx/>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000">
        <p:blinds/>
      </p:transition>
    </mc:Choice>
    <mc:Fallback>
      <p:transition>
        <p:blind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5930934" y="1419225"/>
            <a:ext cx="5166668" cy="923330"/>
            <a:chOff x="6202408" y="1304925"/>
            <a:chExt cx="5166668" cy="923330"/>
          </a:xfrm>
        </p:grpSpPr>
        <p:grpSp>
          <p:nvGrpSpPr>
            <p:cNvPr id="7" name="组合 6"/>
            <p:cNvGrpSpPr/>
            <p:nvPr/>
          </p:nvGrpSpPr>
          <p:grpSpPr>
            <a:xfrm>
              <a:off x="6202408" y="1304925"/>
              <a:ext cx="999827" cy="923330"/>
              <a:chOff x="768368" y="3817083"/>
              <a:chExt cx="999827" cy="923330"/>
            </a:xfrm>
          </p:grpSpPr>
          <p:sp>
            <p:nvSpPr>
              <p:cNvPr id="8" name="文本框 7"/>
              <p:cNvSpPr txBox="1"/>
              <p:nvPr/>
            </p:nvSpPr>
            <p:spPr>
              <a:xfrm>
                <a:off x="768368" y="3817083"/>
                <a:ext cx="954107" cy="923330"/>
              </a:xfrm>
              <a:prstGeom prst="rect">
                <a:avLst/>
              </a:prstGeom>
              <a:noFill/>
            </p:spPr>
            <p:txBody>
              <a:bodyPr wrap="none" rtlCol="0">
                <a:spAutoFit/>
              </a:bodyPr>
              <a:lstStyle/>
              <a:p>
                <a:r>
                  <a:rPr lang="en-US" altLang="zh-CN" sz="5400" b="1" dirty="0">
                    <a:solidFill>
                      <a:srgbClr val="1779B2"/>
                    </a:solidFill>
                    <a:latin typeface="Arial" panose="020B0604020202020204" pitchFamily="34" charset="0"/>
                    <a:ea typeface="微软雅黑" panose="020B0503020204020204" pitchFamily="34" charset="-122"/>
                    <a:sym typeface="Arial" panose="020B0604020202020204" pitchFamily="34" charset="0"/>
                  </a:rPr>
                  <a:t>01</a:t>
                </a:r>
                <a:endParaRPr lang="zh-CN" altLang="en-US" sz="5400" b="1" dirty="0">
                  <a:solidFill>
                    <a:srgbClr val="1779B2"/>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9" name="直接连接符 8"/>
              <p:cNvCxnSpPr/>
              <p:nvPr/>
            </p:nvCxnSpPr>
            <p:spPr>
              <a:xfrm>
                <a:off x="1768195" y="3923521"/>
                <a:ext cx="0" cy="710453"/>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2" name="文本框 21"/>
            <p:cNvSpPr txBox="1"/>
            <p:nvPr/>
          </p:nvSpPr>
          <p:spPr>
            <a:xfrm>
              <a:off x="7299996" y="1505561"/>
              <a:ext cx="4069080" cy="521970"/>
            </a:xfrm>
            <a:prstGeom prst="rect">
              <a:avLst/>
            </a:prstGeom>
            <a:noFill/>
          </p:spPr>
          <p:txBody>
            <a:bodyPr wrap="none" rtlCol="0">
              <a:spAutoFit/>
            </a:bodyPr>
            <a:lstStyle/>
            <a:p>
              <a:r>
                <a:rPr lang="zh-CN" altLang="en-US" sz="2800" b="1" spc="600" dirty="0" smtClean="0">
                  <a:latin typeface="Arial" panose="020B0604020202020204" pitchFamily="34" charset="0"/>
                  <a:ea typeface="微软雅黑" panose="020B0503020204020204" pitchFamily="34" charset="-122"/>
                  <a:sym typeface="Arial" panose="020B0604020202020204" pitchFamily="34" charset="0"/>
                </a:rPr>
                <a:t>课题研究</a:t>
              </a:r>
              <a:r>
                <a:rPr lang="zh-CN" altLang="en-US" sz="2800" b="1" spc="600" dirty="0" smtClean="0">
                  <a:latin typeface="Arial" panose="020B0604020202020204" pitchFamily="34" charset="0"/>
                  <a:ea typeface="微软雅黑" panose="020B0503020204020204" pitchFamily="34" charset="-122"/>
                  <a:sym typeface="Arial" panose="020B0604020202020204" pitchFamily="34" charset="0"/>
                </a:rPr>
                <a:t>背景和意义</a:t>
              </a:r>
              <a:endParaRPr lang="zh-CN" altLang="en-US" sz="2800" b="1" spc="6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4" name="组合 33"/>
          <p:cNvGrpSpPr/>
          <p:nvPr/>
        </p:nvGrpSpPr>
        <p:grpSpPr>
          <a:xfrm>
            <a:off x="5930934" y="2402134"/>
            <a:ext cx="5166668" cy="923330"/>
            <a:chOff x="6202408" y="1304925"/>
            <a:chExt cx="5166668" cy="923330"/>
          </a:xfrm>
        </p:grpSpPr>
        <p:grpSp>
          <p:nvGrpSpPr>
            <p:cNvPr id="35" name="组合 34"/>
            <p:cNvGrpSpPr/>
            <p:nvPr/>
          </p:nvGrpSpPr>
          <p:grpSpPr>
            <a:xfrm>
              <a:off x="6202408" y="1304925"/>
              <a:ext cx="999827" cy="923330"/>
              <a:chOff x="768368" y="3817083"/>
              <a:chExt cx="999827" cy="923330"/>
            </a:xfrm>
          </p:grpSpPr>
          <p:sp>
            <p:nvSpPr>
              <p:cNvPr id="37" name="文本框 36"/>
              <p:cNvSpPr txBox="1"/>
              <p:nvPr/>
            </p:nvSpPr>
            <p:spPr>
              <a:xfrm>
                <a:off x="768368" y="3817083"/>
                <a:ext cx="954107" cy="923330"/>
              </a:xfrm>
              <a:prstGeom prst="rect">
                <a:avLst/>
              </a:prstGeom>
              <a:noFill/>
            </p:spPr>
            <p:txBody>
              <a:bodyPr wrap="none" rtlCol="0">
                <a:spAutoFit/>
              </a:bodyPr>
              <a:lstStyle/>
              <a:p>
                <a:r>
                  <a:rPr lang="en-US" altLang="zh-CN" sz="5400" b="1" dirty="0">
                    <a:solidFill>
                      <a:srgbClr val="1779B2"/>
                    </a:solidFill>
                    <a:latin typeface="Arial" panose="020B0604020202020204" pitchFamily="34" charset="0"/>
                    <a:ea typeface="微软雅黑" panose="020B0503020204020204" pitchFamily="34" charset="-122"/>
                    <a:sym typeface="Arial" panose="020B0604020202020204" pitchFamily="34" charset="0"/>
                  </a:rPr>
                  <a:t>02</a:t>
                </a:r>
                <a:endParaRPr lang="zh-CN" altLang="en-US" sz="5400" b="1" dirty="0">
                  <a:solidFill>
                    <a:srgbClr val="1779B2"/>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38" name="直接连接符 37"/>
              <p:cNvCxnSpPr/>
              <p:nvPr/>
            </p:nvCxnSpPr>
            <p:spPr>
              <a:xfrm>
                <a:off x="1768195" y="3923521"/>
                <a:ext cx="0" cy="710453"/>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36" name="文本框 35"/>
            <p:cNvSpPr txBox="1"/>
            <p:nvPr/>
          </p:nvSpPr>
          <p:spPr>
            <a:xfrm>
              <a:off x="7299996" y="1505561"/>
              <a:ext cx="4069080" cy="521970"/>
            </a:xfrm>
            <a:prstGeom prst="rect">
              <a:avLst/>
            </a:prstGeom>
            <a:noFill/>
          </p:spPr>
          <p:txBody>
            <a:bodyPr wrap="none" rtlCol="0">
              <a:spAutoFit/>
            </a:bodyPr>
            <a:lstStyle/>
            <a:p>
              <a:r>
                <a:rPr lang="zh-CN" altLang="en-US" sz="2800" b="1" spc="600" dirty="0" smtClean="0">
                  <a:latin typeface="Arial" panose="020B0604020202020204" pitchFamily="34" charset="0"/>
                  <a:ea typeface="微软雅黑" panose="020B0503020204020204" pitchFamily="34" charset="-122"/>
                  <a:sym typeface="Arial" panose="020B0604020202020204" pitchFamily="34" charset="0"/>
                </a:rPr>
                <a:t>课题国内外</a:t>
              </a:r>
              <a:r>
                <a:rPr lang="zh-CN" altLang="en-US" sz="2800" b="1" spc="600" dirty="0" smtClean="0">
                  <a:latin typeface="Arial" panose="020B0604020202020204" pitchFamily="34" charset="0"/>
                  <a:ea typeface="微软雅黑" panose="020B0503020204020204" pitchFamily="34" charset="-122"/>
                  <a:sym typeface="Arial" panose="020B0604020202020204" pitchFamily="34" charset="0"/>
                </a:rPr>
                <a:t>研究现状</a:t>
              </a:r>
              <a:endParaRPr lang="zh-CN" altLang="en-US" sz="2800" b="1" spc="6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9" name="组合 38"/>
          <p:cNvGrpSpPr/>
          <p:nvPr/>
        </p:nvGrpSpPr>
        <p:grpSpPr>
          <a:xfrm>
            <a:off x="5930934" y="3385043"/>
            <a:ext cx="6030268" cy="923330"/>
            <a:chOff x="6202408" y="1304925"/>
            <a:chExt cx="6030268" cy="923330"/>
          </a:xfrm>
        </p:grpSpPr>
        <p:grpSp>
          <p:nvGrpSpPr>
            <p:cNvPr id="40" name="组合 39"/>
            <p:cNvGrpSpPr/>
            <p:nvPr/>
          </p:nvGrpSpPr>
          <p:grpSpPr>
            <a:xfrm>
              <a:off x="6202408" y="1304925"/>
              <a:ext cx="999827" cy="923330"/>
              <a:chOff x="768368" y="3817083"/>
              <a:chExt cx="999827" cy="923330"/>
            </a:xfrm>
          </p:grpSpPr>
          <p:sp>
            <p:nvSpPr>
              <p:cNvPr id="42" name="文本框 41"/>
              <p:cNvSpPr txBox="1"/>
              <p:nvPr/>
            </p:nvSpPr>
            <p:spPr>
              <a:xfrm>
                <a:off x="768368" y="3817083"/>
                <a:ext cx="954107" cy="923330"/>
              </a:xfrm>
              <a:prstGeom prst="rect">
                <a:avLst/>
              </a:prstGeom>
              <a:noFill/>
            </p:spPr>
            <p:txBody>
              <a:bodyPr wrap="none" rtlCol="0">
                <a:spAutoFit/>
              </a:bodyPr>
              <a:lstStyle/>
              <a:p>
                <a:r>
                  <a:rPr lang="en-US" altLang="zh-CN" sz="5400" b="1" dirty="0">
                    <a:solidFill>
                      <a:srgbClr val="1779B2"/>
                    </a:solidFill>
                    <a:latin typeface="Arial" panose="020B0604020202020204" pitchFamily="34" charset="0"/>
                    <a:ea typeface="微软雅黑" panose="020B0503020204020204" pitchFamily="34" charset="-122"/>
                    <a:sym typeface="Arial" panose="020B0604020202020204" pitchFamily="34" charset="0"/>
                  </a:rPr>
                  <a:t>03</a:t>
                </a:r>
                <a:endParaRPr lang="zh-CN" altLang="en-US" sz="5400" b="1" dirty="0">
                  <a:solidFill>
                    <a:srgbClr val="1779B2"/>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43" name="直接连接符 42"/>
              <p:cNvCxnSpPr/>
              <p:nvPr/>
            </p:nvCxnSpPr>
            <p:spPr>
              <a:xfrm>
                <a:off x="1768195" y="3923521"/>
                <a:ext cx="0" cy="710453"/>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41" name="文本框 40"/>
            <p:cNvSpPr txBox="1"/>
            <p:nvPr/>
          </p:nvSpPr>
          <p:spPr>
            <a:xfrm>
              <a:off x="7299996" y="1505561"/>
              <a:ext cx="4932680" cy="521970"/>
            </a:xfrm>
            <a:prstGeom prst="rect">
              <a:avLst/>
            </a:prstGeom>
            <a:noFill/>
          </p:spPr>
          <p:txBody>
            <a:bodyPr wrap="none" rtlCol="0">
              <a:spAutoFit/>
            </a:bodyPr>
            <a:lstStyle/>
            <a:p>
              <a:r>
                <a:rPr lang="zh-CN" altLang="en-US" sz="2800" b="1" spc="600" dirty="0" smtClean="0">
                  <a:latin typeface="Arial" panose="020B0604020202020204" pitchFamily="34" charset="0"/>
                  <a:ea typeface="微软雅黑" panose="020B0503020204020204" pitchFamily="34" charset="-122"/>
                  <a:sym typeface="Arial" panose="020B0604020202020204" pitchFamily="34" charset="0"/>
                </a:rPr>
                <a:t>课题主要研究、工作内容</a:t>
              </a:r>
              <a:endParaRPr lang="zh-CN" altLang="en-US" sz="2800" b="1" spc="6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4" name="组合 43"/>
          <p:cNvGrpSpPr/>
          <p:nvPr/>
        </p:nvGrpSpPr>
        <p:grpSpPr>
          <a:xfrm>
            <a:off x="5930934" y="4367928"/>
            <a:ext cx="5598468" cy="953135"/>
            <a:chOff x="6202408" y="1304901"/>
            <a:chExt cx="5598468" cy="953135"/>
          </a:xfrm>
        </p:grpSpPr>
        <p:grpSp>
          <p:nvGrpSpPr>
            <p:cNvPr id="45" name="组合 44"/>
            <p:cNvGrpSpPr/>
            <p:nvPr/>
          </p:nvGrpSpPr>
          <p:grpSpPr>
            <a:xfrm>
              <a:off x="6202408" y="1304925"/>
              <a:ext cx="999827" cy="923330"/>
              <a:chOff x="768368" y="3817083"/>
              <a:chExt cx="999827" cy="923330"/>
            </a:xfrm>
          </p:grpSpPr>
          <p:sp>
            <p:nvSpPr>
              <p:cNvPr id="47" name="文本框 46"/>
              <p:cNvSpPr txBox="1"/>
              <p:nvPr/>
            </p:nvSpPr>
            <p:spPr>
              <a:xfrm>
                <a:off x="768368" y="3817083"/>
                <a:ext cx="954107" cy="923330"/>
              </a:xfrm>
              <a:prstGeom prst="rect">
                <a:avLst/>
              </a:prstGeom>
              <a:noFill/>
            </p:spPr>
            <p:txBody>
              <a:bodyPr wrap="none" rtlCol="0">
                <a:spAutoFit/>
              </a:bodyPr>
              <a:lstStyle/>
              <a:p>
                <a:r>
                  <a:rPr lang="en-US" altLang="zh-CN" sz="5400" b="1" dirty="0">
                    <a:solidFill>
                      <a:srgbClr val="1779B2"/>
                    </a:solidFill>
                    <a:latin typeface="Arial" panose="020B0604020202020204" pitchFamily="34" charset="0"/>
                    <a:ea typeface="微软雅黑" panose="020B0503020204020204" pitchFamily="34" charset="-122"/>
                    <a:sym typeface="Arial" panose="020B0604020202020204" pitchFamily="34" charset="0"/>
                  </a:rPr>
                  <a:t>04</a:t>
                </a:r>
                <a:endParaRPr lang="zh-CN" altLang="en-US" sz="5400" b="1" dirty="0">
                  <a:solidFill>
                    <a:srgbClr val="1779B2"/>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48" name="直接连接符 47"/>
              <p:cNvCxnSpPr/>
              <p:nvPr/>
            </p:nvCxnSpPr>
            <p:spPr>
              <a:xfrm>
                <a:off x="1768195" y="3923521"/>
                <a:ext cx="0" cy="710453"/>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46" name="文本框 45"/>
            <p:cNvSpPr txBox="1"/>
            <p:nvPr/>
          </p:nvSpPr>
          <p:spPr>
            <a:xfrm>
              <a:off x="7299996" y="1304901"/>
              <a:ext cx="4500880" cy="953135"/>
            </a:xfrm>
            <a:prstGeom prst="rect">
              <a:avLst/>
            </a:prstGeom>
            <a:noFill/>
          </p:spPr>
          <p:txBody>
            <a:bodyPr wrap="none" rtlCol="0">
              <a:spAutoFit/>
            </a:bodyPr>
            <a:lstStyle/>
            <a:p>
              <a:pPr algn="l"/>
              <a:r>
                <a:rPr lang="zh-CN" altLang="en-US" sz="2800" b="1" spc="600" dirty="0">
                  <a:latin typeface="Arial" panose="020B0604020202020204" pitchFamily="34" charset="0"/>
                  <a:ea typeface="微软雅黑" panose="020B0503020204020204" pitchFamily="34" charset="-122"/>
                  <a:sym typeface="Arial" panose="020B0604020202020204" pitchFamily="34" charset="0"/>
                </a:rPr>
                <a:t>预期目标、</a:t>
              </a:r>
              <a:r>
                <a:rPr lang="zh-CN" altLang="en-US" sz="2800" b="1" spc="600" dirty="0">
                  <a:latin typeface="Arial" panose="020B0604020202020204" pitchFamily="34" charset="0"/>
                  <a:ea typeface="微软雅黑" panose="020B0503020204020204" pitchFamily="34" charset="-122"/>
                  <a:sym typeface="Arial" panose="020B0604020202020204" pitchFamily="34" charset="0"/>
                </a:rPr>
                <a:t>工作计划、</a:t>
              </a:r>
              <a:endParaRPr lang="zh-CN" altLang="en-US" sz="2800" b="1" spc="600" dirty="0">
                <a:latin typeface="Arial" panose="020B0604020202020204" pitchFamily="34" charset="0"/>
                <a:ea typeface="微软雅黑" panose="020B0503020204020204" pitchFamily="34" charset="-122"/>
                <a:sym typeface="Arial" panose="020B0604020202020204" pitchFamily="34" charset="0"/>
              </a:endParaRPr>
            </a:p>
            <a:p>
              <a:pPr algn="l"/>
              <a:r>
                <a:rPr lang="zh-CN" altLang="en-US" sz="2800" b="1" spc="600" dirty="0">
                  <a:latin typeface="Arial" panose="020B0604020202020204" pitchFamily="34" charset="0"/>
                  <a:ea typeface="微软雅黑" panose="020B0503020204020204" pitchFamily="34" charset="-122"/>
                  <a:sym typeface="Arial" panose="020B0604020202020204" pitchFamily="34" charset="0"/>
                </a:rPr>
                <a:t>实验条件</a:t>
              </a:r>
              <a:endParaRPr lang="zh-CN" altLang="en-US" sz="2800" b="1" spc="60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62" name="矩形 61"/>
          <p:cNvSpPr/>
          <p:nvPr/>
        </p:nvSpPr>
        <p:spPr>
          <a:xfrm>
            <a:off x="5282560" y="1465389"/>
            <a:ext cx="745717" cy="830997"/>
          </a:xfrm>
          <a:prstGeom prst="rect">
            <a:avLst/>
          </a:prstGeom>
        </p:spPr>
        <p:txBody>
          <a:bodyPr wrap="none">
            <a:spAutoFit/>
          </a:bodyPr>
          <a:lstStyle/>
          <a:p>
            <a:r>
              <a:rPr lang="zh-CN" altLang="en-US" sz="4800" spc="100" dirty="0">
                <a:solidFill>
                  <a:srgbClr val="ED7D31"/>
                </a:solidFill>
                <a:effectLst>
                  <a:outerShdw blurRad="38100" dist="38100" dir="2700000" algn="tl">
                    <a:srgbClr val="000000">
                      <a:alpha val="43137"/>
                    </a:srgbClr>
                  </a:outerShdw>
                </a:effectLst>
                <a:latin typeface="方正大标宋简体" panose="02010600030101010101" pitchFamily="2" charset="-122"/>
                <a:ea typeface="方正大标宋简体" panose="02010600030101010101" pitchFamily="2" charset="-122"/>
                <a:sym typeface="Wingdings 3" panose="05040102010807070707" pitchFamily="18" charset="2"/>
              </a:rPr>
              <a:t></a:t>
            </a:r>
            <a:endParaRPr lang="zh-CN" altLang="en-US" sz="4800" dirty="0">
              <a:solidFill>
                <a:srgbClr val="ED7D31"/>
              </a:solidFill>
              <a:effectLst>
                <a:outerShdw blurRad="38100" dist="38100" dir="2700000" algn="tl">
                  <a:srgbClr val="000000">
                    <a:alpha val="43137"/>
                  </a:srgbClr>
                </a:outerShdw>
              </a:effectLst>
            </a:endParaRPr>
          </a:p>
        </p:txBody>
      </p:sp>
      <p:sp>
        <p:nvSpPr>
          <p:cNvPr id="63" name="矩形 62"/>
          <p:cNvSpPr/>
          <p:nvPr/>
        </p:nvSpPr>
        <p:spPr>
          <a:xfrm>
            <a:off x="5282560" y="2451125"/>
            <a:ext cx="745717" cy="830997"/>
          </a:xfrm>
          <a:prstGeom prst="rect">
            <a:avLst/>
          </a:prstGeom>
        </p:spPr>
        <p:txBody>
          <a:bodyPr wrap="none">
            <a:spAutoFit/>
          </a:bodyPr>
          <a:lstStyle/>
          <a:p>
            <a:r>
              <a:rPr lang="zh-CN" altLang="en-US" sz="4800" spc="100" dirty="0">
                <a:solidFill>
                  <a:srgbClr val="ED7D31"/>
                </a:solidFill>
                <a:effectLst>
                  <a:outerShdw blurRad="38100" dist="38100" dir="2700000" algn="tl">
                    <a:srgbClr val="000000">
                      <a:alpha val="43137"/>
                    </a:srgbClr>
                  </a:outerShdw>
                </a:effectLst>
                <a:latin typeface="方正大标宋简体" panose="02010600030101010101" pitchFamily="2" charset="-122"/>
                <a:ea typeface="方正大标宋简体" panose="02010600030101010101" pitchFamily="2" charset="-122"/>
                <a:sym typeface="Wingdings 3" panose="05040102010807070707" pitchFamily="18" charset="2"/>
              </a:rPr>
              <a:t></a:t>
            </a:r>
            <a:endParaRPr lang="zh-CN" altLang="en-US" sz="4800" dirty="0">
              <a:solidFill>
                <a:srgbClr val="ED7D31"/>
              </a:solidFill>
              <a:effectLst>
                <a:outerShdw blurRad="38100" dist="38100" dir="2700000" algn="tl">
                  <a:srgbClr val="000000">
                    <a:alpha val="43137"/>
                  </a:srgbClr>
                </a:outerShdw>
              </a:effectLst>
            </a:endParaRPr>
          </a:p>
        </p:txBody>
      </p:sp>
      <p:sp>
        <p:nvSpPr>
          <p:cNvPr id="64" name="矩形 63"/>
          <p:cNvSpPr/>
          <p:nvPr/>
        </p:nvSpPr>
        <p:spPr>
          <a:xfrm>
            <a:off x="5282560" y="3407348"/>
            <a:ext cx="745717" cy="830997"/>
          </a:xfrm>
          <a:prstGeom prst="rect">
            <a:avLst/>
          </a:prstGeom>
        </p:spPr>
        <p:txBody>
          <a:bodyPr wrap="none">
            <a:spAutoFit/>
          </a:bodyPr>
          <a:lstStyle/>
          <a:p>
            <a:r>
              <a:rPr lang="zh-CN" altLang="en-US" sz="4800" spc="100" dirty="0">
                <a:solidFill>
                  <a:srgbClr val="ED7D31"/>
                </a:solidFill>
                <a:effectLst>
                  <a:outerShdw blurRad="38100" dist="38100" dir="2700000" algn="tl">
                    <a:srgbClr val="000000">
                      <a:alpha val="43137"/>
                    </a:srgbClr>
                  </a:outerShdw>
                </a:effectLst>
                <a:latin typeface="方正大标宋简体" panose="02010600030101010101" pitchFamily="2" charset="-122"/>
                <a:ea typeface="方正大标宋简体" panose="02010600030101010101" pitchFamily="2" charset="-122"/>
                <a:sym typeface="Wingdings 3" panose="05040102010807070707" pitchFamily="18" charset="2"/>
              </a:rPr>
              <a:t></a:t>
            </a:r>
            <a:endParaRPr lang="zh-CN" altLang="en-US" sz="4800" dirty="0">
              <a:solidFill>
                <a:srgbClr val="ED7D31"/>
              </a:solidFill>
              <a:effectLst>
                <a:outerShdw blurRad="38100" dist="38100" dir="2700000" algn="tl">
                  <a:srgbClr val="000000">
                    <a:alpha val="43137"/>
                  </a:srgbClr>
                </a:outerShdw>
              </a:effectLst>
            </a:endParaRPr>
          </a:p>
        </p:txBody>
      </p:sp>
      <p:sp>
        <p:nvSpPr>
          <p:cNvPr id="65" name="矩形 64"/>
          <p:cNvSpPr/>
          <p:nvPr/>
        </p:nvSpPr>
        <p:spPr>
          <a:xfrm>
            <a:off x="5282560" y="4414117"/>
            <a:ext cx="745717" cy="830997"/>
          </a:xfrm>
          <a:prstGeom prst="rect">
            <a:avLst/>
          </a:prstGeom>
        </p:spPr>
        <p:txBody>
          <a:bodyPr wrap="none">
            <a:spAutoFit/>
          </a:bodyPr>
          <a:lstStyle/>
          <a:p>
            <a:r>
              <a:rPr lang="zh-CN" altLang="en-US" sz="4800" spc="100" dirty="0">
                <a:solidFill>
                  <a:srgbClr val="ED7D31"/>
                </a:solidFill>
                <a:effectLst>
                  <a:outerShdw blurRad="38100" dist="38100" dir="2700000" algn="tl">
                    <a:srgbClr val="000000">
                      <a:alpha val="43137"/>
                    </a:srgbClr>
                  </a:outerShdw>
                </a:effectLst>
                <a:latin typeface="方正大标宋简体" panose="02010600030101010101" pitchFamily="2" charset="-122"/>
                <a:ea typeface="方正大标宋简体" panose="02010600030101010101" pitchFamily="2" charset="-122"/>
                <a:sym typeface="Wingdings 3" panose="05040102010807070707" pitchFamily="18" charset="2"/>
              </a:rPr>
              <a:t></a:t>
            </a:r>
            <a:endParaRPr lang="zh-CN" altLang="en-US" sz="4800" dirty="0">
              <a:solidFill>
                <a:srgbClr val="ED7D31"/>
              </a:solidFill>
              <a:effectLst>
                <a:outerShdw blurRad="38100" dist="38100" dir="2700000" algn="tl">
                  <a:srgbClr val="000000">
                    <a:alpha val="43137"/>
                  </a:srgbClr>
                </a:outerShdw>
              </a:effectLst>
            </a:endParaRPr>
          </a:p>
        </p:txBody>
      </p:sp>
    </p:spTree>
  </p:cSld>
  <p:clrMapOvr>
    <a:masterClrMapping/>
  </p:clrMapOvr>
  <p:transition>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p:cNvSpPr/>
          <p:nvPr/>
        </p:nvSpPr>
        <p:spPr>
          <a:xfrm>
            <a:off x="1909822" y="2246935"/>
            <a:ext cx="2592730" cy="2592730"/>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8" name="文本框 17"/>
          <p:cNvSpPr txBox="1"/>
          <p:nvPr/>
        </p:nvSpPr>
        <p:spPr>
          <a:xfrm>
            <a:off x="2373526" y="3927473"/>
            <a:ext cx="1752018" cy="461665"/>
          </a:xfrm>
          <a:prstGeom prst="rect">
            <a:avLst/>
          </a:prstGeom>
          <a:noFill/>
        </p:spPr>
        <p:txBody>
          <a:bodyPr wrap="none" rtlCol="0">
            <a:spAutoFit/>
          </a:bodyPr>
          <a:lstStyle/>
          <a:p>
            <a:r>
              <a:rPr lang="en-US" altLang="zh-CN" sz="2400" b="1" dirty="0">
                <a:solidFill>
                  <a:srgbClr val="0081E2"/>
                </a:solidFill>
                <a:latin typeface="Arial" panose="020B0604020202020204" pitchFamily="34" charset="0"/>
                <a:ea typeface="微软雅黑" panose="020B0503020204020204" pitchFamily="34" charset="-122"/>
                <a:sym typeface="Arial" panose="020B0604020202020204" pitchFamily="34" charset="0"/>
              </a:rPr>
              <a:t>PART ONE</a:t>
            </a:r>
            <a:endParaRPr lang="en-US" altLang="zh-CN" sz="2400" b="1" dirty="0">
              <a:solidFill>
                <a:srgbClr val="0081E2"/>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文本框 13"/>
          <p:cNvSpPr txBox="1"/>
          <p:nvPr/>
        </p:nvSpPr>
        <p:spPr>
          <a:xfrm>
            <a:off x="5351141" y="3082423"/>
            <a:ext cx="6355080" cy="922020"/>
          </a:xfrm>
          <a:prstGeom prst="rect">
            <a:avLst/>
          </a:prstGeom>
          <a:noFill/>
        </p:spPr>
        <p:txBody>
          <a:bodyPr wrap="none" rtlCol="0">
            <a:spAutoFit/>
          </a:bodyPr>
          <a:lstStyle/>
          <a:p>
            <a:r>
              <a:rPr lang="zh-CN" altLang="en-US" sz="5400" b="1" dirty="0" smtClean="0">
                <a:solidFill>
                  <a:schemeClr val="tx1"/>
                </a:solidFill>
                <a:latin typeface="Arial" panose="020B0604020202020204" pitchFamily="34" charset="0"/>
                <a:ea typeface="微软雅黑" panose="020B0503020204020204" pitchFamily="34" charset="-122"/>
                <a:sym typeface="Arial" panose="020B0604020202020204" pitchFamily="34" charset="0"/>
              </a:rPr>
              <a:t>课题研究</a:t>
            </a:r>
            <a:r>
              <a:rPr lang="zh-CN" altLang="en-US" sz="5400" b="1" dirty="0" smtClean="0">
                <a:solidFill>
                  <a:schemeClr val="tx1"/>
                </a:solidFill>
                <a:latin typeface="Arial" panose="020B0604020202020204" pitchFamily="34" charset="0"/>
                <a:ea typeface="微软雅黑" panose="020B0503020204020204" pitchFamily="34" charset="-122"/>
                <a:sym typeface="Arial" panose="020B0604020202020204" pitchFamily="34" charset="0"/>
              </a:rPr>
              <a:t>背景和意义</a:t>
            </a:r>
            <a:endParaRPr lang="zh-CN" altLang="en-US" sz="5400" b="1" dirty="0" smtClean="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23" name="文本框 22"/>
          <p:cNvSpPr txBox="1"/>
          <p:nvPr/>
        </p:nvSpPr>
        <p:spPr>
          <a:xfrm>
            <a:off x="2543185" y="2730867"/>
            <a:ext cx="1326004" cy="1323439"/>
          </a:xfrm>
          <a:prstGeom prst="rect">
            <a:avLst/>
          </a:prstGeom>
          <a:noFill/>
        </p:spPr>
        <p:txBody>
          <a:bodyPr wrap="none" rtlCol="0">
            <a:spAutoFit/>
          </a:bodyPr>
          <a:lstStyle/>
          <a:p>
            <a:r>
              <a:rPr lang="en-US" altLang="zh-CN" sz="8000" b="1" dirty="0">
                <a:solidFill>
                  <a:srgbClr val="0081E2"/>
                </a:solidFill>
                <a:latin typeface="Arial" panose="020B0604020202020204" pitchFamily="34" charset="0"/>
                <a:ea typeface="微软雅黑" panose="020B0503020204020204" pitchFamily="34" charset="-122"/>
                <a:sym typeface="Arial" panose="020B0604020202020204" pitchFamily="34" charset="0"/>
              </a:rPr>
              <a:t>01</a:t>
            </a:r>
            <a:endParaRPr lang="zh-CN" altLang="en-US" sz="8000" b="1" dirty="0">
              <a:solidFill>
                <a:srgbClr val="0081E2"/>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transition>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stretch>
            <a:fillRect/>
          </a:stretch>
        </p:blipFill>
        <p:spPr>
          <a:xfrm>
            <a:off x="3296920" y="1453515"/>
            <a:ext cx="2911475" cy="1580515"/>
          </a:xfrm>
          <a:prstGeom prst="rect">
            <a:avLst/>
          </a:prstGeom>
        </p:spPr>
      </p:pic>
      <p:sp>
        <p:nvSpPr>
          <p:cNvPr id="2" name="内容占位符 1"/>
          <p:cNvSpPr>
            <a:spLocks noGrp="1"/>
          </p:cNvSpPr>
          <p:nvPr>
            <p:ph sz="quarter" idx="13"/>
          </p:nvPr>
        </p:nvSpPr>
        <p:spPr/>
        <p:txBody>
          <a:bodyPr/>
          <a:lstStyle/>
          <a:p>
            <a:r>
              <a:rPr lang="zh-CN" altLang="en-US" dirty="0" smtClean="0">
                <a:sym typeface="+mn-ea"/>
              </a:rPr>
              <a:t>课题研究</a:t>
            </a:r>
            <a:r>
              <a:rPr lang="zh-CN" altLang="en-US" dirty="0" smtClean="0">
                <a:sym typeface="+mn-ea"/>
              </a:rPr>
              <a:t>背景和意义</a:t>
            </a:r>
            <a:endParaRPr lang="zh-CN" altLang="en-US" dirty="0"/>
          </a:p>
        </p:txBody>
      </p:sp>
      <p:sp>
        <p:nvSpPr>
          <p:cNvPr id="3" name="灯片编号占位符 2"/>
          <p:cNvSpPr>
            <a:spLocks noGrp="1"/>
          </p:cNvSpPr>
          <p:nvPr>
            <p:ph type="sldNum" sz="quarter" idx="12"/>
          </p:nvPr>
        </p:nvSpPr>
        <p:spPr/>
        <p:txBody>
          <a:bodyPr/>
          <a:lstStyle/>
          <a:p>
            <a:r>
              <a:rPr lang="en-US" altLang="zh-CN" dirty="0"/>
              <a:t>2</a:t>
            </a:r>
            <a:endParaRPr lang="en-US" altLang="zh-CN" dirty="0"/>
          </a:p>
        </p:txBody>
      </p:sp>
      <p:grpSp>
        <p:nvGrpSpPr>
          <p:cNvPr id="83" name="文本-优势"/>
          <p:cNvGrpSpPr/>
          <p:nvPr/>
        </p:nvGrpSpPr>
        <p:grpSpPr>
          <a:xfrm>
            <a:off x="737870" y="3155950"/>
            <a:ext cx="10798870" cy="3237230"/>
            <a:chOff x="323851" y="3875675"/>
            <a:chExt cx="8504598" cy="1957196"/>
          </a:xfrm>
        </p:grpSpPr>
        <p:sp>
          <p:nvSpPr>
            <p:cNvPr id="84" name="圆角矩形 13"/>
            <p:cNvSpPr/>
            <p:nvPr/>
          </p:nvSpPr>
          <p:spPr bwMode="auto">
            <a:xfrm>
              <a:off x="323851" y="3875675"/>
              <a:ext cx="4177854" cy="1957196"/>
            </a:xfrm>
            <a:prstGeom prst="roundRect">
              <a:avLst>
                <a:gd name="adj" fmla="val 0"/>
              </a:avLst>
            </a:prstGeom>
            <a:solidFill>
              <a:schemeClr val="accent4">
                <a:lumMod val="20000"/>
                <a:lumOff val="80000"/>
              </a:schemeClr>
            </a:solidFill>
            <a:ln w="12700" cap="flat" cmpd="sng" algn="ctr">
              <a:solidFill>
                <a:srgbClr val="A5A5A5"/>
              </a:solidFill>
              <a:prstDash val="solid"/>
              <a:miter lim="800000"/>
            </a:ln>
            <a:effectLst>
              <a:outerShdw blurRad="50800" dist="38100" dir="2700000" algn="tl" rotWithShape="0">
                <a:prstClr val="black">
                  <a:alpha val="40000"/>
                </a:prstClr>
              </a:outerShdw>
            </a:effectLst>
          </p:spPr>
          <p:txBody>
            <a:bodyPr tIns="182880" anchor="ctr"/>
            <a:p>
              <a:pPr marL="285750" indent="-285750">
                <a:spcBef>
                  <a:spcPts val="600"/>
                </a:spcBef>
                <a:spcAft>
                  <a:spcPts val="600"/>
                </a:spcAft>
                <a:buFontTx/>
                <a:buChar char="•"/>
                <a:defRPr/>
              </a:pPr>
              <a:endParaRPr lang="zh-CN" altLang="en-US" sz="2200" b="1">
                <a:solidFill>
                  <a:srgbClr val="C00000"/>
                </a:solidFill>
                <a:latin typeface="Arial" panose="020B0604020202020204" pitchFamily="34" charset="0"/>
              </a:endParaRPr>
            </a:p>
          </p:txBody>
        </p:sp>
        <p:sp>
          <p:nvSpPr>
            <p:cNvPr id="85" name="矩形 84"/>
            <p:cNvSpPr/>
            <p:nvPr/>
          </p:nvSpPr>
          <p:spPr bwMode="auto">
            <a:xfrm>
              <a:off x="1095492" y="3921359"/>
              <a:ext cx="3324106" cy="1813612"/>
            </a:xfrm>
            <a:prstGeom prst="rect">
              <a:avLst/>
            </a:prstGeom>
          </p:spPr>
          <p:txBody>
            <a:bodyPr wrap="square">
              <a:spAutoFit/>
            </a:bodyPr>
            <a:p>
              <a:pPr indent="457200" fontAlgn="auto">
                <a:lnSpc>
                  <a:spcPct val="150000"/>
                </a:lnSpc>
                <a:spcBef>
                  <a:spcPts val="0"/>
                </a:spcBef>
                <a:spcAft>
                  <a:spcPts val="0"/>
                </a:spcAft>
                <a:buClr>
                  <a:prstClr val="black"/>
                </a:buClr>
                <a:buFont typeface="Wingdings" panose="05000000000000000000" pitchFamily="2" charset="2"/>
                <a:buNone/>
                <a:tabLst>
                  <a:tab pos="1612900" algn="l"/>
                  <a:tab pos="2159000" algn="l"/>
                </a:tabLst>
                <a:defRPr/>
              </a:pPr>
              <a:r>
                <a:rPr lang="zh-CN" altLang="en-US" b="1" dirty="0">
                  <a:latin typeface="微软雅黑" panose="020B0503020204020204" pitchFamily="34" charset="-122"/>
                  <a:ea typeface="微软雅黑" panose="020B0503020204020204" pitchFamily="34" charset="-122"/>
                  <a:sym typeface="+mn-ea"/>
                </a:rPr>
                <a:t>电力行业是国家发展的重要基础性行业，由于电能不能大量储存，电力系统运行时必须随时保持供需平衡，并向各类用户提供可靠的电能。</a:t>
              </a:r>
              <a:r>
                <a:rPr lang="zh-CN" altLang="en-US" b="1" dirty="0">
                  <a:solidFill>
                    <a:srgbClr val="FF0000"/>
                  </a:solidFill>
                  <a:latin typeface="微软雅黑" panose="020B0503020204020204" pitchFamily="34" charset="-122"/>
                  <a:ea typeface="微软雅黑" panose="020B0503020204020204" pitchFamily="34" charset="-122"/>
                  <a:sym typeface="+mn-ea"/>
                </a:rPr>
                <a:t>掌握负荷及电价的变化规律和趋势，对负荷</a:t>
              </a:r>
              <a:r>
                <a:rPr lang="zh-CN" altLang="en-US" b="1" dirty="0">
                  <a:solidFill>
                    <a:srgbClr val="FF0000"/>
                  </a:solidFill>
                  <a:latin typeface="微软雅黑" panose="020B0503020204020204" pitchFamily="34" charset="-122"/>
                  <a:ea typeface="微软雅黑" panose="020B0503020204020204" pitchFamily="34" charset="-122"/>
                  <a:sym typeface="+mn-ea"/>
                </a:rPr>
                <a:t>及电价进行准确的预测，是保证电力系统安全、稳定、经济运行的必要条件。</a:t>
              </a:r>
              <a:endParaRPr lang="zh-CN" altLang="en-US" b="1" dirty="0">
                <a:solidFill>
                  <a:srgbClr val="FF0000"/>
                </a:solidFill>
                <a:latin typeface="微软雅黑" panose="020B0503020204020204" pitchFamily="34" charset="-122"/>
                <a:ea typeface="微软雅黑" panose="020B0503020204020204" pitchFamily="34" charset="-122"/>
                <a:sym typeface="+mn-ea"/>
              </a:endParaRPr>
            </a:p>
          </p:txBody>
        </p:sp>
        <p:sp>
          <p:nvSpPr>
            <p:cNvPr id="86" name="矩形 85"/>
            <p:cNvSpPr/>
            <p:nvPr/>
          </p:nvSpPr>
          <p:spPr>
            <a:xfrm>
              <a:off x="425131" y="4381488"/>
              <a:ext cx="478490" cy="836550"/>
            </a:xfrm>
            <a:prstGeom prst="rect">
              <a:avLst/>
            </a:prstGeom>
          </p:spPr>
          <p:txBody>
            <a:bodyPr wrap="square">
              <a:spAutoFit/>
            </a:bodyPr>
            <a:p>
              <a:r>
                <a:rPr lang="zh-CN" altLang="en-US" sz="2800" b="1" dirty="0">
                  <a:solidFill>
                    <a:schemeClr val="accent2"/>
                  </a:solidFill>
                  <a:latin typeface="微软雅黑" panose="020B0503020204020204" pitchFamily="34" charset="-122"/>
                  <a:ea typeface="微软雅黑" panose="020B0503020204020204" pitchFamily="34" charset="-122"/>
                  <a:sym typeface="+mn-ea"/>
                </a:rPr>
                <a:t>背</a:t>
              </a:r>
              <a:endParaRPr lang="zh-CN" altLang="en-US" sz="2800" b="1" dirty="0">
                <a:solidFill>
                  <a:schemeClr val="accent2"/>
                </a:solidFill>
                <a:latin typeface="微软雅黑" panose="020B0503020204020204" pitchFamily="34" charset="-122"/>
                <a:ea typeface="微软雅黑" panose="020B0503020204020204" pitchFamily="34" charset="-122"/>
                <a:sym typeface="+mn-ea"/>
              </a:endParaRPr>
            </a:p>
            <a:p>
              <a:endParaRPr lang="zh-CN" altLang="en-US" sz="2800" b="1" dirty="0">
                <a:solidFill>
                  <a:schemeClr val="accent2"/>
                </a:solidFill>
                <a:latin typeface="微软雅黑" panose="020B0503020204020204" pitchFamily="34" charset="-122"/>
                <a:ea typeface="微软雅黑" panose="020B0503020204020204" pitchFamily="34" charset="-122"/>
                <a:sym typeface="+mn-ea"/>
              </a:endParaRPr>
            </a:p>
            <a:p>
              <a:r>
                <a:rPr lang="zh-CN" altLang="en-US" sz="2800" b="1" dirty="0">
                  <a:solidFill>
                    <a:schemeClr val="accent2"/>
                  </a:solidFill>
                  <a:latin typeface="微软雅黑" panose="020B0503020204020204" pitchFamily="34" charset="-122"/>
                  <a:ea typeface="微软雅黑" panose="020B0503020204020204" pitchFamily="34" charset="-122"/>
                  <a:sym typeface="+mn-ea"/>
                </a:rPr>
                <a:t>景</a:t>
              </a:r>
              <a:endParaRPr lang="zh-CN" altLang="en-US" sz="2800" b="1" dirty="0">
                <a:solidFill>
                  <a:schemeClr val="accent2"/>
                </a:solidFill>
                <a:latin typeface="微软雅黑" panose="020B0503020204020204" pitchFamily="34" charset="-122"/>
                <a:ea typeface="微软雅黑" panose="020B0503020204020204" pitchFamily="34" charset="-122"/>
                <a:sym typeface="+mn-ea"/>
              </a:endParaRPr>
            </a:p>
          </p:txBody>
        </p:sp>
        <p:sp>
          <p:nvSpPr>
            <p:cNvPr id="87" name="圆角矩形 13"/>
            <p:cNvSpPr/>
            <p:nvPr/>
          </p:nvSpPr>
          <p:spPr bwMode="auto">
            <a:xfrm>
              <a:off x="4607486" y="3875675"/>
              <a:ext cx="4220963" cy="1952247"/>
            </a:xfrm>
            <a:prstGeom prst="roundRect">
              <a:avLst>
                <a:gd name="adj" fmla="val 0"/>
              </a:avLst>
            </a:prstGeom>
            <a:solidFill>
              <a:schemeClr val="accent6">
                <a:lumMod val="20000"/>
                <a:lumOff val="80000"/>
              </a:schemeClr>
            </a:solidFill>
            <a:ln w="12700" cap="flat" cmpd="sng" algn="ctr">
              <a:solidFill>
                <a:srgbClr val="A5A5A5"/>
              </a:solidFill>
              <a:prstDash val="solid"/>
              <a:miter lim="800000"/>
            </a:ln>
            <a:effectLst>
              <a:outerShdw blurRad="50800" dist="38100" dir="2700000" algn="tl" rotWithShape="0">
                <a:prstClr val="black">
                  <a:alpha val="40000"/>
                </a:prstClr>
              </a:outerShdw>
            </a:effectLst>
          </p:spPr>
          <p:txBody>
            <a:bodyPr tIns="182880" anchor="ctr"/>
            <a:p>
              <a:pPr marL="285750" indent="-285750">
                <a:spcBef>
                  <a:spcPts val="600"/>
                </a:spcBef>
                <a:spcAft>
                  <a:spcPts val="600"/>
                </a:spcAft>
                <a:buFontTx/>
                <a:buChar char="•"/>
                <a:defRPr/>
              </a:pPr>
              <a:endParaRPr lang="zh-CN" altLang="en-US" sz="2200" b="1">
                <a:solidFill>
                  <a:srgbClr val="C00000"/>
                </a:solidFill>
                <a:latin typeface="Arial" panose="020B0604020202020204" pitchFamily="34" charset="0"/>
              </a:endParaRPr>
            </a:p>
          </p:txBody>
        </p:sp>
        <p:sp>
          <p:nvSpPr>
            <p:cNvPr id="88" name="矩形 87"/>
            <p:cNvSpPr/>
            <p:nvPr/>
          </p:nvSpPr>
          <p:spPr bwMode="auto">
            <a:xfrm>
              <a:off x="5323263" y="3921361"/>
              <a:ext cx="3361613" cy="1813612"/>
            </a:xfrm>
            <a:prstGeom prst="rect">
              <a:avLst/>
            </a:prstGeom>
          </p:spPr>
          <p:txBody>
            <a:bodyPr wrap="square">
              <a:spAutoFit/>
            </a:bodyPr>
            <a:p>
              <a:pPr indent="457200" fontAlgn="auto">
                <a:lnSpc>
                  <a:spcPct val="150000"/>
                </a:lnSpc>
                <a:spcBef>
                  <a:spcPts val="0"/>
                </a:spcBef>
                <a:spcAft>
                  <a:spcPts val="0"/>
                </a:spcAft>
                <a:buClr>
                  <a:prstClr val="black"/>
                </a:buClr>
                <a:buFont typeface="Wingdings" panose="05000000000000000000" pitchFamily="2" charset="2"/>
                <a:buNone/>
                <a:tabLst>
                  <a:tab pos="1612900" algn="l"/>
                  <a:tab pos="2159000" algn="l"/>
                </a:tabLst>
                <a:defRPr/>
              </a:pPr>
              <a:r>
                <a:rPr lang="zh-CN" altLang="en-US" b="1" dirty="0">
                  <a:solidFill>
                    <a:schemeClr val="tx1"/>
                  </a:solidFill>
                  <a:latin typeface="微软雅黑" panose="020B0503020204020204" pitchFamily="34" charset="-122"/>
                  <a:ea typeface="微软雅黑" panose="020B0503020204020204" pitchFamily="34" charset="-122"/>
                  <a:sym typeface="+mn-ea"/>
                </a:rPr>
                <a:t>研究负荷及电价预测理论和技术，实现负荷和电价的精准预测，</a:t>
              </a:r>
              <a:r>
                <a:rPr lang="zh-CN" altLang="en-US" b="1" dirty="0">
                  <a:latin typeface="微软雅黑" panose="020B0503020204020204" pitchFamily="34" charset="-122"/>
                  <a:ea typeface="微软雅黑" panose="020B0503020204020204" pitchFamily="34" charset="-122"/>
                  <a:sym typeface="+mn-ea"/>
                </a:rPr>
                <a:t>对</a:t>
              </a:r>
              <a:r>
                <a:rPr lang="zh-CN" altLang="en-US" b="1" dirty="0">
                  <a:solidFill>
                    <a:srgbClr val="FF0000"/>
                  </a:solidFill>
                  <a:latin typeface="微软雅黑" panose="020B0503020204020204" pitchFamily="34" charset="-122"/>
                  <a:ea typeface="微软雅黑" panose="020B0503020204020204" pitchFamily="34" charset="-122"/>
                  <a:sym typeface="+mn-ea"/>
                </a:rPr>
                <a:t>新型电力系统调度运行、</a:t>
              </a:r>
              <a:r>
                <a:rPr lang="zh-CN" altLang="en-US" b="1" dirty="0">
                  <a:solidFill>
                    <a:srgbClr val="FF0000"/>
                  </a:solidFill>
                  <a:latin typeface="微软雅黑" panose="020B0503020204020204" pitchFamily="34" charset="-122"/>
                  <a:ea typeface="微软雅黑" panose="020B0503020204020204" pitchFamily="34" charset="-122"/>
                  <a:sym typeface="+mn-ea"/>
                </a:rPr>
                <a:t>电网规划和国内电力市场建设</a:t>
              </a:r>
              <a:r>
                <a:rPr lang="zh-CN" altLang="en-US" b="1" dirty="0">
                  <a:latin typeface="微软雅黑" panose="020B0503020204020204" pitchFamily="34" charset="-122"/>
                  <a:ea typeface="微软雅黑" panose="020B0503020204020204" pitchFamily="34" charset="-122"/>
                  <a:sym typeface="+mn-ea"/>
                </a:rPr>
                <a:t>具有重大意义。此外，负荷及电价预测理论</a:t>
              </a:r>
              <a:r>
                <a:rPr lang="zh-CN" altLang="en-US" b="1" dirty="0">
                  <a:latin typeface="微软雅黑" panose="020B0503020204020204" pitchFamily="34" charset="-122"/>
                  <a:ea typeface="微软雅黑" panose="020B0503020204020204" pitchFamily="34" charset="-122"/>
                  <a:sym typeface="+mn-ea"/>
                </a:rPr>
                <a:t>和技术的发展，也是</a:t>
              </a:r>
              <a:r>
                <a:rPr lang="zh-CN" altLang="en-US" b="1" dirty="0">
                  <a:solidFill>
                    <a:srgbClr val="FF0000"/>
                  </a:solidFill>
                  <a:latin typeface="微软雅黑" panose="020B0503020204020204" pitchFamily="34" charset="-122"/>
                  <a:ea typeface="微软雅黑" panose="020B0503020204020204" pitchFamily="34" charset="-122"/>
                  <a:sym typeface="+mn-ea"/>
                </a:rPr>
                <a:t>提高新型电力系统灵活调节能力、需求侧负荷控制</a:t>
              </a:r>
              <a:r>
                <a:rPr lang="zh-CN" altLang="en-US" b="1" dirty="0">
                  <a:latin typeface="微软雅黑" panose="020B0503020204020204" pitchFamily="34" charset="-122"/>
                  <a:ea typeface="微软雅黑" panose="020B0503020204020204" pitchFamily="34" charset="-122"/>
                  <a:sym typeface="+mn-ea"/>
                </a:rPr>
                <a:t>的</a:t>
              </a:r>
              <a:r>
                <a:rPr lang="zh-CN" altLang="en-US" b="1" dirty="0">
                  <a:latin typeface="微软雅黑" panose="020B0503020204020204" pitchFamily="34" charset="-122"/>
                  <a:ea typeface="微软雅黑" panose="020B0503020204020204" pitchFamily="34" charset="-122"/>
                  <a:sym typeface="+mn-ea"/>
                </a:rPr>
                <a:t>关键。</a:t>
              </a:r>
              <a:endParaRPr lang="en-US" altLang="zh-CN" b="1" kern="0" dirty="0">
                <a:solidFill>
                  <a:prstClr val="black"/>
                </a:solidFill>
                <a:latin typeface="微软雅黑" panose="020B0503020204020204" pitchFamily="34" charset="-122"/>
                <a:ea typeface="微软雅黑" panose="020B0503020204020204" pitchFamily="34" charset="-122"/>
              </a:endParaRPr>
            </a:p>
          </p:txBody>
        </p:sp>
        <p:sp>
          <p:nvSpPr>
            <p:cNvPr id="89" name="矩形 88"/>
            <p:cNvSpPr/>
            <p:nvPr/>
          </p:nvSpPr>
          <p:spPr>
            <a:xfrm>
              <a:off x="4632067" y="4327838"/>
              <a:ext cx="478490" cy="836550"/>
            </a:xfrm>
            <a:prstGeom prst="rect">
              <a:avLst/>
            </a:prstGeom>
          </p:spPr>
          <p:txBody>
            <a:bodyPr wrap="square">
              <a:spAutoFit/>
            </a:bodyPr>
            <a:p>
              <a:r>
                <a:rPr lang="zh-CN" altLang="en-US" sz="2800" b="1" dirty="0">
                  <a:solidFill>
                    <a:schemeClr val="accent1"/>
                  </a:solidFill>
                  <a:latin typeface="微软雅黑" panose="020B0503020204020204" pitchFamily="34" charset="-122"/>
                  <a:ea typeface="微软雅黑" panose="020B0503020204020204" pitchFamily="34" charset="-122"/>
                  <a:sym typeface="+mn-ea"/>
                </a:rPr>
                <a:t>意 </a:t>
              </a:r>
              <a:endParaRPr lang="zh-CN" altLang="en-US" sz="2800" b="1" dirty="0">
                <a:solidFill>
                  <a:schemeClr val="accent1"/>
                </a:solidFill>
                <a:latin typeface="微软雅黑" panose="020B0503020204020204" pitchFamily="34" charset="-122"/>
                <a:ea typeface="微软雅黑" panose="020B0503020204020204" pitchFamily="34" charset="-122"/>
                <a:sym typeface="+mn-ea"/>
              </a:endParaRPr>
            </a:p>
            <a:p>
              <a:endParaRPr lang="zh-CN" altLang="en-US" sz="2800" b="1" dirty="0">
                <a:solidFill>
                  <a:schemeClr val="accent1"/>
                </a:solidFill>
                <a:latin typeface="微软雅黑" panose="020B0503020204020204" pitchFamily="34" charset="-122"/>
                <a:ea typeface="微软雅黑" panose="020B0503020204020204" pitchFamily="34" charset="-122"/>
                <a:sym typeface="+mn-ea"/>
              </a:endParaRPr>
            </a:p>
            <a:p>
              <a:r>
                <a:rPr lang="zh-CN" altLang="en-US" sz="2800" b="1" dirty="0">
                  <a:solidFill>
                    <a:schemeClr val="accent1"/>
                  </a:solidFill>
                  <a:latin typeface="微软雅黑" panose="020B0503020204020204" pitchFamily="34" charset="-122"/>
                  <a:ea typeface="微软雅黑" panose="020B0503020204020204" pitchFamily="34" charset="-122"/>
                  <a:sym typeface="+mn-ea"/>
                </a:rPr>
                <a:t>义</a:t>
              </a:r>
              <a:endParaRPr lang="zh-CN" altLang="en-US" sz="2800" dirty="0">
                <a:solidFill>
                  <a:srgbClr val="C00000"/>
                </a:solidFill>
              </a:endParaRPr>
            </a:p>
          </p:txBody>
        </p:sp>
      </p:grpSp>
      <p:grpSp>
        <p:nvGrpSpPr>
          <p:cNvPr id="17" name="组合 16"/>
          <p:cNvGrpSpPr/>
          <p:nvPr/>
        </p:nvGrpSpPr>
        <p:grpSpPr>
          <a:xfrm rot="16200000">
            <a:off x="685202" y="4509539"/>
            <a:ext cx="1657350" cy="78394"/>
            <a:chOff x="2665767" y="3116349"/>
            <a:chExt cx="1657350" cy="78394"/>
          </a:xfrm>
        </p:grpSpPr>
        <p:cxnSp>
          <p:nvCxnSpPr>
            <p:cNvPr id="18" name="直接连接符 17"/>
            <p:cNvCxnSpPr/>
            <p:nvPr/>
          </p:nvCxnSpPr>
          <p:spPr>
            <a:xfrm>
              <a:off x="2665767" y="3121111"/>
              <a:ext cx="1657350" cy="0"/>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19" name="等腰三角形 18"/>
            <p:cNvSpPr/>
            <p:nvPr/>
          </p:nvSpPr>
          <p:spPr>
            <a:xfrm flipV="1">
              <a:off x="3448974" y="3116349"/>
              <a:ext cx="90936" cy="7839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rot="16200000">
            <a:off x="5948644" y="4508904"/>
            <a:ext cx="1657350" cy="78394"/>
            <a:chOff x="7868885" y="3116349"/>
            <a:chExt cx="1657350" cy="78394"/>
          </a:xfrm>
        </p:grpSpPr>
        <p:cxnSp>
          <p:nvCxnSpPr>
            <p:cNvPr id="13" name="直接连接符 12"/>
            <p:cNvCxnSpPr/>
            <p:nvPr/>
          </p:nvCxnSpPr>
          <p:spPr>
            <a:xfrm>
              <a:off x="7868885" y="3121111"/>
              <a:ext cx="165735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4" name="等腰三角形 13"/>
            <p:cNvSpPr/>
            <p:nvPr/>
          </p:nvSpPr>
          <p:spPr>
            <a:xfrm flipV="1">
              <a:off x="8652092" y="3116349"/>
              <a:ext cx="90936" cy="7839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矩形: 圆角 93"/>
          <p:cNvSpPr/>
          <p:nvPr/>
        </p:nvSpPr>
        <p:spPr>
          <a:xfrm>
            <a:off x="412750" y="901700"/>
            <a:ext cx="4845050"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rPr>
              <a:t>课题研究</a:t>
            </a:r>
            <a:r>
              <a:rPr lang="zh-CN" altLang="en-US" sz="2400" dirty="0" smtClean="0">
                <a:solidFill>
                  <a:schemeClr val="accent1"/>
                </a:solidFill>
                <a:latin typeface="微软雅黑" panose="020B0503020204020204" pitchFamily="34" charset="-122"/>
                <a:ea typeface="微软雅黑" panose="020B0503020204020204" pitchFamily="34" charset="-122"/>
              </a:rPr>
              <a:t>背景和意义</a:t>
            </a:r>
            <a:r>
              <a:rPr lang="zh-CN" altLang="en-US" sz="2400" dirty="0" smtClean="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2"/>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pic>
        <p:nvPicPr>
          <p:cNvPr id="100" name="图片 99"/>
          <p:cNvPicPr/>
          <p:nvPr/>
        </p:nvPicPr>
        <p:blipFill>
          <a:blip r:embed="rId3"/>
          <a:stretch>
            <a:fillRect/>
          </a:stretch>
        </p:blipFill>
        <p:spPr>
          <a:xfrm>
            <a:off x="737870" y="1445260"/>
            <a:ext cx="2699385" cy="1581785"/>
          </a:xfrm>
          <a:prstGeom prst="rect">
            <a:avLst/>
          </a:prstGeom>
          <a:noFill/>
          <a:ln w="9525">
            <a:noFill/>
          </a:ln>
        </p:spPr>
      </p:pic>
      <p:pic>
        <p:nvPicPr>
          <p:cNvPr id="101" name="图片 100"/>
          <p:cNvPicPr/>
          <p:nvPr/>
        </p:nvPicPr>
        <p:blipFill>
          <a:blip r:embed="rId4"/>
          <a:stretch>
            <a:fillRect/>
          </a:stretch>
        </p:blipFill>
        <p:spPr>
          <a:xfrm>
            <a:off x="6177280" y="1453515"/>
            <a:ext cx="2660650" cy="1581150"/>
          </a:xfrm>
          <a:prstGeom prst="rect">
            <a:avLst/>
          </a:prstGeom>
          <a:noFill/>
          <a:ln w="9525">
            <a:noFill/>
          </a:ln>
        </p:spPr>
      </p:pic>
      <p:pic>
        <p:nvPicPr>
          <p:cNvPr id="10" name="图片 9"/>
          <p:cNvPicPr>
            <a:picLocks noChangeAspect="1"/>
          </p:cNvPicPr>
          <p:nvPr/>
        </p:nvPicPr>
        <p:blipFill>
          <a:blip r:embed="rId5"/>
          <a:stretch>
            <a:fillRect/>
          </a:stretch>
        </p:blipFill>
        <p:spPr>
          <a:xfrm>
            <a:off x="8837930" y="1424305"/>
            <a:ext cx="2661285" cy="1591310"/>
          </a:xfrm>
          <a:prstGeom prst="rect">
            <a:avLst/>
          </a:prstGeom>
        </p:spPr>
      </p:pic>
    </p:spTree>
  </p:cSld>
  <p:clrMapOvr>
    <a:masterClrMapping/>
  </p:clrMapOvr>
  <p:transition>
    <p:wedg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lstStyle/>
          <a:p>
            <a:r>
              <a:rPr lang="zh-CN" altLang="en-US" dirty="0" smtClean="0">
                <a:sym typeface="+mn-ea"/>
              </a:rPr>
              <a:t>课题研究背景和意义</a:t>
            </a:r>
            <a:endParaRPr lang="zh-CN" altLang="en-US" dirty="0"/>
          </a:p>
        </p:txBody>
      </p:sp>
      <p:sp>
        <p:nvSpPr>
          <p:cNvPr id="3" name="灯片编号占位符 2"/>
          <p:cNvSpPr>
            <a:spLocks noGrp="1"/>
          </p:cNvSpPr>
          <p:nvPr>
            <p:ph type="sldNum" sz="quarter" idx="12"/>
          </p:nvPr>
        </p:nvSpPr>
        <p:spPr>
          <a:xfrm>
            <a:off x="11271286" y="6466725"/>
            <a:ext cx="472440" cy="365125"/>
          </a:xfrm>
        </p:spPr>
        <p:txBody>
          <a:bodyPr/>
          <a:lstStyle/>
          <a:p>
            <a:r>
              <a:rPr lang="en-US" altLang="zh-CN" dirty="0"/>
              <a:t>3</a:t>
            </a:r>
            <a:endParaRPr lang="en-US" altLang="zh-CN" dirty="0"/>
          </a:p>
        </p:txBody>
      </p:sp>
      <p:sp>
        <p:nvSpPr>
          <p:cNvPr id="94" name="矩形: 圆角 93"/>
          <p:cNvSpPr/>
          <p:nvPr/>
        </p:nvSpPr>
        <p:spPr>
          <a:xfrm>
            <a:off x="412750" y="972820"/>
            <a:ext cx="734123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课题研究背景和意义</a:t>
            </a:r>
            <a:r>
              <a:rPr lang="zh-CN" altLang="en-US" sz="2400" dirty="0" smtClean="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电动汽车充电负荷预测</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412750" y="1607185"/>
            <a:ext cx="11330940" cy="2212975"/>
          </a:xfrm>
          <a:prstGeom prst="roundRect">
            <a:avLst>
              <a:gd name="adj" fmla="val 4953"/>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71755" indent="457200" algn="l" fontAlgn="auto">
              <a:lnSpc>
                <a:spcPct val="130000"/>
              </a:lnSpc>
            </a:pP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近年来，随着</a:t>
            </a:r>
            <a:r>
              <a:rPr lang="en-US" alt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双碳战略</a:t>
            </a:r>
            <a:r>
              <a:rPr lang="en-US" alt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的提出，</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电动汽车技术的不断发展，越来越多的人们考虑购买电动汽车。由于电动汽车相比于燃油汽车更加低碳环保，因此得到了大力推广，国内电动汽车保有量快速增加。但充电站及充电桩的铺设远跟不上电动汽车增长速度，导致电动汽车充电难，出现了排队充电的问题，严重影响了用户体验和电动汽车的推广。根据目前情况看，电动汽车充电难的主要原因是充电站或充电桩的规划不合理、不精细，这是由于对需求侧预测不准造成的，即电动汽车充电负荷预测不准确造成的。所以，</a:t>
            </a:r>
            <a:r>
              <a:rPr lang="zh-CN" sz="16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电动汽车充电负荷预测是电动汽车能否被广泛推广、能否助力</a:t>
            </a:r>
            <a:r>
              <a:rPr lang="en-US" altLang="zh-CN" sz="16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双谈战略</a:t>
            </a:r>
            <a:r>
              <a:rPr lang="en-US" altLang="zh-CN" sz="16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的重要支撑。</a:t>
            </a:r>
            <a:r>
              <a:rPr lang="zh-CN" altLang="en-US"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因此，研究电动汽车充电负荷预测十分重要</a:t>
            </a:r>
            <a:r>
              <a:rPr lang="zh-CN" altLang="en-US"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00" name="图片 99"/>
          <p:cNvPicPr/>
          <p:nvPr/>
        </p:nvPicPr>
        <p:blipFill>
          <a:blip r:embed="rId2"/>
          <a:stretch>
            <a:fillRect/>
          </a:stretch>
        </p:blipFill>
        <p:spPr>
          <a:xfrm>
            <a:off x="406400" y="3996690"/>
            <a:ext cx="3538220" cy="2292985"/>
          </a:xfrm>
          <a:prstGeom prst="rect">
            <a:avLst/>
          </a:prstGeom>
          <a:noFill/>
          <a:ln w="9525">
            <a:noFill/>
          </a:ln>
        </p:spPr>
      </p:pic>
      <p:pic>
        <p:nvPicPr>
          <p:cNvPr id="101" name="图片 100"/>
          <p:cNvPicPr/>
          <p:nvPr/>
        </p:nvPicPr>
        <p:blipFill>
          <a:blip r:embed="rId3"/>
          <a:stretch>
            <a:fillRect/>
          </a:stretch>
        </p:blipFill>
        <p:spPr>
          <a:xfrm>
            <a:off x="4235450" y="3996690"/>
            <a:ext cx="3605530" cy="2292350"/>
          </a:xfrm>
          <a:prstGeom prst="rect">
            <a:avLst/>
          </a:prstGeom>
          <a:noFill/>
          <a:ln w="9525">
            <a:noFill/>
          </a:ln>
        </p:spPr>
      </p:pic>
      <p:pic>
        <p:nvPicPr>
          <p:cNvPr id="102" name="图片 101"/>
          <p:cNvPicPr/>
          <p:nvPr/>
        </p:nvPicPr>
        <p:blipFill>
          <a:blip r:embed="rId4"/>
          <a:stretch>
            <a:fillRect/>
          </a:stretch>
        </p:blipFill>
        <p:spPr>
          <a:xfrm>
            <a:off x="8131175" y="3997325"/>
            <a:ext cx="3606165" cy="2292350"/>
          </a:xfrm>
          <a:prstGeom prst="rect">
            <a:avLst/>
          </a:prstGeom>
          <a:noFill/>
          <a:ln w="9525">
            <a:noFill/>
          </a:ln>
        </p:spPr>
      </p:pic>
    </p:spTree>
  </p:cSld>
  <p:clrMapOvr>
    <a:masterClrMapping/>
  </p:clrMapOvr>
  <p:transition>
    <p:dissolv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lstStyle/>
          <a:p>
            <a:r>
              <a:rPr lang="zh-CN" altLang="en-US" dirty="0" smtClean="0">
                <a:sym typeface="+mn-ea"/>
              </a:rPr>
              <a:t>课题研究背景和意义</a:t>
            </a:r>
            <a:endParaRPr lang="zh-CN" altLang="en-US" dirty="0"/>
          </a:p>
        </p:txBody>
      </p:sp>
      <p:sp>
        <p:nvSpPr>
          <p:cNvPr id="3" name="灯片编号占位符 2"/>
          <p:cNvSpPr>
            <a:spLocks noGrp="1"/>
          </p:cNvSpPr>
          <p:nvPr>
            <p:ph type="sldNum" sz="quarter" idx="12"/>
          </p:nvPr>
        </p:nvSpPr>
        <p:spPr>
          <a:xfrm>
            <a:off x="11271286" y="6466725"/>
            <a:ext cx="472440" cy="365125"/>
          </a:xfrm>
        </p:spPr>
        <p:txBody>
          <a:bodyPr/>
          <a:lstStyle/>
          <a:p>
            <a:r>
              <a:rPr lang="en-US" altLang="zh-CN" dirty="0"/>
              <a:t>4</a:t>
            </a:r>
            <a:endParaRPr lang="en-US" altLang="zh-CN" dirty="0"/>
          </a:p>
        </p:txBody>
      </p:sp>
      <p:sp>
        <p:nvSpPr>
          <p:cNvPr id="94" name="矩形: 圆角 93"/>
          <p:cNvSpPr/>
          <p:nvPr/>
        </p:nvSpPr>
        <p:spPr>
          <a:xfrm>
            <a:off x="412750" y="972820"/>
            <a:ext cx="8656320"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课题研究背景和意义</a:t>
            </a:r>
            <a:r>
              <a:rPr lang="zh-CN" altLang="en-US" sz="2400" dirty="0" smtClean="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dirty="0">
                <a:solidFill>
                  <a:srgbClr val="FABC00"/>
                </a:solidFill>
                <a:latin typeface="微软雅黑" panose="020B0503020204020204" pitchFamily="34" charset="-122"/>
                <a:ea typeface="微软雅黑" panose="020B0503020204020204" pitchFamily="34" charset="-122"/>
              </a:rPr>
              <a:t>用户用电空间负荷预测</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412750" y="1516380"/>
            <a:ext cx="11408410" cy="2660650"/>
          </a:xfrm>
          <a:prstGeom prst="roundRect">
            <a:avLst>
              <a:gd name="adj" fmla="val 4953"/>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71755" indent="457200" algn="l" fontAlgn="auto">
              <a:lnSpc>
                <a:spcPct val="130000"/>
              </a:lnSpc>
            </a:pP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随着配电网的管理由粗放型向精益化的转变，配电网负荷预测也从传统负荷预测转变为空间负荷预测。</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空间负荷预测是对区域内电力负荷进行时空预测，中长期空间负荷预测主要是为配电网精细化规划、电力设备配置等提供科学的指导，超短期、短期空间负荷预测主要是为电力调度计划、电力市场现货交易等提供重要的参考，</a:t>
            </a: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相比于传统负荷预测，空间负荷预测不仅精度更高，还能够提供更多有用的信息，在电力系统、电力市场中更具优势，并逐渐取代传统负荷预测的地位</a:t>
            </a:r>
            <a:r>
              <a:rPr lang="zh-CN" sz="16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由于电能不能大量储存，电力系统运行时必须随时保持供需平衡，需要对空间负荷进行准确的预测，向各类用户提供可靠的电能。当空间负荷预测不准确时，会出现电能不足或电能过剩的情况，当电能不足时，就会出现拉闸限电，严重的影响</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了居民生活，工业生产等。</a:t>
            </a:r>
            <a:r>
              <a:rPr lang="zh-CN" sz="16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因此对空间负荷进行准确的预测，是保证电力系统安全、稳定、经济运行的必要条件。此外，空间负荷预测也是支撑电力现货市场正常运行的关键之一。</a:t>
            </a:r>
            <a:endParaRPr lang="zh-CN" sz="16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03" name="图片 102"/>
          <p:cNvPicPr/>
          <p:nvPr>
            <p:custDataLst>
              <p:tags r:id="rId2"/>
            </p:custDataLst>
          </p:nvPr>
        </p:nvPicPr>
        <p:blipFill>
          <a:blip r:embed="rId3"/>
          <a:stretch>
            <a:fillRect/>
          </a:stretch>
        </p:blipFill>
        <p:spPr>
          <a:xfrm>
            <a:off x="471805" y="4325620"/>
            <a:ext cx="3467735" cy="2141220"/>
          </a:xfrm>
          <a:prstGeom prst="rect">
            <a:avLst/>
          </a:prstGeom>
          <a:noFill/>
          <a:ln w="9525">
            <a:noFill/>
          </a:ln>
        </p:spPr>
      </p:pic>
      <p:pic>
        <p:nvPicPr>
          <p:cNvPr id="104" name="图片 103"/>
          <p:cNvPicPr/>
          <p:nvPr>
            <p:custDataLst>
              <p:tags r:id="rId4"/>
            </p:custDataLst>
          </p:nvPr>
        </p:nvPicPr>
        <p:blipFill>
          <a:blip r:embed="rId5"/>
          <a:stretch>
            <a:fillRect/>
          </a:stretch>
        </p:blipFill>
        <p:spPr>
          <a:xfrm>
            <a:off x="4409440" y="4325620"/>
            <a:ext cx="3468370" cy="2141220"/>
          </a:xfrm>
          <a:prstGeom prst="rect">
            <a:avLst/>
          </a:prstGeom>
          <a:noFill/>
          <a:ln w="9525">
            <a:noFill/>
          </a:ln>
        </p:spPr>
      </p:pic>
      <p:pic>
        <p:nvPicPr>
          <p:cNvPr id="108" name="图片 107"/>
          <p:cNvPicPr/>
          <p:nvPr/>
        </p:nvPicPr>
        <p:blipFill>
          <a:blip r:embed="rId6"/>
          <a:stretch>
            <a:fillRect/>
          </a:stretch>
        </p:blipFill>
        <p:spPr>
          <a:xfrm>
            <a:off x="8227695" y="4272915"/>
            <a:ext cx="3611245" cy="2193925"/>
          </a:xfrm>
          <a:prstGeom prst="rect">
            <a:avLst/>
          </a:prstGeom>
          <a:noFill/>
          <a:ln w="9525">
            <a:noFill/>
          </a:ln>
        </p:spPr>
      </p:pic>
    </p:spTree>
  </p:cSld>
  <p:clrMapOvr>
    <a:masterClrMapping/>
  </p:clrMapOvr>
  <p:transition>
    <p:dissolv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lstStyle/>
          <a:p>
            <a:r>
              <a:rPr lang="zh-CN" altLang="en-US" dirty="0" smtClean="0">
                <a:sym typeface="+mn-ea"/>
              </a:rPr>
              <a:t>课题研究背景和意义</a:t>
            </a:r>
            <a:endParaRPr lang="zh-CN" altLang="en-US" dirty="0"/>
          </a:p>
        </p:txBody>
      </p:sp>
      <p:sp>
        <p:nvSpPr>
          <p:cNvPr id="3" name="灯片编号占位符 2"/>
          <p:cNvSpPr>
            <a:spLocks noGrp="1"/>
          </p:cNvSpPr>
          <p:nvPr>
            <p:ph type="sldNum" sz="quarter" idx="12"/>
          </p:nvPr>
        </p:nvSpPr>
        <p:spPr>
          <a:xfrm>
            <a:off x="11271286" y="6466725"/>
            <a:ext cx="472440" cy="365125"/>
          </a:xfrm>
        </p:spPr>
        <p:txBody>
          <a:bodyPr/>
          <a:lstStyle/>
          <a:p>
            <a:r>
              <a:rPr lang="en-US" altLang="zh-CN" dirty="0"/>
              <a:t>5</a:t>
            </a:r>
            <a:endParaRPr lang="en-US" altLang="zh-CN" dirty="0"/>
          </a:p>
        </p:txBody>
      </p:sp>
      <p:sp>
        <p:nvSpPr>
          <p:cNvPr id="94" name="矩形: 圆角 93"/>
          <p:cNvSpPr/>
          <p:nvPr/>
        </p:nvSpPr>
        <p:spPr>
          <a:xfrm>
            <a:off x="412750" y="972820"/>
            <a:ext cx="8282940"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课题研究背景和意义</a:t>
            </a:r>
            <a:r>
              <a:rPr lang="zh-CN" altLang="en-US" sz="2400" dirty="0" smtClean="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dirty="0">
                <a:solidFill>
                  <a:srgbClr val="FABC00"/>
                </a:solidFill>
                <a:latin typeface="微软雅黑" panose="020B0503020204020204" pitchFamily="34" charset="-122"/>
                <a:ea typeface="微软雅黑" panose="020B0503020204020204" pitchFamily="34" charset="-122"/>
              </a:rPr>
              <a:t>综合能源系统多元负荷预测</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753745" y="1720215"/>
            <a:ext cx="5920105" cy="4558030"/>
          </a:xfrm>
          <a:prstGeom prst="roundRect">
            <a:avLst>
              <a:gd name="adj" fmla="val 4953"/>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71755" indent="457200" algn="l" fontAlgn="auto">
              <a:lnSpc>
                <a:spcPct val="130000"/>
              </a:lnSpc>
            </a:pPr>
            <a:r>
              <a:rPr lang="zh-CN" altLang="zh-CN"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rPr>
              <a:t>综合能源系统</a:t>
            </a:r>
            <a:r>
              <a:rPr lang="en-US" altLang="zh-CN"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rPr>
              <a:t>(IES)</a:t>
            </a:r>
            <a:r>
              <a:rPr lang="zh-CN" altLang="zh-CN"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rPr>
              <a:t>作为新一代能源系统的重要组成部分，是以电力系统为核心，通过将其内部多种不同形式的能源、能量转换设备、以及储能装置在系统中统一化集成，从而实现各种能源系统之间的协调规划、优化运行、协同管理、交互响应与互补互济。</a:t>
            </a:r>
            <a:endParaRPr lang="zh-CN" altLang="zh-CN"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endParaRPr>
          </a:p>
          <a:p>
            <a:pPr marL="71755" indent="457200" algn="l" fontAlgn="auto">
              <a:lnSpc>
                <a:spcPct val="130000"/>
              </a:lnSpc>
            </a:pPr>
            <a:r>
              <a:rPr lang="en-US" altLang="zh-CN"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rPr>
              <a:t>IES</a:t>
            </a:r>
            <a:r>
              <a:rPr lang="zh-CN" altLang="en-US"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rPr>
              <a:t>多元</a:t>
            </a:r>
            <a:r>
              <a:rPr lang="zh-CN" altLang="zh-CN"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rPr>
              <a:t>负荷预测作为各种能源系统之间协调规划、优化运行、协同管理和能源相互转换的基本前提，其预测</a:t>
            </a:r>
            <a:r>
              <a:rPr lang="en-US" altLang="zh-CN"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rPr>
              <a:t>已不再局限于单一负荷，必须统筹兼顾多个能源系统，</a:t>
            </a:r>
            <a:r>
              <a:rPr lang="en-US" altLang="zh-CN" sz="1600" b="1" spc="100">
                <a:solidFill>
                  <a:srgbClr val="FF0000"/>
                </a:solidFill>
                <a:uFillTx/>
                <a:latin typeface="Times New Roman" panose="02020603050405020304" charset="0"/>
                <a:ea typeface="微软雅黑" panose="020B0503020204020204" pitchFamily="34" charset="-122"/>
                <a:cs typeface="Times New Roman" panose="02020603050405020304" charset="0"/>
                <a:sym typeface="+mn-ea"/>
              </a:rPr>
              <a:t>这对IES多元负荷预测准确性、实时性及可靠性提出了更高要求</a:t>
            </a:r>
            <a:r>
              <a:rPr lang="zh-CN" altLang="en-US" sz="1600" b="1" spc="100">
                <a:solidFill>
                  <a:srgbClr val="FF0000"/>
                </a:solidFill>
                <a:uFillTx/>
                <a:latin typeface="Times New Roman" panose="02020603050405020304" charset="0"/>
                <a:ea typeface="微软雅黑" panose="020B0503020204020204" pitchFamily="34" charset="-122"/>
                <a:cs typeface="Times New Roman" panose="02020603050405020304" charset="0"/>
                <a:sym typeface="+mn-ea"/>
              </a:rPr>
              <a:t>。</a:t>
            </a:r>
            <a:r>
              <a:rPr lang="en-US" altLang="zh-CN"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rPr>
              <a:t>一方面，依据多元负荷预测结果可以合理配置多种形式的能源，提高能源利用效率及系统运行的</a:t>
            </a:r>
            <a:r>
              <a:rPr lang="zh-CN" altLang="en-US"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rPr>
              <a:t>经</a:t>
            </a:r>
            <a:r>
              <a:rPr lang="en-US" altLang="zh-CN"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rPr>
              <a:t>济性；另一方面，还可以依据</a:t>
            </a:r>
            <a:r>
              <a:rPr lang="zh-CN" altLang="en-US"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rPr>
              <a:t>多元</a:t>
            </a:r>
            <a:r>
              <a:rPr lang="en-US" altLang="zh-CN"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rPr>
              <a:t>负荷预测结果制定需求响应计划，实现能源供需平衡，提高系统运行的可靠性</a:t>
            </a:r>
            <a:r>
              <a:rPr lang="zh-CN" altLang="en-US"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rPr>
              <a:t>。因此，</a:t>
            </a:r>
            <a:r>
              <a:rPr lang="en-US" altLang="zh-CN" sz="1600" b="1" spc="100">
                <a:solidFill>
                  <a:srgbClr val="FF0000"/>
                </a:solidFill>
                <a:uFillTx/>
                <a:latin typeface="Times New Roman" panose="02020603050405020304" charset="0"/>
                <a:ea typeface="微软雅黑" panose="020B0503020204020204" pitchFamily="34" charset="-122"/>
                <a:cs typeface="Times New Roman" panose="02020603050405020304" charset="0"/>
                <a:sym typeface="+mn-ea"/>
              </a:rPr>
              <a:t>综合能源系统</a:t>
            </a:r>
            <a:r>
              <a:rPr lang="zh-CN" altLang="en-US" sz="1600" b="1" spc="100">
                <a:solidFill>
                  <a:srgbClr val="FF0000"/>
                </a:solidFill>
                <a:uFillTx/>
                <a:latin typeface="Times New Roman" panose="02020603050405020304" charset="0"/>
                <a:ea typeface="微软雅黑" panose="020B0503020204020204" pitchFamily="34" charset="-122"/>
                <a:cs typeface="Times New Roman" panose="02020603050405020304" charset="0"/>
                <a:sym typeface="+mn-ea"/>
              </a:rPr>
              <a:t>多元</a:t>
            </a:r>
            <a:r>
              <a:rPr lang="en-US" altLang="zh-CN" sz="1600" b="1" spc="100">
                <a:solidFill>
                  <a:srgbClr val="FF0000"/>
                </a:solidFill>
                <a:uFillTx/>
                <a:latin typeface="Times New Roman" panose="02020603050405020304" charset="0"/>
                <a:ea typeface="微软雅黑" panose="020B0503020204020204" pitchFamily="34" charset="-122"/>
                <a:cs typeface="Times New Roman" panose="02020603050405020304" charset="0"/>
                <a:sym typeface="+mn-ea"/>
              </a:rPr>
              <a:t>负荷预测至关重要。</a:t>
            </a:r>
            <a:endParaRPr lang="en-US" altLang="zh-CN" sz="1600" b="1" spc="100">
              <a:solidFill>
                <a:srgbClr val="FF0000"/>
              </a:solidFill>
              <a:uFillTx/>
              <a:latin typeface="Times New Roman" panose="02020603050405020304" charset="0"/>
              <a:ea typeface="微软雅黑" panose="020B0503020204020204" pitchFamily="34" charset="-122"/>
              <a:cs typeface="Times New Roman" panose="02020603050405020304" charset="0"/>
              <a:sym typeface="+mn-ea"/>
            </a:endParaRPr>
          </a:p>
        </p:txBody>
      </p:sp>
      <p:pic>
        <p:nvPicPr>
          <p:cNvPr id="112" name="图片 111"/>
          <p:cNvPicPr/>
          <p:nvPr/>
        </p:nvPicPr>
        <p:blipFill>
          <a:blip r:embed="rId2"/>
          <a:srcRect t="15229" b="4395"/>
          <a:stretch>
            <a:fillRect/>
          </a:stretch>
        </p:blipFill>
        <p:spPr>
          <a:xfrm>
            <a:off x="7073265" y="1420495"/>
            <a:ext cx="4335145" cy="2442845"/>
          </a:xfrm>
          <a:prstGeom prst="rect">
            <a:avLst/>
          </a:prstGeom>
          <a:noFill/>
          <a:ln w="9525">
            <a:noFill/>
          </a:ln>
        </p:spPr>
      </p:pic>
      <p:pic>
        <p:nvPicPr>
          <p:cNvPr id="100" name="图片 99"/>
          <p:cNvPicPr/>
          <p:nvPr/>
        </p:nvPicPr>
        <p:blipFill>
          <a:blip r:embed="rId3"/>
          <a:stretch>
            <a:fillRect/>
          </a:stretch>
        </p:blipFill>
        <p:spPr>
          <a:xfrm>
            <a:off x="7012940" y="3966845"/>
            <a:ext cx="4395470" cy="2396490"/>
          </a:xfrm>
          <a:prstGeom prst="rect">
            <a:avLst/>
          </a:prstGeom>
          <a:noFill/>
          <a:ln w="9525">
            <a:noFill/>
          </a:ln>
        </p:spPr>
      </p:pic>
    </p:spTree>
  </p:cSld>
  <p:clrMapOvr>
    <a:masterClrMapping/>
  </p:clrMapOvr>
  <p:transition>
    <p:dissolv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lstStyle/>
          <a:p>
            <a:r>
              <a:rPr lang="zh-CN" altLang="en-US" dirty="0" smtClean="0">
                <a:sym typeface="+mn-ea"/>
              </a:rPr>
              <a:t>课题研究背景和意义</a:t>
            </a:r>
            <a:endParaRPr lang="zh-CN" altLang="en-US" dirty="0"/>
          </a:p>
        </p:txBody>
      </p:sp>
      <p:sp>
        <p:nvSpPr>
          <p:cNvPr id="3" name="灯片编号占位符 2"/>
          <p:cNvSpPr>
            <a:spLocks noGrp="1"/>
          </p:cNvSpPr>
          <p:nvPr>
            <p:ph type="sldNum" sz="quarter" idx="12"/>
          </p:nvPr>
        </p:nvSpPr>
        <p:spPr>
          <a:xfrm>
            <a:off x="11271286" y="6466725"/>
            <a:ext cx="472440" cy="365125"/>
          </a:xfrm>
        </p:spPr>
        <p:txBody>
          <a:bodyPr/>
          <a:lstStyle/>
          <a:p>
            <a:r>
              <a:rPr lang="en-US" altLang="zh-CN" dirty="0"/>
              <a:t>6</a:t>
            </a:r>
            <a:endParaRPr lang="en-US" altLang="zh-CN" dirty="0"/>
          </a:p>
        </p:txBody>
      </p:sp>
      <p:sp>
        <p:nvSpPr>
          <p:cNvPr id="94" name="矩形: 圆角 93"/>
          <p:cNvSpPr/>
          <p:nvPr/>
        </p:nvSpPr>
        <p:spPr>
          <a:xfrm>
            <a:off x="412750" y="972820"/>
            <a:ext cx="8282940"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课题研究背景和意义</a:t>
            </a:r>
            <a:r>
              <a:rPr lang="zh-CN" altLang="en-US" sz="2400" dirty="0" smtClean="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dirty="0">
                <a:solidFill>
                  <a:srgbClr val="FABC00"/>
                </a:solidFill>
                <a:latin typeface="微软雅黑" panose="020B0503020204020204" pitchFamily="34" charset="-122"/>
                <a:ea typeface="微软雅黑" panose="020B0503020204020204" pitchFamily="34" charset="-122"/>
              </a:rPr>
              <a:t>电力市场现货电价预测</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580390" y="1516380"/>
            <a:ext cx="8197850" cy="4749800"/>
          </a:xfrm>
          <a:prstGeom prst="roundRect">
            <a:avLst>
              <a:gd name="adj" fmla="val 4953"/>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71755" indent="457200" algn="l" fontAlgn="auto">
              <a:lnSpc>
                <a:spcPct val="120000"/>
              </a:lnSpc>
            </a:pPr>
            <a:r>
              <a:rPr lang="zh-CN" sz="14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在全球低碳化转型的背景下，电力市场在推动电力高效利用、优化电力资源配置等方面具有重要作用，目前已有三十多个国家和地区拥有电力市场，不少发展中国家开始探索和建立电力市场制度，我国也正在大力建设和发展电力市场。</a:t>
            </a:r>
            <a:r>
              <a:rPr lang="zh-CN" sz="14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精准的电价预测对电力市场运行具有重要意义，也为市场参与者的交易策略提供有利的指导。</a:t>
            </a:r>
            <a:endParaRPr lang="zh-CN" sz="14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1755" indent="457200" algn="l" fontAlgn="auto">
              <a:lnSpc>
                <a:spcPct val="120000"/>
              </a:lnSpc>
            </a:pPr>
            <a:r>
              <a:rPr lang="zh-CN" sz="14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从用电方来看，准确的电价预测可使用电方的动态成本控制成为可能，可以根据实际需要制定合理的用电计划，如一些工厂、酒吧、舞厅可将生产用电时间安排在低谷用电时期；一些普通用电户可通过购买能自动控制时间、智能化程度较高的家电来享受低谷用电的实惠，从而降低生活和生产成本，而且同时也能起到削峰填谷的作用。从发电方来看，准确的电价预测有利于其准确把握市场走向，掌握市场先机，从而构造最优的电量、电价投标策略，以期获得最大利润。从电力投资方来看，电价预测有助于其制定正确的投资决策和减少投资风险。从市场的监管者来看，边际电价的预测为促使市场健康、稳定、有序的竞争、发展以及各种电价政策的制定提供了科学依据。国家电力监管委员会通过对边际电价的预测，可以把握电力市场电价的总体发展变化趋势，及时向政府价格部门提出调整电价的建议（如对最高限价、最低限价的调整）。各级地方电力监管机构可以借助边际电价预测监管包括发电、输电、售电在内的所有电力企业的市场竞争行为，防止具有市场操纵力的电力企业垄断或操纵电价，从而维护电力消费者的利益，保证电力市场的正常运行。综上所述，</a:t>
            </a:r>
            <a:r>
              <a:rPr lang="zh-CN" sz="14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随着电力市场化的不断深入，电价预测的重要性将越来越</a:t>
            </a:r>
            <a:r>
              <a:rPr lang="zh-CN" sz="14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重要，预测结果越准确就越能使电力公司等市场参与者在竞争且多变的环境下做出更加明智的商业决策。</a:t>
            </a:r>
            <a:endParaRPr lang="zh-CN" sz="14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09" name="图片 108"/>
          <p:cNvPicPr/>
          <p:nvPr/>
        </p:nvPicPr>
        <p:blipFill>
          <a:blip r:embed="rId2"/>
          <a:stretch>
            <a:fillRect/>
          </a:stretch>
        </p:blipFill>
        <p:spPr>
          <a:xfrm>
            <a:off x="9120505" y="3115310"/>
            <a:ext cx="2623185" cy="1542415"/>
          </a:xfrm>
          <a:prstGeom prst="rect">
            <a:avLst/>
          </a:prstGeom>
          <a:noFill/>
          <a:ln w="9525">
            <a:noFill/>
          </a:ln>
        </p:spPr>
      </p:pic>
      <p:pic>
        <p:nvPicPr>
          <p:cNvPr id="110" name="图片 109"/>
          <p:cNvPicPr/>
          <p:nvPr/>
        </p:nvPicPr>
        <p:blipFill>
          <a:blip r:embed="rId3"/>
          <a:stretch>
            <a:fillRect/>
          </a:stretch>
        </p:blipFill>
        <p:spPr>
          <a:xfrm>
            <a:off x="9121140" y="1449705"/>
            <a:ext cx="2622550" cy="1542415"/>
          </a:xfrm>
          <a:prstGeom prst="rect">
            <a:avLst/>
          </a:prstGeom>
          <a:noFill/>
          <a:ln w="9525">
            <a:noFill/>
          </a:ln>
        </p:spPr>
      </p:pic>
      <p:pic>
        <p:nvPicPr>
          <p:cNvPr id="111" name="图片 110"/>
          <p:cNvPicPr/>
          <p:nvPr/>
        </p:nvPicPr>
        <p:blipFill>
          <a:blip r:embed="rId4"/>
          <a:stretch>
            <a:fillRect/>
          </a:stretch>
        </p:blipFill>
        <p:spPr>
          <a:xfrm>
            <a:off x="9121140" y="4780915"/>
            <a:ext cx="2623185" cy="1542415"/>
          </a:xfrm>
          <a:prstGeom prst="rect">
            <a:avLst/>
          </a:prstGeom>
          <a:noFill/>
          <a:ln w="9525">
            <a:noFill/>
          </a:ln>
        </p:spPr>
      </p:pic>
    </p:spTree>
  </p:cSld>
  <p:clrMapOvr>
    <a:masterClrMapping/>
  </p:clrMapOvr>
  <p:transition>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p:cNvSpPr/>
          <p:nvPr/>
        </p:nvSpPr>
        <p:spPr>
          <a:xfrm>
            <a:off x="1909822" y="2246935"/>
            <a:ext cx="2592730" cy="2592730"/>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文本框 17"/>
          <p:cNvSpPr txBox="1"/>
          <p:nvPr/>
        </p:nvSpPr>
        <p:spPr>
          <a:xfrm>
            <a:off x="2305331" y="3940632"/>
            <a:ext cx="1801712" cy="461665"/>
          </a:xfrm>
          <a:prstGeom prst="rect">
            <a:avLst/>
          </a:prstGeom>
          <a:noFill/>
        </p:spPr>
        <p:txBody>
          <a:bodyPr wrap="none" rtlCol="0">
            <a:spAutoFit/>
          </a:bodyPr>
          <a:lstStyle/>
          <a:p>
            <a:r>
              <a:rPr lang="en-US" altLang="zh-CN" sz="2400" b="1" dirty="0">
                <a:solidFill>
                  <a:srgbClr val="0081E2"/>
                </a:solidFill>
                <a:latin typeface="Arial" panose="020B0604020202020204" pitchFamily="34" charset="0"/>
                <a:ea typeface="微软雅黑" panose="020B0503020204020204" pitchFamily="34" charset="-122"/>
                <a:sym typeface="Arial" panose="020B0604020202020204" pitchFamily="34" charset="0"/>
              </a:rPr>
              <a:t>PART TWO</a:t>
            </a:r>
            <a:endParaRPr lang="en-US" altLang="zh-CN" sz="2400" b="1" dirty="0">
              <a:solidFill>
                <a:srgbClr val="0081E2"/>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文本框 13"/>
          <p:cNvSpPr txBox="1"/>
          <p:nvPr/>
        </p:nvSpPr>
        <p:spPr>
          <a:xfrm>
            <a:off x="5371461" y="3132588"/>
            <a:ext cx="6355080" cy="922020"/>
          </a:xfrm>
          <a:prstGeom prst="rect">
            <a:avLst/>
          </a:prstGeom>
          <a:noFill/>
        </p:spPr>
        <p:txBody>
          <a:bodyPr wrap="none" rtlCol="0">
            <a:spAutoFit/>
          </a:bodyPr>
          <a:lstStyle/>
          <a:p>
            <a:r>
              <a:rPr lang="zh-CN" altLang="en-US" sz="5400" b="1" dirty="0" smtClean="0">
                <a:solidFill>
                  <a:schemeClr val="tx1"/>
                </a:solidFill>
                <a:latin typeface="Arial" panose="020B0604020202020204" pitchFamily="34" charset="0"/>
                <a:ea typeface="微软雅黑" panose="020B0503020204020204" pitchFamily="34" charset="-122"/>
                <a:sym typeface="Arial" panose="020B0604020202020204" pitchFamily="34" charset="0"/>
              </a:rPr>
              <a:t>课题国内外</a:t>
            </a:r>
            <a:r>
              <a:rPr lang="zh-CN" altLang="en-US" sz="5400" b="1" dirty="0" smtClean="0">
                <a:solidFill>
                  <a:schemeClr val="tx1"/>
                </a:solidFill>
                <a:latin typeface="Arial" panose="020B0604020202020204" pitchFamily="34" charset="0"/>
                <a:ea typeface="微软雅黑" panose="020B0503020204020204" pitchFamily="34" charset="-122"/>
                <a:sym typeface="Arial" panose="020B0604020202020204" pitchFamily="34" charset="0"/>
              </a:rPr>
              <a:t>研究现状</a:t>
            </a:r>
            <a:endParaRPr lang="zh-CN" altLang="en-US" sz="5400" b="1" dirty="0" smtClean="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23" name="文本框 22"/>
          <p:cNvSpPr txBox="1"/>
          <p:nvPr/>
        </p:nvSpPr>
        <p:spPr>
          <a:xfrm>
            <a:off x="2543185" y="2730867"/>
            <a:ext cx="1326004" cy="1323439"/>
          </a:xfrm>
          <a:prstGeom prst="rect">
            <a:avLst/>
          </a:prstGeom>
          <a:noFill/>
        </p:spPr>
        <p:txBody>
          <a:bodyPr wrap="none" rtlCol="0">
            <a:spAutoFit/>
          </a:bodyPr>
          <a:lstStyle/>
          <a:p>
            <a:r>
              <a:rPr lang="en-US" altLang="zh-CN" sz="8000" b="1" dirty="0">
                <a:solidFill>
                  <a:srgbClr val="0081E2"/>
                </a:solidFill>
                <a:latin typeface="Arial" panose="020B0604020202020204" pitchFamily="34" charset="0"/>
                <a:ea typeface="微软雅黑" panose="020B0503020204020204" pitchFamily="34" charset="-122"/>
                <a:sym typeface="Arial" panose="020B0604020202020204" pitchFamily="34" charset="0"/>
              </a:rPr>
              <a:t>02</a:t>
            </a:r>
            <a:endParaRPr lang="zh-CN" altLang="en-US" sz="8000" b="1" dirty="0">
              <a:solidFill>
                <a:srgbClr val="0081E2"/>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transition>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lstStyle/>
          <a:p>
            <a:r>
              <a:rPr lang="zh-CN" altLang="en-US" dirty="0" smtClean="0">
                <a:sym typeface="+mn-ea"/>
              </a:rPr>
              <a:t>课题</a:t>
            </a:r>
            <a:r>
              <a:rPr lang="zh-CN" altLang="en-US" dirty="0" smtClean="0">
                <a:sym typeface="+mn-ea"/>
              </a:rPr>
              <a:t>国内外发展现状</a:t>
            </a:r>
            <a:endParaRPr lang="zh-CN" altLang="en-US" dirty="0"/>
          </a:p>
          <a:p>
            <a:endParaRPr lang="zh-CN" altLang="en-US" dirty="0"/>
          </a:p>
        </p:txBody>
      </p:sp>
      <p:sp>
        <p:nvSpPr>
          <p:cNvPr id="3" name="灯片编号占位符 2"/>
          <p:cNvSpPr>
            <a:spLocks noGrp="1"/>
          </p:cNvSpPr>
          <p:nvPr>
            <p:ph type="sldNum" sz="quarter" idx="12"/>
          </p:nvPr>
        </p:nvSpPr>
        <p:spPr>
          <a:xfrm>
            <a:off x="11271286" y="6466725"/>
            <a:ext cx="472440" cy="365125"/>
          </a:xfrm>
        </p:spPr>
        <p:txBody>
          <a:bodyPr/>
          <a:lstStyle/>
          <a:p>
            <a:r>
              <a:rPr lang="en-US" altLang="zh-CN" dirty="0"/>
              <a:t>8</a:t>
            </a:r>
            <a:endParaRPr lang="en-US" altLang="zh-CN" dirty="0"/>
          </a:p>
        </p:txBody>
      </p:sp>
      <p:sp>
        <p:nvSpPr>
          <p:cNvPr id="94" name="矩形: 圆角 93"/>
          <p:cNvSpPr/>
          <p:nvPr/>
        </p:nvSpPr>
        <p:spPr>
          <a:xfrm>
            <a:off x="412750" y="972820"/>
            <a:ext cx="840676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rPr>
              <a:t>负荷及电价预测现存问题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412750" y="1610360"/>
            <a:ext cx="11194415" cy="2561590"/>
          </a:xfrm>
          <a:prstGeom prst="roundRect">
            <a:avLst>
              <a:gd name="adj" fmla="val 4953"/>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71755" indent="457200" algn="l" fontAlgn="auto">
              <a:lnSpc>
                <a:spcPct val="120000"/>
              </a:lnSpc>
            </a:pPr>
            <a:r>
              <a:rPr lang="zh-CN"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目前，</a:t>
            </a:r>
            <a:r>
              <a:rPr lang="zh-CN"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负荷及电价预测的手段大多是基于时间序列预测的，本质上是将负荷及电价预测做为一个一元时间序列预测来处理，挖掘其时间维特征。</a:t>
            </a:r>
            <a:r>
              <a:rPr lang="zh-CN"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除了时序预测方法的发展外，不少学者还在时间序列分解、考虑多特征影响因素、组合预测等方面展开了深入研究，但本质上还是基于时间维度的，导致负荷及电价预测方法的发展陷入了停滞状态，如何进一步提高负荷及电价的预测精度是学者们关注的问题。因此，</a:t>
            </a:r>
            <a:r>
              <a:rPr lang="zh-CN"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提出新理论、新思路和新方法十分迫切。</a:t>
            </a:r>
            <a:r>
              <a:rPr lang="zh-CN"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此外，</a:t>
            </a:r>
            <a:r>
              <a:rPr lang="zh-CN"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负荷及电价预测的中长序列预测也是目前面临的一个挑战（非中长期，中长期单位是时间，而中长序列单位是步长），</a:t>
            </a:r>
            <a:r>
              <a:rPr lang="zh-CN"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因此，提出新方法以进一步提高中长序列负荷及电价</a:t>
            </a:r>
            <a:r>
              <a:rPr lang="zh-CN"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的预测精度，是支撑新型电力系统安全稳定运行的</a:t>
            </a:r>
            <a:r>
              <a:rPr lang="zh-CN"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关键。</a:t>
            </a:r>
            <a:endParaRPr lang="zh-CN"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 name="图片 3"/>
          <p:cNvPicPr>
            <a:picLocks noChangeAspect="1"/>
          </p:cNvPicPr>
          <p:nvPr/>
        </p:nvPicPr>
        <p:blipFill>
          <a:blip r:embed="rId2"/>
          <a:stretch>
            <a:fillRect/>
          </a:stretch>
        </p:blipFill>
        <p:spPr>
          <a:xfrm>
            <a:off x="412750" y="4265930"/>
            <a:ext cx="7806690" cy="2106295"/>
          </a:xfrm>
          <a:prstGeom prst="rect">
            <a:avLst/>
          </a:prstGeom>
        </p:spPr>
      </p:pic>
      <p:pic>
        <p:nvPicPr>
          <p:cNvPr id="100" name="图片 99"/>
          <p:cNvPicPr/>
          <p:nvPr/>
        </p:nvPicPr>
        <p:blipFill>
          <a:blip r:embed="rId3"/>
          <a:stretch>
            <a:fillRect/>
          </a:stretch>
        </p:blipFill>
        <p:spPr>
          <a:xfrm>
            <a:off x="10342880" y="4521200"/>
            <a:ext cx="1264285" cy="1507490"/>
          </a:xfrm>
          <a:prstGeom prst="rect">
            <a:avLst/>
          </a:prstGeom>
          <a:noFill/>
          <a:ln w="9525">
            <a:noFill/>
          </a:ln>
        </p:spPr>
      </p:pic>
      <p:sp>
        <p:nvSpPr>
          <p:cNvPr id="5" name="文本框 4"/>
          <p:cNvSpPr txBox="1"/>
          <p:nvPr/>
        </p:nvSpPr>
        <p:spPr>
          <a:xfrm>
            <a:off x="8219440" y="4583430"/>
            <a:ext cx="2125345" cy="1383665"/>
          </a:xfrm>
          <a:prstGeom prst="rect">
            <a:avLst/>
          </a:prstGeom>
          <a:noFill/>
        </p:spPr>
        <p:txBody>
          <a:bodyPr wrap="square" rtlCol="0" anchor="t">
            <a:spAutoFit/>
          </a:bodyPr>
          <a:p>
            <a:pPr algn="ctr"/>
            <a:r>
              <a:rPr lang="zh-CN" altLang="en-US" sz="28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针对上述关键性问题，如何解决？</a:t>
            </a:r>
            <a:endParaRPr lang="zh-CN" altLang="en-US" sz="28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lstStyle/>
          <a:p>
            <a:r>
              <a:rPr lang="zh-CN" altLang="en-US" dirty="0" smtClean="0">
                <a:sym typeface="+mn-ea"/>
              </a:rPr>
              <a:t>课题</a:t>
            </a:r>
            <a:r>
              <a:rPr lang="zh-CN" altLang="en-US" dirty="0" smtClean="0">
                <a:sym typeface="+mn-ea"/>
              </a:rPr>
              <a:t>国内外发展现状</a:t>
            </a:r>
            <a:endParaRPr lang="zh-CN" altLang="en-US" dirty="0"/>
          </a:p>
          <a:p>
            <a:endParaRPr lang="zh-CN" altLang="en-US" dirty="0"/>
          </a:p>
        </p:txBody>
      </p:sp>
      <p:sp>
        <p:nvSpPr>
          <p:cNvPr id="3" name="灯片编号占位符 2"/>
          <p:cNvSpPr>
            <a:spLocks noGrp="1"/>
          </p:cNvSpPr>
          <p:nvPr>
            <p:ph type="sldNum" sz="quarter" idx="12"/>
          </p:nvPr>
        </p:nvSpPr>
        <p:spPr>
          <a:xfrm>
            <a:off x="11271286" y="6466725"/>
            <a:ext cx="472440" cy="365125"/>
          </a:xfrm>
        </p:spPr>
        <p:txBody>
          <a:bodyPr/>
          <a:lstStyle/>
          <a:p>
            <a:r>
              <a:rPr lang="en-US" altLang="zh-CN" dirty="0"/>
              <a:t>9</a:t>
            </a:r>
            <a:endParaRPr lang="en-US" altLang="zh-CN" dirty="0"/>
          </a:p>
        </p:txBody>
      </p:sp>
      <p:sp>
        <p:nvSpPr>
          <p:cNvPr id="94" name="矩形: 圆角 93"/>
          <p:cNvSpPr/>
          <p:nvPr/>
        </p:nvSpPr>
        <p:spPr>
          <a:xfrm>
            <a:off x="412750" y="972820"/>
            <a:ext cx="5798820"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rPr>
              <a:t>负荷及电价预测</a:t>
            </a:r>
            <a:r>
              <a:rPr lang="zh-CN" altLang="en-US" sz="2400" dirty="0" smtClean="0">
                <a:solidFill>
                  <a:schemeClr val="accent1"/>
                </a:solidFill>
                <a:latin typeface="微软雅黑" panose="020B0503020204020204" pitchFamily="34" charset="-122"/>
                <a:ea typeface="微软雅黑" panose="020B0503020204020204" pitchFamily="34" charset="-122"/>
              </a:rPr>
              <a:t>现存问题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pic>
        <p:nvPicPr>
          <p:cNvPr id="36" name="图片 4" descr="Graph1"/>
          <p:cNvPicPr>
            <a:picLocks noChangeAspect="1"/>
          </p:cNvPicPr>
          <p:nvPr/>
        </p:nvPicPr>
        <p:blipFill>
          <a:blip r:embed="rId2"/>
          <a:srcRect l="7308" t="6967" r="8048" b="4044"/>
          <a:stretch>
            <a:fillRect/>
          </a:stretch>
        </p:blipFill>
        <p:spPr>
          <a:xfrm>
            <a:off x="542925" y="1506855"/>
            <a:ext cx="4168140" cy="3122930"/>
          </a:xfrm>
          <a:prstGeom prst="rect">
            <a:avLst/>
          </a:prstGeom>
        </p:spPr>
      </p:pic>
      <p:sp>
        <p:nvSpPr>
          <p:cNvPr id="37" name="圆角矩形 36"/>
          <p:cNvSpPr/>
          <p:nvPr/>
        </p:nvSpPr>
        <p:spPr>
          <a:xfrm>
            <a:off x="4920615" y="1516380"/>
            <a:ext cx="6632575" cy="2646045"/>
          </a:xfrm>
          <a:prstGeom prst="roundRect">
            <a:avLst>
              <a:gd name="adj" fmla="val 4953"/>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71755" indent="457200" algn="l" fontAlgn="auto">
              <a:lnSpc>
                <a:spcPct val="120000"/>
              </a:lnSpc>
            </a:pP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中国某市某一区域的元胞</a:t>
            </a:r>
            <a:r>
              <a:rPr lang="en-US"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和元胞</a:t>
            </a:r>
            <a:r>
              <a:rPr lang="en-US"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在一天中</a:t>
            </a:r>
            <a:r>
              <a:rPr lang="en-US"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96</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个数据点的负荷情况如图所示，在绿线左侧，元胞</a:t>
            </a:r>
            <a:r>
              <a:rPr lang="en-US"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和元胞</a:t>
            </a:r>
            <a:r>
              <a:rPr lang="en-US"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的数据非常相似，但在绿线右侧，元胞</a:t>
            </a:r>
            <a:r>
              <a:rPr lang="en-US"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和元胞</a:t>
            </a:r>
            <a:r>
              <a:rPr lang="en-US"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的数据非常不同，</a:t>
            </a:r>
            <a:r>
              <a:rPr lang="zh-CN" sz="16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如果仅采用时序模型</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LSTM</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GRU</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TCN</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等）通过历史数据（绿线左侧）预测未来数据（绿线右侧），</a:t>
            </a:r>
            <a:r>
              <a:rPr lang="zh-CN" sz="16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那么很难对这两个来自同一时间但不同空间的元胞产生不同的负荷预测，我们把这种现象称为元胞负荷在空间上的不可区分性。</a:t>
            </a:r>
            <a:r>
              <a:rPr lang="zh-CN" sz="1600" b="1" spc="10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现货电价的波动跟负荷变化有直接的关系，因此</a:t>
            </a:r>
            <a:r>
              <a:rPr lang="zh-CN" sz="16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现货电价也具有空间上不可区分性。</a:t>
            </a:r>
            <a:endParaRPr lang="zh-CN" altLang="zh-CN" sz="1600" b="1" spc="10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1" name="图片 40"/>
          <p:cNvPicPr>
            <a:picLocks noChangeAspect="1"/>
          </p:cNvPicPr>
          <p:nvPr/>
        </p:nvPicPr>
        <p:blipFill>
          <a:blip r:embed="rId3"/>
          <a:stretch>
            <a:fillRect/>
          </a:stretch>
        </p:blipFill>
        <p:spPr>
          <a:xfrm>
            <a:off x="215265" y="4750435"/>
            <a:ext cx="5953760" cy="1524000"/>
          </a:xfrm>
          <a:prstGeom prst="rect">
            <a:avLst/>
          </a:prstGeom>
        </p:spPr>
      </p:pic>
      <p:sp>
        <p:nvSpPr>
          <p:cNvPr id="42" name="文本框 41"/>
          <p:cNvSpPr txBox="1"/>
          <p:nvPr/>
        </p:nvSpPr>
        <p:spPr>
          <a:xfrm>
            <a:off x="6315075" y="5544820"/>
            <a:ext cx="5668010" cy="922020"/>
          </a:xfrm>
          <a:prstGeom prst="rect">
            <a:avLst/>
          </a:prstGeom>
          <a:solidFill>
            <a:srgbClr val="FFFF00"/>
          </a:solidFill>
          <a:effectLst>
            <a:outerShdw blurRad="50800" dist="38100" dir="2700000" algn="tl" rotWithShape="0">
              <a:prstClr val="black">
                <a:alpha val="40000"/>
              </a:prstClr>
            </a:outerShdw>
          </a:effectLst>
        </p:spPr>
        <p:txBody>
          <a:bodyPr wrap="square" rtlCol="0">
            <a:spAutoFit/>
          </a:bodyPr>
          <a:p>
            <a:r>
              <a:rPr lang="en-US" altLang="zh-CN" b="1" spc="100">
                <a:solidFill>
                  <a:srgbClr val="080EF6"/>
                </a:solidFill>
                <a:uFillTx/>
                <a:latin typeface="Times New Roman" panose="02020603050405020304" charset="0"/>
                <a:ea typeface="微软雅黑" panose="020B0503020204020204" pitchFamily="34" charset="-122"/>
                <a:cs typeface="Times New Roman" panose="02020603050405020304" charset="0"/>
              </a:rPr>
              <a:t>RNN</a:t>
            </a:r>
            <a:r>
              <a:rPr lang="zh-CN" altLang="en-US" b="1" spc="100">
                <a:solidFill>
                  <a:srgbClr val="080EF6"/>
                </a:solidFill>
                <a:uFillTx/>
                <a:latin typeface="Times New Roman" panose="02020603050405020304" charset="0"/>
                <a:ea typeface="微软雅黑" panose="020B0503020204020204" pitchFamily="34" charset="-122"/>
                <a:cs typeface="Times New Roman" panose="02020603050405020304" charset="0"/>
              </a:rPr>
              <a:t>类模型预测一般为一个步长，多步预测的精度会明显下降，这是由于长时间尺度预测中，</a:t>
            </a:r>
            <a:r>
              <a:rPr lang="en-US" altLang="zh-CN" b="1" spc="100">
                <a:solidFill>
                  <a:srgbClr val="080EF6"/>
                </a:solidFill>
                <a:uFillTx/>
                <a:latin typeface="Times New Roman" panose="02020603050405020304" charset="0"/>
                <a:ea typeface="微软雅黑" panose="020B0503020204020204" pitchFamily="34" charset="-122"/>
                <a:cs typeface="Times New Roman" panose="02020603050405020304" charset="0"/>
              </a:rPr>
              <a:t>RNN</a:t>
            </a:r>
            <a:r>
              <a:rPr lang="zh-CN" altLang="en-US" b="1" spc="100">
                <a:solidFill>
                  <a:srgbClr val="080EF6"/>
                </a:solidFill>
                <a:uFillTx/>
                <a:latin typeface="Times New Roman" panose="02020603050405020304" charset="0"/>
                <a:ea typeface="微软雅黑" panose="020B0503020204020204" pitchFamily="34" charset="-122"/>
                <a:cs typeface="Times New Roman" panose="02020603050405020304" charset="0"/>
              </a:rPr>
              <a:t>类模型需要用预测的数据进行预测。</a:t>
            </a:r>
            <a:endParaRPr lang="zh-CN" altLang="en-US" b="1" spc="100">
              <a:solidFill>
                <a:srgbClr val="080EF6"/>
              </a:solidFill>
              <a:uFillTx/>
              <a:latin typeface="Times New Roman" panose="02020603050405020304" charset="0"/>
              <a:ea typeface="微软雅黑" panose="020B0503020204020204" pitchFamily="34" charset="-122"/>
              <a:cs typeface="Times New Roman" panose="02020603050405020304" charset="0"/>
            </a:endParaRPr>
          </a:p>
        </p:txBody>
      </p:sp>
      <p:pic>
        <p:nvPicPr>
          <p:cNvPr id="44" name="图片 43" descr="31393935333439393b363139323135333bd0f2bac53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07530" y="4639310"/>
            <a:ext cx="537845" cy="537845"/>
          </a:xfrm>
          <a:prstGeom prst="rect">
            <a:avLst/>
          </a:prstGeom>
        </p:spPr>
      </p:pic>
      <p:pic>
        <p:nvPicPr>
          <p:cNvPr id="45" name="图片 44" descr="31393935333439393b363139323634383bd0f2bac532"/>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73010" y="4639310"/>
            <a:ext cx="534035" cy="534035"/>
          </a:xfrm>
          <a:prstGeom prst="rect">
            <a:avLst/>
          </a:prstGeom>
        </p:spPr>
      </p:pic>
      <p:pic>
        <p:nvPicPr>
          <p:cNvPr id="46" name="图片 45" descr="31393935333439393b363139323635333bd0f2bac533"/>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34680" y="4636135"/>
            <a:ext cx="537210" cy="537210"/>
          </a:xfrm>
          <a:prstGeom prst="rect">
            <a:avLst/>
          </a:prstGeom>
        </p:spPr>
      </p:pic>
      <p:pic>
        <p:nvPicPr>
          <p:cNvPr id="47" name="图片 46" descr="31393935333439393b363139323738303bd0f2bac534"/>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10395" y="4629785"/>
            <a:ext cx="548640" cy="548640"/>
          </a:xfrm>
          <a:prstGeom prst="rect">
            <a:avLst/>
          </a:prstGeom>
        </p:spPr>
      </p:pic>
      <p:pic>
        <p:nvPicPr>
          <p:cNvPr id="48" name="图片 47" descr="31393935333439393b363139333231313bd0f2bac535"/>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168255" y="4629785"/>
            <a:ext cx="549275" cy="553085"/>
          </a:xfrm>
          <a:prstGeom prst="rect">
            <a:avLst/>
          </a:prstGeom>
        </p:spPr>
      </p:pic>
      <p:pic>
        <p:nvPicPr>
          <p:cNvPr id="49" name="图片 48" descr="31393935333439393b363139333639333bd0f2bac536"/>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826750" y="4629785"/>
            <a:ext cx="551815" cy="551815"/>
          </a:xfrm>
          <a:prstGeom prst="rect">
            <a:avLst/>
          </a:prstGeom>
        </p:spPr>
      </p:pic>
      <p:sp>
        <p:nvSpPr>
          <p:cNvPr id="50" name="圆角矩形 49"/>
          <p:cNvSpPr/>
          <p:nvPr/>
        </p:nvSpPr>
        <p:spPr>
          <a:xfrm>
            <a:off x="6315075" y="4552315"/>
            <a:ext cx="2580005" cy="682625"/>
          </a:xfrm>
          <a:prstGeom prst="roundRect">
            <a:avLst>
              <a:gd name="adj" fmla="val 3441"/>
            </a:avLst>
          </a:prstGeom>
          <a:noFill/>
          <a:ln>
            <a:solidFill>
              <a:srgbClr val="080EF6"/>
            </a:solidFill>
          </a:ln>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 name="圆角矩形 50"/>
          <p:cNvSpPr/>
          <p:nvPr/>
        </p:nvSpPr>
        <p:spPr>
          <a:xfrm>
            <a:off x="9394825" y="4552315"/>
            <a:ext cx="2588895" cy="682625"/>
          </a:xfrm>
          <a:prstGeom prst="roundRect">
            <a:avLst>
              <a:gd name="adj" fmla="val 3441"/>
            </a:avLst>
          </a:prstGeom>
          <a:noFill/>
          <a:ln>
            <a:solidFill>
              <a:srgbClr val="00B050"/>
            </a:solidFill>
          </a:ln>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 name="文本框 51"/>
          <p:cNvSpPr txBox="1"/>
          <p:nvPr/>
        </p:nvSpPr>
        <p:spPr>
          <a:xfrm>
            <a:off x="6315710" y="4598035"/>
            <a:ext cx="621665" cy="583565"/>
          </a:xfrm>
          <a:prstGeom prst="rect">
            <a:avLst/>
          </a:prstGeom>
          <a:noFill/>
        </p:spPr>
        <p:txBody>
          <a:bodyPr wrap="square" rtlCol="0">
            <a:spAutoFit/>
          </a:bodyPr>
          <a:p>
            <a:r>
              <a:rPr lang="zh-CN" altLang="en-US" sz="1600" b="1">
                <a:latin typeface="微软雅黑" panose="020B0503020204020204" pitchFamily="34" charset="-122"/>
                <a:ea typeface="微软雅黑" panose="020B0503020204020204" pitchFamily="34" charset="-122"/>
              </a:rPr>
              <a:t>历史数据</a:t>
            </a:r>
            <a:endParaRPr lang="zh-CN" altLang="en-US" sz="1600" b="1">
              <a:latin typeface="微软雅黑" panose="020B0503020204020204" pitchFamily="34" charset="-122"/>
              <a:ea typeface="微软雅黑" panose="020B0503020204020204" pitchFamily="34" charset="-122"/>
            </a:endParaRPr>
          </a:p>
        </p:txBody>
      </p:sp>
      <p:sp>
        <p:nvSpPr>
          <p:cNvPr id="53" name="文本框 52"/>
          <p:cNvSpPr txBox="1"/>
          <p:nvPr/>
        </p:nvSpPr>
        <p:spPr>
          <a:xfrm>
            <a:off x="11390630" y="4598035"/>
            <a:ext cx="648970" cy="583565"/>
          </a:xfrm>
          <a:prstGeom prst="rect">
            <a:avLst/>
          </a:prstGeom>
          <a:noFill/>
        </p:spPr>
        <p:txBody>
          <a:bodyPr wrap="square" rtlCol="0">
            <a:spAutoFit/>
          </a:bodyPr>
          <a:p>
            <a:r>
              <a:rPr lang="zh-CN" altLang="en-US" sz="1600" b="1">
                <a:latin typeface="微软雅黑" panose="020B0503020204020204" pitchFamily="34" charset="-122"/>
                <a:ea typeface="微软雅黑" panose="020B0503020204020204" pitchFamily="34" charset="-122"/>
              </a:rPr>
              <a:t>预测数据</a:t>
            </a:r>
            <a:endParaRPr lang="zh-CN" altLang="en-US" sz="1600" b="1">
              <a:latin typeface="微软雅黑" panose="020B0503020204020204" pitchFamily="34" charset="-122"/>
              <a:ea typeface="微软雅黑" panose="020B0503020204020204" pitchFamily="34" charset="-122"/>
            </a:endParaRPr>
          </a:p>
        </p:txBody>
      </p:sp>
      <p:sp>
        <p:nvSpPr>
          <p:cNvPr id="55" name="圆角矩形 54"/>
          <p:cNvSpPr/>
          <p:nvPr/>
        </p:nvSpPr>
        <p:spPr>
          <a:xfrm>
            <a:off x="6863715" y="4452620"/>
            <a:ext cx="3244215" cy="863600"/>
          </a:xfrm>
          <a:prstGeom prst="roundRect">
            <a:avLst>
              <a:gd name="adj" fmla="val 3441"/>
            </a:avLst>
          </a:prstGeom>
          <a:noFill/>
          <a:ln>
            <a:solidFill>
              <a:srgbClr val="FF0000"/>
            </a:solidFill>
            <a:prstDash val="dash"/>
          </a:ln>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6" name="圆角矩形 55"/>
          <p:cNvSpPr/>
          <p:nvPr/>
        </p:nvSpPr>
        <p:spPr>
          <a:xfrm>
            <a:off x="7473315" y="4592955"/>
            <a:ext cx="3244215" cy="863600"/>
          </a:xfrm>
          <a:prstGeom prst="roundRect">
            <a:avLst>
              <a:gd name="adj" fmla="val 3441"/>
            </a:avLst>
          </a:prstGeom>
          <a:noFill/>
          <a:ln>
            <a:solidFill>
              <a:schemeClr val="tx1"/>
            </a:solidFill>
            <a:prstDash val="dash"/>
          </a:ln>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7" name="圆角矩形 56"/>
          <p:cNvSpPr/>
          <p:nvPr/>
        </p:nvSpPr>
        <p:spPr>
          <a:xfrm>
            <a:off x="8170545" y="4337685"/>
            <a:ext cx="3244215" cy="863600"/>
          </a:xfrm>
          <a:prstGeom prst="roundRect">
            <a:avLst>
              <a:gd name="adj" fmla="val 3441"/>
            </a:avLst>
          </a:prstGeom>
          <a:noFill/>
          <a:ln>
            <a:solidFill>
              <a:srgbClr val="7030A0"/>
            </a:solidFill>
            <a:prstDash val="dash"/>
          </a:ln>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custDataLst>
              <p:tags r:id="rId1"/>
            </p:custDataLst>
          </p:nvPr>
        </p:nvSpPr>
        <p:spPr>
          <a:xfrm>
            <a:off x="8255000" y="5495925"/>
            <a:ext cx="3850640" cy="977900"/>
          </a:xfrm>
          <a:prstGeom prst="roundRect">
            <a:avLst>
              <a:gd name="adj" fmla="val 0"/>
            </a:avLst>
          </a:prstGeom>
          <a:solidFill>
            <a:srgbClr val="E8D9F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14" name="圆角矩形 13"/>
          <p:cNvSpPr/>
          <p:nvPr>
            <p:custDataLst>
              <p:tags r:id="rId2"/>
            </p:custDataLst>
          </p:nvPr>
        </p:nvSpPr>
        <p:spPr>
          <a:xfrm>
            <a:off x="8253730" y="4653280"/>
            <a:ext cx="3851910" cy="790575"/>
          </a:xfrm>
          <a:prstGeom prst="roundRect">
            <a:avLst>
              <a:gd name="adj" fmla="val 0"/>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11" name="圆角矩形 10"/>
          <p:cNvSpPr/>
          <p:nvPr>
            <p:custDataLst>
              <p:tags r:id="rId3"/>
            </p:custDataLst>
          </p:nvPr>
        </p:nvSpPr>
        <p:spPr>
          <a:xfrm>
            <a:off x="8254365" y="2086610"/>
            <a:ext cx="3850640" cy="1038860"/>
          </a:xfrm>
          <a:prstGeom prst="roundRect">
            <a:avLst>
              <a:gd name="adj" fmla="val 0"/>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30" name="圆角矩形 29"/>
          <p:cNvSpPr/>
          <p:nvPr>
            <p:custDataLst>
              <p:tags r:id="rId4"/>
            </p:custDataLst>
          </p:nvPr>
        </p:nvSpPr>
        <p:spPr>
          <a:xfrm>
            <a:off x="8254365" y="956945"/>
            <a:ext cx="3850640" cy="1091565"/>
          </a:xfrm>
          <a:prstGeom prst="roundRect">
            <a:avLst>
              <a:gd name="adj" fmla="val 0"/>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2" name="内容占位符 1"/>
          <p:cNvSpPr>
            <a:spLocks noGrp="1"/>
          </p:cNvSpPr>
          <p:nvPr>
            <p:ph sz="quarter" idx="13"/>
          </p:nvPr>
        </p:nvSpPr>
        <p:spPr/>
        <p:txBody>
          <a:bodyPr/>
          <a:lstStyle/>
          <a:p>
            <a:r>
              <a:rPr lang="zh-CN" altLang="en-US" dirty="0" smtClean="0">
                <a:sym typeface="+mn-ea"/>
              </a:rPr>
              <a:t>课题</a:t>
            </a:r>
            <a:r>
              <a:rPr lang="zh-CN" altLang="en-US" dirty="0" smtClean="0">
                <a:sym typeface="+mn-ea"/>
              </a:rPr>
              <a:t>国内外发展现状</a:t>
            </a:r>
            <a:endParaRPr lang="zh-CN" altLang="en-US" dirty="0"/>
          </a:p>
          <a:p>
            <a:endParaRPr lang="zh-CN" altLang="en-US" dirty="0"/>
          </a:p>
        </p:txBody>
      </p:sp>
      <p:sp>
        <p:nvSpPr>
          <p:cNvPr id="3" name="灯片编号占位符 2"/>
          <p:cNvSpPr>
            <a:spLocks noGrp="1"/>
          </p:cNvSpPr>
          <p:nvPr>
            <p:ph type="sldNum" sz="quarter" idx="12"/>
          </p:nvPr>
        </p:nvSpPr>
        <p:spPr>
          <a:xfrm>
            <a:off x="11271286" y="6466725"/>
            <a:ext cx="472440" cy="365125"/>
          </a:xfrm>
        </p:spPr>
        <p:txBody>
          <a:bodyPr/>
          <a:lstStyle/>
          <a:p>
            <a:r>
              <a:rPr lang="en-US" altLang="zh-CN" dirty="0"/>
              <a:t>10</a:t>
            </a:r>
            <a:endParaRPr lang="en-US" altLang="zh-CN" dirty="0"/>
          </a:p>
        </p:txBody>
      </p:sp>
      <p:sp>
        <p:nvSpPr>
          <p:cNvPr id="94" name="矩形: 圆角 93"/>
          <p:cNvSpPr/>
          <p:nvPr/>
        </p:nvSpPr>
        <p:spPr>
          <a:xfrm>
            <a:off x="412750" y="972820"/>
            <a:ext cx="7611110"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rPr>
              <a:t>负荷及电价预测现存问题 </a:t>
            </a:r>
            <a:r>
              <a:rPr lang="zh-CN" altLang="en-US" sz="2400" spc="100" dirty="0">
                <a:blipFill>
                  <a:blip r:embed="rId5"/>
                  <a:stretch>
                    <a:fillRect/>
                  </a:stretch>
                </a:blipFill>
                <a:latin typeface="微软雅黑" panose="020B0503020204020204" pitchFamily="34" charset="-122"/>
                <a:ea typeface="微软雅黑" panose="020B0503020204020204" pitchFamily="34" charset="-122"/>
                <a:sym typeface="Wingdings 3" panose="05040102010807070707" pitchFamily="18" charset="2"/>
              </a:rPr>
              <a:t>时间序列数据特性示例图</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custDataLst>
              <p:tags r:id="rId6"/>
            </p:custDataLst>
          </p:nvPr>
        </p:nvPicPr>
        <p:blipFill>
          <a:blip r:embed="rId7"/>
          <a:stretch>
            <a:fillRect/>
          </a:stretch>
        </p:blipFill>
        <p:spPr>
          <a:xfrm>
            <a:off x="304165" y="1516380"/>
            <a:ext cx="7826375" cy="4876165"/>
          </a:xfrm>
          <a:prstGeom prst="rect">
            <a:avLst/>
          </a:prstGeom>
        </p:spPr>
      </p:pic>
      <p:sp>
        <p:nvSpPr>
          <p:cNvPr id="5" name="文本框 4"/>
          <p:cNvSpPr txBox="1"/>
          <p:nvPr/>
        </p:nvSpPr>
        <p:spPr>
          <a:xfrm>
            <a:off x="8254365" y="972820"/>
            <a:ext cx="3919855" cy="1076325"/>
          </a:xfrm>
          <a:prstGeom prst="rect">
            <a:avLst/>
          </a:prstGeom>
          <a:noFill/>
        </p:spPr>
        <p:txBody>
          <a:bodyPr wrap="square" rtlCol="0" anchor="t">
            <a:spAutoFit/>
          </a:bodyPr>
          <a:p>
            <a:r>
              <a:rPr lang="zh-CN" altLang="en-US" sz="1600" b="1">
                <a:latin typeface="Times New Roman" panose="02020603050405020304" charset="0"/>
                <a:ea typeface="微软雅黑" panose="020B0503020204020204" pitchFamily="34" charset="-122"/>
                <a:cs typeface="Times New Roman" panose="02020603050405020304" charset="0"/>
              </a:rPr>
              <a:t>海量性：随着物联网传感器设备的升级，</a:t>
            </a: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rPr>
              <a:t>测量频率的提高，测量维度的增加，时间序列数据爆炸性增长，</a:t>
            </a:r>
            <a:r>
              <a:rPr lang="zh-CN" altLang="en-US" sz="1600" b="1">
                <a:latin typeface="Times New Roman" panose="02020603050405020304" charset="0"/>
                <a:ea typeface="微软雅黑" panose="020B0503020204020204" pitchFamily="34" charset="-122"/>
                <a:cs typeface="Times New Roman" panose="02020603050405020304" charset="0"/>
              </a:rPr>
              <a:t>高维度的时间序列数据占据主流。</a:t>
            </a:r>
            <a:endParaRPr lang="zh-CN" altLang="en-US" sz="1600" b="1">
              <a:latin typeface="Times New Roman" panose="02020603050405020304" charset="0"/>
              <a:ea typeface="微软雅黑" panose="020B0503020204020204" pitchFamily="34" charset="-122"/>
              <a:cs typeface="Times New Roman" panose="02020603050405020304" charset="0"/>
            </a:endParaRPr>
          </a:p>
        </p:txBody>
      </p:sp>
      <p:sp>
        <p:nvSpPr>
          <p:cNvPr id="6" name="文本框 5"/>
          <p:cNvSpPr txBox="1"/>
          <p:nvPr/>
        </p:nvSpPr>
        <p:spPr>
          <a:xfrm>
            <a:off x="8272780" y="2069465"/>
            <a:ext cx="3850005" cy="1038860"/>
          </a:xfrm>
          <a:prstGeom prst="rect">
            <a:avLst/>
          </a:prstGeom>
          <a:noFill/>
        </p:spPr>
        <p:txBody>
          <a:bodyPr wrap="square" rtlCol="0" anchor="t">
            <a:noAutofit/>
          </a:bodyPr>
          <a:p>
            <a:r>
              <a:rPr lang="zh-CN" altLang="en-US" sz="1600" b="1">
                <a:latin typeface="微软雅黑" panose="020B0503020204020204" pitchFamily="34" charset="-122"/>
                <a:ea typeface="微软雅黑" panose="020B0503020204020204" pitchFamily="34" charset="-122"/>
              </a:rPr>
              <a:t>趋势性：当前时刻数据往往与前一段时刻数据有着密切的联系，</a:t>
            </a:r>
            <a:r>
              <a:rPr lang="zh-CN" altLang="en-US" sz="1600" b="1">
                <a:solidFill>
                  <a:srgbClr val="FF0000"/>
                </a:solidFill>
                <a:latin typeface="微软雅黑" panose="020B0503020204020204" pitchFamily="34" charset="-122"/>
                <a:ea typeface="微软雅黑" panose="020B0503020204020204" pitchFamily="34" charset="-122"/>
              </a:rPr>
              <a:t>时间序列可能在长时间里展现出一种平稳上升或平稳下降或保持水平的趋势。</a:t>
            </a:r>
            <a:endParaRPr lang="zh-CN" altLang="en-US" sz="1600" b="1">
              <a:solidFill>
                <a:srgbClr val="FF000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8272780" y="4631055"/>
            <a:ext cx="3915410" cy="829945"/>
          </a:xfrm>
          <a:prstGeom prst="rect">
            <a:avLst/>
          </a:prstGeom>
          <a:noFill/>
        </p:spPr>
        <p:txBody>
          <a:bodyPr wrap="square" rtlCol="0" anchor="t">
            <a:spAutoFit/>
          </a:bodyPr>
          <a:p>
            <a:r>
              <a:rPr lang="zh-CN" altLang="en-US" sz="1600" b="1">
                <a:latin typeface="微软雅黑" panose="020B0503020204020204" pitchFamily="34" charset="-122"/>
                <a:ea typeface="微软雅黑" panose="020B0503020204020204" pitchFamily="34" charset="-122"/>
              </a:rPr>
              <a:t>平稳性：</a:t>
            </a:r>
            <a:r>
              <a:rPr lang="zh-CN" altLang="en-US" sz="1600" b="1">
                <a:solidFill>
                  <a:srgbClr val="FF0000"/>
                </a:solidFill>
                <a:latin typeface="微软雅黑" panose="020B0503020204020204" pitchFamily="34" charset="-122"/>
                <a:ea typeface="微软雅黑" panose="020B0503020204020204" pitchFamily="34" charset="-122"/>
              </a:rPr>
              <a:t>时间序列数据个别为随机变动</a:t>
            </a:r>
            <a:r>
              <a:rPr lang="zh-CN" altLang="en-US" sz="1600" b="1">
                <a:latin typeface="微软雅黑" panose="020B0503020204020204" pitchFamily="34" charset="-122"/>
                <a:ea typeface="微软雅黑" panose="020B0503020204020204" pitchFamily="34" charset="-122"/>
              </a:rPr>
              <a:t>，在不同时间上呈统计规律，在方差与均值上保持相对稳定。</a:t>
            </a:r>
            <a:endParaRPr lang="zh-CN" altLang="en-US" sz="1600" b="1">
              <a:latin typeface="微软雅黑" panose="020B0503020204020204" pitchFamily="34" charset="-122"/>
              <a:ea typeface="微软雅黑" panose="020B0503020204020204" pitchFamily="34" charset="-122"/>
            </a:endParaRPr>
          </a:p>
        </p:txBody>
      </p:sp>
      <p:sp>
        <p:nvSpPr>
          <p:cNvPr id="10" name="文本框 9"/>
          <p:cNvSpPr txBox="1"/>
          <p:nvPr/>
        </p:nvSpPr>
        <p:spPr>
          <a:xfrm>
            <a:off x="8255000" y="5461000"/>
            <a:ext cx="3989070" cy="1002665"/>
          </a:xfrm>
          <a:prstGeom prst="rect">
            <a:avLst/>
          </a:prstGeom>
          <a:noFill/>
        </p:spPr>
        <p:txBody>
          <a:bodyPr wrap="square" rtlCol="0" anchor="t">
            <a:noAutofit/>
          </a:bodyPr>
          <a:p>
            <a:r>
              <a:rPr lang="zh-CN" altLang="en-US" sz="1600" b="1">
                <a:latin typeface="微软雅黑" panose="020B0503020204020204" pitchFamily="34" charset="-122"/>
                <a:ea typeface="微软雅黑" panose="020B0503020204020204" pitchFamily="34" charset="-122"/>
              </a:rPr>
              <a:t>对称性：在某段时间周期内，</a:t>
            </a:r>
            <a:r>
              <a:rPr lang="zh-CN" altLang="en-US" sz="1600" b="1">
                <a:solidFill>
                  <a:srgbClr val="FF0000"/>
                </a:solidFill>
                <a:latin typeface="微软雅黑" panose="020B0503020204020204" pitchFamily="34" charset="-122"/>
                <a:ea typeface="微软雅黑" panose="020B0503020204020204" pitchFamily="34" charset="-122"/>
              </a:rPr>
              <a:t>原始的时间序列和其反转时间序列的距离控制在一定的阈值以内，曲线基本对齐</a:t>
            </a:r>
            <a:r>
              <a:rPr lang="zh-CN" altLang="en-US" sz="1600" b="1">
                <a:latin typeface="微软雅黑" panose="020B0503020204020204" pitchFamily="34" charset="-122"/>
                <a:ea typeface="微软雅黑" panose="020B0503020204020204" pitchFamily="34" charset="-122"/>
              </a:rPr>
              <a:t>，即具有对称性。</a:t>
            </a:r>
            <a:endParaRPr lang="zh-CN" altLang="en-US" sz="1600" b="1">
              <a:latin typeface="微软雅黑" panose="020B0503020204020204" pitchFamily="34" charset="-122"/>
              <a:ea typeface="微软雅黑" panose="020B0503020204020204" pitchFamily="34" charset="-122"/>
            </a:endParaRPr>
          </a:p>
        </p:txBody>
      </p:sp>
      <p:sp>
        <p:nvSpPr>
          <p:cNvPr id="12" name="圆角矩形 11"/>
          <p:cNvSpPr/>
          <p:nvPr>
            <p:custDataLst>
              <p:tags r:id="rId8"/>
            </p:custDataLst>
          </p:nvPr>
        </p:nvSpPr>
        <p:spPr>
          <a:xfrm>
            <a:off x="8254365" y="3168650"/>
            <a:ext cx="3850640" cy="579120"/>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7" name="文本框 6"/>
          <p:cNvSpPr txBox="1"/>
          <p:nvPr/>
        </p:nvSpPr>
        <p:spPr>
          <a:xfrm>
            <a:off x="8295005" y="3163570"/>
            <a:ext cx="3919220" cy="583565"/>
          </a:xfrm>
          <a:prstGeom prst="rect">
            <a:avLst/>
          </a:prstGeom>
          <a:noFill/>
        </p:spPr>
        <p:txBody>
          <a:bodyPr wrap="square" rtlCol="0" anchor="t">
            <a:spAutoFit/>
          </a:bodyPr>
          <a:p>
            <a:r>
              <a:rPr lang="zh-CN" altLang="en-US" sz="1600" b="1">
                <a:latin typeface="微软雅黑" panose="020B0503020204020204" pitchFamily="34" charset="-122"/>
                <a:ea typeface="微软雅黑" panose="020B0503020204020204" pitchFamily="34" charset="-122"/>
              </a:rPr>
              <a:t>周期性：时间序列中数据受外界因素影响，</a:t>
            </a:r>
            <a:r>
              <a:rPr lang="zh-CN" altLang="en-US" sz="1600" b="1">
                <a:solidFill>
                  <a:srgbClr val="FF0000"/>
                </a:solidFill>
                <a:latin typeface="微软雅黑" panose="020B0503020204020204" pitchFamily="34" charset="-122"/>
                <a:ea typeface="微软雅黑" panose="020B0503020204020204" pitchFamily="34" charset="-122"/>
              </a:rPr>
              <a:t>在长时间内呈现出起起落落的交替变化。</a:t>
            </a:r>
            <a:endParaRPr lang="zh-CN" altLang="en-US" sz="1600" b="1">
              <a:solidFill>
                <a:srgbClr val="FF0000"/>
              </a:solidFill>
              <a:latin typeface="微软雅黑" panose="020B0503020204020204" pitchFamily="34" charset="-122"/>
              <a:ea typeface="微软雅黑" panose="020B0503020204020204" pitchFamily="34" charset="-122"/>
            </a:endParaRPr>
          </a:p>
        </p:txBody>
      </p:sp>
      <p:sp>
        <p:nvSpPr>
          <p:cNvPr id="13" name="圆角矩形 12"/>
          <p:cNvSpPr/>
          <p:nvPr>
            <p:custDataLst>
              <p:tags r:id="rId9"/>
            </p:custDataLst>
          </p:nvPr>
        </p:nvSpPr>
        <p:spPr>
          <a:xfrm>
            <a:off x="8254365" y="3808095"/>
            <a:ext cx="3850640" cy="788035"/>
          </a:xfrm>
          <a:prstGeom prst="roundRect">
            <a:avLst>
              <a:gd name="adj" fmla="val 0"/>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8" name="文本框 7"/>
          <p:cNvSpPr txBox="1"/>
          <p:nvPr/>
        </p:nvSpPr>
        <p:spPr>
          <a:xfrm>
            <a:off x="8272780" y="3785235"/>
            <a:ext cx="3919855" cy="829945"/>
          </a:xfrm>
          <a:prstGeom prst="rect">
            <a:avLst/>
          </a:prstGeom>
          <a:noFill/>
        </p:spPr>
        <p:txBody>
          <a:bodyPr wrap="square" rtlCol="0" anchor="t">
            <a:spAutoFit/>
          </a:bodyPr>
          <a:p>
            <a:r>
              <a:rPr lang="zh-CN" altLang="en-US" sz="1600" b="1">
                <a:latin typeface="微软雅黑" panose="020B0503020204020204" pitchFamily="34" charset="-122"/>
                <a:ea typeface="微软雅黑" panose="020B0503020204020204" pitchFamily="34" charset="-122"/>
              </a:rPr>
              <a:t>波动性：随着长时间的推移和外部多因素影响，</a:t>
            </a:r>
            <a:r>
              <a:rPr lang="zh-CN" altLang="en-US" sz="1600" b="1">
                <a:solidFill>
                  <a:srgbClr val="FF0000"/>
                </a:solidFill>
                <a:latin typeface="微软雅黑" panose="020B0503020204020204" pitchFamily="34" charset="-122"/>
                <a:ea typeface="微软雅黑" panose="020B0503020204020204" pitchFamily="34" charset="-122"/>
              </a:rPr>
              <a:t>时间序列的方差和均值也可能会发生系统的变化。</a:t>
            </a:r>
            <a:endParaRPr lang="zh-CN" altLang="en-US" sz="1600" b="1">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矩形: 圆角 93"/>
          <p:cNvSpPr/>
          <p:nvPr/>
        </p:nvSpPr>
        <p:spPr>
          <a:xfrm>
            <a:off x="417195" y="917575"/>
            <a:ext cx="11150600"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smtClean="0">
                <a:solidFill>
                  <a:schemeClr val="accent1"/>
                </a:solidFill>
                <a:latin typeface="微软雅黑" panose="020B0503020204020204" pitchFamily="34" charset="-122"/>
                <a:ea typeface="微软雅黑" panose="020B0503020204020204" pitchFamily="34" charset="-122"/>
              </a:rPr>
              <a:t>负荷及电价预测研究现状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spc="100" dirty="0">
                <a:solidFill>
                  <a:srgbClr val="7030A0"/>
                </a:solidFill>
                <a:latin typeface="微软雅黑" panose="020B0503020204020204" pitchFamily="34" charset="-122"/>
                <a:ea typeface="微软雅黑" panose="020B0503020204020204" pitchFamily="34" charset="-122"/>
                <a:sym typeface="Wingdings 3" panose="05040102010807070707" pitchFamily="18" charset="2"/>
              </a:rPr>
              <a:t>目前现有负荷及电价预测方法</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34" name="矩形 33"/>
          <p:cNvSpPr/>
          <p:nvPr/>
        </p:nvSpPr>
        <p:spPr>
          <a:xfrm>
            <a:off x="11813417" y="2377886"/>
            <a:ext cx="36000" cy="23984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Times New Roman" panose="02020603050405020304" charset="0"/>
              <a:cs typeface="Times New Roman" panose="02020603050405020304" charset="0"/>
            </a:endParaRPr>
          </a:p>
        </p:txBody>
      </p:sp>
      <p:sp>
        <p:nvSpPr>
          <p:cNvPr id="21" name="内容占位符 20"/>
          <p:cNvSpPr>
            <a:spLocks noGrp="1"/>
          </p:cNvSpPr>
          <p:nvPr>
            <p:ph sz="quarter" idx="14"/>
          </p:nvPr>
        </p:nvSpPr>
        <p:spPr/>
        <p:txBody>
          <a:bodyPr/>
          <a:lstStyle/>
          <a:p>
            <a:r>
              <a:rPr lang="zh-CN" altLang="en-US" dirty="0" smtClean="0"/>
              <a:t>课题</a:t>
            </a:r>
            <a:r>
              <a:rPr lang="zh-CN" altLang="en-US" dirty="0" smtClean="0"/>
              <a:t>国内外发展现状</a:t>
            </a:r>
            <a:endParaRPr lang="zh-CN" altLang="en-US" dirty="0"/>
          </a:p>
        </p:txBody>
      </p:sp>
      <p:sp>
        <p:nvSpPr>
          <p:cNvPr id="33" name="灯片编号占位符 32"/>
          <p:cNvSpPr>
            <a:spLocks noGrp="1"/>
          </p:cNvSpPr>
          <p:nvPr>
            <p:ph type="sldNum" sz="quarter" idx="15"/>
          </p:nvPr>
        </p:nvSpPr>
        <p:spPr/>
        <p:txBody>
          <a:bodyPr/>
          <a:lstStyle/>
          <a:p>
            <a:r>
              <a:rPr lang="en-US" altLang="zh-CN" dirty="0"/>
              <a:t>11</a:t>
            </a:r>
            <a:endParaRPr lang="en-US" altLang="zh-CN" dirty="0"/>
          </a:p>
        </p:txBody>
      </p:sp>
      <p:grpSp>
        <p:nvGrpSpPr>
          <p:cNvPr id="127" name="组合 41"/>
          <p:cNvGrpSpPr/>
          <p:nvPr/>
        </p:nvGrpSpPr>
        <p:grpSpPr bwMode="auto">
          <a:xfrm>
            <a:off x="1144270" y="3228975"/>
            <a:ext cx="10212070" cy="579120"/>
            <a:chOff x="286214" y="2637511"/>
            <a:chExt cx="8548808" cy="787594"/>
          </a:xfrm>
        </p:grpSpPr>
        <p:cxnSp>
          <p:nvCxnSpPr>
            <p:cNvPr id="129" name="直接箭头连接符 128"/>
            <p:cNvCxnSpPr/>
            <p:nvPr>
              <p:custDataLst>
                <p:tags r:id="rId2"/>
              </p:custDataLst>
            </p:nvPr>
          </p:nvCxnSpPr>
          <p:spPr>
            <a:xfrm>
              <a:off x="286214" y="2637511"/>
              <a:ext cx="8531509" cy="0"/>
            </a:xfrm>
            <a:prstGeom prst="straightConnector1">
              <a:avLst/>
            </a:prstGeom>
            <a:noFill/>
            <a:ln w="19050" cap="flat" cmpd="sng" algn="ctr">
              <a:solidFill>
                <a:srgbClr val="076655"/>
              </a:solidFill>
              <a:prstDash val="solid"/>
              <a:miter lim="800000"/>
              <a:tailEnd type="triangle" w="med" len="med"/>
            </a:ln>
            <a:effectLst/>
          </p:spPr>
        </p:cxnSp>
        <p:cxnSp>
          <p:nvCxnSpPr>
            <p:cNvPr id="131" name="直接箭头连接符 130"/>
            <p:cNvCxnSpPr/>
            <p:nvPr>
              <p:custDataLst>
                <p:tags r:id="rId3"/>
              </p:custDataLst>
            </p:nvPr>
          </p:nvCxnSpPr>
          <p:spPr>
            <a:xfrm>
              <a:off x="294554" y="3425105"/>
              <a:ext cx="8540468" cy="0"/>
            </a:xfrm>
            <a:prstGeom prst="straightConnector1">
              <a:avLst/>
            </a:prstGeom>
            <a:noFill/>
            <a:ln w="19050" cap="flat" cmpd="sng" algn="ctr">
              <a:solidFill>
                <a:srgbClr val="076655"/>
              </a:solidFill>
              <a:prstDash val="solid"/>
              <a:miter lim="800000"/>
              <a:headEnd type="none" w="med" len="med"/>
              <a:tailEnd type="triangle" w="med" len="med"/>
            </a:ln>
            <a:effectLst/>
          </p:spPr>
        </p:cxnSp>
      </p:grpSp>
      <p:sp>
        <p:nvSpPr>
          <p:cNvPr id="30" name="文本框 29"/>
          <p:cNvSpPr txBox="1"/>
          <p:nvPr/>
        </p:nvSpPr>
        <p:spPr>
          <a:xfrm>
            <a:off x="300990" y="1561465"/>
            <a:ext cx="458470" cy="1568450"/>
          </a:xfrm>
          <a:prstGeom prst="rect">
            <a:avLst/>
          </a:prstGeom>
          <a:noFill/>
        </p:spPr>
        <p:txBody>
          <a:bodyPr wrap="square" rtlCol="0" anchor="t">
            <a:spAutoFit/>
          </a:bodyPr>
          <a:p>
            <a:r>
              <a:rPr lang="zh-CN" altLang="en-US" sz="2400" b="1" dirty="0" smtClean="0">
                <a:solidFill>
                  <a:schemeClr val="tx1"/>
                </a:solidFill>
                <a:latin typeface="Times New Roman" panose="02020603050405020304" charset="0"/>
                <a:ea typeface="微软雅黑" panose="020B0503020204020204" pitchFamily="34" charset="-122"/>
                <a:sym typeface="+mn-ea"/>
              </a:rPr>
              <a:t>模型驱动</a:t>
            </a:r>
            <a:endParaRPr lang="zh-CN" altLang="en-US" sz="2400" b="1" dirty="0" smtClean="0">
              <a:solidFill>
                <a:schemeClr val="tx1"/>
              </a:solidFill>
              <a:latin typeface="Times New Roman" panose="02020603050405020304" charset="0"/>
              <a:ea typeface="微软雅黑" panose="020B0503020204020204" pitchFamily="34" charset="-122"/>
              <a:sym typeface="+mn-ea"/>
            </a:endParaRPr>
          </a:p>
        </p:txBody>
      </p:sp>
      <p:sp>
        <p:nvSpPr>
          <p:cNvPr id="31" name="文本框 30"/>
          <p:cNvSpPr txBox="1"/>
          <p:nvPr/>
        </p:nvSpPr>
        <p:spPr>
          <a:xfrm>
            <a:off x="300990" y="4359910"/>
            <a:ext cx="438150" cy="1568450"/>
          </a:xfrm>
          <a:prstGeom prst="rect">
            <a:avLst/>
          </a:prstGeom>
          <a:noFill/>
        </p:spPr>
        <p:txBody>
          <a:bodyPr wrap="square" rtlCol="0" anchor="t">
            <a:spAutoFit/>
          </a:bodyPr>
          <a:p>
            <a:r>
              <a:rPr lang="zh-CN" altLang="en-US" sz="2400" b="1" dirty="0" smtClean="0">
                <a:solidFill>
                  <a:schemeClr val="tx1"/>
                </a:solidFill>
                <a:latin typeface="Times New Roman" panose="02020603050405020304" charset="0"/>
                <a:ea typeface="微软雅黑" panose="020B0503020204020204" pitchFamily="34" charset="-122"/>
                <a:sym typeface="+mn-ea"/>
              </a:rPr>
              <a:t>数据驱动</a:t>
            </a:r>
            <a:endParaRPr lang="zh-CN" altLang="en-US" sz="2400" b="1" dirty="0" smtClean="0">
              <a:solidFill>
                <a:schemeClr val="tx1"/>
              </a:solidFill>
              <a:latin typeface="Times New Roman" panose="02020603050405020304" charset="0"/>
              <a:ea typeface="微软雅黑" panose="020B0503020204020204" pitchFamily="34" charset="-122"/>
              <a:sym typeface="+mn-ea"/>
            </a:endParaRPr>
          </a:p>
        </p:txBody>
      </p:sp>
      <p:sp>
        <p:nvSpPr>
          <p:cNvPr id="32" name="文本框 31"/>
          <p:cNvSpPr txBox="1"/>
          <p:nvPr/>
        </p:nvSpPr>
        <p:spPr>
          <a:xfrm>
            <a:off x="4218940" y="1995170"/>
            <a:ext cx="1010920" cy="922020"/>
          </a:xfrm>
          <a:prstGeom prst="rect">
            <a:avLst/>
          </a:prstGeom>
          <a:solidFill>
            <a:schemeClr val="accent2">
              <a:lumMod val="60000"/>
              <a:lumOff val="4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rPr>
              <a:t>自回归模型（AR）</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35" name="文本框 34"/>
          <p:cNvSpPr txBox="1"/>
          <p:nvPr/>
        </p:nvSpPr>
        <p:spPr>
          <a:xfrm>
            <a:off x="5738495" y="1995170"/>
            <a:ext cx="1505585" cy="922020"/>
          </a:xfrm>
          <a:prstGeom prst="rect">
            <a:avLst/>
          </a:prstGeom>
          <a:solidFill>
            <a:schemeClr val="accent2">
              <a:lumMod val="60000"/>
              <a:lumOff val="4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sym typeface="+mn-ea"/>
              </a:rPr>
              <a:t>自回归移动平均模型（ARMA）</a:t>
            </a:r>
            <a:endParaRPr lang="zh-CN" altLang="en-US" b="1">
              <a:latin typeface="Times New Roman" panose="02020603050405020304" charset="0"/>
              <a:ea typeface="微软雅黑" panose="020B0503020204020204" pitchFamily="34" charset="-122"/>
              <a:cs typeface="Times New Roman" panose="02020603050405020304" charset="0"/>
              <a:sym typeface="+mn-ea"/>
            </a:endParaRPr>
          </a:p>
        </p:txBody>
      </p:sp>
      <p:sp>
        <p:nvSpPr>
          <p:cNvPr id="36" name="文本框 35"/>
          <p:cNvSpPr txBox="1"/>
          <p:nvPr/>
        </p:nvSpPr>
        <p:spPr>
          <a:xfrm>
            <a:off x="7814310" y="1995170"/>
            <a:ext cx="1179195" cy="922020"/>
          </a:xfrm>
          <a:prstGeom prst="rect">
            <a:avLst/>
          </a:prstGeom>
          <a:solidFill>
            <a:schemeClr val="accent2">
              <a:lumMod val="60000"/>
              <a:lumOff val="4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sym typeface="+mn-ea"/>
              </a:rPr>
              <a:t>移动平均模型</a:t>
            </a:r>
            <a:endParaRPr lang="zh-CN" altLang="en-US" b="1">
              <a:latin typeface="Times New Roman" panose="02020603050405020304" charset="0"/>
              <a:ea typeface="微软雅黑" panose="020B0503020204020204" pitchFamily="34" charset="-122"/>
              <a:cs typeface="Times New Roman" panose="02020603050405020304" charset="0"/>
              <a:sym typeface="+mn-ea"/>
            </a:endParaRPr>
          </a:p>
          <a:p>
            <a:pPr algn="ctr"/>
            <a:r>
              <a:rPr lang="zh-CN" altLang="en-US" b="1">
                <a:latin typeface="Times New Roman" panose="02020603050405020304" charset="0"/>
                <a:ea typeface="微软雅黑" panose="020B0503020204020204" pitchFamily="34" charset="-122"/>
                <a:cs typeface="Times New Roman" panose="02020603050405020304" charset="0"/>
                <a:sym typeface="+mn-ea"/>
              </a:rPr>
              <a:t>（MA）</a:t>
            </a:r>
            <a:endParaRPr lang="zh-CN" altLang="en-US" b="1">
              <a:latin typeface="Times New Roman" panose="02020603050405020304" charset="0"/>
              <a:ea typeface="微软雅黑" panose="020B0503020204020204" pitchFamily="34" charset="-122"/>
              <a:cs typeface="Times New Roman" panose="02020603050405020304" charset="0"/>
              <a:sym typeface="+mn-ea"/>
            </a:endParaRPr>
          </a:p>
        </p:txBody>
      </p:sp>
      <p:sp>
        <p:nvSpPr>
          <p:cNvPr id="39" name="文本框 38"/>
          <p:cNvSpPr txBox="1"/>
          <p:nvPr/>
        </p:nvSpPr>
        <p:spPr>
          <a:xfrm>
            <a:off x="3434715" y="4119245"/>
            <a:ext cx="898525" cy="922020"/>
          </a:xfrm>
          <a:prstGeom prst="rect">
            <a:avLst/>
          </a:prstGeom>
          <a:solidFill>
            <a:schemeClr val="accent6">
              <a:lumMod val="40000"/>
              <a:lumOff val="6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rPr>
              <a:t>支持向量回归（SVR）</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40" name="文本框 39"/>
          <p:cNvSpPr txBox="1"/>
          <p:nvPr/>
        </p:nvSpPr>
        <p:spPr>
          <a:xfrm>
            <a:off x="2159635" y="4119245"/>
            <a:ext cx="1014095" cy="922020"/>
          </a:xfrm>
          <a:prstGeom prst="rect">
            <a:avLst/>
          </a:prstGeom>
          <a:solidFill>
            <a:schemeClr val="accent6">
              <a:lumMod val="40000"/>
              <a:lumOff val="6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rPr>
              <a:t>极限学习机（ELM）</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41" name="文本框 40"/>
          <p:cNvSpPr txBox="1"/>
          <p:nvPr/>
        </p:nvSpPr>
        <p:spPr>
          <a:xfrm>
            <a:off x="4594225" y="4119245"/>
            <a:ext cx="1374140" cy="922020"/>
          </a:xfrm>
          <a:prstGeom prst="rect">
            <a:avLst/>
          </a:prstGeom>
          <a:solidFill>
            <a:schemeClr val="accent6">
              <a:lumMod val="40000"/>
              <a:lumOff val="6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rPr>
              <a:t>极端梯度</a:t>
            </a:r>
            <a:endParaRPr lang="zh-CN" altLang="en-US" b="1">
              <a:latin typeface="Times New Roman" panose="02020603050405020304" charset="0"/>
              <a:ea typeface="微软雅黑" panose="020B0503020204020204" pitchFamily="34" charset="-122"/>
              <a:cs typeface="Times New Roman" panose="02020603050405020304" charset="0"/>
            </a:endParaRPr>
          </a:p>
          <a:p>
            <a:pPr algn="ctr"/>
            <a:r>
              <a:rPr lang="zh-CN" altLang="en-US" b="1">
                <a:latin typeface="Times New Roman" panose="02020603050405020304" charset="0"/>
                <a:ea typeface="微软雅黑" panose="020B0503020204020204" pitchFamily="34" charset="-122"/>
                <a:cs typeface="Times New Roman" panose="02020603050405020304" charset="0"/>
              </a:rPr>
              <a:t>提升（XGBoost）</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42" name="文本框 41"/>
          <p:cNvSpPr txBox="1"/>
          <p:nvPr/>
        </p:nvSpPr>
        <p:spPr>
          <a:xfrm>
            <a:off x="1135380" y="5180330"/>
            <a:ext cx="1233805" cy="922020"/>
          </a:xfrm>
          <a:prstGeom prst="rect">
            <a:avLst/>
          </a:prstGeom>
          <a:solidFill>
            <a:schemeClr val="accent4">
              <a:lumMod val="60000"/>
              <a:lumOff val="4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rPr>
              <a:t>长短期记忆网络（LSTM）</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43" name="文本框 42"/>
          <p:cNvSpPr txBox="1"/>
          <p:nvPr/>
        </p:nvSpPr>
        <p:spPr>
          <a:xfrm>
            <a:off x="2632075" y="5190490"/>
            <a:ext cx="976630" cy="922020"/>
          </a:xfrm>
          <a:prstGeom prst="rect">
            <a:avLst/>
          </a:prstGeom>
          <a:solidFill>
            <a:schemeClr val="accent4">
              <a:lumMod val="60000"/>
              <a:lumOff val="4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rPr>
              <a:t>门控循环单元(GRU)</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44" name="文本框 43"/>
          <p:cNvSpPr txBox="1"/>
          <p:nvPr/>
        </p:nvSpPr>
        <p:spPr>
          <a:xfrm>
            <a:off x="5140960" y="5193665"/>
            <a:ext cx="1873885" cy="922020"/>
          </a:xfrm>
          <a:prstGeom prst="rect">
            <a:avLst/>
          </a:prstGeom>
          <a:solidFill>
            <a:schemeClr val="accent4">
              <a:lumMod val="60000"/>
              <a:lumOff val="40000"/>
            </a:schemeClr>
          </a:solidFill>
        </p:spPr>
        <p:txBody>
          <a:bodyPr wrap="square" rtlCol="0" anchor="t">
            <a:spAutoFit/>
          </a:bodyPr>
          <a:p>
            <a:pPr algn="ctr" fontAlgn="auto">
              <a:lnSpc>
                <a:spcPct val="150000"/>
              </a:lnSpc>
            </a:pPr>
            <a:r>
              <a:rPr lang="zh-CN" altLang="en-US" b="1">
                <a:latin typeface="Times New Roman" panose="02020603050405020304" charset="0"/>
                <a:ea typeface="微软雅黑" panose="020B0503020204020204" pitchFamily="34" charset="-122"/>
                <a:cs typeface="Times New Roman" panose="02020603050405020304" charset="0"/>
              </a:rPr>
              <a:t>组合预测方法</a:t>
            </a:r>
            <a:endParaRPr lang="zh-CN" altLang="en-US" b="1">
              <a:latin typeface="Times New Roman" panose="02020603050405020304" charset="0"/>
              <a:ea typeface="微软雅黑" panose="020B0503020204020204" pitchFamily="34" charset="-122"/>
              <a:cs typeface="Times New Roman" panose="02020603050405020304" charset="0"/>
            </a:endParaRPr>
          </a:p>
          <a:p>
            <a:pPr algn="ctr" fontAlgn="auto">
              <a:lnSpc>
                <a:spcPct val="150000"/>
              </a:lnSpc>
            </a:pPr>
            <a:r>
              <a:rPr lang="zh-CN" altLang="en-US" b="1">
                <a:latin typeface="Times New Roman" panose="02020603050405020304" charset="0"/>
                <a:ea typeface="微软雅黑" panose="020B0503020204020204" pitchFamily="34" charset="-122"/>
                <a:cs typeface="Times New Roman" panose="02020603050405020304" charset="0"/>
              </a:rPr>
              <a:t>（</a:t>
            </a:r>
            <a:r>
              <a:rPr lang="en-US" altLang="zh-CN" b="1">
                <a:latin typeface="Times New Roman" panose="02020603050405020304" charset="0"/>
                <a:ea typeface="微软雅黑" panose="020B0503020204020204" pitchFamily="34" charset="-122"/>
                <a:cs typeface="Times New Roman" panose="02020603050405020304" charset="0"/>
              </a:rPr>
              <a:t>CNN-LSTM</a:t>
            </a:r>
            <a:r>
              <a:rPr lang="zh-CN" altLang="en-US" b="1">
                <a:latin typeface="Times New Roman" panose="02020603050405020304" charset="0"/>
                <a:ea typeface="微软雅黑" panose="020B0503020204020204" pitchFamily="34" charset="-122"/>
                <a:cs typeface="Times New Roman" panose="02020603050405020304" charset="0"/>
              </a:rPr>
              <a:t>等）</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45" name="文本框 44"/>
          <p:cNvSpPr txBox="1"/>
          <p:nvPr/>
        </p:nvSpPr>
        <p:spPr>
          <a:xfrm>
            <a:off x="3928110" y="5182870"/>
            <a:ext cx="893445" cy="922020"/>
          </a:xfrm>
          <a:prstGeom prst="rect">
            <a:avLst/>
          </a:prstGeom>
          <a:solidFill>
            <a:schemeClr val="accent4">
              <a:lumMod val="60000"/>
              <a:lumOff val="4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rPr>
              <a:t>时间卷积网络(</a:t>
            </a:r>
            <a:r>
              <a:rPr lang="en-US" altLang="zh-CN" b="1">
                <a:latin typeface="Times New Roman" panose="02020603050405020304" charset="0"/>
                <a:ea typeface="微软雅黑" panose="020B0503020204020204" pitchFamily="34" charset="-122"/>
                <a:cs typeface="Times New Roman" panose="02020603050405020304" charset="0"/>
              </a:rPr>
              <a:t>TCN</a:t>
            </a:r>
            <a:r>
              <a:rPr lang="zh-CN" altLang="en-US" b="1">
                <a:latin typeface="Times New Roman" panose="02020603050405020304" charset="0"/>
                <a:ea typeface="微软雅黑" panose="020B0503020204020204" pitchFamily="34" charset="-122"/>
                <a:cs typeface="Times New Roman" panose="02020603050405020304" charset="0"/>
              </a:rPr>
              <a:t>)</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46" name="文本框 45"/>
          <p:cNvSpPr txBox="1"/>
          <p:nvPr/>
        </p:nvSpPr>
        <p:spPr>
          <a:xfrm>
            <a:off x="7422515" y="4126865"/>
            <a:ext cx="1029335" cy="922020"/>
          </a:xfrm>
          <a:prstGeom prst="rect">
            <a:avLst/>
          </a:prstGeom>
          <a:solidFill>
            <a:schemeClr val="accent4">
              <a:lumMod val="60000"/>
              <a:lumOff val="4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rPr>
              <a:t>多层感知机（MLP）</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47" name="文本框 46"/>
          <p:cNvSpPr txBox="1"/>
          <p:nvPr/>
        </p:nvSpPr>
        <p:spPr>
          <a:xfrm>
            <a:off x="9457690" y="5182870"/>
            <a:ext cx="1825625" cy="922020"/>
          </a:xfrm>
          <a:prstGeom prst="rect">
            <a:avLst/>
          </a:prstGeom>
          <a:solidFill>
            <a:srgbClr val="FFD966"/>
          </a:solidFill>
        </p:spPr>
        <p:txBody>
          <a:bodyPr wrap="square" rtlCol="0" anchor="t">
            <a:spAutoFit/>
          </a:bodyPr>
          <a:p>
            <a:pPr algn="ctr"/>
            <a:r>
              <a:rPr lang="zh-CN" altLang="en-US" b="1">
                <a:solidFill>
                  <a:srgbClr val="FF0000"/>
                </a:solidFill>
                <a:latin typeface="Times New Roman" panose="02020603050405020304" charset="0"/>
                <a:ea typeface="微软雅黑" panose="020B0503020204020204" pitchFamily="34" charset="-122"/>
                <a:cs typeface="Times New Roman" panose="02020603050405020304" charset="0"/>
              </a:rPr>
              <a:t>多头注意</a:t>
            </a: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endParaRPr>
          </a:p>
          <a:p>
            <a:pPr algn="ctr"/>
            <a:r>
              <a:rPr lang="zh-CN" altLang="en-US" b="1">
                <a:solidFill>
                  <a:srgbClr val="FF0000"/>
                </a:solidFill>
                <a:latin typeface="Times New Roman" panose="02020603050405020304" charset="0"/>
                <a:ea typeface="微软雅黑" panose="020B0503020204020204" pitchFamily="34" charset="-122"/>
                <a:cs typeface="Times New Roman" panose="02020603050405020304" charset="0"/>
              </a:rPr>
              <a:t>力模型（Transformer）</a:t>
            </a: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endParaRPr>
          </a:p>
        </p:txBody>
      </p:sp>
      <p:sp>
        <p:nvSpPr>
          <p:cNvPr id="51" name="文本框 50"/>
          <p:cNvSpPr txBox="1"/>
          <p:nvPr/>
        </p:nvSpPr>
        <p:spPr>
          <a:xfrm>
            <a:off x="7338695" y="5193665"/>
            <a:ext cx="1871345" cy="922020"/>
          </a:xfrm>
          <a:prstGeom prst="rect">
            <a:avLst/>
          </a:prstGeom>
          <a:solidFill>
            <a:schemeClr val="accent4">
              <a:lumMod val="60000"/>
              <a:lumOff val="4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sym typeface="+mn-ea"/>
              </a:rPr>
              <a:t>注意力机制的长短期记忆网络（LSTNet）</a:t>
            </a:r>
            <a:endParaRPr lang="zh-CN" altLang="en-US" b="1">
              <a:latin typeface="Times New Roman" panose="02020603050405020304" charset="0"/>
              <a:cs typeface="Times New Roman" panose="02020603050405020304" charset="0"/>
            </a:endParaRPr>
          </a:p>
        </p:txBody>
      </p:sp>
      <p:sp>
        <p:nvSpPr>
          <p:cNvPr id="52" name="文本框 51"/>
          <p:cNvSpPr txBox="1"/>
          <p:nvPr/>
        </p:nvSpPr>
        <p:spPr>
          <a:xfrm>
            <a:off x="6252210" y="4126865"/>
            <a:ext cx="929005" cy="922020"/>
          </a:xfrm>
          <a:prstGeom prst="rect">
            <a:avLst/>
          </a:prstGeom>
          <a:solidFill>
            <a:schemeClr val="accent4">
              <a:lumMod val="60000"/>
              <a:lumOff val="40000"/>
            </a:schemeClr>
          </a:solidFill>
        </p:spPr>
        <p:txBody>
          <a:bodyPr wrap="square" rtlCol="0" anchor="t">
            <a:spAutoFit/>
          </a:bodyPr>
          <a:p>
            <a:r>
              <a:rPr lang="zh-CN" altLang="en-US" b="1">
                <a:latin typeface="Times New Roman" panose="02020603050405020304" charset="0"/>
                <a:ea typeface="微软雅黑" panose="020B0503020204020204" pitchFamily="34" charset="-122"/>
                <a:cs typeface="Times New Roman" panose="02020603050405020304" charset="0"/>
              </a:rPr>
              <a:t>小波神经网络(WNN)</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53" name="文本框 52"/>
          <p:cNvSpPr txBox="1"/>
          <p:nvPr/>
        </p:nvSpPr>
        <p:spPr>
          <a:xfrm>
            <a:off x="1130935" y="1995170"/>
            <a:ext cx="1028700" cy="922020"/>
          </a:xfrm>
          <a:prstGeom prst="rect">
            <a:avLst/>
          </a:prstGeom>
          <a:solidFill>
            <a:schemeClr val="accent2">
              <a:lumMod val="60000"/>
              <a:lumOff val="4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rPr>
              <a:t>指数平滑法（</a:t>
            </a:r>
            <a:r>
              <a:rPr lang="en-US" altLang="zh-CN" b="1">
                <a:latin typeface="Times New Roman" panose="02020603050405020304" charset="0"/>
                <a:ea typeface="微软雅黑" panose="020B0503020204020204" pitchFamily="34" charset="-122"/>
                <a:cs typeface="Times New Roman" panose="02020603050405020304" charset="0"/>
              </a:rPr>
              <a:t>ES</a:t>
            </a:r>
            <a:r>
              <a:rPr lang="zh-CN" altLang="en-US" b="1">
                <a:latin typeface="Times New Roman" panose="02020603050405020304" charset="0"/>
                <a:ea typeface="微软雅黑" panose="020B0503020204020204" pitchFamily="34" charset="-122"/>
                <a:cs typeface="Times New Roman" panose="02020603050405020304" charset="0"/>
              </a:rPr>
              <a:t>）</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57" name="文本框 56"/>
          <p:cNvSpPr txBox="1"/>
          <p:nvPr/>
        </p:nvSpPr>
        <p:spPr>
          <a:xfrm>
            <a:off x="2636520" y="1995170"/>
            <a:ext cx="1106170" cy="922020"/>
          </a:xfrm>
          <a:prstGeom prst="rect">
            <a:avLst/>
          </a:prstGeom>
          <a:solidFill>
            <a:schemeClr val="accent2">
              <a:lumMod val="60000"/>
              <a:lumOff val="4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rPr>
              <a:t>灰色关联度法（GRA）</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58" name="文本框 57"/>
          <p:cNvSpPr txBox="1"/>
          <p:nvPr/>
        </p:nvSpPr>
        <p:spPr>
          <a:xfrm>
            <a:off x="1537335" y="3306445"/>
            <a:ext cx="4095115" cy="423545"/>
          </a:xfrm>
          <a:prstGeom prst="rect">
            <a:avLst/>
          </a:prstGeom>
          <a:solidFill>
            <a:schemeClr val="accent5">
              <a:lumMod val="40000"/>
              <a:lumOff val="60000"/>
            </a:schemeClr>
          </a:solidFill>
        </p:spPr>
        <p:txBody>
          <a:bodyPr wrap="square" rtlCol="0" anchor="t">
            <a:spAutoFit/>
          </a:bodyPr>
          <a:p>
            <a:pPr algn="ctr" fontAlgn="auto">
              <a:lnSpc>
                <a:spcPct val="120000"/>
              </a:lnSpc>
              <a:spcBef>
                <a:spcPts val="0"/>
              </a:spcBef>
              <a:spcAft>
                <a:spcPts val="0"/>
              </a:spcAft>
            </a:pPr>
            <a:r>
              <a:rPr lang="zh-CN" altLang="en-US" b="1">
                <a:latin typeface="Times New Roman" panose="02020603050405020304" charset="0"/>
                <a:ea typeface="微软雅黑" panose="020B0503020204020204" pitchFamily="34" charset="-122"/>
                <a:cs typeface="Times New Roman" panose="02020603050405020304" charset="0"/>
              </a:rPr>
              <a:t>时序处理：经验模态分解（</a:t>
            </a:r>
            <a:r>
              <a:rPr lang="en-US" altLang="zh-CN" b="1">
                <a:latin typeface="Times New Roman" panose="02020603050405020304" charset="0"/>
                <a:ea typeface="微软雅黑" panose="020B0503020204020204" pitchFamily="34" charset="-122"/>
                <a:cs typeface="Times New Roman" panose="02020603050405020304" charset="0"/>
              </a:rPr>
              <a:t>EMD</a:t>
            </a:r>
            <a:r>
              <a:rPr lang="zh-CN" altLang="en-US" b="1">
                <a:latin typeface="Times New Roman" panose="02020603050405020304" charset="0"/>
                <a:ea typeface="微软雅黑" panose="020B0503020204020204" pitchFamily="34" charset="-122"/>
                <a:cs typeface="Times New Roman" panose="02020603050405020304" charset="0"/>
              </a:rPr>
              <a:t>）等</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59" name="文本框 58"/>
          <p:cNvSpPr txBox="1"/>
          <p:nvPr/>
        </p:nvSpPr>
        <p:spPr>
          <a:xfrm>
            <a:off x="6812280" y="3306445"/>
            <a:ext cx="4095115" cy="423545"/>
          </a:xfrm>
          <a:prstGeom prst="rect">
            <a:avLst/>
          </a:prstGeom>
          <a:solidFill>
            <a:schemeClr val="accent5">
              <a:lumMod val="40000"/>
              <a:lumOff val="60000"/>
            </a:schemeClr>
          </a:solidFill>
        </p:spPr>
        <p:txBody>
          <a:bodyPr wrap="square" rtlCol="0" anchor="t">
            <a:spAutoFit/>
          </a:bodyPr>
          <a:p>
            <a:pPr algn="ctr" fontAlgn="auto">
              <a:lnSpc>
                <a:spcPct val="120000"/>
              </a:lnSpc>
            </a:pPr>
            <a:r>
              <a:rPr lang="zh-CN" altLang="en-US" b="1">
                <a:latin typeface="Times New Roman" panose="02020603050405020304" charset="0"/>
                <a:ea typeface="微软雅黑" panose="020B0503020204020204" pitchFamily="34" charset="-122"/>
                <a:cs typeface="Times New Roman" panose="02020603050405020304" charset="0"/>
              </a:rPr>
              <a:t>参数优化：遗传算法（</a:t>
            </a:r>
            <a:r>
              <a:rPr lang="en-US" altLang="zh-CN" b="1">
                <a:latin typeface="Times New Roman" panose="02020603050405020304" charset="0"/>
                <a:ea typeface="微软雅黑" panose="020B0503020204020204" pitchFamily="34" charset="-122"/>
                <a:cs typeface="Times New Roman" panose="02020603050405020304" charset="0"/>
              </a:rPr>
              <a:t>GA</a:t>
            </a:r>
            <a:r>
              <a:rPr lang="zh-CN" altLang="en-US" b="1">
                <a:latin typeface="Times New Roman" panose="02020603050405020304" charset="0"/>
                <a:ea typeface="微软雅黑" panose="020B0503020204020204" pitchFamily="34" charset="-122"/>
                <a:cs typeface="Times New Roman" panose="02020603050405020304" charset="0"/>
              </a:rPr>
              <a:t>）等</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61" name="文本框 60"/>
          <p:cNvSpPr txBox="1"/>
          <p:nvPr/>
        </p:nvSpPr>
        <p:spPr>
          <a:xfrm>
            <a:off x="1132205" y="4119245"/>
            <a:ext cx="797560" cy="922020"/>
          </a:xfrm>
          <a:prstGeom prst="rect">
            <a:avLst/>
          </a:prstGeom>
          <a:solidFill>
            <a:schemeClr val="accent6">
              <a:lumMod val="40000"/>
              <a:lumOff val="6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rPr>
              <a:t>随机森林(RF)</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62" name="文本框 61"/>
          <p:cNvSpPr txBox="1"/>
          <p:nvPr/>
        </p:nvSpPr>
        <p:spPr>
          <a:xfrm>
            <a:off x="9525000" y="1995170"/>
            <a:ext cx="1757045" cy="922020"/>
          </a:xfrm>
          <a:prstGeom prst="rect">
            <a:avLst/>
          </a:prstGeom>
          <a:solidFill>
            <a:schemeClr val="accent2">
              <a:lumMod val="60000"/>
              <a:lumOff val="4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rPr>
              <a:t>差分自回归移动平均模型（</a:t>
            </a:r>
            <a:r>
              <a:rPr lang="zh-CN" altLang="en-US" b="1">
                <a:latin typeface="Times New Roman" panose="02020603050405020304" charset="0"/>
                <a:ea typeface="微软雅黑" panose="020B0503020204020204" pitchFamily="34" charset="-122"/>
                <a:cs typeface="Times New Roman" panose="02020603050405020304" charset="0"/>
                <a:sym typeface="+mn-ea"/>
              </a:rPr>
              <a:t>ARIMA</a:t>
            </a:r>
            <a:r>
              <a:rPr lang="zh-CN" altLang="en-US" b="1">
                <a:latin typeface="Times New Roman" panose="02020603050405020304" charset="0"/>
                <a:ea typeface="微软雅黑" panose="020B0503020204020204" pitchFamily="34" charset="-122"/>
                <a:cs typeface="Times New Roman" panose="02020603050405020304" charset="0"/>
              </a:rPr>
              <a:t>）</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65" name="文本框 64"/>
          <p:cNvSpPr txBox="1"/>
          <p:nvPr/>
        </p:nvSpPr>
        <p:spPr>
          <a:xfrm>
            <a:off x="10088880" y="4126865"/>
            <a:ext cx="1194435" cy="922020"/>
          </a:xfrm>
          <a:prstGeom prst="rect">
            <a:avLst/>
          </a:prstGeom>
          <a:solidFill>
            <a:schemeClr val="accent4">
              <a:lumMod val="60000"/>
              <a:lumOff val="40000"/>
            </a:schemeClr>
          </a:solidFill>
        </p:spPr>
        <p:txBody>
          <a:bodyPr wrap="square" rtlCol="0" anchor="t">
            <a:spAutoFit/>
          </a:bodyPr>
          <a:p>
            <a:pPr algn="ctr" fontAlgn="auto">
              <a:lnSpc>
                <a:spcPct val="150000"/>
              </a:lnSpc>
            </a:pPr>
            <a:r>
              <a:rPr lang="zh-CN" altLang="en-US" b="1">
                <a:latin typeface="Times New Roman" panose="02020603050405020304" charset="0"/>
                <a:ea typeface="微软雅黑" panose="020B0503020204020204" pitchFamily="34" charset="-122"/>
                <a:cs typeface="Times New Roman" panose="02020603050405020304" charset="0"/>
              </a:rPr>
              <a:t>seq2seq模型</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66" name="文本框 65"/>
          <p:cNvSpPr txBox="1"/>
          <p:nvPr/>
        </p:nvSpPr>
        <p:spPr>
          <a:xfrm>
            <a:off x="8663940" y="4126865"/>
            <a:ext cx="1191895" cy="922020"/>
          </a:xfrm>
          <a:prstGeom prst="rect">
            <a:avLst/>
          </a:prstGeom>
          <a:solidFill>
            <a:schemeClr val="accent4">
              <a:lumMod val="60000"/>
              <a:lumOff val="40000"/>
            </a:schemeClr>
          </a:solidFill>
        </p:spPr>
        <p:txBody>
          <a:bodyPr wrap="square" rtlCol="0" anchor="t">
            <a:spAutoFit/>
          </a:bodyPr>
          <a:p>
            <a:pPr algn="ctr"/>
            <a:r>
              <a:rPr lang="zh-CN" altLang="en-US" b="1">
                <a:latin typeface="Times New Roman" panose="02020603050405020304" charset="0"/>
                <a:ea typeface="微软雅黑" panose="020B0503020204020204" pitchFamily="34" charset="-122"/>
                <a:cs typeface="Times New Roman" panose="02020603050405020304" charset="0"/>
              </a:rPr>
              <a:t>径向基函数网络（</a:t>
            </a:r>
            <a:r>
              <a:rPr lang="zh-CN" altLang="en-US" b="1">
                <a:latin typeface="Times New Roman" panose="02020603050405020304" charset="0"/>
                <a:ea typeface="微软雅黑" panose="020B0503020204020204" pitchFamily="34" charset="-122"/>
                <a:cs typeface="Times New Roman" panose="02020603050405020304" charset="0"/>
                <a:sym typeface="+mn-ea"/>
              </a:rPr>
              <a:t>RBF</a:t>
            </a:r>
            <a:r>
              <a:rPr lang="zh-CN" altLang="en-US" b="1">
                <a:latin typeface="Times New Roman" panose="02020603050405020304" charset="0"/>
                <a:ea typeface="微软雅黑" panose="020B0503020204020204" pitchFamily="34" charset="-122"/>
                <a:cs typeface="Times New Roman" panose="02020603050405020304" charset="0"/>
              </a:rPr>
              <a:t>）</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83" name="圆角矩形 82"/>
          <p:cNvSpPr/>
          <p:nvPr/>
        </p:nvSpPr>
        <p:spPr>
          <a:xfrm>
            <a:off x="899795" y="1501775"/>
            <a:ext cx="10668000" cy="1558290"/>
          </a:xfrm>
          <a:prstGeom prst="roundRect">
            <a:avLst>
              <a:gd name="adj" fmla="val 2684"/>
            </a:avLst>
          </a:prstGeom>
          <a:noFill/>
          <a:ln w="19050">
            <a:solidFill>
              <a:srgbClr val="0070C0"/>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85" name="圆角矩形 84"/>
          <p:cNvSpPr/>
          <p:nvPr/>
        </p:nvSpPr>
        <p:spPr>
          <a:xfrm>
            <a:off x="899795" y="3977005"/>
            <a:ext cx="10668000" cy="2531745"/>
          </a:xfrm>
          <a:prstGeom prst="roundRect">
            <a:avLst>
              <a:gd name="adj" fmla="val 2684"/>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pic>
        <p:nvPicPr>
          <p:cNvPr id="86" name="图片 85" descr="32313534373136343b32313534373135343bcab1bce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00115" y="3272155"/>
            <a:ext cx="492760" cy="492760"/>
          </a:xfrm>
          <a:prstGeom prst="rect">
            <a:avLst/>
          </a:prstGeom>
        </p:spPr>
      </p:pic>
      <p:sp>
        <p:nvSpPr>
          <p:cNvPr id="87" name="文本框 86"/>
          <p:cNvSpPr txBox="1"/>
          <p:nvPr/>
        </p:nvSpPr>
        <p:spPr>
          <a:xfrm>
            <a:off x="4594225" y="1544320"/>
            <a:ext cx="6909435" cy="368300"/>
          </a:xfrm>
          <a:prstGeom prst="rect">
            <a:avLst/>
          </a:prstGeom>
          <a:noFill/>
        </p:spPr>
        <p:txBody>
          <a:bodyPr wrap="square" rtlCol="0" anchor="t">
            <a:spAutoFit/>
          </a:bodyPr>
          <a:p>
            <a:r>
              <a:rPr lang="zh-CN" altLang="en-US" b="1">
                <a:solidFill>
                  <a:srgbClr val="FF0000"/>
                </a:solidFill>
                <a:latin typeface="微软雅黑" panose="020B0503020204020204" pitchFamily="34" charset="-122"/>
                <a:ea typeface="微软雅黑" panose="020B0503020204020204" pitchFamily="34" charset="-122"/>
              </a:rPr>
              <a:t>具有较强的通用性和可解释性，但很难全面的考虑各种因素的影响。</a:t>
            </a:r>
            <a:endParaRPr lang="zh-CN" altLang="en-US" b="1">
              <a:solidFill>
                <a:srgbClr val="FF0000"/>
              </a:solidFill>
              <a:latin typeface="微软雅黑" panose="020B0503020204020204" pitchFamily="34" charset="-122"/>
              <a:ea typeface="微软雅黑" panose="020B0503020204020204" pitchFamily="34" charset="-122"/>
            </a:endParaRPr>
          </a:p>
        </p:txBody>
      </p:sp>
      <p:sp>
        <p:nvSpPr>
          <p:cNvPr id="88" name="文本框 87"/>
          <p:cNvSpPr txBox="1"/>
          <p:nvPr/>
        </p:nvSpPr>
        <p:spPr>
          <a:xfrm>
            <a:off x="7568565" y="6115685"/>
            <a:ext cx="3935095" cy="368300"/>
          </a:xfrm>
          <a:prstGeom prst="rect">
            <a:avLst/>
          </a:prstGeom>
          <a:noFill/>
        </p:spPr>
        <p:txBody>
          <a:bodyPr wrap="square" rtlCol="0" anchor="t">
            <a:spAutoFit/>
          </a:bodyPr>
          <a:p>
            <a:r>
              <a:rPr lang="zh-CN" altLang="en-US" b="1">
                <a:solidFill>
                  <a:srgbClr val="FF0000"/>
                </a:solidFill>
                <a:latin typeface="微软雅黑" panose="020B0503020204020204" pitchFamily="34" charset="-122"/>
                <a:ea typeface="微软雅黑" panose="020B0503020204020204" pitchFamily="34" charset="-122"/>
              </a:rPr>
              <a:t>采用真实数据训练，但可解释性不强。</a:t>
            </a:r>
            <a:endParaRPr lang="zh-CN" altLang="en-US" b="1">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圆角矩形 20"/>
          <p:cNvSpPr/>
          <p:nvPr>
            <p:custDataLst>
              <p:tags r:id="rId1"/>
            </p:custDataLst>
          </p:nvPr>
        </p:nvSpPr>
        <p:spPr>
          <a:xfrm>
            <a:off x="4603115" y="4674870"/>
            <a:ext cx="3907790" cy="1632585"/>
          </a:xfrm>
          <a:prstGeom prst="roundRect">
            <a:avLst>
              <a:gd name="adj" fmla="val 6165"/>
            </a:avLst>
          </a:prstGeom>
          <a:solidFill>
            <a:schemeClr val="accent2">
              <a:lumMod val="20000"/>
              <a:lumOff val="80000"/>
            </a:schemeClr>
          </a:solidFill>
          <a:ln w="28575">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圆角矩形 27"/>
          <p:cNvSpPr/>
          <p:nvPr>
            <p:custDataLst>
              <p:tags r:id="rId2"/>
            </p:custDataLst>
          </p:nvPr>
        </p:nvSpPr>
        <p:spPr>
          <a:xfrm>
            <a:off x="4603115" y="3052445"/>
            <a:ext cx="3907155" cy="1372870"/>
          </a:xfrm>
          <a:prstGeom prst="roundRect">
            <a:avLst>
              <a:gd name="adj" fmla="val 6165"/>
            </a:avLst>
          </a:prstGeom>
          <a:solidFill>
            <a:schemeClr val="accent2">
              <a:lumMod val="20000"/>
              <a:lumOff val="80000"/>
            </a:schemeClr>
          </a:solidFill>
          <a:ln w="28575">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圆角矩形 29"/>
          <p:cNvSpPr/>
          <p:nvPr>
            <p:custDataLst>
              <p:tags r:id="rId3"/>
            </p:custDataLst>
          </p:nvPr>
        </p:nvSpPr>
        <p:spPr>
          <a:xfrm>
            <a:off x="541020" y="1651635"/>
            <a:ext cx="11109325" cy="1137920"/>
          </a:xfrm>
          <a:prstGeom prst="roundRect">
            <a:avLst>
              <a:gd name="adj" fmla="val 0"/>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2" name="内容占位符 1"/>
          <p:cNvSpPr>
            <a:spLocks noGrp="1"/>
          </p:cNvSpPr>
          <p:nvPr>
            <p:ph sz="quarter" idx="13"/>
          </p:nvPr>
        </p:nvSpPr>
        <p:spPr/>
        <p:txBody>
          <a:bodyPr/>
          <a:lstStyle/>
          <a:p>
            <a:r>
              <a:rPr lang="zh-CN" altLang="en-US" dirty="0" smtClean="0">
                <a:sym typeface="+mn-ea"/>
              </a:rPr>
              <a:t>课题</a:t>
            </a:r>
            <a:r>
              <a:rPr lang="zh-CN" altLang="en-US" dirty="0" smtClean="0">
                <a:sym typeface="+mn-ea"/>
              </a:rPr>
              <a:t>国内外发展现状</a:t>
            </a:r>
            <a:endParaRPr lang="zh-CN" altLang="en-US" dirty="0"/>
          </a:p>
          <a:p>
            <a:endParaRPr lang="zh-CN" altLang="en-US" dirty="0"/>
          </a:p>
        </p:txBody>
      </p:sp>
      <p:sp>
        <p:nvSpPr>
          <p:cNvPr id="3" name="灯片编号占位符 2"/>
          <p:cNvSpPr>
            <a:spLocks noGrp="1"/>
          </p:cNvSpPr>
          <p:nvPr>
            <p:ph type="sldNum" sz="quarter" idx="12"/>
          </p:nvPr>
        </p:nvSpPr>
        <p:spPr>
          <a:xfrm>
            <a:off x="11271286" y="6466725"/>
            <a:ext cx="472440" cy="365125"/>
          </a:xfrm>
        </p:spPr>
        <p:txBody>
          <a:bodyPr/>
          <a:lstStyle/>
          <a:p>
            <a:r>
              <a:rPr lang="en-US" altLang="zh-CN" dirty="0"/>
              <a:t>12</a:t>
            </a:r>
            <a:endParaRPr lang="en-US" altLang="zh-CN" dirty="0"/>
          </a:p>
        </p:txBody>
      </p:sp>
      <p:sp>
        <p:nvSpPr>
          <p:cNvPr id="94" name="矩形: 圆角 93"/>
          <p:cNvSpPr/>
          <p:nvPr/>
        </p:nvSpPr>
        <p:spPr>
          <a:xfrm>
            <a:off x="412750" y="972820"/>
            <a:ext cx="840676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负荷及电价预测研究现状</a:t>
            </a:r>
            <a:r>
              <a:rPr lang="zh-CN" altLang="en-US" sz="2400" dirty="0" smtClean="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4"/>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spc="100" dirty="0">
                <a:blipFill>
                  <a:blip r:embed="rId4"/>
                  <a:stretch>
                    <a:fillRect/>
                  </a:stretch>
                </a:blipFill>
                <a:latin typeface="微软雅黑" panose="020B0503020204020204" pitchFamily="34" charset="-122"/>
                <a:ea typeface="微软雅黑" panose="020B0503020204020204" pitchFamily="34" charset="-122"/>
                <a:sym typeface="Wingdings 3" panose="05040102010807070707" pitchFamily="18" charset="2"/>
              </a:rPr>
              <a:t>电动汽车充电负荷预测</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11505" y="1656080"/>
            <a:ext cx="10763885" cy="1087755"/>
          </a:xfrm>
          <a:prstGeom prst="rect">
            <a:avLst/>
          </a:prstGeom>
          <a:noFill/>
        </p:spPr>
        <p:txBody>
          <a:bodyPr wrap="square" rtlCol="0" anchor="t">
            <a:spAutoFit/>
          </a:bodyPr>
          <a:p>
            <a:pPr indent="457200" fontAlgn="auto">
              <a:lnSpc>
                <a:spcPct val="120000"/>
              </a:lnSpc>
            </a:pPr>
            <a:r>
              <a:rPr lang="zh-CN" altLang="en-US" b="1">
                <a:latin typeface="微软雅黑" panose="020B0503020204020204" pitchFamily="34" charset="-122"/>
                <a:ea typeface="微软雅黑" panose="020B0503020204020204" pitchFamily="34" charset="-122"/>
              </a:rPr>
              <a:t>整体上，前期研究阶段大部分集中在对电动汽车充电负荷的时间分布特性进行整体预测，</a:t>
            </a:r>
            <a:r>
              <a:rPr lang="zh-CN" altLang="en-US" b="1">
                <a:solidFill>
                  <a:srgbClr val="FF0000"/>
                </a:solidFill>
                <a:latin typeface="微软雅黑" panose="020B0503020204020204" pitchFamily="34" charset="-122"/>
                <a:ea typeface="微软雅黑" panose="020B0503020204020204" pitchFamily="34" charset="-122"/>
              </a:rPr>
              <a:t>采用随机数学方法为主</a:t>
            </a:r>
            <a:r>
              <a:rPr lang="zh-CN" altLang="en-US" b="1">
                <a:latin typeface="微软雅黑" panose="020B0503020204020204" pitchFamily="34" charset="-122"/>
                <a:ea typeface="微软雅黑" panose="020B0503020204020204" pitchFamily="34" charset="-122"/>
              </a:rPr>
              <a:t>；随着研究的深入，</a:t>
            </a:r>
            <a:r>
              <a:rPr lang="zh-CN" altLang="en-US" b="1">
                <a:solidFill>
                  <a:srgbClr val="FF0000"/>
                </a:solidFill>
                <a:latin typeface="微软雅黑" panose="020B0503020204020204" pitchFamily="34" charset="-122"/>
                <a:ea typeface="微软雅黑" panose="020B0503020204020204" pitchFamily="34" charset="-122"/>
              </a:rPr>
              <a:t>充电负荷的空间分布特性逐渐得到重视</a:t>
            </a:r>
            <a:r>
              <a:rPr lang="zh-CN" altLang="en-US" b="1">
                <a:latin typeface="微软雅黑" panose="020B0503020204020204" pitchFamily="34" charset="-122"/>
                <a:ea typeface="微软雅黑" panose="020B0503020204020204" pitchFamily="34" charset="-122"/>
              </a:rPr>
              <a:t>，研究手段也逐渐丰富，近年来开始探索将</a:t>
            </a:r>
            <a:r>
              <a:rPr lang="zh-CN" altLang="en-US" b="1">
                <a:solidFill>
                  <a:srgbClr val="FF0000"/>
                </a:solidFill>
                <a:latin typeface="微软雅黑" panose="020B0503020204020204" pitchFamily="34" charset="-122"/>
                <a:ea typeface="微软雅黑" panose="020B0503020204020204" pitchFamily="34" charset="-122"/>
              </a:rPr>
              <a:t>云计算、大数据、人工智能等</a:t>
            </a:r>
            <a:r>
              <a:rPr lang="zh-CN" altLang="en-US" b="1">
                <a:latin typeface="微软雅黑" panose="020B0503020204020204" pitchFamily="34" charset="-122"/>
                <a:ea typeface="微软雅黑" panose="020B0503020204020204" pitchFamily="34" charset="-122"/>
              </a:rPr>
              <a:t>技术应用于充电负荷预测当中。</a:t>
            </a:r>
            <a:endParaRPr lang="zh-CN" altLang="en-US" b="1">
              <a:latin typeface="微软雅黑" panose="020B0503020204020204" pitchFamily="34" charset="-122"/>
              <a:ea typeface="微软雅黑" panose="020B0503020204020204" pitchFamily="34" charset="-122"/>
            </a:endParaRPr>
          </a:p>
        </p:txBody>
      </p:sp>
      <p:sp>
        <p:nvSpPr>
          <p:cNvPr id="6" name="文本框 5"/>
          <p:cNvSpPr txBox="1"/>
          <p:nvPr/>
        </p:nvSpPr>
        <p:spPr>
          <a:xfrm>
            <a:off x="1233170" y="3407410"/>
            <a:ext cx="2996565" cy="662305"/>
          </a:xfrm>
          <a:prstGeom prst="rect">
            <a:avLst/>
          </a:prstGeom>
          <a:solidFill>
            <a:schemeClr val="accent5">
              <a:lumMod val="20000"/>
              <a:lumOff val="80000"/>
            </a:schemeClr>
          </a:solidFill>
        </p:spPr>
        <p:txBody>
          <a:bodyPr wrap="square" rtlCol="0" anchor="t">
            <a:noAutofit/>
          </a:bodyPr>
          <a:p>
            <a:pPr indent="0" algn="ctr" fontAlgn="auto">
              <a:lnSpc>
                <a:spcPct val="150000"/>
              </a:lnSpc>
            </a:pPr>
            <a:r>
              <a:rPr lang="zh-CN" altLang="en-US" sz="2000" b="1">
                <a:solidFill>
                  <a:srgbClr val="FF4F4F"/>
                </a:solidFill>
                <a:latin typeface="Times New Roman" panose="02020603050405020304" charset="0"/>
                <a:ea typeface="微软雅黑" panose="020B0503020204020204" pitchFamily="34" charset="-122"/>
              </a:rPr>
              <a:t>充电负荷时间分布预测</a:t>
            </a:r>
            <a:r>
              <a:rPr lang="en-US" altLang="zh-CN" sz="2000" b="1">
                <a:solidFill>
                  <a:srgbClr val="FF4F4F"/>
                </a:solidFill>
                <a:latin typeface="Times New Roman" panose="02020603050405020304" charset="0"/>
                <a:ea typeface="微软雅黑" panose="020B0503020204020204" pitchFamily="34" charset="-122"/>
              </a:rPr>
              <a:t>:</a:t>
            </a:r>
            <a:endParaRPr lang="en-US" altLang="zh-CN" sz="2000" b="1">
              <a:solidFill>
                <a:srgbClr val="FF4F4F"/>
              </a:solidFill>
              <a:latin typeface="Times New Roman" panose="02020603050405020304" charset="0"/>
              <a:ea typeface="微软雅黑" panose="020B0503020204020204" pitchFamily="34" charset="-122"/>
            </a:endParaRPr>
          </a:p>
        </p:txBody>
      </p:sp>
      <p:sp>
        <p:nvSpPr>
          <p:cNvPr id="7" name="文本框 6"/>
          <p:cNvSpPr txBox="1"/>
          <p:nvPr/>
        </p:nvSpPr>
        <p:spPr>
          <a:xfrm>
            <a:off x="5044440" y="3120390"/>
            <a:ext cx="3466465" cy="368300"/>
          </a:xfrm>
          <a:prstGeom prst="rect">
            <a:avLst/>
          </a:prstGeom>
          <a:noFill/>
        </p:spPr>
        <p:txBody>
          <a:bodyPr wrap="square" rtlCol="0" anchor="t">
            <a:spAutoFit/>
          </a:bodyPr>
          <a:p>
            <a:r>
              <a:rPr lang="zh-CN" altLang="en-US" b="1">
                <a:solidFill>
                  <a:srgbClr val="0E56F1"/>
                </a:solidFill>
                <a:latin typeface="Times New Roman" panose="02020603050405020304" charset="0"/>
                <a:ea typeface="微软雅黑" panose="020B0503020204020204" pitchFamily="34" charset="-122"/>
              </a:rPr>
              <a:t>基于确定性概率分布的随机模拟</a:t>
            </a:r>
            <a:endParaRPr lang="zh-CN" altLang="en-US" b="1">
              <a:solidFill>
                <a:srgbClr val="0E56F1"/>
              </a:solidFill>
              <a:latin typeface="Times New Roman" panose="02020603050405020304" charset="0"/>
              <a:ea typeface="微软雅黑" panose="020B0503020204020204" pitchFamily="34" charset="-122"/>
            </a:endParaRPr>
          </a:p>
        </p:txBody>
      </p:sp>
      <p:sp>
        <p:nvSpPr>
          <p:cNvPr id="8" name="文本框 7"/>
          <p:cNvSpPr txBox="1"/>
          <p:nvPr/>
        </p:nvSpPr>
        <p:spPr>
          <a:xfrm>
            <a:off x="5035550" y="3526155"/>
            <a:ext cx="2534920" cy="368300"/>
          </a:xfrm>
          <a:prstGeom prst="rect">
            <a:avLst/>
          </a:prstGeom>
          <a:noFill/>
        </p:spPr>
        <p:txBody>
          <a:bodyPr wrap="square" rtlCol="0" anchor="t">
            <a:spAutoFit/>
          </a:bodyPr>
          <a:p>
            <a:r>
              <a:rPr lang="zh-CN" altLang="en-US" b="1">
                <a:solidFill>
                  <a:srgbClr val="0E56F1"/>
                </a:solidFill>
                <a:latin typeface="Times New Roman" panose="02020603050405020304" charset="0"/>
                <a:ea typeface="微软雅黑" panose="020B0503020204020204" pitchFamily="34" charset="-122"/>
              </a:rPr>
              <a:t>基于排</a:t>
            </a:r>
            <a:r>
              <a:rPr lang="zh-CN" altLang="en-US" b="1">
                <a:solidFill>
                  <a:srgbClr val="0E56F0"/>
                </a:solidFill>
                <a:latin typeface="Times New Roman" panose="02020603050405020304" charset="0"/>
                <a:ea typeface="微软雅黑" panose="020B0503020204020204" pitchFamily="34" charset="-122"/>
              </a:rPr>
              <a:t>队论</a:t>
            </a:r>
            <a:r>
              <a:rPr lang="zh-CN" altLang="en-US" b="1">
                <a:solidFill>
                  <a:srgbClr val="0E56F1"/>
                </a:solidFill>
                <a:latin typeface="Times New Roman" panose="02020603050405020304" charset="0"/>
                <a:ea typeface="微软雅黑" panose="020B0503020204020204" pitchFamily="34" charset="-122"/>
              </a:rPr>
              <a:t>的随机模拟</a:t>
            </a:r>
            <a:endParaRPr lang="zh-CN" altLang="en-US" b="1">
              <a:solidFill>
                <a:srgbClr val="0E56F1"/>
              </a:solidFill>
              <a:latin typeface="Times New Roman" panose="02020603050405020304" charset="0"/>
              <a:ea typeface="微软雅黑" panose="020B0503020204020204" pitchFamily="34" charset="-122"/>
            </a:endParaRPr>
          </a:p>
        </p:txBody>
      </p:sp>
      <p:sp>
        <p:nvSpPr>
          <p:cNvPr id="9" name="文本框 8"/>
          <p:cNvSpPr txBox="1"/>
          <p:nvPr/>
        </p:nvSpPr>
        <p:spPr>
          <a:xfrm>
            <a:off x="5035550" y="3931920"/>
            <a:ext cx="2315845" cy="368300"/>
          </a:xfrm>
          <a:prstGeom prst="rect">
            <a:avLst/>
          </a:prstGeom>
          <a:noFill/>
        </p:spPr>
        <p:txBody>
          <a:bodyPr wrap="square" rtlCol="0" anchor="t">
            <a:spAutoFit/>
          </a:bodyPr>
          <a:p>
            <a:r>
              <a:rPr lang="zh-CN" altLang="en-US" b="1">
                <a:solidFill>
                  <a:srgbClr val="0E56F1"/>
                </a:solidFill>
                <a:latin typeface="Times New Roman" panose="02020603050405020304" charset="0"/>
                <a:ea typeface="微软雅黑" panose="020B0503020204020204" pitchFamily="34" charset="-122"/>
              </a:rPr>
              <a:t>多种场景的随机模拟</a:t>
            </a:r>
            <a:endParaRPr lang="zh-CN" altLang="en-US" b="1">
              <a:solidFill>
                <a:srgbClr val="0E56F1"/>
              </a:solidFill>
              <a:latin typeface="Times New Roman" panose="02020603050405020304" charset="0"/>
              <a:ea typeface="微软雅黑" panose="020B0503020204020204" pitchFamily="34" charset="-122"/>
            </a:endParaRPr>
          </a:p>
        </p:txBody>
      </p:sp>
      <p:sp>
        <p:nvSpPr>
          <p:cNvPr id="10" name="文本框 9"/>
          <p:cNvSpPr txBox="1"/>
          <p:nvPr/>
        </p:nvSpPr>
        <p:spPr>
          <a:xfrm>
            <a:off x="1231265" y="5109845"/>
            <a:ext cx="2995295" cy="610235"/>
          </a:xfrm>
          <a:prstGeom prst="rect">
            <a:avLst/>
          </a:prstGeom>
          <a:solidFill>
            <a:schemeClr val="accent5">
              <a:lumMod val="20000"/>
              <a:lumOff val="80000"/>
            </a:schemeClr>
          </a:solidFill>
        </p:spPr>
        <p:txBody>
          <a:bodyPr wrap="square" rtlCol="0" anchor="t">
            <a:noAutofit/>
          </a:bodyPr>
          <a:p>
            <a:pPr indent="0" algn="ctr" fontAlgn="auto">
              <a:lnSpc>
                <a:spcPct val="150000"/>
              </a:lnSpc>
            </a:pPr>
            <a:r>
              <a:rPr lang="zh-CN" altLang="en-US" sz="2000" b="1">
                <a:solidFill>
                  <a:srgbClr val="FF4F4F"/>
                </a:solidFill>
                <a:latin typeface="Times New Roman" panose="02020603050405020304" charset="0"/>
                <a:ea typeface="微软雅黑" panose="020B0503020204020204" pitchFamily="34" charset="-122"/>
              </a:rPr>
              <a:t>充电负荷空间分布预测</a:t>
            </a:r>
            <a:r>
              <a:rPr lang="en-US" altLang="zh-CN" sz="2000" b="1">
                <a:solidFill>
                  <a:srgbClr val="FF4F4F"/>
                </a:solidFill>
                <a:latin typeface="Times New Roman" panose="02020603050405020304" charset="0"/>
                <a:ea typeface="微软雅黑" panose="020B0503020204020204" pitchFamily="34" charset="-122"/>
              </a:rPr>
              <a:t>:</a:t>
            </a:r>
            <a:endParaRPr lang="en-US" altLang="zh-CN" sz="2000" b="1">
              <a:solidFill>
                <a:srgbClr val="FF4F4F"/>
              </a:solidFill>
              <a:latin typeface="Times New Roman" panose="02020603050405020304" charset="0"/>
              <a:ea typeface="微软雅黑" panose="020B0503020204020204" pitchFamily="34" charset="-122"/>
            </a:endParaRPr>
          </a:p>
        </p:txBody>
      </p:sp>
      <p:sp>
        <p:nvSpPr>
          <p:cNvPr id="11" name="文本框 10"/>
          <p:cNvSpPr txBox="1"/>
          <p:nvPr/>
        </p:nvSpPr>
        <p:spPr>
          <a:xfrm>
            <a:off x="5044440" y="4754245"/>
            <a:ext cx="3541395" cy="368300"/>
          </a:xfrm>
          <a:prstGeom prst="rect">
            <a:avLst/>
          </a:prstGeom>
          <a:noFill/>
        </p:spPr>
        <p:txBody>
          <a:bodyPr wrap="square" rtlCol="0" anchor="t">
            <a:spAutoFit/>
          </a:bodyPr>
          <a:p>
            <a:r>
              <a:rPr lang="zh-CN" altLang="en-US" b="1">
                <a:solidFill>
                  <a:srgbClr val="0E56F1"/>
                </a:solidFill>
                <a:latin typeface="Times New Roman" panose="02020603050405020304" charset="0"/>
                <a:ea typeface="微软雅黑" panose="020B0503020204020204" pitchFamily="34" charset="-122"/>
              </a:rPr>
              <a:t>基于交通行业起止点分析法(OD)</a:t>
            </a:r>
            <a:endParaRPr lang="en-US" altLang="zh-CN" b="1">
              <a:solidFill>
                <a:srgbClr val="0070C0"/>
              </a:solidFill>
              <a:latin typeface="Times New Roman" panose="02020603050405020304" charset="0"/>
              <a:ea typeface="微软雅黑" panose="020B0503020204020204" pitchFamily="34" charset="-122"/>
              <a:cs typeface="Times New Roman" panose="02020603050405020304" charset="0"/>
            </a:endParaRPr>
          </a:p>
        </p:txBody>
      </p:sp>
      <p:sp>
        <p:nvSpPr>
          <p:cNvPr id="12" name="文本框 11"/>
          <p:cNvSpPr txBox="1"/>
          <p:nvPr/>
        </p:nvSpPr>
        <p:spPr>
          <a:xfrm>
            <a:off x="5044440" y="5186045"/>
            <a:ext cx="3825875" cy="368300"/>
          </a:xfrm>
          <a:prstGeom prst="rect">
            <a:avLst/>
          </a:prstGeom>
          <a:noFill/>
        </p:spPr>
        <p:txBody>
          <a:bodyPr wrap="square" rtlCol="0" anchor="t">
            <a:spAutoFit/>
          </a:bodyPr>
          <a:p>
            <a:r>
              <a:rPr lang="zh-CN" altLang="en-US" b="1">
                <a:solidFill>
                  <a:srgbClr val="0E56F1"/>
                </a:solidFill>
                <a:latin typeface="Times New Roman" panose="02020603050405020304" charset="0"/>
                <a:ea typeface="微软雅黑" panose="020B0503020204020204" pitchFamily="34" charset="-122"/>
              </a:rPr>
              <a:t>基于多代理系统仿真法(MAS)</a:t>
            </a:r>
            <a:endParaRPr lang="zh-CN" altLang="en-US" b="1">
              <a:solidFill>
                <a:srgbClr val="0E56F1"/>
              </a:solidFill>
              <a:latin typeface="Times New Roman" panose="02020603050405020304" charset="0"/>
              <a:ea typeface="微软雅黑" panose="020B0503020204020204" pitchFamily="34" charset="-122"/>
            </a:endParaRPr>
          </a:p>
        </p:txBody>
      </p:sp>
      <p:sp>
        <p:nvSpPr>
          <p:cNvPr id="13" name="文本框 12"/>
          <p:cNvSpPr txBox="1"/>
          <p:nvPr/>
        </p:nvSpPr>
        <p:spPr>
          <a:xfrm>
            <a:off x="5044440" y="5617845"/>
            <a:ext cx="3354705" cy="645160"/>
          </a:xfrm>
          <a:prstGeom prst="rect">
            <a:avLst/>
          </a:prstGeom>
          <a:noFill/>
        </p:spPr>
        <p:txBody>
          <a:bodyPr wrap="square" rtlCol="0" anchor="t">
            <a:spAutoFit/>
          </a:bodyPr>
          <a:p>
            <a:pPr algn="l">
              <a:buClrTx/>
              <a:buSzTx/>
              <a:buFontTx/>
            </a:pPr>
            <a:r>
              <a:rPr lang="zh-CN" altLang="en-US" b="1">
                <a:solidFill>
                  <a:srgbClr val="0E56F1"/>
                </a:solidFill>
                <a:latin typeface="Times New Roman" panose="02020603050405020304" charset="0"/>
                <a:ea typeface="微软雅黑" panose="020B0503020204020204" pitchFamily="34" charset="-122"/>
              </a:rPr>
              <a:t>基于基于出行链和马尔可夫过程的蒙特卡洛的方法(MCMC)</a:t>
            </a:r>
            <a:endParaRPr lang="zh-CN" altLang="en-US" b="1">
              <a:solidFill>
                <a:srgbClr val="0E56F1"/>
              </a:solidFill>
              <a:latin typeface="Times New Roman" panose="02020603050405020304" charset="0"/>
              <a:ea typeface="微软雅黑" panose="020B0503020204020204" pitchFamily="34" charset="-122"/>
            </a:endParaRPr>
          </a:p>
        </p:txBody>
      </p:sp>
      <p:sp>
        <p:nvSpPr>
          <p:cNvPr id="16" name="文本框 15"/>
          <p:cNvSpPr txBox="1"/>
          <p:nvPr/>
        </p:nvSpPr>
        <p:spPr>
          <a:xfrm>
            <a:off x="9325610" y="3235960"/>
            <a:ext cx="2325370" cy="2609215"/>
          </a:xfrm>
          <a:prstGeom prst="rect">
            <a:avLst/>
          </a:prstGeom>
          <a:solidFill>
            <a:schemeClr val="accent4">
              <a:lumMod val="20000"/>
              <a:lumOff val="80000"/>
            </a:schemeClr>
          </a:solidFill>
          <a:effectLst>
            <a:outerShdw blurRad="50800" dist="38100" dir="2700000" algn="tl" rotWithShape="0">
              <a:prstClr val="black">
                <a:alpha val="40000"/>
              </a:prstClr>
            </a:outerShdw>
          </a:effectLst>
        </p:spPr>
        <p:txBody>
          <a:bodyPr wrap="square" rtlCol="0" anchor="t">
            <a:spAutoFit/>
          </a:bodyPr>
          <a:p>
            <a:pPr indent="457200" fontAlgn="auto">
              <a:lnSpc>
                <a:spcPct val="130000"/>
              </a:lnSpc>
            </a:pPr>
            <a:r>
              <a:rPr lang="zh-CN" altLang="en-US" b="1">
                <a:latin typeface="Times New Roman" panose="02020603050405020304" charset="0"/>
                <a:ea typeface="微软雅黑" panose="020B0503020204020204" pitchFamily="34" charset="-122"/>
              </a:rPr>
              <a:t>上述基于模型驱动思维的充电负荷预测建模时，</a:t>
            </a:r>
            <a:r>
              <a:rPr lang="zh-CN" altLang="en-US" b="1">
                <a:solidFill>
                  <a:srgbClr val="080EF6"/>
                </a:solidFill>
                <a:latin typeface="Times New Roman" panose="02020603050405020304" charset="0"/>
                <a:ea typeface="微软雅黑" panose="020B0503020204020204" pitchFamily="34" charset="-122"/>
              </a:rPr>
              <a:t>存在着多方面的不确定性因素，</a:t>
            </a:r>
            <a:r>
              <a:rPr lang="zh-CN" altLang="en-US" b="1">
                <a:latin typeface="Times New Roman" panose="02020603050405020304" charset="0"/>
                <a:ea typeface="微软雅黑" panose="020B0503020204020204" pitchFamily="34" charset="-122"/>
              </a:rPr>
              <a:t>不同用途的电动汽车其呈现的</a:t>
            </a:r>
            <a:r>
              <a:rPr lang="zh-CN" altLang="en-US" b="1">
                <a:solidFill>
                  <a:srgbClr val="080EF6"/>
                </a:solidFill>
                <a:latin typeface="Times New Roman" panose="02020603050405020304" charset="0"/>
                <a:ea typeface="微软雅黑" panose="020B0503020204020204" pitchFamily="34" charset="-122"/>
              </a:rPr>
              <a:t>随机性也相差很大。</a:t>
            </a:r>
            <a:endParaRPr lang="zh-CN" altLang="en-US" b="1">
              <a:solidFill>
                <a:srgbClr val="080EF6"/>
              </a:solidFill>
              <a:latin typeface="Times New Roman" panose="02020603050405020304" charset="0"/>
              <a:ea typeface="微软雅黑" panose="020B0503020204020204" pitchFamily="34" charset="-122"/>
            </a:endParaRPr>
          </a:p>
        </p:txBody>
      </p:sp>
      <p:pic>
        <p:nvPicPr>
          <p:cNvPr id="18" name="图片 17" descr="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52010" y="3148330"/>
            <a:ext cx="374015" cy="374015"/>
          </a:xfrm>
          <a:prstGeom prst="rect">
            <a:avLst/>
          </a:prstGeom>
        </p:spPr>
      </p:pic>
      <p:pic>
        <p:nvPicPr>
          <p:cNvPr id="19" name="图片 18" descr="2"/>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52010" y="3547110"/>
            <a:ext cx="383540" cy="383540"/>
          </a:xfrm>
          <a:prstGeom prst="rect">
            <a:avLst/>
          </a:prstGeom>
        </p:spPr>
      </p:pic>
      <p:pic>
        <p:nvPicPr>
          <p:cNvPr id="20" name="图片 19" descr="3"/>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64075" y="3968750"/>
            <a:ext cx="371475" cy="371475"/>
          </a:xfrm>
          <a:prstGeom prst="rect">
            <a:avLst/>
          </a:prstGeom>
        </p:spPr>
      </p:pic>
      <p:pic>
        <p:nvPicPr>
          <p:cNvPr id="23" name="图片 22" descr="1"/>
          <p:cNvPicPr>
            <a:picLocks noChangeAspect="1"/>
          </p:cNvPicPr>
          <p:nvPr>
            <p:custDataLst>
              <p:tags r:id="rId11"/>
            </p:custDataLst>
          </p:nvPr>
        </p:nvPicPr>
        <p:blipFill>
          <a:blip r:embed="rId5">
            <a:extLst>
              <a:ext uri="{96DAC541-7B7A-43D3-8B79-37D633B846F1}">
                <asvg:svgBlip xmlns:asvg="http://schemas.microsoft.com/office/drawing/2016/SVG/main" r:embed="rId6"/>
              </a:ext>
            </a:extLst>
          </a:blip>
          <a:stretch>
            <a:fillRect/>
          </a:stretch>
        </p:blipFill>
        <p:spPr>
          <a:xfrm>
            <a:off x="4652010" y="4805045"/>
            <a:ext cx="374015" cy="374015"/>
          </a:xfrm>
          <a:prstGeom prst="rect">
            <a:avLst/>
          </a:prstGeom>
        </p:spPr>
      </p:pic>
      <p:pic>
        <p:nvPicPr>
          <p:cNvPr id="24" name="图片 23" descr="2"/>
          <p:cNvPicPr>
            <a:picLocks noChangeAspect="1"/>
          </p:cNvPicPr>
          <p:nvPr>
            <p:custDataLst>
              <p:tags r:id="rId12"/>
            </p:custDataLst>
          </p:nvPr>
        </p:nvPicPr>
        <p:blipFill>
          <a:blip r:embed="rId7">
            <a:extLst>
              <a:ext uri="{96DAC541-7B7A-43D3-8B79-37D633B846F1}">
                <asvg:svgBlip xmlns:asvg="http://schemas.microsoft.com/office/drawing/2016/SVG/main" r:embed="rId8"/>
              </a:ext>
            </a:extLst>
          </a:blip>
          <a:stretch>
            <a:fillRect/>
          </a:stretch>
        </p:blipFill>
        <p:spPr>
          <a:xfrm>
            <a:off x="4652010" y="5253990"/>
            <a:ext cx="383540" cy="383540"/>
          </a:xfrm>
          <a:prstGeom prst="rect">
            <a:avLst/>
          </a:prstGeom>
        </p:spPr>
      </p:pic>
      <p:pic>
        <p:nvPicPr>
          <p:cNvPr id="25" name="图片 24" descr="3"/>
          <p:cNvPicPr>
            <a:picLocks noChangeAspect="1"/>
          </p:cNvPicPr>
          <p:nvPr>
            <p:custDataLst>
              <p:tags r:id="rId13"/>
            </p:custDataLst>
          </p:nvPr>
        </p:nvPicPr>
        <p:blipFill>
          <a:blip r:embed="rId9">
            <a:extLst>
              <a:ext uri="{96DAC541-7B7A-43D3-8B79-37D633B846F1}">
                <asvg:svgBlip xmlns:asvg="http://schemas.microsoft.com/office/drawing/2016/SVG/main" r:embed="rId10"/>
              </a:ext>
            </a:extLst>
          </a:blip>
          <a:stretch>
            <a:fillRect/>
          </a:stretch>
        </p:blipFill>
        <p:spPr>
          <a:xfrm>
            <a:off x="4652010" y="5754370"/>
            <a:ext cx="371475" cy="371475"/>
          </a:xfrm>
          <a:prstGeom prst="rect">
            <a:avLst/>
          </a:prstGeom>
        </p:spPr>
      </p:pic>
      <p:pic>
        <p:nvPicPr>
          <p:cNvPr id="26" name="图片 25" descr="数字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65480" y="3491230"/>
            <a:ext cx="431800" cy="431800"/>
          </a:xfrm>
          <a:prstGeom prst="rect">
            <a:avLst/>
          </a:prstGeom>
        </p:spPr>
      </p:pic>
      <p:pic>
        <p:nvPicPr>
          <p:cNvPr id="27" name="图片 26" descr="数字2"/>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65480" y="5191125"/>
            <a:ext cx="431800" cy="431800"/>
          </a:xfrm>
          <a:prstGeom prst="rect">
            <a:avLst/>
          </a:prstGeom>
        </p:spPr>
      </p:pic>
      <p:cxnSp>
        <p:nvCxnSpPr>
          <p:cNvPr id="29" name="直接连接符 28"/>
          <p:cNvCxnSpPr/>
          <p:nvPr/>
        </p:nvCxnSpPr>
        <p:spPr>
          <a:xfrm flipV="1">
            <a:off x="665480" y="4528185"/>
            <a:ext cx="8448675" cy="22225"/>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dissolv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custDataLst>
              <p:tags r:id="rId1"/>
            </p:custDataLst>
          </p:nvPr>
        </p:nvSpPr>
        <p:spPr>
          <a:xfrm>
            <a:off x="708660" y="1651635"/>
            <a:ext cx="10975340" cy="1313815"/>
          </a:xfrm>
          <a:prstGeom prst="roundRect">
            <a:avLst>
              <a:gd name="adj" fmla="val 0"/>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28" name="圆角矩形 27"/>
          <p:cNvSpPr/>
          <p:nvPr>
            <p:custDataLst>
              <p:tags r:id="rId2"/>
            </p:custDataLst>
          </p:nvPr>
        </p:nvSpPr>
        <p:spPr>
          <a:xfrm>
            <a:off x="5420360" y="3254375"/>
            <a:ext cx="3815715" cy="2936240"/>
          </a:xfrm>
          <a:prstGeom prst="roundRect">
            <a:avLst>
              <a:gd name="adj" fmla="val 6165"/>
            </a:avLst>
          </a:prstGeom>
          <a:solidFill>
            <a:schemeClr val="accent2">
              <a:lumMod val="20000"/>
              <a:lumOff val="80000"/>
            </a:schemeClr>
          </a:solidFill>
          <a:ln w="28575">
            <a:solidFill>
              <a:schemeClr val="accent2">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内容占位符 1"/>
          <p:cNvSpPr>
            <a:spLocks noGrp="1"/>
          </p:cNvSpPr>
          <p:nvPr>
            <p:ph sz="quarter" idx="13"/>
          </p:nvPr>
        </p:nvSpPr>
        <p:spPr/>
        <p:txBody>
          <a:bodyPr/>
          <a:lstStyle/>
          <a:p>
            <a:r>
              <a:rPr lang="zh-CN" altLang="en-US" dirty="0" smtClean="0">
                <a:sym typeface="+mn-ea"/>
              </a:rPr>
              <a:t>课题</a:t>
            </a:r>
            <a:r>
              <a:rPr lang="zh-CN" altLang="en-US" dirty="0" smtClean="0">
                <a:sym typeface="+mn-ea"/>
              </a:rPr>
              <a:t>国内外发展现状</a:t>
            </a:r>
            <a:endParaRPr lang="zh-CN" altLang="en-US" dirty="0"/>
          </a:p>
          <a:p>
            <a:endParaRPr lang="zh-CN" altLang="en-US" dirty="0"/>
          </a:p>
        </p:txBody>
      </p:sp>
      <p:sp>
        <p:nvSpPr>
          <p:cNvPr id="3" name="灯片编号占位符 2"/>
          <p:cNvSpPr>
            <a:spLocks noGrp="1"/>
          </p:cNvSpPr>
          <p:nvPr>
            <p:ph type="sldNum" sz="quarter" idx="12"/>
          </p:nvPr>
        </p:nvSpPr>
        <p:spPr>
          <a:xfrm>
            <a:off x="11271286" y="6466725"/>
            <a:ext cx="472440" cy="365125"/>
          </a:xfrm>
        </p:spPr>
        <p:txBody>
          <a:bodyPr/>
          <a:lstStyle/>
          <a:p>
            <a:r>
              <a:rPr lang="en-US" altLang="zh-CN" dirty="0"/>
              <a:t>13</a:t>
            </a:r>
            <a:endParaRPr lang="en-US" altLang="zh-CN" dirty="0"/>
          </a:p>
        </p:txBody>
      </p:sp>
      <p:sp>
        <p:nvSpPr>
          <p:cNvPr id="94" name="矩形: 圆角 93"/>
          <p:cNvSpPr/>
          <p:nvPr/>
        </p:nvSpPr>
        <p:spPr>
          <a:xfrm>
            <a:off x="412750" y="972820"/>
            <a:ext cx="840676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负荷及电价预测研究现状</a:t>
            </a:r>
            <a:r>
              <a:rPr lang="zh-CN" altLang="en-US" sz="2400" dirty="0" smtClean="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3"/>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spc="100" dirty="0">
                <a:blipFill>
                  <a:blip r:embed="rId3"/>
                  <a:stretch>
                    <a:fillRect/>
                  </a:stretch>
                </a:blipFill>
                <a:latin typeface="微软雅黑" panose="020B0503020204020204" pitchFamily="34" charset="-122"/>
                <a:ea typeface="微软雅黑" panose="020B0503020204020204" pitchFamily="34" charset="-122"/>
                <a:sym typeface="Wingdings 3" panose="05040102010807070707" pitchFamily="18" charset="2"/>
              </a:rPr>
              <a:t>电动汽车充电负荷预测</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231265" y="3254375"/>
            <a:ext cx="3744595" cy="662305"/>
          </a:xfrm>
          <a:prstGeom prst="rect">
            <a:avLst/>
          </a:prstGeom>
          <a:solidFill>
            <a:schemeClr val="accent5">
              <a:lumMod val="20000"/>
              <a:lumOff val="80000"/>
            </a:schemeClr>
          </a:solidFill>
        </p:spPr>
        <p:txBody>
          <a:bodyPr wrap="square" rtlCol="0" anchor="t">
            <a:noAutofit/>
          </a:bodyPr>
          <a:p>
            <a:pPr indent="0" algn="ctr" fontAlgn="auto">
              <a:lnSpc>
                <a:spcPct val="150000"/>
              </a:lnSpc>
            </a:pPr>
            <a:r>
              <a:rPr lang="zh-CN" altLang="en-US" sz="2000" b="1">
                <a:solidFill>
                  <a:srgbClr val="FF0000"/>
                </a:solidFill>
                <a:latin typeface="Times New Roman" panose="02020603050405020304" charset="0"/>
                <a:ea typeface="微软雅黑" panose="020B0503020204020204" pitchFamily="34" charset="-122"/>
              </a:rPr>
              <a:t>云计算、大数据、人工智能等</a:t>
            </a:r>
            <a:r>
              <a:rPr lang="en-US" altLang="zh-CN" sz="2000" b="1">
                <a:solidFill>
                  <a:srgbClr val="FF0000"/>
                </a:solidFill>
                <a:latin typeface="Times New Roman" panose="02020603050405020304" charset="0"/>
                <a:ea typeface="微软雅黑" panose="020B0503020204020204" pitchFamily="34" charset="-122"/>
              </a:rPr>
              <a:t>:</a:t>
            </a:r>
            <a:endParaRPr lang="en-US" altLang="zh-CN" sz="2000" b="1">
              <a:solidFill>
                <a:srgbClr val="FF0000"/>
              </a:solidFill>
              <a:latin typeface="Times New Roman" panose="02020603050405020304" charset="0"/>
              <a:ea typeface="微软雅黑" panose="020B0503020204020204" pitchFamily="34" charset="-122"/>
            </a:endParaRPr>
          </a:p>
        </p:txBody>
      </p:sp>
      <p:sp>
        <p:nvSpPr>
          <p:cNvPr id="5" name="文本框 4"/>
          <p:cNvSpPr txBox="1"/>
          <p:nvPr/>
        </p:nvSpPr>
        <p:spPr>
          <a:xfrm>
            <a:off x="5998210" y="3533775"/>
            <a:ext cx="1434465" cy="368300"/>
          </a:xfrm>
          <a:prstGeom prst="rect">
            <a:avLst/>
          </a:prstGeom>
          <a:noFill/>
        </p:spPr>
        <p:txBody>
          <a:bodyPr wrap="square" rtlCol="0" anchor="t">
            <a:spAutoFit/>
          </a:bodyPr>
          <a:p>
            <a:r>
              <a:rPr lang="zh-CN" altLang="en-US" b="1">
                <a:solidFill>
                  <a:srgbClr val="0E56F0"/>
                </a:solidFill>
                <a:latin typeface="Times New Roman" panose="02020603050405020304" charset="0"/>
                <a:ea typeface="微软雅黑" panose="020B0503020204020204" pitchFamily="34" charset="-122"/>
              </a:rPr>
              <a:t>架构平台型</a:t>
            </a:r>
            <a:endParaRPr lang="zh-CN" altLang="en-US" b="1">
              <a:solidFill>
                <a:srgbClr val="0E56F0"/>
              </a:solidFill>
              <a:latin typeface="Times New Roman" panose="02020603050405020304" charset="0"/>
              <a:ea typeface="微软雅黑" panose="020B0503020204020204" pitchFamily="34" charset="-122"/>
            </a:endParaRPr>
          </a:p>
        </p:txBody>
      </p:sp>
      <p:sp>
        <p:nvSpPr>
          <p:cNvPr id="6" name="文本框 5"/>
          <p:cNvSpPr txBox="1"/>
          <p:nvPr/>
        </p:nvSpPr>
        <p:spPr>
          <a:xfrm>
            <a:off x="5998210" y="4069715"/>
            <a:ext cx="3357245" cy="368300"/>
          </a:xfrm>
          <a:prstGeom prst="rect">
            <a:avLst/>
          </a:prstGeom>
          <a:noFill/>
        </p:spPr>
        <p:txBody>
          <a:bodyPr wrap="square" rtlCol="0" anchor="t">
            <a:spAutoFit/>
          </a:bodyPr>
          <a:p>
            <a:r>
              <a:rPr lang="zh-CN" altLang="en-US" b="1">
                <a:solidFill>
                  <a:srgbClr val="0E56F0"/>
                </a:solidFill>
                <a:latin typeface="Times New Roman" panose="02020603050405020304" charset="0"/>
                <a:ea typeface="微软雅黑" panose="020B0503020204020204" pitchFamily="34" charset="-122"/>
              </a:rPr>
              <a:t>结合模型利用大数据的数据量</a:t>
            </a:r>
            <a:endParaRPr lang="zh-CN" altLang="en-US" b="1">
              <a:solidFill>
                <a:srgbClr val="0E56F0"/>
              </a:solidFill>
              <a:latin typeface="Times New Roman" panose="02020603050405020304" charset="0"/>
              <a:ea typeface="微软雅黑" panose="020B0503020204020204" pitchFamily="34" charset="-122"/>
            </a:endParaRPr>
          </a:p>
        </p:txBody>
      </p:sp>
      <p:sp>
        <p:nvSpPr>
          <p:cNvPr id="7" name="文本框 6"/>
          <p:cNvSpPr txBox="1"/>
          <p:nvPr/>
        </p:nvSpPr>
        <p:spPr>
          <a:xfrm>
            <a:off x="5998210" y="4605655"/>
            <a:ext cx="3005455" cy="368300"/>
          </a:xfrm>
          <a:prstGeom prst="rect">
            <a:avLst/>
          </a:prstGeom>
          <a:noFill/>
        </p:spPr>
        <p:txBody>
          <a:bodyPr wrap="square" rtlCol="0" anchor="t">
            <a:spAutoFit/>
          </a:bodyPr>
          <a:p>
            <a:r>
              <a:rPr lang="zh-CN" altLang="en-US" b="1">
                <a:solidFill>
                  <a:srgbClr val="0E56F0"/>
                </a:solidFill>
                <a:latin typeface="Times New Roman" panose="02020603050405020304" charset="0"/>
                <a:ea typeface="微软雅黑" panose="020B0503020204020204" pitchFamily="34" charset="-122"/>
              </a:rPr>
              <a:t>人工智能范畴中算法的应用</a:t>
            </a:r>
            <a:endParaRPr lang="zh-CN" altLang="en-US" b="1">
              <a:solidFill>
                <a:srgbClr val="0E56F0"/>
              </a:solidFill>
              <a:latin typeface="Times New Roman" panose="02020603050405020304" charset="0"/>
              <a:ea typeface="微软雅黑" panose="020B0503020204020204" pitchFamily="34" charset="-122"/>
            </a:endParaRPr>
          </a:p>
        </p:txBody>
      </p:sp>
      <p:sp>
        <p:nvSpPr>
          <p:cNvPr id="8" name="文本框 7"/>
          <p:cNvSpPr txBox="1"/>
          <p:nvPr/>
        </p:nvSpPr>
        <p:spPr>
          <a:xfrm>
            <a:off x="6989445" y="5116195"/>
            <a:ext cx="758825" cy="368300"/>
          </a:xfrm>
          <a:prstGeom prst="rect">
            <a:avLst/>
          </a:prstGeom>
          <a:noFill/>
          <a:extLst>
            <a:ext uri="{909E8E84-426E-40DD-AFC4-6F175D3DCCD1}">
              <a14:hiddenFill xmlns:a14="http://schemas.microsoft.com/office/drawing/2010/main">
                <a:solidFill>
                  <a:srgbClr val="00B050"/>
                </a:solidFill>
              </a14:hiddenFill>
            </a:ext>
          </a:extLst>
        </p:spPr>
        <p:txBody>
          <a:bodyPr wrap="square" rtlCol="0">
            <a:spAutoFit/>
          </a:bodyPr>
          <a:p>
            <a:r>
              <a:rPr lang="en-US" altLang="zh-CN" b="1">
                <a:solidFill>
                  <a:srgbClr val="00B050"/>
                </a:solidFill>
                <a:latin typeface="Times New Roman" panose="02020603050405020304" charset="0"/>
                <a:ea typeface="微软雅黑" panose="020B0503020204020204" pitchFamily="34" charset="-122"/>
                <a:cs typeface="Times New Roman" panose="02020603050405020304" charset="0"/>
              </a:rPr>
              <a:t>CNN</a:t>
            </a:r>
            <a:endParaRPr lang="en-US" altLang="zh-CN"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sp>
        <p:nvSpPr>
          <p:cNvPr id="9" name="文本框 8"/>
          <p:cNvSpPr txBox="1"/>
          <p:nvPr/>
        </p:nvSpPr>
        <p:spPr>
          <a:xfrm>
            <a:off x="8002270" y="5116195"/>
            <a:ext cx="848360" cy="368300"/>
          </a:xfrm>
          <a:prstGeom prst="rect">
            <a:avLst/>
          </a:prstGeom>
          <a:noFill/>
          <a:extLst>
            <a:ext uri="{909E8E84-426E-40DD-AFC4-6F175D3DCCD1}">
              <a14:hiddenFill xmlns:a14="http://schemas.microsoft.com/office/drawing/2010/main">
                <a:solidFill>
                  <a:srgbClr val="00B050"/>
                </a:solidFill>
              </a14:hiddenFill>
            </a:ext>
          </a:extLst>
        </p:spPr>
        <p:txBody>
          <a:bodyPr wrap="square" rtlCol="0">
            <a:spAutoFit/>
          </a:bodyPr>
          <a:p>
            <a:r>
              <a:rPr lang="en-US" altLang="zh-CN" b="1">
                <a:solidFill>
                  <a:srgbClr val="00B050"/>
                </a:solidFill>
                <a:latin typeface="Times New Roman" panose="02020603050405020304" charset="0"/>
                <a:ea typeface="微软雅黑" panose="020B0503020204020204" pitchFamily="34" charset="-122"/>
                <a:cs typeface="Times New Roman" panose="02020603050405020304" charset="0"/>
              </a:rPr>
              <a:t>LSTM</a:t>
            </a:r>
            <a:endParaRPr lang="en-US" altLang="zh-CN"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sp>
        <p:nvSpPr>
          <p:cNvPr id="10" name="文本框 9"/>
          <p:cNvSpPr txBox="1"/>
          <p:nvPr/>
        </p:nvSpPr>
        <p:spPr>
          <a:xfrm>
            <a:off x="6429375" y="5568315"/>
            <a:ext cx="711200" cy="368300"/>
          </a:xfrm>
          <a:prstGeom prst="rect">
            <a:avLst/>
          </a:prstGeom>
          <a:noFill/>
          <a:extLst>
            <a:ext uri="{909E8E84-426E-40DD-AFC4-6F175D3DCCD1}">
              <a14:hiddenFill xmlns:a14="http://schemas.microsoft.com/office/drawing/2010/main">
                <a:solidFill>
                  <a:srgbClr val="00B050"/>
                </a:solidFill>
              </a14:hiddenFill>
            </a:ext>
          </a:extLst>
        </p:spPr>
        <p:txBody>
          <a:bodyPr wrap="square" rtlCol="0">
            <a:spAutoFit/>
          </a:bodyPr>
          <a:p>
            <a:r>
              <a:rPr lang="en-US" altLang="zh-CN" b="1">
                <a:solidFill>
                  <a:srgbClr val="00B050"/>
                </a:solidFill>
                <a:latin typeface="Times New Roman" panose="02020603050405020304" charset="0"/>
                <a:ea typeface="微软雅黑" panose="020B0503020204020204" pitchFamily="34" charset="-122"/>
                <a:cs typeface="Times New Roman" panose="02020603050405020304" charset="0"/>
              </a:rPr>
              <a:t>GRU</a:t>
            </a:r>
            <a:endParaRPr lang="en-US" altLang="zh-CN"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sp>
        <p:nvSpPr>
          <p:cNvPr id="11" name="文本框 10"/>
          <p:cNvSpPr txBox="1"/>
          <p:nvPr/>
        </p:nvSpPr>
        <p:spPr>
          <a:xfrm>
            <a:off x="7567930" y="5568315"/>
            <a:ext cx="681990" cy="368300"/>
          </a:xfrm>
          <a:prstGeom prst="rect">
            <a:avLst/>
          </a:prstGeom>
          <a:noFill/>
          <a:extLst>
            <a:ext uri="{909E8E84-426E-40DD-AFC4-6F175D3DCCD1}">
              <a14:hiddenFill xmlns:a14="http://schemas.microsoft.com/office/drawing/2010/main">
                <a:solidFill>
                  <a:srgbClr val="00B050"/>
                </a:solidFill>
              </a14:hiddenFill>
            </a:ext>
          </a:extLst>
        </p:spPr>
        <p:txBody>
          <a:bodyPr wrap="square" rtlCol="0">
            <a:spAutoFit/>
          </a:bodyPr>
          <a:p>
            <a:r>
              <a:rPr lang="en-US" altLang="zh-CN" b="1">
                <a:solidFill>
                  <a:srgbClr val="00B050"/>
                </a:solidFill>
                <a:latin typeface="Times New Roman" panose="02020603050405020304" charset="0"/>
                <a:ea typeface="微软雅黑" panose="020B0503020204020204" pitchFamily="34" charset="-122"/>
                <a:cs typeface="Times New Roman" panose="02020603050405020304" charset="0"/>
              </a:rPr>
              <a:t>TCN</a:t>
            </a:r>
            <a:endParaRPr lang="en-US" altLang="zh-CN"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sp>
        <p:nvSpPr>
          <p:cNvPr id="12" name="文本框 11"/>
          <p:cNvSpPr txBox="1"/>
          <p:nvPr/>
        </p:nvSpPr>
        <p:spPr>
          <a:xfrm>
            <a:off x="9324340" y="3275330"/>
            <a:ext cx="2360295" cy="2827655"/>
          </a:xfrm>
          <a:prstGeom prst="rect">
            <a:avLst/>
          </a:prstGeom>
          <a:solidFill>
            <a:schemeClr val="accent4">
              <a:lumMod val="20000"/>
              <a:lumOff val="80000"/>
            </a:schemeClr>
          </a:solidFill>
          <a:effectLst>
            <a:outerShdw blurRad="50800" dist="38100" dir="2700000" algn="tl" rotWithShape="0">
              <a:prstClr val="black">
                <a:alpha val="40000"/>
              </a:prstClr>
            </a:outerShdw>
          </a:effectLst>
        </p:spPr>
        <p:txBody>
          <a:bodyPr wrap="square" rtlCol="0" anchor="t">
            <a:noAutofit/>
          </a:bodyPr>
          <a:p>
            <a:pPr indent="457200" fontAlgn="auto">
              <a:lnSpc>
                <a:spcPct val="120000"/>
              </a:lnSpc>
            </a:pPr>
            <a:r>
              <a:rPr lang="zh-CN" altLang="en-US" b="1">
                <a:latin typeface="Times New Roman" panose="02020603050405020304" charset="0"/>
                <a:ea typeface="微软雅黑" panose="020B0503020204020204" pitchFamily="34" charset="-122"/>
              </a:rPr>
              <a:t>当前大多数研究将充电负荷预测</a:t>
            </a:r>
            <a:r>
              <a:rPr lang="zh-CN" altLang="en-US" b="1">
                <a:solidFill>
                  <a:srgbClr val="FF0000"/>
                </a:solidFill>
                <a:latin typeface="Times New Roman" panose="02020603050405020304" charset="0"/>
                <a:ea typeface="微软雅黑" panose="020B0503020204020204" pitchFamily="34" charset="-122"/>
              </a:rPr>
              <a:t>看作是时间序列预测问题</a:t>
            </a:r>
            <a:r>
              <a:rPr lang="zh-CN" altLang="en-US" b="1">
                <a:latin typeface="Times New Roman" panose="02020603050405020304" charset="0"/>
                <a:ea typeface="微软雅黑" panose="020B0503020204020204" pitchFamily="34" charset="-122"/>
              </a:rPr>
              <a:t>，注重挖掘时间维信息，而</a:t>
            </a:r>
            <a:r>
              <a:rPr lang="zh-CN" altLang="en-US" b="1">
                <a:solidFill>
                  <a:srgbClr val="FF0000"/>
                </a:solidFill>
                <a:latin typeface="Times New Roman" panose="02020603050405020304" charset="0"/>
                <a:ea typeface="微软雅黑" panose="020B0503020204020204" pitchFamily="34" charset="-122"/>
              </a:rPr>
              <a:t>忽略了不同充电负荷之间的空间维信息以及交通网潜在的空间影响性</a:t>
            </a:r>
            <a:r>
              <a:rPr lang="zh-CN" altLang="en-US" b="1">
                <a:latin typeface="Times New Roman" panose="02020603050405020304" charset="0"/>
                <a:ea typeface="微软雅黑" panose="020B0503020204020204" pitchFamily="34" charset="-122"/>
              </a:rPr>
              <a:t>。</a:t>
            </a:r>
            <a:endParaRPr lang="zh-CN" altLang="en-US" b="1">
              <a:latin typeface="Times New Roman" panose="02020603050405020304" charset="0"/>
              <a:ea typeface="微软雅黑" panose="020B0503020204020204" pitchFamily="34" charset="-122"/>
            </a:endParaRPr>
          </a:p>
        </p:txBody>
      </p:sp>
      <p:sp>
        <p:nvSpPr>
          <p:cNvPr id="13" name="文本框 12"/>
          <p:cNvSpPr txBox="1"/>
          <p:nvPr/>
        </p:nvSpPr>
        <p:spPr>
          <a:xfrm>
            <a:off x="5902960" y="5116195"/>
            <a:ext cx="711835" cy="368300"/>
          </a:xfrm>
          <a:prstGeom prst="rect">
            <a:avLst/>
          </a:prstGeom>
          <a:noFill/>
          <a:extLst>
            <a:ext uri="{909E8E84-426E-40DD-AFC4-6F175D3DCCD1}">
              <a14:hiddenFill xmlns:a14="http://schemas.microsoft.com/office/drawing/2010/main">
                <a:solidFill>
                  <a:srgbClr val="00B050"/>
                </a:solidFill>
              </a14:hiddenFill>
            </a:ext>
          </a:extLst>
        </p:spPr>
        <p:txBody>
          <a:bodyPr wrap="square" rtlCol="0">
            <a:spAutoFit/>
          </a:bodyPr>
          <a:p>
            <a:r>
              <a:rPr lang="en-US" altLang="zh-CN" b="1">
                <a:solidFill>
                  <a:srgbClr val="00B050"/>
                </a:solidFill>
                <a:latin typeface="Times New Roman" panose="02020603050405020304" charset="0"/>
                <a:ea typeface="微软雅黑" panose="020B0503020204020204" pitchFamily="34" charset="-122"/>
                <a:cs typeface="Times New Roman" panose="02020603050405020304" charset="0"/>
              </a:rPr>
              <a:t>SVM</a:t>
            </a:r>
            <a:endParaRPr lang="en-US" altLang="zh-CN"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sp>
        <p:nvSpPr>
          <p:cNvPr id="14" name="文本框 13"/>
          <p:cNvSpPr txBox="1"/>
          <p:nvPr/>
        </p:nvSpPr>
        <p:spPr>
          <a:xfrm>
            <a:off x="902970" y="1692910"/>
            <a:ext cx="10518775" cy="1212850"/>
          </a:xfrm>
          <a:prstGeom prst="rect">
            <a:avLst/>
          </a:prstGeom>
          <a:noFill/>
        </p:spPr>
        <p:txBody>
          <a:bodyPr wrap="square" rtlCol="0" anchor="t">
            <a:spAutoFit/>
          </a:bodyPr>
          <a:p>
            <a:pPr indent="457200" fontAlgn="auto">
              <a:lnSpc>
                <a:spcPct val="135000"/>
              </a:lnSpc>
            </a:pPr>
            <a:r>
              <a:rPr lang="zh-CN" altLang="en-US" b="1">
                <a:latin typeface="Times New Roman" panose="02020603050405020304" charset="0"/>
                <a:ea typeface="微软雅黑" panose="020B0503020204020204" pitchFamily="34" charset="-122"/>
              </a:rPr>
              <a:t>前述模型驱动的方法具有较强的通用性和可解释性，但是在建立模型过程中很难全面考虑各种因素的影响。与模型驱动方法相比，数据驱动方法利用实际数据建立预测模型，其预测结果更加接近真实的充电负荷。</a:t>
            </a:r>
            <a:endParaRPr lang="zh-CN" altLang="en-US" b="1">
              <a:latin typeface="Times New Roman" panose="02020603050405020304" charset="0"/>
              <a:ea typeface="微软雅黑" panose="020B0503020204020204" pitchFamily="34" charset="-122"/>
            </a:endParaRPr>
          </a:p>
        </p:txBody>
      </p:sp>
      <p:pic>
        <p:nvPicPr>
          <p:cNvPr id="23" name="图片 22" descr="1"/>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5488305" y="3594100"/>
            <a:ext cx="374015" cy="374015"/>
          </a:xfrm>
          <a:prstGeom prst="rect">
            <a:avLst/>
          </a:prstGeom>
        </p:spPr>
      </p:pic>
      <p:pic>
        <p:nvPicPr>
          <p:cNvPr id="24" name="图片 23" descr="2"/>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5490845" y="4114165"/>
            <a:ext cx="383540" cy="383540"/>
          </a:xfrm>
          <a:prstGeom prst="rect">
            <a:avLst/>
          </a:prstGeom>
        </p:spPr>
      </p:pic>
      <p:pic>
        <p:nvPicPr>
          <p:cNvPr id="25" name="图片 24" descr="3"/>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5490845" y="4614545"/>
            <a:ext cx="371475" cy="371475"/>
          </a:xfrm>
          <a:prstGeom prst="rect">
            <a:avLst/>
          </a:prstGeom>
        </p:spPr>
      </p:pic>
      <p:pic>
        <p:nvPicPr>
          <p:cNvPr id="15" name="图片 14" descr="数字3"/>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5455" y="3356610"/>
            <a:ext cx="457200" cy="457200"/>
          </a:xfrm>
          <a:prstGeom prst="rect">
            <a:avLst/>
          </a:prstGeom>
        </p:spPr>
      </p:pic>
      <p:sp>
        <p:nvSpPr>
          <p:cNvPr id="16" name="圆角矩形 15"/>
          <p:cNvSpPr/>
          <p:nvPr>
            <p:custDataLst>
              <p:tags r:id="rId15"/>
            </p:custDataLst>
          </p:nvPr>
        </p:nvSpPr>
        <p:spPr>
          <a:xfrm>
            <a:off x="5539105" y="4575810"/>
            <a:ext cx="3569335" cy="1470025"/>
          </a:xfrm>
          <a:prstGeom prst="roundRect">
            <a:avLst>
              <a:gd name="adj" fmla="val 6165"/>
            </a:avLst>
          </a:prstGeom>
          <a:noFill/>
          <a:ln w="19050">
            <a:solidFill>
              <a:srgbClr val="FF0000"/>
            </a:solidFill>
            <a:prstDash val="dash"/>
          </a:ln>
          <a:extLst>
            <a:ext uri="{909E8E84-426E-40DD-AFC4-6F175D3DCCD1}">
              <a14:hiddenFill xmlns:a14="http://schemas.microsoft.com/office/drawing/2010/main">
                <a:solidFill>
                  <a:schemeClr val="accent2">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7" name="图片 16"/>
          <p:cNvPicPr>
            <a:picLocks noChangeAspect="1"/>
          </p:cNvPicPr>
          <p:nvPr>
            <p:custDataLst>
              <p:tags r:id="rId16"/>
            </p:custDataLst>
          </p:nvPr>
        </p:nvPicPr>
        <p:blipFill>
          <a:blip r:embed="rId17"/>
          <a:srcRect l="1081" t="2215" r="1524" b="1438"/>
          <a:stretch>
            <a:fillRect/>
          </a:stretch>
        </p:blipFill>
        <p:spPr>
          <a:xfrm>
            <a:off x="389255" y="4048125"/>
            <a:ext cx="5024120" cy="2142490"/>
          </a:xfrm>
          <a:prstGeom prst="rect">
            <a:avLst/>
          </a:prstGeom>
        </p:spPr>
      </p:pic>
    </p:spTree>
  </p:cSld>
  <p:clrMapOvr>
    <a:masterClrMapping/>
  </p:clrMapOvr>
  <p:transition>
    <p:dissolv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custDataLst>
              <p:tags r:id="rId1"/>
            </p:custDataLst>
          </p:nvPr>
        </p:nvSpPr>
        <p:spPr>
          <a:xfrm>
            <a:off x="721995" y="1516380"/>
            <a:ext cx="10741025" cy="1113790"/>
          </a:xfrm>
          <a:prstGeom prst="roundRect">
            <a:avLst>
              <a:gd name="adj" fmla="val 0"/>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2" name="内容占位符 1"/>
          <p:cNvSpPr>
            <a:spLocks noGrp="1"/>
          </p:cNvSpPr>
          <p:nvPr>
            <p:ph sz="quarter" idx="13"/>
          </p:nvPr>
        </p:nvSpPr>
        <p:spPr/>
        <p:txBody>
          <a:bodyPr/>
          <a:lstStyle/>
          <a:p>
            <a:r>
              <a:rPr lang="zh-CN" altLang="en-US" dirty="0" smtClean="0">
                <a:sym typeface="+mn-ea"/>
              </a:rPr>
              <a:t>课题</a:t>
            </a:r>
            <a:r>
              <a:rPr lang="zh-CN" altLang="en-US" dirty="0" smtClean="0">
                <a:sym typeface="+mn-ea"/>
              </a:rPr>
              <a:t>国内外发展现状</a:t>
            </a:r>
            <a:endParaRPr lang="zh-CN" altLang="en-US" dirty="0"/>
          </a:p>
          <a:p>
            <a:endParaRPr lang="zh-CN" altLang="en-US" dirty="0"/>
          </a:p>
        </p:txBody>
      </p:sp>
      <p:sp>
        <p:nvSpPr>
          <p:cNvPr id="3" name="灯片编号占位符 2"/>
          <p:cNvSpPr>
            <a:spLocks noGrp="1"/>
          </p:cNvSpPr>
          <p:nvPr>
            <p:ph type="sldNum" sz="quarter" idx="12"/>
          </p:nvPr>
        </p:nvSpPr>
        <p:spPr>
          <a:xfrm>
            <a:off x="11271286" y="6466725"/>
            <a:ext cx="472440" cy="365125"/>
          </a:xfrm>
        </p:spPr>
        <p:txBody>
          <a:bodyPr/>
          <a:lstStyle/>
          <a:p>
            <a:r>
              <a:rPr lang="en-US" altLang="zh-CN" dirty="0"/>
              <a:t>14</a:t>
            </a:r>
            <a:endParaRPr lang="en-US" altLang="zh-CN" dirty="0"/>
          </a:p>
        </p:txBody>
      </p:sp>
      <p:sp>
        <p:nvSpPr>
          <p:cNvPr id="94" name="矩形: 圆角 93"/>
          <p:cNvSpPr/>
          <p:nvPr/>
        </p:nvSpPr>
        <p:spPr>
          <a:xfrm>
            <a:off x="412750" y="972820"/>
            <a:ext cx="840676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负荷及电价预测研究现状</a:t>
            </a:r>
            <a:r>
              <a:rPr lang="zh-CN" altLang="en-US" sz="2400" dirty="0" smtClean="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2"/>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dirty="0">
                <a:solidFill>
                  <a:srgbClr val="FABC00"/>
                </a:solidFill>
                <a:latin typeface="微软雅黑" panose="020B0503020204020204" pitchFamily="34" charset="-122"/>
                <a:ea typeface="微软雅黑" panose="020B0503020204020204" pitchFamily="34" charset="-122"/>
                <a:sym typeface="+mn-ea"/>
              </a:rPr>
              <a:t>用户用电空间负荷预测</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958850" y="1516380"/>
            <a:ext cx="10422890" cy="1087755"/>
          </a:xfrm>
          <a:prstGeom prst="rect">
            <a:avLst/>
          </a:prstGeom>
          <a:noFill/>
        </p:spPr>
        <p:txBody>
          <a:bodyPr wrap="square" rtlCol="0" anchor="t">
            <a:spAutoFit/>
          </a:bodyPr>
          <a:p>
            <a:pPr indent="457200" fontAlgn="auto">
              <a:lnSpc>
                <a:spcPct val="120000"/>
              </a:lnSpc>
            </a:pPr>
            <a:r>
              <a:rPr lang="zh-CN" altLang="en-US" b="1">
                <a:latin typeface="Times New Roman" panose="02020603050405020304" charset="0"/>
                <a:ea typeface="微软雅黑" panose="020B0503020204020204" pitchFamily="34" charset="-122"/>
                <a:cs typeface="Times New Roman" panose="02020603050405020304" charset="0"/>
              </a:rPr>
              <a:t>目前，</a:t>
            </a:r>
            <a:r>
              <a:rPr lang="zh-CN" altLang="en-US" b="1">
                <a:solidFill>
                  <a:srgbClr val="FF0000"/>
                </a:solidFill>
                <a:latin typeface="Times New Roman" panose="02020603050405020304" charset="0"/>
                <a:ea typeface="微软雅黑" panose="020B0503020204020204" pitchFamily="34" charset="-122"/>
                <a:cs typeface="Times New Roman" panose="02020603050405020304" charset="0"/>
              </a:rPr>
              <a:t>传统空间负荷预测按照其原理分为四大类：趋势分析法、多元变量法、用地仿真法和负荷密度指标法</a:t>
            </a:r>
            <a:r>
              <a:rPr lang="zh-CN" altLang="en-US" b="1">
                <a:latin typeface="Times New Roman" panose="02020603050405020304" charset="0"/>
                <a:ea typeface="微软雅黑" panose="020B0503020204020204" pitchFamily="34" charset="-122"/>
                <a:cs typeface="Times New Roman" panose="02020603050405020304" charset="0"/>
              </a:rPr>
              <a:t>等。传统方法主要是针对于中长期预测，适用于负荷平稳的场景。然而，随着大量柔性负荷的接入，使得上述传统方法难以应对。</a:t>
            </a:r>
            <a:endParaRPr lang="zh-CN" altLang="en-US" b="1">
              <a:latin typeface="Times New Roman" panose="02020603050405020304" charset="0"/>
              <a:ea typeface="微软雅黑" panose="020B0503020204020204" pitchFamily="34" charset="-122"/>
              <a:cs typeface="Times New Roman" panose="02020603050405020304" charset="0"/>
            </a:endParaRPr>
          </a:p>
        </p:txBody>
      </p:sp>
      <p:pic>
        <p:nvPicPr>
          <p:cNvPr id="6" name="图片 5"/>
          <p:cNvPicPr>
            <a:picLocks noChangeAspect="1"/>
          </p:cNvPicPr>
          <p:nvPr>
            <p:custDataLst>
              <p:tags r:id="rId3"/>
            </p:custDataLst>
          </p:nvPr>
        </p:nvPicPr>
        <p:blipFill>
          <a:blip r:embed="rId4"/>
          <a:srcRect l="652" t="2531" r="1545" b="1841"/>
          <a:stretch>
            <a:fillRect/>
          </a:stretch>
        </p:blipFill>
        <p:spPr>
          <a:xfrm>
            <a:off x="917575" y="2698115"/>
            <a:ext cx="10423525" cy="3768725"/>
          </a:xfrm>
          <a:prstGeom prst="rect">
            <a:avLst/>
          </a:prstGeom>
        </p:spPr>
      </p:pic>
    </p:spTree>
  </p:cSld>
  <p:clrMapOvr>
    <a:masterClrMapping/>
  </p:clrMapOvr>
  <p:transition>
    <p:dissolv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custDataLst>
              <p:tags r:id="rId1"/>
            </p:custDataLst>
          </p:nvPr>
        </p:nvSpPr>
        <p:spPr>
          <a:xfrm>
            <a:off x="864235" y="1497330"/>
            <a:ext cx="8814435" cy="387350"/>
          </a:xfrm>
          <a:prstGeom prst="roundRect">
            <a:avLst>
              <a:gd name="adj" fmla="val 0"/>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2" name="内容占位符 1"/>
          <p:cNvSpPr>
            <a:spLocks noGrp="1"/>
          </p:cNvSpPr>
          <p:nvPr>
            <p:ph sz="quarter" idx="13"/>
          </p:nvPr>
        </p:nvSpPr>
        <p:spPr/>
        <p:txBody>
          <a:bodyPr/>
          <a:lstStyle/>
          <a:p>
            <a:r>
              <a:rPr lang="zh-CN" altLang="en-US" dirty="0" smtClean="0">
                <a:sym typeface="+mn-ea"/>
              </a:rPr>
              <a:t>课题</a:t>
            </a:r>
            <a:r>
              <a:rPr lang="zh-CN" altLang="en-US" dirty="0" smtClean="0">
                <a:sym typeface="+mn-ea"/>
              </a:rPr>
              <a:t>国内外发展现状</a:t>
            </a:r>
            <a:endParaRPr lang="zh-CN" altLang="en-US" dirty="0"/>
          </a:p>
          <a:p>
            <a:endParaRPr lang="zh-CN" altLang="en-US" dirty="0"/>
          </a:p>
        </p:txBody>
      </p:sp>
      <p:sp>
        <p:nvSpPr>
          <p:cNvPr id="3" name="灯片编号占位符 2"/>
          <p:cNvSpPr>
            <a:spLocks noGrp="1"/>
          </p:cNvSpPr>
          <p:nvPr>
            <p:ph type="sldNum" sz="quarter" idx="12"/>
          </p:nvPr>
        </p:nvSpPr>
        <p:spPr>
          <a:xfrm>
            <a:off x="11271286" y="6466725"/>
            <a:ext cx="472440" cy="365125"/>
          </a:xfrm>
        </p:spPr>
        <p:txBody>
          <a:bodyPr/>
          <a:lstStyle/>
          <a:p>
            <a:r>
              <a:rPr lang="en-US" altLang="zh-CN" dirty="0"/>
              <a:t>15</a:t>
            </a:r>
            <a:endParaRPr lang="en-US" altLang="zh-CN" dirty="0"/>
          </a:p>
        </p:txBody>
      </p:sp>
      <p:sp>
        <p:nvSpPr>
          <p:cNvPr id="94" name="矩形: 圆角 93"/>
          <p:cNvSpPr/>
          <p:nvPr/>
        </p:nvSpPr>
        <p:spPr>
          <a:xfrm>
            <a:off x="412750" y="972820"/>
            <a:ext cx="840676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负荷及电价预测研究现状</a:t>
            </a:r>
            <a:r>
              <a:rPr lang="zh-CN" altLang="en-US" sz="2400" dirty="0" smtClean="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2"/>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dirty="0">
                <a:solidFill>
                  <a:srgbClr val="FABC00"/>
                </a:solidFill>
                <a:latin typeface="微软雅黑" panose="020B0503020204020204" pitchFamily="34" charset="-122"/>
                <a:ea typeface="微软雅黑" panose="020B0503020204020204" pitchFamily="34" charset="-122"/>
                <a:sym typeface="+mn-ea"/>
              </a:rPr>
              <a:t>用户用电空间负荷预测</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87045" y="1461770"/>
            <a:ext cx="9141460" cy="423545"/>
          </a:xfrm>
          <a:prstGeom prst="rect">
            <a:avLst/>
          </a:prstGeom>
          <a:noFill/>
        </p:spPr>
        <p:txBody>
          <a:bodyPr wrap="square" rtlCol="0" anchor="t">
            <a:spAutoFit/>
          </a:bodyPr>
          <a:p>
            <a:pPr indent="457200" fontAlgn="auto">
              <a:lnSpc>
                <a:spcPct val="120000"/>
              </a:lnSpc>
            </a:pPr>
            <a:r>
              <a:rPr lang="zh-CN" altLang="en-US" b="1">
                <a:latin typeface="Times New Roman" panose="02020603050405020304" charset="0"/>
                <a:ea typeface="微软雅黑" panose="020B0503020204020204" pitchFamily="34" charset="-122"/>
                <a:cs typeface="Times New Roman" panose="02020603050405020304" charset="0"/>
              </a:rPr>
              <a:t>随着人工智能领域的迅速发展，近些年来</a:t>
            </a:r>
            <a:r>
              <a:rPr lang="zh-CN" altLang="en-US" b="1">
                <a:solidFill>
                  <a:srgbClr val="FF0000"/>
                </a:solidFill>
                <a:latin typeface="Times New Roman" panose="02020603050405020304" charset="0"/>
                <a:ea typeface="微软雅黑" panose="020B0503020204020204" pitchFamily="34" charset="-122"/>
                <a:cs typeface="Times New Roman" panose="02020603050405020304" charset="0"/>
              </a:rPr>
              <a:t>人工智能预测方法逐渐成为人们关注的焦点。</a:t>
            </a: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endParaRPr>
          </a:p>
        </p:txBody>
      </p:sp>
      <p:sp>
        <p:nvSpPr>
          <p:cNvPr id="4" name="文本框 3"/>
          <p:cNvSpPr txBox="1"/>
          <p:nvPr/>
        </p:nvSpPr>
        <p:spPr>
          <a:xfrm>
            <a:off x="6271260" y="2549525"/>
            <a:ext cx="5079365" cy="755650"/>
          </a:xfrm>
          <a:prstGeom prst="rect">
            <a:avLst/>
          </a:prstGeom>
          <a:noFill/>
        </p:spPr>
        <p:txBody>
          <a:bodyPr wrap="square" rtlCol="0" anchor="t">
            <a:spAutoFit/>
          </a:bodyPr>
          <a:p>
            <a:pPr indent="0" algn="ctr" fontAlgn="auto">
              <a:lnSpc>
                <a:spcPct val="120000"/>
              </a:lnSpc>
            </a:pPr>
            <a:r>
              <a:rPr lang="zh-CN" altLang="en-US" b="1">
                <a:latin typeface="Times New Roman" panose="02020603050405020304" charset="0"/>
                <a:ea typeface="微软雅黑" panose="020B0503020204020204" pitchFamily="34" charset="-122"/>
                <a:cs typeface="Times New Roman" panose="02020603050405020304" charset="0"/>
              </a:rPr>
              <a:t>基于降噪自编码器、奇异谱分析和长短期记忆神经网络</a:t>
            </a:r>
            <a:r>
              <a:rPr lang="en-US" altLang="zh-CN" b="1">
                <a:latin typeface="Times New Roman" panose="02020603050405020304" charset="0"/>
                <a:ea typeface="微软雅黑" panose="020B0503020204020204" pitchFamily="34" charset="-122"/>
                <a:cs typeface="Times New Roman" panose="02020603050405020304" charset="0"/>
              </a:rPr>
              <a:t>(</a:t>
            </a:r>
            <a:r>
              <a:rPr lang="zh-CN" altLang="en-US" b="1">
                <a:solidFill>
                  <a:srgbClr val="080EF6"/>
                </a:solidFill>
                <a:latin typeface="Times New Roman" panose="02020603050405020304" charset="0"/>
                <a:ea typeface="微软雅黑" panose="020B0503020204020204" pitchFamily="34" charset="-122"/>
                <a:cs typeface="Times New Roman" panose="02020603050405020304" charset="0"/>
                <a:sym typeface="+mn-ea"/>
              </a:rPr>
              <a:t>DAE-SSA-LSTM</a:t>
            </a:r>
            <a:r>
              <a:rPr lang="en-US" altLang="zh-CN" b="1">
                <a:latin typeface="Times New Roman" panose="02020603050405020304" charset="0"/>
                <a:ea typeface="微软雅黑" panose="020B0503020204020204" pitchFamily="34" charset="-122"/>
                <a:cs typeface="Times New Roman" panose="02020603050405020304" charset="0"/>
                <a:sym typeface="+mn-ea"/>
              </a:rPr>
              <a:t>)</a:t>
            </a:r>
            <a:r>
              <a:rPr lang="zh-CN" altLang="en-US" b="1">
                <a:latin typeface="Times New Roman" panose="02020603050405020304" charset="0"/>
                <a:ea typeface="微软雅黑" panose="020B0503020204020204" pitchFamily="34" charset="-122"/>
                <a:cs typeface="Times New Roman" panose="02020603050405020304" charset="0"/>
                <a:sym typeface="+mn-ea"/>
              </a:rPr>
              <a:t>的空间负荷预测</a:t>
            </a:r>
            <a:r>
              <a:rPr lang="zh-CN" altLang="en-US" b="1">
                <a:latin typeface="Times New Roman" panose="02020603050405020304" charset="0"/>
                <a:ea typeface="微软雅黑" panose="020B0503020204020204" pitchFamily="34" charset="-122"/>
                <a:cs typeface="Times New Roman" panose="02020603050405020304" charset="0"/>
                <a:sym typeface="+mn-ea"/>
              </a:rPr>
              <a:t>方法</a:t>
            </a:r>
            <a:endParaRPr lang="zh-CN" altLang="en-US" b="1">
              <a:latin typeface="Times New Roman" panose="02020603050405020304" charset="0"/>
              <a:ea typeface="微软雅黑" panose="020B0503020204020204" pitchFamily="34" charset="-122"/>
              <a:cs typeface="Times New Roman" panose="02020603050405020304" charset="0"/>
              <a:sym typeface="+mn-ea"/>
            </a:endParaRPr>
          </a:p>
        </p:txBody>
      </p:sp>
      <p:sp>
        <p:nvSpPr>
          <p:cNvPr id="8" name="文本框 7"/>
          <p:cNvSpPr txBox="1"/>
          <p:nvPr/>
        </p:nvSpPr>
        <p:spPr>
          <a:xfrm>
            <a:off x="5954395" y="1890395"/>
            <a:ext cx="5713730" cy="755650"/>
          </a:xfrm>
          <a:prstGeom prst="rect">
            <a:avLst/>
          </a:prstGeom>
          <a:noFill/>
        </p:spPr>
        <p:txBody>
          <a:bodyPr wrap="square" rtlCol="0" anchor="t">
            <a:spAutoFit/>
          </a:bodyPr>
          <a:p>
            <a:pPr indent="0" algn="ctr" fontAlgn="auto">
              <a:lnSpc>
                <a:spcPct val="120000"/>
              </a:lnSpc>
            </a:pPr>
            <a:r>
              <a:rPr lang="zh-CN" altLang="en-US" b="1">
                <a:latin typeface="Times New Roman" panose="02020603050405020304" charset="0"/>
                <a:ea typeface="微软雅黑" panose="020B0503020204020204" pitchFamily="34" charset="-122"/>
                <a:cs typeface="Times New Roman" panose="02020603050405020304" charset="0"/>
              </a:rPr>
              <a:t>基于孤立森林、变分模态分解、多层感知机和门控循环单元(</a:t>
            </a:r>
            <a:r>
              <a:rPr lang="zh-CN" altLang="en-US" b="1">
                <a:solidFill>
                  <a:srgbClr val="080EF6"/>
                </a:solidFill>
                <a:latin typeface="Times New Roman" panose="02020603050405020304" charset="0"/>
                <a:ea typeface="微软雅黑" panose="020B0503020204020204" pitchFamily="34" charset="-122"/>
                <a:cs typeface="Times New Roman" panose="02020603050405020304" charset="0"/>
              </a:rPr>
              <a:t>iForest-VMD-MLP-GRU</a:t>
            </a:r>
            <a:r>
              <a:rPr lang="zh-CN" altLang="en-US" b="1">
                <a:latin typeface="Times New Roman" panose="02020603050405020304" charset="0"/>
                <a:ea typeface="微软雅黑" panose="020B0503020204020204" pitchFamily="34" charset="-122"/>
                <a:cs typeface="Times New Roman" panose="02020603050405020304" charset="0"/>
              </a:rPr>
              <a:t>)</a:t>
            </a:r>
            <a:r>
              <a:rPr lang="zh-CN" altLang="en-US" b="1">
                <a:latin typeface="Times New Roman" panose="02020603050405020304" charset="0"/>
                <a:ea typeface="微软雅黑" panose="020B0503020204020204" pitchFamily="34" charset="-122"/>
                <a:cs typeface="Times New Roman" panose="02020603050405020304" charset="0"/>
                <a:sym typeface="+mn-ea"/>
              </a:rPr>
              <a:t>的空间负荷预测方法</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10" name="文本框 9"/>
          <p:cNvSpPr txBox="1"/>
          <p:nvPr/>
        </p:nvSpPr>
        <p:spPr>
          <a:xfrm>
            <a:off x="6722110" y="3322955"/>
            <a:ext cx="4158615" cy="755650"/>
          </a:xfrm>
          <a:prstGeom prst="rect">
            <a:avLst/>
          </a:prstGeom>
          <a:noFill/>
        </p:spPr>
        <p:txBody>
          <a:bodyPr wrap="square" rtlCol="0" anchor="t">
            <a:spAutoFit/>
          </a:bodyPr>
          <a:p>
            <a:pPr indent="0" algn="ctr" fontAlgn="auto">
              <a:lnSpc>
                <a:spcPct val="120000"/>
              </a:lnSpc>
            </a:pPr>
            <a:r>
              <a:rPr lang="zh-CN" altLang="en-US" b="1">
                <a:solidFill>
                  <a:srgbClr val="00B050"/>
                </a:solidFill>
                <a:latin typeface="Times New Roman" panose="02020603050405020304" charset="0"/>
                <a:ea typeface="微软雅黑" panose="020B0503020204020204" pitchFamily="34" charset="-122"/>
                <a:cs typeface="Times New Roman" panose="02020603050405020304" charset="0"/>
              </a:rPr>
              <a:t>考虑本位元胞接受能力和相邻元胞负荷影响的空间负荷预测方法</a:t>
            </a:r>
            <a:endParaRPr lang="zh-CN" altLang="en-US"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sp>
        <p:nvSpPr>
          <p:cNvPr id="11" name="文本框 10"/>
          <p:cNvSpPr txBox="1"/>
          <p:nvPr/>
        </p:nvSpPr>
        <p:spPr>
          <a:xfrm>
            <a:off x="6971030" y="4144010"/>
            <a:ext cx="3660775" cy="368300"/>
          </a:xfrm>
          <a:prstGeom prst="rect">
            <a:avLst/>
          </a:prstGeom>
          <a:noFill/>
        </p:spPr>
        <p:txBody>
          <a:bodyPr wrap="square" rtlCol="0" anchor="t">
            <a:spAutoFit/>
          </a:bodyPr>
          <a:p>
            <a:pPr algn="ctr"/>
            <a:r>
              <a:rPr lang="zh-CN" altLang="en-US" b="1">
                <a:solidFill>
                  <a:srgbClr val="00B050"/>
                </a:solidFill>
                <a:latin typeface="Times New Roman" panose="02020603050405020304" charset="0"/>
                <a:ea typeface="微软雅黑" panose="020B0503020204020204" pitchFamily="34" charset="-122"/>
                <a:cs typeface="Times New Roman" panose="02020603050405020304" charset="0"/>
              </a:rPr>
              <a:t>基于空间卷积的空间负荷预测方法</a:t>
            </a:r>
            <a:endParaRPr lang="zh-CN" altLang="en-US"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sp>
        <p:nvSpPr>
          <p:cNvPr id="12" name="文本框 11"/>
          <p:cNvSpPr txBox="1"/>
          <p:nvPr/>
        </p:nvSpPr>
        <p:spPr>
          <a:xfrm>
            <a:off x="1322070" y="3321050"/>
            <a:ext cx="3148330" cy="755650"/>
          </a:xfrm>
          <a:prstGeom prst="rect">
            <a:avLst/>
          </a:prstGeom>
          <a:noFill/>
        </p:spPr>
        <p:txBody>
          <a:bodyPr wrap="square" rtlCol="0" anchor="t">
            <a:spAutoFit/>
          </a:bodyPr>
          <a:p>
            <a:pPr indent="0" algn="ctr" fontAlgn="auto">
              <a:lnSpc>
                <a:spcPct val="120000"/>
              </a:lnSpc>
            </a:pPr>
            <a:r>
              <a:rPr lang="zh-CN" altLang="en-US" b="1">
                <a:latin typeface="微软雅黑" panose="020B0503020204020204" pitchFamily="34" charset="-122"/>
                <a:ea typeface="微软雅黑" panose="020B0503020204020204" pitchFamily="34" charset="-122"/>
              </a:rPr>
              <a:t>基于深度</a:t>
            </a:r>
            <a:r>
              <a:rPr lang="zh-CN" altLang="en-US" b="1">
                <a:solidFill>
                  <a:srgbClr val="080EF6"/>
                </a:solidFill>
                <a:latin typeface="微软雅黑" panose="020B0503020204020204" pitchFamily="34" charset="-122"/>
                <a:ea typeface="微软雅黑" panose="020B0503020204020204" pitchFamily="34" charset="-122"/>
              </a:rPr>
              <a:t>长短时记忆网络</a:t>
            </a:r>
            <a:r>
              <a:rPr lang="zh-CN" altLang="en-US" b="1">
                <a:latin typeface="微软雅黑" panose="020B0503020204020204" pitchFamily="34" charset="-122"/>
                <a:ea typeface="微软雅黑" panose="020B0503020204020204" pitchFamily="34" charset="-122"/>
              </a:rPr>
              <a:t>的区域级超短期负荷预测方法</a:t>
            </a:r>
            <a:endParaRPr lang="zh-CN" altLang="en-US" b="1">
              <a:latin typeface="微软雅黑" panose="020B0503020204020204" pitchFamily="34" charset="-122"/>
              <a:ea typeface="微软雅黑" panose="020B0503020204020204" pitchFamily="34" charset="-122"/>
            </a:endParaRPr>
          </a:p>
        </p:txBody>
      </p:sp>
      <p:sp>
        <p:nvSpPr>
          <p:cNvPr id="13" name="文本框 12"/>
          <p:cNvSpPr txBox="1"/>
          <p:nvPr/>
        </p:nvSpPr>
        <p:spPr>
          <a:xfrm>
            <a:off x="1375410" y="4052570"/>
            <a:ext cx="3041650" cy="755650"/>
          </a:xfrm>
          <a:prstGeom prst="rect">
            <a:avLst/>
          </a:prstGeom>
          <a:noFill/>
        </p:spPr>
        <p:txBody>
          <a:bodyPr wrap="square" rtlCol="0" anchor="t">
            <a:spAutoFit/>
          </a:bodyPr>
          <a:p>
            <a:pPr indent="0" algn="ctr" fontAlgn="auto">
              <a:lnSpc>
                <a:spcPct val="120000"/>
              </a:lnSpc>
            </a:pPr>
            <a:r>
              <a:rPr lang="zh-CN" altLang="en-US" b="1">
                <a:latin typeface="微软雅黑" panose="020B0503020204020204" pitchFamily="34" charset="-122"/>
                <a:ea typeface="微软雅黑" panose="020B0503020204020204" pitchFamily="34" charset="-122"/>
              </a:rPr>
              <a:t>数据匮乏场景下采用</a:t>
            </a:r>
            <a:r>
              <a:rPr lang="zh-CN" altLang="en-US" b="1">
                <a:solidFill>
                  <a:srgbClr val="080EF6"/>
                </a:solidFill>
                <a:latin typeface="微软雅黑" panose="020B0503020204020204" pitchFamily="34" charset="-122"/>
                <a:ea typeface="微软雅黑" panose="020B0503020204020204" pitchFamily="34" charset="-122"/>
              </a:rPr>
              <a:t>生成对抗网络</a:t>
            </a:r>
            <a:r>
              <a:rPr lang="zh-CN" altLang="en-US" b="1">
                <a:latin typeface="微软雅黑" panose="020B0503020204020204" pitchFamily="34" charset="-122"/>
                <a:ea typeface="微软雅黑" panose="020B0503020204020204" pitchFamily="34" charset="-122"/>
              </a:rPr>
              <a:t>的空间负荷预测方法</a:t>
            </a:r>
            <a:endParaRPr lang="zh-CN" altLang="en-US" b="1">
              <a:latin typeface="微软雅黑" panose="020B0503020204020204" pitchFamily="34" charset="-122"/>
              <a:ea typeface="微软雅黑" panose="020B0503020204020204" pitchFamily="34" charset="-122"/>
            </a:endParaRPr>
          </a:p>
        </p:txBody>
      </p:sp>
      <p:sp>
        <p:nvSpPr>
          <p:cNvPr id="14" name="文本框 13"/>
          <p:cNvSpPr txBox="1"/>
          <p:nvPr/>
        </p:nvSpPr>
        <p:spPr>
          <a:xfrm>
            <a:off x="1322070" y="1871980"/>
            <a:ext cx="3566160" cy="755650"/>
          </a:xfrm>
          <a:prstGeom prst="rect">
            <a:avLst/>
          </a:prstGeom>
          <a:noFill/>
        </p:spPr>
        <p:txBody>
          <a:bodyPr wrap="square" rtlCol="0" anchor="t">
            <a:spAutoFit/>
          </a:bodyPr>
          <a:p>
            <a:pPr indent="0" algn="ctr" fontAlgn="auto">
              <a:lnSpc>
                <a:spcPct val="120000"/>
              </a:lnSpc>
            </a:pPr>
            <a:r>
              <a:rPr lang="zh-CN" altLang="en-US" b="1">
                <a:solidFill>
                  <a:schemeClr val="tx1"/>
                </a:solidFill>
                <a:latin typeface="Times New Roman" panose="02020603050405020304" charset="0"/>
                <a:ea typeface="微软雅黑" panose="020B0503020204020204" pitchFamily="34" charset="-122"/>
                <a:cs typeface="Times New Roman" panose="02020603050405020304" charset="0"/>
              </a:rPr>
              <a:t>基于灰色</a:t>
            </a:r>
            <a:r>
              <a:rPr lang="en-US" altLang="zh-CN" b="1">
                <a:solidFill>
                  <a:schemeClr val="tx1"/>
                </a:solidFill>
                <a:latin typeface="Times New Roman" panose="02020603050405020304" charset="0"/>
                <a:ea typeface="微软雅黑" panose="020B0503020204020204" pitchFamily="34" charset="-122"/>
                <a:cs typeface="Times New Roman" panose="02020603050405020304" charset="0"/>
              </a:rPr>
              <a:t>-</a:t>
            </a:r>
            <a:r>
              <a:rPr lang="zh-CN" altLang="en-US" b="1">
                <a:solidFill>
                  <a:schemeClr val="tx1"/>
                </a:solidFill>
                <a:latin typeface="Times New Roman" panose="02020603050405020304" charset="0"/>
                <a:ea typeface="微软雅黑" panose="020B0503020204020204" pitchFamily="34" charset="-122"/>
                <a:cs typeface="Times New Roman" panose="02020603050405020304" charset="0"/>
              </a:rPr>
              <a:t>最小二乘</a:t>
            </a:r>
            <a:r>
              <a:rPr lang="en-US" altLang="zh-CN" b="1">
                <a:solidFill>
                  <a:schemeClr val="tx1"/>
                </a:solidFill>
                <a:latin typeface="Times New Roman" panose="02020603050405020304" charset="0"/>
                <a:ea typeface="微软雅黑" panose="020B0503020204020204" pitchFamily="34" charset="-122"/>
                <a:cs typeface="Times New Roman" panose="02020603050405020304" charset="0"/>
              </a:rPr>
              <a:t>-</a:t>
            </a:r>
            <a:r>
              <a:rPr lang="zh-CN" altLang="en-US" b="1">
                <a:solidFill>
                  <a:srgbClr val="080EF6"/>
                </a:solidFill>
                <a:latin typeface="Times New Roman" panose="02020603050405020304" charset="0"/>
                <a:ea typeface="微软雅黑" panose="020B0503020204020204" pitchFamily="34" charset="-122"/>
                <a:cs typeface="Times New Roman" panose="02020603050405020304" charset="0"/>
              </a:rPr>
              <a:t>支持向量机</a:t>
            </a:r>
            <a:r>
              <a:rPr lang="zh-CN" altLang="en-US" b="1">
                <a:solidFill>
                  <a:schemeClr val="tx1"/>
                </a:solidFill>
                <a:latin typeface="Times New Roman" panose="02020603050405020304" charset="0"/>
                <a:ea typeface="微软雅黑" panose="020B0503020204020204" pitchFamily="34" charset="-122"/>
                <a:cs typeface="Times New Roman" panose="02020603050405020304" charset="0"/>
              </a:rPr>
              <a:t>模型的用电负荷强度时空分布预测</a:t>
            </a:r>
            <a:endParaRPr lang="zh-CN" altLang="en-US"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15" name="文本框 14"/>
          <p:cNvSpPr txBox="1"/>
          <p:nvPr/>
        </p:nvSpPr>
        <p:spPr>
          <a:xfrm>
            <a:off x="1375410" y="4783455"/>
            <a:ext cx="3062605" cy="755650"/>
          </a:xfrm>
          <a:prstGeom prst="rect">
            <a:avLst/>
          </a:prstGeom>
          <a:noFill/>
        </p:spPr>
        <p:txBody>
          <a:bodyPr wrap="square" rtlCol="0" anchor="t">
            <a:spAutoFit/>
          </a:bodyPr>
          <a:p>
            <a:pPr indent="0" algn="ctr" fontAlgn="auto">
              <a:lnSpc>
                <a:spcPct val="120000"/>
              </a:lnSpc>
            </a:pPr>
            <a:r>
              <a:rPr lang="zh-CN" altLang="en-US" b="1">
                <a:latin typeface="Times New Roman" panose="02020603050405020304" charset="0"/>
                <a:ea typeface="微软雅黑" panose="020B0503020204020204" pitchFamily="34" charset="-122"/>
                <a:cs typeface="Times New Roman" panose="02020603050405020304" charset="0"/>
              </a:rPr>
              <a:t>基于 </a:t>
            </a:r>
            <a:r>
              <a:rPr lang="zh-CN" altLang="en-US" b="1">
                <a:solidFill>
                  <a:srgbClr val="080EF6"/>
                </a:solidFill>
                <a:latin typeface="Times New Roman" panose="02020603050405020304" charset="0"/>
                <a:ea typeface="微软雅黑" panose="020B0503020204020204" pitchFamily="34" charset="-122"/>
                <a:cs typeface="Times New Roman" panose="02020603050405020304" charset="0"/>
              </a:rPr>
              <a:t>3σ-CEEMDAN-LSTM</a:t>
            </a:r>
            <a:r>
              <a:rPr lang="zh-CN" altLang="en-US" b="1">
                <a:latin typeface="Times New Roman" panose="02020603050405020304" charset="0"/>
                <a:ea typeface="微软雅黑" panose="020B0503020204020204" pitchFamily="34" charset="-122"/>
                <a:cs typeface="Times New Roman" panose="02020603050405020304" charset="0"/>
              </a:rPr>
              <a:t> 的空间负荷预测方法</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16" name="文本框 15"/>
          <p:cNvSpPr txBox="1"/>
          <p:nvPr/>
        </p:nvSpPr>
        <p:spPr>
          <a:xfrm>
            <a:off x="1465580" y="2612390"/>
            <a:ext cx="2850515" cy="755650"/>
          </a:xfrm>
          <a:prstGeom prst="rect">
            <a:avLst/>
          </a:prstGeom>
          <a:noFill/>
        </p:spPr>
        <p:txBody>
          <a:bodyPr wrap="square" rtlCol="0" anchor="t">
            <a:spAutoFit/>
          </a:bodyPr>
          <a:p>
            <a:pPr indent="0" algn="ctr" fontAlgn="auto">
              <a:lnSpc>
                <a:spcPct val="120000"/>
              </a:lnSpc>
            </a:pPr>
            <a:r>
              <a:rPr lang="zh-CN" altLang="en-US" b="1">
                <a:latin typeface="Times New Roman" panose="02020603050405020304" charset="0"/>
                <a:ea typeface="微软雅黑" panose="020B0503020204020204" pitchFamily="34" charset="-122"/>
              </a:rPr>
              <a:t>基于</a:t>
            </a:r>
            <a:r>
              <a:rPr lang="en-US" altLang="zh-CN" b="1">
                <a:solidFill>
                  <a:srgbClr val="080EF6"/>
                </a:solidFill>
                <a:latin typeface="Times New Roman" panose="02020603050405020304" charset="0"/>
                <a:ea typeface="微软雅黑" panose="020B0503020204020204" pitchFamily="34" charset="-122"/>
              </a:rPr>
              <a:t>Softmax</a:t>
            </a:r>
            <a:r>
              <a:rPr lang="zh-CN" altLang="en-US" b="1">
                <a:solidFill>
                  <a:srgbClr val="080EF6"/>
                </a:solidFill>
                <a:latin typeface="Times New Roman" panose="02020603050405020304" charset="0"/>
                <a:ea typeface="微软雅黑" panose="020B0503020204020204" pitchFamily="34" charset="-122"/>
              </a:rPr>
              <a:t>概率分类器</a:t>
            </a:r>
            <a:r>
              <a:rPr lang="zh-CN" altLang="en-US" b="1">
                <a:latin typeface="Times New Roman" panose="02020603050405020304" charset="0"/>
                <a:ea typeface="微软雅黑" panose="020B0503020204020204" pitchFamily="34" charset="-122"/>
              </a:rPr>
              <a:t>的数据驱动空间负荷预测</a:t>
            </a:r>
            <a:endParaRPr lang="zh-CN" altLang="en-US" b="1">
              <a:latin typeface="Times New Roman" panose="02020603050405020304" charset="0"/>
              <a:ea typeface="微软雅黑" panose="020B0503020204020204" pitchFamily="34" charset="-122"/>
            </a:endParaRPr>
          </a:p>
        </p:txBody>
      </p:sp>
      <p:pic>
        <p:nvPicPr>
          <p:cNvPr id="19" name="图片 18" descr="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3410" y="2004695"/>
            <a:ext cx="476885" cy="476885"/>
          </a:xfrm>
          <a:prstGeom prst="rect">
            <a:avLst/>
          </a:prstGeom>
        </p:spPr>
      </p:pic>
      <p:pic>
        <p:nvPicPr>
          <p:cNvPr id="20" name="图片 19" descr="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8805" y="2729230"/>
            <a:ext cx="491490" cy="491490"/>
          </a:xfrm>
          <a:prstGeom prst="rect">
            <a:avLst/>
          </a:prstGeom>
        </p:spPr>
      </p:pic>
      <p:pic>
        <p:nvPicPr>
          <p:cNvPr id="21" name="图片 20" descr="3"/>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6900" y="3502660"/>
            <a:ext cx="493395" cy="493395"/>
          </a:xfrm>
          <a:prstGeom prst="rect">
            <a:avLst/>
          </a:prstGeom>
        </p:spPr>
      </p:pic>
      <p:pic>
        <p:nvPicPr>
          <p:cNvPr id="22" name="图片 21" descr="4"/>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3090" y="4243070"/>
            <a:ext cx="497205" cy="497205"/>
          </a:xfrm>
          <a:prstGeom prst="rect">
            <a:avLst/>
          </a:prstGeom>
        </p:spPr>
      </p:pic>
      <p:pic>
        <p:nvPicPr>
          <p:cNvPr id="23" name="图片 22" descr="5"/>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2930" y="5030470"/>
            <a:ext cx="457200" cy="457200"/>
          </a:xfrm>
          <a:prstGeom prst="rect">
            <a:avLst/>
          </a:prstGeom>
        </p:spPr>
      </p:pic>
      <p:pic>
        <p:nvPicPr>
          <p:cNvPr id="24" name="图片 23" descr="6"/>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334635" y="2012315"/>
            <a:ext cx="457200" cy="457200"/>
          </a:xfrm>
          <a:prstGeom prst="rect">
            <a:avLst/>
          </a:prstGeom>
        </p:spPr>
      </p:pic>
      <p:pic>
        <p:nvPicPr>
          <p:cNvPr id="25" name="图片 24" descr="7"/>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334635" y="2698115"/>
            <a:ext cx="480695" cy="480695"/>
          </a:xfrm>
          <a:prstGeom prst="rect">
            <a:avLst/>
          </a:prstGeom>
        </p:spPr>
      </p:pic>
      <p:pic>
        <p:nvPicPr>
          <p:cNvPr id="26" name="图片 25" descr="8"/>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386070" y="3448050"/>
            <a:ext cx="493395" cy="493395"/>
          </a:xfrm>
          <a:prstGeom prst="rect">
            <a:avLst/>
          </a:prstGeom>
        </p:spPr>
      </p:pic>
      <p:pic>
        <p:nvPicPr>
          <p:cNvPr id="27" name="图片 26" descr="9"/>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398770" y="4078605"/>
            <a:ext cx="480695" cy="480695"/>
          </a:xfrm>
          <a:prstGeom prst="rect">
            <a:avLst/>
          </a:prstGeom>
        </p:spPr>
      </p:pic>
      <p:sp>
        <p:nvSpPr>
          <p:cNvPr id="28" name="圆角矩形 27"/>
          <p:cNvSpPr/>
          <p:nvPr/>
        </p:nvSpPr>
        <p:spPr>
          <a:xfrm>
            <a:off x="5259070" y="3408045"/>
            <a:ext cx="6484620" cy="2054225"/>
          </a:xfrm>
          <a:prstGeom prst="roundRect">
            <a:avLst>
              <a:gd name="adj" fmla="val 6165"/>
            </a:avLst>
          </a:prstGeom>
          <a:noFill/>
          <a:ln w="28575">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文本框 28"/>
          <p:cNvSpPr txBox="1"/>
          <p:nvPr/>
        </p:nvSpPr>
        <p:spPr>
          <a:xfrm>
            <a:off x="6016625" y="4662805"/>
            <a:ext cx="5158740" cy="755650"/>
          </a:xfrm>
          <a:prstGeom prst="rect">
            <a:avLst/>
          </a:prstGeom>
          <a:solidFill>
            <a:schemeClr val="accent2">
              <a:lumMod val="20000"/>
              <a:lumOff val="80000"/>
            </a:schemeClr>
          </a:solidFill>
        </p:spPr>
        <p:txBody>
          <a:bodyPr wrap="square" rtlCol="0" anchor="t">
            <a:spAutoFit/>
          </a:bodyPr>
          <a:p>
            <a:pPr indent="0" algn="ctr" fontAlgn="auto">
              <a:lnSpc>
                <a:spcPct val="120000"/>
              </a:lnSpc>
            </a:pPr>
            <a:r>
              <a:rPr lang="zh-CN" altLang="en-US" b="1">
                <a:latin typeface="微软雅黑" panose="020B0503020204020204" pitchFamily="34" charset="-122"/>
                <a:ea typeface="微软雅黑" panose="020B0503020204020204" pitchFamily="34" charset="-122"/>
                <a:cs typeface="微软雅黑" panose="020B0503020204020204" pitchFamily="34" charset="-122"/>
              </a:rPr>
              <a:t>考虑不同元胞负荷之间的空间影响性，</a:t>
            </a:r>
            <a:r>
              <a:rPr lang="zh-CN" altLang="en-US" b="1">
                <a:solidFill>
                  <a:srgbClr val="080EF6"/>
                </a:solidFill>
                <a:latin typeface="微软雅黑" panose="020B0503020204020204" pitchFamily="34" charset="-122"/>
                <a:ea typeface="微软雅黑" panose="020B0503020204020204" pitchFamily="34" charset="-122"/>
                <a:cs typeface="微软雅黑" panose="020B0503020204020204" pitchFamily="34" charset="-122"/>
              </a:rPr>
              <a:t>但方法理论是基于欧氏结构</a:t>
            </a:r>
            <a:r>
              <a:rPr lang="zh-CN" altLang="en-US" b="1">
                <a:latin typeface="微软雅黑" panose="020B0503020204020204" pitchFamily="34" charset="-122"/>
                <a:ea typeface="微软雅黑" panose="020B0503020204020204" pitchFamily="34" charset="-122"/>
                <a:cs typeface="微软雅黑" panose="020B0503020204020204" pitchFamily="34" charset="-122"/>
              </a:rPr>
              <a:t>（Euclidean structure）</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文本框 29"/>
          <p:cNvSpPr txBox="1"/>
          <p:nvPr/>
        </p:nvSpPr>
        <p:spPr>
          <a:xfrm>
            <a:off x="667385" y="5589270"/>
            <a:ext cx="4297680" cy="956310"/>
          </a:xfrm>
          <a:prstGeom prst="rect">
            <a:avLst/>
          </a:prstGeom>
          <a:solidFill>
            <a:schemeClr val="accent4">
              <a:lumMod val="20000"/>
              <a:lumOff val="80000"/>
            </a:schemeClr>
          </a:solidFill>
        </p:spPr>
        <p:txBody>
          <a:bodyPr wrap="square" rtlCol="0" anchor="t">
            <a:noAutofit/>
          </a:bodyPr>
          <a:p>
            <a:pPr indent="0" fontAlgn="auto">
              <a:lnSpc>
                <a:spcPct val="120000"/>
              </a:lnSpc>
            </a:pPr>
            <a:r>
              <a:rPr lang="zh-CN" altLang="en-US" sz="1600" b="1">
                <a:solidFill>
                  <a:srgbClr val="080EF6"/>
                </a:solidFill>
                <a:latin typeface="Times New Roman" panose="02020603050405020304" charset="0"/>
                <a:ea typeface="微软雅黑" panose="020B0503020204020204" pitchFamily="34" charset="-122"/>
              </a:rPr>
              <a:t>将空间负荷预测看作是时间序列预测问题，着重挖掘时间维特征来预测空间负荷，而缺乏对各个元胞负荷之间空间影响性的考虑。</a:t>
            </a:r>
            <a:endParaRPr lang="zh-CN" altLang="en-US" sz="1600" b="1">
              <a:solidFill>
                <a:srgbClr val="080EF6"/>
              </a:solidFill>
              <a:latin typeface="Times New Roman" panose="02020603050405020304" charset="0"/>
              <a:ea typeface="微软雅黑" panose="020B0503020204020204" pitchFamily="34" charset="-122"/>
            </a:endParaRPr>
          </a:p>
        </p:txBody>
      </p:sp>
      <p:cxnSp>
        <p:nvCxnSpPr>
          <p:cNvPr id="31" name="直接连接符 30"/>
          <p:cNvCxnSpPr/>
          <p:nvPr/>
        </p:nvCxnSpPr>
        <p:spPr>
          <a:xfrm>
            <a:off x="687070" y="2626360"/>
            <a:ext cx="4277995" cy="635"/>
          </a:xfrm>
          <a:prstGeom prst="line">
            <a:avLst/>
          </a:prstGeom>
          <a:ln w="12700">
            <a:solidFill>
              <a:srgbClr val="080EF6"/>
            </a:solidFill>
            <a:prstDash val="sys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custDataLst>
              <p:tags r:id="rId21"/>
            </p:custDataLst>
          </p:nvPr>
        </p:nvCxnSpPr>
        <p:spPr>
          <a:xfrm>
            <a:off x="687070" y="3333750"/>
            <a:ext cx="4277995" cy="635"/>
          </a:xfrm>
          <a:prstGeom prst="line">
            <a:avLst/>
          </a:prstGeom>
          <a:ln w="12700">
            <a:solidFill>
              <a:srgbClr val="080EF6"/>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custDataLst>
              <p:tags r:id="rId22"/>
            </p:custDataLst>
          </p:nvPr>
        </p:nvCxnSpPr>
        <p:spPr>
          <a:xfrm>
            <a:off x="687070" y="4095115"/>
            <a:ext cx="4277995" cy="635"/>
          </a:xfrm>
          <a:prstGeom prst="line">
            <a:avLst/>
          </a:prstGeom>
          <a:ln w="12700">
            <a:solidFill>
              <a:srgbClr val="080EF6"/>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custDataLst>
              <p:tags r:id="rId23"/>
            </p:custDataLst>
          </p:nvPr>
        </p:nvCxnSpPr>
        <p:spPr>
          <a:xfrm>
            <a:off x="687070" y="4856480"/>
            <a:ext cx="4277995" cy="635"/>
          </a:xfrm>
          <a:prstGeom prst="line">
            <a:avLst/>
          </a:prstGeom>
          <a:ln w="12700">
            <a:solidFill>
              <a:srgbClr val="080EF6"/>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24"/>
            </p:custDataLst>
          </p:nvPr>
        </p:nvCxnSpPr>
        <p:spPr>
          <a:xfrm>
            <a:off x="5385435" y="2619375"/>
            <a:ext cx="6191250" cy="6985"/>
          </a:xfrm>
          <a:prstGeom prst="line">
            <a:avLst/>
          </a:prstGeom>
          <a:ln w="12700">
            <a:solidFill>
              <a:srgbClr val="080EF6"/>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25"/>
            </p:custDataLst>
          </p:nvPr>
        </p:nvCxnSpPr>
        <p:spPr>
          <a:xfrm>
            <a:off x="5385435" y="3329305"/>
            <a:ext cx="6191250" cy="6985"/>
          </a:xfrm>
          <a:prstGeom prst="line">
            <a:avLst/>
          </a:prstGeom>
          <a:ln w="12700">
            <a:solidFill>
              <a:srgbClr val="080EF6"/>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26"/>
            </p:custDataLst>
          </p:nvPr>
        </p:nvCxnSpPr>
        <p:spPr>
          <a:xfrm>
            <a:off x="687070" y="5563870"/>
            <a:ext cx="4277995" cy="635"/>
          </a:xfrm>
          <a:prstGeom prst="line">
            <a:avLst/>
          </a:prstGeom>
          <a:ln w="12700">
            <a:solidFill>
              <a:srgbClr val="080EF6"/>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custDataLst>
              <p:tags r:id="rId27"/>
            </p:custDataLst>
          </p:nvPr>
        </p:nvCxnSpPr>
        <p:spPr>
          <a:xfrm>
            <a:off x="5385435" y="4067810"/>
            <a:ext cx="6191250" cy="6985"/>
          </a:xfrm>
          <a:prstGeom prst="line">
            <a:avLst/>
          </a:prstGeom>
          <a:ln w="12700">
            <a:solidFill>
              <a:srgbClr val="080EF6"/>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custDataLst>
              <p:tags r:id="rId28"/>
            </p:custDataLst>
          </p:nvPr>
        </p:nvCxnSpPr>
        <p:spPr>
          <a:xfrm>
            <a:off x="5334635" y="4634865"/>
            <a:ext cx="6191250" cy="6985"/>
          </a:xfrm>
          <a:prstGeom prst="line">
            <a:avLst/>
          </a:prstGeom>
          <a:ln w="12700">
            <a:solidFill>
              <a:srgbClr val="080EF6"/>
            </a:solidFill>
            <a:prstDash val="sysDash"/>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5220970" y="5534025"/>
            <a:ext cx="6629400" cy="975995"/>
          </a:xfrm>
          <a:prstGeom prst="rect">
            <a:avLst/>
          </a:prstGeom>
          <a:noFill/>
        </p:spPr>
        <p:txBody>
          <a:bodyPr wrap="square" rtlCol="0" anchor="t">
            <a:spAutoFit/>
          </a:bodyPr>
          <a:p>
            <a:pPr indent="0" fontAlgn="auto">
              <a:lnSpc>
                <a:spcPct val="120000"/>
              </a:lnSpc>
            </a:pP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rPr>
              <a:t>而实际中Ⅰ类元胞之间是以非欧氏结构（non-Euclidean structure）存在的，这可能导致未充分利用各个Ⅰ类元胞负荷之间的空间影响性，如何利用好空间负荷中非欧氏结构的空间影响性是进一步提升预测精度的关键。</a:t>
            </a:r>
            <a:endPar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endParaRPr>
          </a:p>
        </p:txBody>
      </p:sp>
      <p:sp>
        <p:nvSpPr>
          <p:cNvPr id="43" name="圆角矩形 42"/>
          <p:cNvSpPr/>
          <p:nvPr>
            <p:custDataLst>
              <p:tags r:id="rId29"/>
            </p:custDataLst>
          </p:nvPr>
        </p:nvSpPr>
        <p:spPr>
          <a:xfrm>
            <a:off x="5259070" y="5516245"/>
            <a:ext cx="6484620" cy="1014095"/>
          </a:xfrm>
          <a:prstGeom prst="roundRect">
            <a:avLst>
              <a:gd name="adj" fmla="val 6165"/>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6" name="图片 5" descr="新建 PPTX 演示文稿_04"/>
          <p:cNvPicPr>
            <a:picLocks noChangeAspect="1"/>
          </p:cNvPicPr>
          <p:nvPr>
            <p:custDataLst>
              <p:tags r:id="rId30"/>
            </p:custDataLst>
          </p:nvPr>
        </p:nvPicPr>
        <p:blipFill>
          <a:blip r:embed="rId31"/>
          <a:srcRect l="23447" t="27987" r="23754" b="33728"/>
          <a:stretch>
            <a:fillRect/>
          </a:stretch>
        </p:blipFill>
        <p:spPr>
          <a:xfrm>
            <a:off x="9702165" y="908685"/>
            <a:ext cx="2423795" cy="1007745"/>
          </a:xfrm>
          <a:prstGeom prst="rect">
            <a:avLst/>
          </a:prstGeom>
        </p:spPr>
      </p:pic>
    </p:spTree>
  </p:cSld>
  <p:clrMapOvr>
    <a:masterClrMapping/>
  </p:clrMapOvr>
  <p:transition>
    <p:dissolv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custDataLst>
              <p:tags r:id="rId1"/>
            </p:custDataLst>
          </p:nvPr>
        </p:nvSpPr>
        <p:spPr>
          <a:xfrm>
            <a:off x="721995" y="1516380"/>
            <a:ext cx="10897235" cy="1476375"/>
          </a:xfrm>
          <a:prstGeom prst="roundRect">
            <a:avLst>
              <a:gd name="adj" fmla="val 0"/>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2" name="内容占位符 1"/>
          <p:cNvSpPr>
            <a:spLocks noGrp="1"/>
          </p:cNvSpPr>
          <p:nvPr>
            <p:ph sz="quarter" idx="13"/>
          </p:nvPr>
        </p:nvSpPr>
        <p:spPr/>
        <p:txBody>
          <a:bodyPr/>
          <a:lstStyle/>
          <a:p>
            <a:r>
              <a:rPr lang="zh-CN" altLang="en-US" dirty="0" smtClean="0">
                <a:sym typeface="+mn-ea"/>
              </a:rPr>
              <a:t>课题</a:t>
            </a:r>
            <a:r>
              <a:rPr lang="zh-CN" altLang="en-US" dirty="0" smtClean="0">
                <a:sym typeface="+mn-ea"/>
              </a:rPr>
              <a:t>国内外发展现状</a:t>
            </a:r>
            <a:endParaRPr lang="zh-CN" altLang="en-US" dirty="0"/>
          </a:p>
          <a:p>
            <a:endParaRPr lang="zh-CN" altLang="en-US" dirty="0"/>
          </a:p>
        </p:txBody>
      </p:sp>
      <p:sp>
        <p:nvSpPr>
          <p:cNvPr id="3" name="灯片编号占位符 2"/>
          <p:cNvSpPr>
            <a:spLocks noGrp="1"/>
          </p:cNvSpPr>
          <p:nvPr>
            <p:ph type="sldNum" sz="quarter" idx="12"/>
          </p:nvPr>
        </p:nvSpPr>
        <p:spPr>
          <a:xfrm>
            <a:off x="11271286" y="6466725"/>
            <a:ext cx="472440" cy="365125"/>
          </a:xfrm>
        </p:spPr>
        <p:txBody>
          <a:bodyPr/>
          <a:lstStyle/>
          <a:p>
            <a:r>
              <a:rPr lang="en-US" altLang="zh-CN" dirty="0"/>
              <a:t>16</a:t>
            </a:r>
            <a:endParaRPr lang="en-US" altLang="zh-CN" dirty="0"/>
          </a:p>
        </p:txBody>
      </p:sp>
      <p:sp>
        <p:nvSpPr>
          <p:cNvPr id="94" name="矩形: 圆角 93"/>
          <p:cNvSpPr/>
          <p:nvPr/>
        </p:nvSpPr>
        <p:spPr>
          <a:xfrm>
            <a:off x="412750" y="972820"/>
            <a:ext cx="840676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负荷及电价预测研究现状</a:t>
            </a:r>
            <a:r>
              <a:rPr lang="zh-CN" altLang="en-US" sz="2400" dirty="0" smtClean="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2"/>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dirty="0">
                <a:solidFill>
                  <a:srgbClr val="FABC00"/>
                </a:solidFill>
                <a:latin typeface="微软雅黑" panose="020B0503020204020204" pitchFamily="34" charset="-122"/>
                <a:ea typeface="微软雅黑" panose="020B0503020204020204" pitchFamily="34" charset="-122"/>
                <a:sym typeface="+mn-ea"/>
              </a:rPr>
              <a:t>综合能源系统多元负荷预测</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51230" y="1550035"/>
            <a:ext cx="10560685" cy="1419860"/>
          </a:xfrm>
          <a:prstGeom prst="rect">
            <a:avLst/>
          </a:prstGeom>
          <a:noFill/>
        </p:spPr>
        <p:txBody>
          <a:bodyPr wrap="square" rtlCol="0" anchor="t">
            <a:spAutoFit/>
          </a:bodyPr>
          <a:p>
            <a:pPr indent="457200" fontAlgn="auto">
              <a:lnSpc>
                <a:spcPct val="120000"/>
              </a:lnSpc>
            </a:pPr>
            <a:r>
              <a:rPr lang="zh-CN" altLang="en-US" b="1">
                <a:latin typeface="Times New Roman" panose="02020603050405020304" charset="0"/>
                <a:ea typeface="微软雅黑" panose="020B0503020204020204" pitchFamily="34" charset="-122"/>
              </a:rPr>
              <a:t>基于人工智能的综合能源系统负荷预测方法一般</a:t>
            </a:r>
            <a:r>
              <a:rPr lang="zh-CN" altLang="en-US" b="1">
                <a:solidFill>
                  <a:srgbClr val="080EF6"/>
                </a:solidFill>
                <a:latin typeface="Times New Roman" panose="02020603050405020304" charset="0"/>
                <a:ea typeface="微软雅黑" panose="020B0503020204020204" pitchFamily="34" charset="-122"/>
              </a:rPr>
              <a:t>可以按照是否利用多任务学习建模进行分类</a:t>
            </a:r>
            <a:r>
              <a:rPr lang="zh-CN" altLang="en-US" b="1">
                <a:latin typeface="Times New Roman" panose="02020603050405020304" charset="0"/>
                <a:ea typeface="微软雅黑" panose="020B0503020204020204" pitchFamily="34" charset="-122"/>
              </a:rPr>
              <a:t>。多任务学习往往能够有效利用多个学习任务中所包含的有用信息，进而使得每个学习任务获得更好的学习效果。现有基于多任务学习的综合能源系统负荷预测方法通常以多任务学习为框架，通过共享层模拟多元负荷之间的耦合关系，以达到提高负荷预测精度的目的。</a:t>
            </a:r>
            <a:endParaRPr lang="zh-CN" altLang="en-US" b="1">
              <a:latin typeface="Times New Roman" panose="02020603050405020304" charset="0"/>
              <a:ea typeface="微软雅黑" panose="020B0503020204020204" pitchFamily="34" charset="-122"/>
            </a:endParaRPr>
          </a:p>
        </p:txBody>
      </p:sp>
      <p:pic>
        <p:nvPicPr>
          <p:cNvPr id="5" name="图片 4"/>
          <p:cNvPicPr>
            <a:picLocks noChangeAspect="1"/>
          </p:cNvPicPr>
          <p:nvPr>
            <p:custDataLst>
              <p:tags r:id="rId3"/>
            </p:custDataLst>
          </p:nvPr>
        </p:nvPicPr>
        <p:blipFill>
          <a:blip r:embed="rId4"/>
          <a:stretch>
            <a:fillRect/>
          </a:stretch>
        </p:blipFill>
        <p:spPr>
          <a:xfrm>
            <a:off x="735330" y="3079750"/>
            <a:ext cx="5360670" cy="3088640"/>
          </a:xfrm>
          <a:prstGeom prst="rect">
            <a:avLst/>
          </a:prstGeom>
        </p:spPr>
      </p:pic>
      <p:sp>
        <p:nvSpPr>
          <p:cNvPr id="6" name="文本框 5"/>
          <p:cNvSpPr txBox="1"/>
          <p:nvPr/>
        </p:nvSpPr>
        <p:spPr>
          <a:xfrm>
            <a:off x="721995" y="6168390"/>
            <a:ext cx="5527040" cy="368300"/>
          </a:xfrm>
          <a:prstGeom prst="rect">
            <a:avLst/>
          </a:prstGeom>
          <a:noFill/>
        </p:spPr>
        <p:txBody>
          <a:bodyPr wrap="square" rtlCol="0" anchor="t">
            <a:spAutoFit/>
          </a:bodyPr>
          <a:p>
            <a:r>
              <a:rPr lang="zh-CN" altLang="en-US" b="1">
                <a:latin typeface="Times New Roman" panose="02020603050405020304" charset="0"/>
                <a:ea typeface="微软雅黑" panose="020B0503020204020204" pitchFamily="34" charset="-122"/>
              </a:rPr>
              <a:t>基于多任务学习的综合能源系统负荷预测方法示意图</a:t>
            </a:r>
            <a:endParaRPr lang="zh-CN" altLang="en-US" b="1">
              <a:latin typeface="Times New Roman" panose="02020603050405020304" charset="0"/>
              <a:ea typeface="微软雅黑" panose="020B0503020204020204" pitchFamily="34" charset="-122"/>
            </a:endParaRPr>
          </a:p>
        </p:txBody>
      </p:sp>
      <p:sp>
        <p:nvSpPr>
          <p:cNvPr id="8" name="文本框 7"/>
          <p:cNvSpPr txBox="1"/>
          <p:nvPr/>
        </p:nvSpPr>
        <p:spPr>
          <a:xfrm>
            <a:off x="6983095" y="4237990"/>
            <a:ext cx="4819015" cy="810260"/>
          </a:xfrm>
          <a:prstGeom prst="rect">
            <a:avLst/>
          </a:prstGeom>
          <a:noFill/>
        </p:spPr>
        <p:txBody>
          <a:bodyPr wrap="square" rtlCol="0" anchor="t">
            <a:spAutoFit/>
          </a:bodyPr>
          <a:p>
            <a:pPr indent="0" fontAlgn="auto">
              <a:lnSpc>
                <a:spcPct val="130000"/>
              </a:lnSpc>
            </a:pPr>
            <a:r>
              <a:rPr lang="zh-CN" altLang="en-US" b="1">
                <a:solidFill>
                  <a:srgbClr val="0E56F0"/>
                </a:solidFill>
                <a:latin typeface="微软雅黑" panose="020B0503020204020204" pitchFamily="34" charset="-122"/>
                <a:ea typeface="微软雅黑" panose="020B0503020204020204" pitchFamily="34" charset="-122"/>
              </a:rPr>
              <a:t>还有很多研究考虑：融合深度学习与相关性分析等手段实现综合能源系统负荷预测</a:t>
            </a:r>
            <a:endParaRPr lang="zh-CN" altLang="en-US" b="1">
              <a:solidFill>
                <a:srgbClr val="0E56F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6386195" y="5201285"/>
            <a:ext cx="5357495" cy="1265555"/>
          </a:xfrm>
          <a:prstGeom prst="rect">
            <a:avLst/>
          </a:prstGeom>
          <a:solidFill>
            <a:schemeClr val="accent4">
              <a:lumMod val="20000"/>
              <a:lumOff val="80000"/>
            </a:schemeClr>
          </a:solidFill>
          <a:effectLst>
            <a:outerShdw blurRad="50800" dist="38100" dir="2700000" algn="tl" rotWithShape="0">
              <a:prstClr val="black">
                <a:alpha val="40000"/>
              </a:prstClr>
            </a:outerShdw>
          </a:effectLst>
        </p:spPr>
        <p:txBody>
          <a:bodyPr wrap="square" rtlCol="0" anchor="t">
            <a:noAutofit/>
          </a:bodyPr>
          <a:p>
            <a:pPr indent="0" fontAlgn="auto">
              <a:lnSpc>
                <a:spcPct val="130000"/>
              </a:lnSpc>
            </a:pPr>
            <a:r>
              <a:rPr lang="zh-CN" altLang="en-US" b="1">
                <a:latin typeface="微软雅黑" panose="020B0503020204020204" pitchFamily="34" charset="-122"/>
                <a:ea typeface="微软雅黑" panose="020B0503020204020204" pitchFamily="34" charset="-122"/>
              </a:rPr>
              <a:t>由于多种能源之间存在</a:t>
            </a:r>
            <a:r>
              <a:rPr lang="zh-CN" altLang="en-US" b="1">
                <a:solidFill>
                  <a:srgbClr val="FF0000"/>
                </a:solidFill>
                <a:latin typeface="微软雅黑" panose="020B0503020204020204" pitchFamily="34" charset="-122"/>
                <a:ea typeface="微软雅黑" panose="020B0503020204020204" pitchFamily="34" charset="-122"/>
              </a:rPr>
              <a:t>较强的物理性差异和耦合特性</a:t>
            </a:r>
            <a:r>
              <a:rPr lang="zh-CN" altLang="en-US" b="1">
                <a:solidFill>
                  <a:srgbClr val="FF0000"/>
                </a:solidFill>
                <a:latin typeface="微软雅黑" panose="020B0503020204020204" pitchFamily="34" charset="-122"/>
                <a:ea typeface="微软雅黑" panose="020B0503020204020204" pitchFamily="34" charset="-122"/>
              </a:rPr>
              <a:t>，因而使得综合能源系统多元负荷具有更显著的易变性和不确定性</a:t>
            </a:r>
            <a:r>
              <a:rPr lang="zh-CN" altLang="en-US" b="1">
                <a:latin typeface="微软雅黑" panose="020B0503020204020204" pitchFamily="34" charset="-122"/>
                <a:ea typeface="微软雅黑" panose="020B0503020204020204" pitchFamily="34" charset="-122"/>
              </a:rPr>
              <a:t>，</a:t>
            </a:r>
            <a:r>
              <a:rPr lang="zh-CN" altLang="en-US" b="1">
                <a:latin typeface="微软雅黑" panose="020B0503020204020204" pitchFamily="34" charset="-122"/>
                <a:ea typeface="微软雅黑" panose="020B0503020204020204" pitchFamily="34" charset="-122"/>
              </a:rPr>
              <a:t>相较于单一负荷预测难度</a:t>
            </a:r>
            <a:r>
              <a:rPr lang="zh-CN" altLang="en-US" b="1">
                <a:latin typeface="微软雅黑" panose="020B0503020204020204" pitchFamily="34" charset="-122"/>
                <a:ea typeface="微软雅黑" panose="020B0503020204020204" pitchFamily="34" charset="-122"/>
              </a:rPr>
              <a:t>更大。</a:t>
            </a:r>
            <a:endParaRPr lang="zh-CN" altLang="en-US" b="1">
              <a:latin typeface="微软雅黑" panose="020B0503020204020204" pitchFamily="34" charset="-122"/>
              <a:ea typeface="微软雅黑" panose="020B0503020204020204" pitchFamily="34" charset="-122"/>
            </a:endParaRPr>
          </a:p>
        </p:txBody>
      </p:sp>
      <p:pic>
        <p:nvPicPr>
          <p:cNvPr id="10" name="图片 9" descr="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49035" y="3391535"/>
            <a:ext cx="597535" cy="597535"/>
          </a:xfrm>
          <a:prstGeom prst="rect">
            <a:avLst/>
          </a:prstGeom>
        </p:spPr>
      </p:pic>
      <p:pic>
        <p:nvPicPr>
          <p:cNvPr id="11" name="图片 10" descr="2"/>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92215" y="4339590"/>
            <a:ext cx="603885" cy="603885"/>
          </a:xfrm>
          <a:prstGeom prst="rect">
            <a:avLst/>
          </a:prstGeom>
        </p:spPr>
      </p:pic>
      <p:sp>
        <p:nvSpPr>
          <p:cNvPr id="12" name="文本框 11"/>
          <p:cNvSpPr txBox="1"/>
          <p:nvPr/>
        </p:nvSpPr>
        <p:spPr>
          <a:xfrm>
            <a:off x="6946900" y="3489960"/>
            <a:ext cx="4796790" cy="400050"/>
          </a:xfrm>
          <a:prstGeom prst="rect">
            <a:avLst/>
          </a:prstGeom>
          <a:noFill/>
        </p:spPr>
        <p:txBody>
          <a:bodyPr wrap="square" rtlCol="0" anchor="t">
            <a:noAutofit/>
          </a:bodyPr>
          <a:p>
            <a:r>
              <a:rPr lang="zh-CN" altLang="en-US" b="1">
                <a:solidFill>
                  <a:srgbClr val="0E56F0"/>
                </a:solidFill>
                <a:latin typeface="Times New Roman" panose="02020603050405020304" charset="0"/>
                <a:ea typeface="微软雅黑" panose="020B0503020204020204" pitchFamily="34" charset="-122"/>
                <a:sym typeface="+mn-ea"/>
              </a:rPr>
              <a:t>基于多任务学习的综合能源系统负荷预测方法</a:t>
            </a:r>
            <a:endParaRPr lang="zh-CN" altLang="en-US" b="1">
              <a:solidFill>
                <a:srgbClr val="0E56F0"/>
              </a:solidFill>
              <a:latin typeface="Times New Roman" panose="02020603050405020304" charset="0"/>
              <a:ea typeface="微软雅黑" panose="020B0503020204020204" pitchFamily="34" charset="-122"/>
              <a:sym typeface="+mn-ea"/>
            </a:endParaRPr>
          </a:p>
        </p:txBody>
      </p:sp>
    </p:spTree>
  </p:cSld>
  <p:clrMapOvr>
    <a:masterClrMapping/>
  </p:clrMapOvr>
  <p:transition>
    <p:dissolv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圆角矩形 42"/>
          <p:cNvSpPr/>
          <p:nvPr>
            <p:custDataLst>
              <p:tags r:id="rId1"/>
            </p:custDataLst>
          </p:nvPr>
        </p:nvSpPr>
        <p:spPr>
          <a:xfrm>
            <a:off x="875030" y="2155825"/>
            <a:ext cx="10560685" cy="4153535"/>
          </a:xfrm>
          <a:prstGeom prst="roundRect">
            <a:avLst>
              <a:gd name="adj" fmla="val 3218"/>
            </a:avLst>
          </a:prstGeom>
          <a:solidFill>
            <a:schemeClr val="accent5">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圆角矩形 37"/>
          <p:cNvSpPr/>
          <p:nvPr/>
        </p:nvSpPr>
        <p:spPr>
          <a:xfrm>
            <a:off x="8329930" y="2847975"/>
            <a:ext cx="2401570" cy="3276600"/>
          </a:xfrm>
          <a:prstGeom prst="roundRect">
            <a:avLst>
              <a:gd name="adj" fmla="val 5022"/>
            </a:avLst>
          </a:prstGeom>
          <a:solidFill>
            <a:schemeClr val="accent4">
              <a:lumMod val="20000"/>
              <a:lumOff val="80000"/>
            </a:schemeClr>
          </a:solidFill>
          <a:ln w="19050">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 name="圆角矩形 38"/>
          <p:cNvSpPr/>
          <p:nvPr>
            <p:custDataLst>
              <p:tags r:id="rId2"/>
            </p:custDataLst>
          </p:nvPr>
        </p:nvSpPr>
        <p:spPr>
          <a:xfrm>
            <a:off x="4891405" y="2860675"/>
            <a:ext cx="2498725" cy="3263900"/>
          </a:xfrm>
          <a:prstGeom prst="roundRect">
            <a:avLst>
              <a:gd name="adj" fmla="val 5022"/>
            </a:avLst>
          </a:prstGeom>
          <a:solidFill>
            <a:schemeClr val="accent4">
              <a:lumMod val="20000"/>
              <a:lumOff val="80000"/>
            </a:schemeClr>
          </a:solid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圆角矩形 40"/>
          <p:cNvSpPr/>
          <p:nvPr>
            <p:custDataLst>
              <p:tags r:id="rId3"/>
            </p:custDataLst>
          </p:nvPr>
        </p:nvSpPr>
        <p:spPr>
          <a:xfrm>
            <a:off x="1455420" y="2860675"/>
            <a:ext cx="2726055" cy="3263900"/>
          </a:xfrm>
          <a:prstGeom prst="roundRect">
            <a:avLst>
              <a:gd name="adj" fmla="val 5022"/>
            </a:avLst>
          </a:prstGeom>
          <a:solidFill>
            <a:schemeClr val="accent4">
              <a:lumMod val="20000"/>
              <a:lumOff val="80000"/>
            </a:schemeClr>
          </a:solidFill>
          <a:ln w="19050">
            <a:solidFill>
              <a:srgbClr val="00B05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圆角矩形 29"/>
          <p:cNvSpPr/>
          <p:nvPr>
            <p:custDataLst>
              <p:tags r:id="rId4"/>
            </p:custDataLst>
          </p:nvPr>
        </p:nvSpPr>
        <p:spPr>
          <a:xfrm>
            <a:off x="871220" y="1516380"/>
            <a:ext cx="10564495" cy="543560"/>
          </a:xfrm>
          <a:prstGeom prst="roundRect">
            <a:avLst>
              <a:gd name="adj" fmla="val 0"/>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2" name="内容占位符 1"/>
          <p:cNvSpPr>
            <a:spLocks noGrp="1"/>
          </p:cNvSpPr>
          <p:nvPr>
            <p:ph sz="quarter" idx="13"/>
          </p:nvPr>
        </p:nvSpPr>
        <p:spPr/>
        <p:txBody>
          <a:bodyPr/>
          <a:lstStyle/>
          <a:p>
            <a:r>
              <a:rPr lang="zh-CN" altLang="en-US" dirty="0" smtClean="0">
                <a:sym typeface="+mn-ea"/>
              </a:rPr>
              <a:t>课题</a:t>
            </a:r>
            <a:r>
              <a:rPr lang="zh-CN" altLang="en-US" dirty="0" smtClean="0">
                <a:sym typeface="+mn-ea"/>
              </a:rPr>
              <a:t>国内外发展现状</a:t>
            </a:r>
            <a:endParaRPr lang="zh-CN" altLang="en-US" dirty="0"/>
          </a:p>
          <a:p>
            <a:endParaRPr lang="zh-CN" altLang="en-US" dirty="0"/>
          </a:p>
        </p:txBody>
      </p:sp>
      <p:sp>
        <p:nvSpPr>
          <p:cNvPr id="3" name="灯片编号占位符 2"/>
          <p:cNvSpPr>
            <a:spLocks noGrp="1"/>
          </p:cNvSpPr>
          <p:nvPr>
            <p:ph type="sldNum" sz="quarter" idx="12"/>
          </p:nvPr>
        </p:nvSpPr>
        <p:spPr>
          <a:xfrm>
            <a:off x="11271286" y="6466725"/>
            <a:ext cx="472440" cy="365125"/>
          </a:xfrm>
        </p:spPr>
        <p:txBody>
          <a:bodyPr/>
          <a:lstStyle/>
          <a:p>
            <a:r>
              <a:rPr lang="en-US" altLang="zh-CN" dirty="0"/>
              <a:t>17</a:t>
            </a:r>
            <a:endParaRPr lang="en-US" altLang="zh-CN" dirty="0"/>
          </a:p>
        </p:txBody>
      </p:sp>
      <p:sp>
        <p:nvSpPr>
          <p:cNvPr id="94" name="矩形: 圆角 93"/>
          <p:cNvSpPr/>
          <p:nvPr/>
        </p:nvSpPr>
        <p:spPr>
          <a:xfrm>
            <a:off x="412750" y="972820"/>
            <a:ext cx="840676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负荷及电价预测研究现状</a:t>
            </a:r>
            <a:r>
              <a:rPr lang="zh-CN" altLang="en-US" sz="2400" dirty="0" smtClean="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5"/>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dirty="0">
                <a:solidFill>
                  <a:srgbClr val="FABC00"/>
                </a:solidFill>
                <a:latin typeface="微软雅黑" panose="020B0503020204020204" pitchFamily="34" charset="-122"/>
                <a:ea typeface="微软雅黑" panose="020B0503020204020204" pitchFamily="34" charset="-122"/>
                <a:sym typeface="+mn-ea"/>
              </a:rPr>
              <a:t>电力市场现货电价预测</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125220" y="1575435"/>
            <a:ext cx="10143490" cy="423545"/>
          </a:xfrm>
          <a:prstGeom prst="rect">
            <a:avLst/>
          </a:prstGeom>
          <a:noFill/>
        </p:spPr>
        <p:txBody>
          <a:bodyPr wrap="square" rtlCol="0" anchor="t">
            <a:spAutoFit/>
          </a:bodyPr>
          <a:p>
            <a:pPr indent="0" fontAlgn="auto">
              <a:lnSpc>
                <a:spcPct val="120000"/>
              </a:lnSpc>
            </a:pPr>
            <a:r>
              <a:rPr lang="zh-CN" altLang="en-US" b="1">
                <a:latin typeface="Times New Roman" panose="02020603050405020304" charset="0"/>
                <a:ea typeface="微软雅黑" panose="020B0503020204020204" pitchFamily="34" charset="-122"/>
              </a:rPr>
              <a:t>近几十年来，有很多的方法被研究者们提出来用于电价预测。目前电价的预测方法主要分为</a:t>
            </a:r>
            <a:r>
              <a:rPr lang="zh-CN" altLang="en-US" b="1">
                <a:latin typeface="Times New Roman" panose="02020603050405020304" charset="0"/>
                <a:ea typeface="微软雅黑" panose="020B0503020204020204" pitchFamily="34" charset="-122"/>
              </a:rPr>
              <a:t>三大类：</a:t>
            </a:r>
            <a:endParaRPr lang="zh-CN" altLang="en-US" b="1">
              <a:latin typeface="Times New Roman" panose="02020603050405020304" charset="0"/>
              <a:ea typeface="微软雅黑" panose="020B0503020204020204" pitchFamily="34" charset="-122"/>
            </a:endParaRPr>
          </a:p>
        </p:txBody>
      </p:sp>
      <p:sp>
        <p:nvSpPr>
          <p:cNvPr id="6" name="矩形 5"/>
          <p:cNvSpPr/>
          <p:nvPr/>
        </p:nvSpPr>
        <p:spPr>
          <a:xfrm>
            <a:off x="5154930" y="2253615"/>
            <a:ext cx="1882775" cy="447040"/>
          </a:xfrm>
          <a:prstGeom prst="rect">
            <a:avLst/>
          </a:prstGeom>
          <a:solidFill>
            <a:srgbClr val="FF45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bg1"/>
                </a:solidFill>
                <a:latin typeface="Times New Roman" panose="02020603050405020304" charset="0"/>
                <a:ea typeface="微软雅黑" panose="020B0503020204020204" pitchFamily="34" charset="-122"/>
              </a:rPr>
              <a:t>电价预测模型</a:t>
            </a:r>
            <a:endParaRPr lang="zh-CN" altLang="en-US" b="1">
              <a:solidFill>
                <a:schemeClr val="bg1"/>
              </a:solidFill>
              <a:latin typeface="Times New Roman" panose="02020603050405020304" charset="0"/>
              <a:ea typeface="微软雅黑" panose="020B0503020204020204" pitchFamily="34" charset="-122"/>
            </a:endParaRPr>
          </a:p>
        </p:txBody>
      </p:sp>
      <p:sp>
        <p:nvSpPr>
          <p:cNvPr id="8" name="矩形 7"/>
          <p:cNvSpPr/>
          <p:nvPr>
            <p:custDataLst>
              <p:tags r:id="rId6"/>
            </p:custDataLst>
          </p:nvPr>
        </p:nvSpPr>
        <p:spPr>
          <a:xfrm>
            <a:off x="5154930" y="3030220"/>
            <a:ext cx="1882775" cy="447040"/>
          </a:xfrm>
          <a:prstGeom prst="rect">
            <a:avLst/>
          </a:prstGeom>
          <a:solidFill>
            <a:srgbClr val="3947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bg1"/>
                </a:solidFill>
                <a:latin typeface="Times New Roman" panose="02020603050405020304" charset="0"/>
                <a:ea typeface="微软雅黑" panose="020B0503020204020204" pitchFamily="34" charset="-122"/>
              </a:rPr>
              <a:t>数据驱动</a:t>
            </a:r>
            <a:endParaRPr lang="zh-CN" altLang="en-US" b="1">
              <a:solidFill>
                <a:schemeClr val="bg1"/>
              </a:solidFill>
              <a:latin typeface="Times New Roman" panose="02020603050405020304" charset="0"/>
              <a:ea typeface="微软雅黑" panose="020B0503020204020204" pitchFamily="34" charset="-122"/>
            </a:endParaRPr>
          </a:p>
        </p:txBody>
      </p:sp>
      <p:sp>
        <p:nvSpPr>
          <p:cNvPr id="13" name="矩形 12"/>
          <p:cNvSpPr/>
          <p:nvPr>
            <p:custDataLst>
              <p:tags r:id="rId7"/>
            </p:custDataLst>
          </p:nvPr>
        </p:nvSpPr>
        <p:spPr>
          <a:xfrm>
            <a:off x="1887220" y="3032125"/>
            <a:ext cx="1882775" cy="447040"/>
          </a:xfrm>
          <a:prstGeom prst="rect">
            <a:avLst/>
          </a:prstGeom>
          <a:solidFill>
            <a:srgbClr val="3947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bg1"/>
                </a:solidFill>
                <a:latin typeface="Times New Roman" panose="02020603050405020304" charset="0"/>
                <a:ea typeface="微软雅黑" panose="020B0503020204020204" pitchFamily="34" charset="-122"/>
              </a:rPr>
              <a:t>模型驱动</a:t>
            </a:r>
            <a:endParaRPr lang="zh-CN" altLang="en-US" b="1">
              <a:solidFill>
                <a:schemeClr val="bg1"/>
              </a:solidFill>
              <a:latin typeface="Times New Roman" panose="02020603050405020304" charset="0"/>
              <a:ea typeface="微软雅黑" panose="020B0503020204020204" pitchFamily="34" charset="-122"/>
            </a:endParaRPr>
          </a:p>
        </p:txBody>
      </p:sp>
      <p:sp>
        <p:nvSpPr>
          <p:cNvPr id="14" name="矩形 13"/>
          <p:cNvSpPr/>
          <p:nvPr>
            <p:custDataLst>
              <p:tags r:id="rId8"/>
            </p:custDataLst>
          </p:nvPr>
        </p:nvSpPr>
        <p:spPr>
          <a:xfrm>
            <a:off x="8589645" y="3035935"/>
            <a:ext cx="1882775" cy="447040"/>
          </a:xfrm>
          <a:prstGeom prst="rect">
            <a:avLst/>
          </a:prstGeom>
          <a:solidFill>
            <a:srgbClr val="3947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bg1"/>
                </a:solidFill>
                <a:latin typeface="Times New Roman" panose="02020603050405020304" charset="0"/>
                <a:ea typeface="微软雅黑" panose="020B0503020204020204" pitchFamily="34" charset="-122"/>
              </a:rPr>
              <a:t>组合或混合模型</a:t>
            </a:r>
            <a:endParaRPr lang="zh-CN" altLang="en-US" b="1">
              <a:solidFill>
                <a:schemeClr val="bg1"/>
              </a:solidFill>
              <a:latin typeface="Times New Roman" panose="02020603050405020304" charset="0"/>
              <a:ea typeface="微软雅黑" panose="020B0503020204020204" pitchFamily="34" charset="-122"/>
            </a:endParaRPr>
          </a:p>
        </p:txBody>
      </p:sp>
      <p:sp>
        <p:nvSpPr>
          <p:cNvPr id="4" name="矩形 3"/>
          <p:cNvSpPr/>
          <p:nvPr>
            <p:custDataLst>
              <p:tags r:id="rId9"/>
            </p:custDataLst>
          </p:nvPr>
        </p:nvSpPr>
        <p:spPr>
          <a:xfrm>
            <a:off x="1565910" y="3848100"/>
            <a:ext cx="1167130" cy="44704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latin typeface="Times New Roman" panose="02020603050405020304" charset="0"/>
                <a:ea typeface="微软雅黑" panose="020B0503020204020204" pitchFamily="34" charset="-122"/>
                <a:sym typeface="+mn-ea"/>
              </a:rPr>
              <a:t>ARMA</a:t>
            </a:r>
            <a:endParaRPr lang="zh-CN" altLang="en-US" b="1">
              <a:solidFill>
                <a:schemeClr val="tx1"/>
              </a:solidFill>
              <a:latin typeface="Times New Roman" panose="02020603050405020304" charset="0"/>
              <a:ea typeface="微软雅黑" panose="020B0503020204020204" pitchFamily="34" charset="-122"/>
            </a:endParaRPr>
          </a:p>
        </p:txBody>
      </p:sp>
      <p:sp>
        <p:nvSpPr>
          <p:cNvPr id="7" name="矩形 6"/>
          <p:cNvSpPr/>
          <p:nvPr>
            <p:custDataLst>
              <p:tags r:id="rId10"/>
            </p:custDataLst>
          </p:nvPr>
        </p:nvSpPr>
        <p:spPr>
          <a:xfrm>
            <a:off x="2937510" y="3841750"/>
            <a:ext cx="1109345" cy="44704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latin typeface="Times New Roman" panose="02020603050405020304" charset="0"/>
                <a:ea typeface="微软雅黑" panose="020B0503020204020204" pitchFamily="34" charset="-122"/>
                <a:sym typeface="+mn-ea"/>
              </a:rPr>
              <a:t>ARIMA</a:t>
            </a:r>
            <a:endParaRPr lang="zh-CN" altLang="en-US" b="1">
              <a:solidFill>
                <a:schemeClr val="tx1"/>
              </a:solidFill>
              <a:latin typeface="Times New Roman" panose="02020603050405020304" charset="0"/>
              <a:ea typeface="微软雅黑" panose="020B0503020204020204" pitchFamily="34" charset="-122"/>
            </a:endParaRPr>
          </a:p>
        </p:txBody>
      </p:sp>
      <p:sp>
        <p:nvSpPr>
          <p:cNvPr id="9" name="矩形 8"/>
          <p:cNvSpPr/>
          <p:nvPr>
            <p:custDataLst>
              <p:tags r:id="rId11"/>
            </p:custDataLst>
          </p:nvPr>
        </p:nvSpPr>
        <p:spPr>
          <a:xfrm>
            <a:off x="2937510" y="5300345"/>
            <a:ext cx="1109345" cy="44704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latin typeface="Times New Roman" panose="02020603050405020304" charset="0"/>
                <a:ea typeface="微软雅黑" panose="020B0503020204020204" pitchFamily="34" charset="-122"/>
                <a:sym typeface="+mn-ea"/>
              </a:rPr>
              <a:t>GARCH</a:t>
            </a:r>
            <a:endParaRPr lang="zh-CN" altLang="en-US" b="1">
              <a:solidFill>
                <a:schemeClr val="tx1"/>
              </a:solidFill>
              <a:latin typeface="Times New Roman" panose="02020603050405020304" charset="0"/>
              <a:ea typeface="微软雅黑" panose="020B0503020204020204" pitchFamily="34" charset="-122"/>
            </a:endParaRPr>
          </a:p>
        </p:txBody>
      </p:sp>
      <p:sp>
        <p:nvSpPr>
          <p:cNvPr id="10" name="矩形 9"/>
          <p:cNvSpPr/>
          <p:nvPr>
            <p:custDataLst>
              <p:tags r:id="rId12"/>
            </p:custDataLst>
          </p:nvPr>
        </p:nvSpPr>
        <p:spPr>
          <a:xfrm>
            <a:off x="1572260" y="4526280"/>
            <a:ext cx="1161415" cy="44704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latin typeface="Times New Roman" panose="02020603050405020304" charset="0"/>
                <a:ea typeface="微软雅黑" panose="020B0503020204020204" pitchFamily="34" charset="-122"/>
                <a:sym typeface="+mn-ea"/>
              </a:rPr>
              <a:t>SARIMA</a:t>
            </a:r>
            <a:endParaRPr lang="zh-CN" altLang="en-US" b="1">
              <a:solidFill>
                <a:schemeClr val="tx1"/>
              </a:solidFill>
              <a:latin typeface="Times New Roman" panose="02020603050405020304" charset="0"/>
              <a:ea typeface="微软雅黑" panose="020B0503020204020204" pitchFamily="34" charset="-122"/>
            </a:endParaRPr>
          </a:p>
        </p:txBody>
      </p:sp>
      <p:sp>
        <p:nvSpPr>
          <p:cNvPr id="11" name="矩形 10"/>
          <p:cNvSpPr/>
          <p:nvPr>
            <p:custDataLst>
              <p:tags r:id="rId13"/>
            </p:custDataLst>
          </p:nvPr>
        </p:nvSpPr>
        <p:spPr>
          <a:xfrm>
            <a:off x="1574165" y="5306695"/>
            <a:ext cx="1160145" cy="44704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indent="0" algn="ctr" fontAlgn="auto"/>
            <a:r>
              <a:rPr lang="en-US" altLang="zh-CN" sz="1600" b="1">
                <a:solidFill>
                  <a:schemeClr val="tx1"/>
                </a:solidFill>
                <a:latin typeface="Times New Roman" panose="02020603050405020304" charset="0"/>
                <a:ea typeface="微软雅黑" panose="020B0503020204020204" pitchFamily="34" charset="-122"/>
                <a:sym typeface="+mn-ea"/>
              </a:rPr>
              <a:t>GREY </a:t>
            </a:r>
            <a:endParaRPr lang="en-US" altLang="zh-CN" sz="1600" b="1">
              <a:solidFill>
                <a:schemeClr val="tx1"/>
              </a:solidFill>
              <a:latin typeface="Times New Roman" panose="02020603050405020304" charset="0"/>
              <a:ea typeface="微软雅黑" panose="020B0503020204020204" pitchFamily="34" charset="-122"/>
              <a:sym typeface="+mn-ea"/>
            </a:endParaRPr>
          </a:p>
          <a:p>
            <a:pPr indent="0" algn="ctr" fontAlgn="auto"/>
            <a:r>
              <a:rPr lang="en-US" altLang="zh-CN" sz="1600" b="1">
                <a:solidFill>
                  <a:schemeClr val="tx1"/>
                </a:solidFill>
                <a:latin typeface="Times New Roman" panose="02020603050405020304" charset="0"/>
                <a:ea typeface="微软雅黑" panose="020B0503020204020204" pitchFamily="34" charset="-122"/>
                <a:sym typeface="+mn-ea"/>
              </a:rPr>
              <a:t>MODELS</a:t>
            </a:r>
            <a:endParaRPr lang="en-US" altLang="zh-CN" sz="1600" b="1">
              <a:solidFill>
                <a:schemeClr val="tx1"/>
              </a:solidFill>
              <a:latin typeface="Times New Roman" panose="02020603050405020304" charset="0"/>
              <a:ea typeface="微软雅黑" panose="020B0503020204020204" pitchFamily="34" charset="-122"/>
              <a:sym typeface="+mn-ea"/>
            </a:endParaRPr>
          </a:p>
        </p:txBody>
      </p:sp>
      <p:sp>
        <p:nvSpPr>
          <p:cNvPr id="24" name="矩形 23"/>
          <p:cNvSpPr/>
          <p:nvPr>
            <p:custDataLst>
              <p:tags r:id="rId14"/>
            </p:custDataLst>
          </p:nvPr>
        </p:nvSpPr>
        <p:spPr>
          <a:xfrm>
            <a:off x="2936875" y="4505960"/>
            <a:ext cx="1110615" cy="46799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a:solidFill>
                  <a:schemeClr val="tx1"/>
                </a:solidFill>
                <a:latin typeface="Times New Roman" panose="02020603050405020304" charset="0"/>
                <a:ea typeface="微软雅黑" panose="020B0503020204020204" pitchFamily="34" charset="-122"/>
                <a:sym typeface="+mn-ea"/>
              </a:rPr>
              <a:t>博弈机制</a:t>
            </a:r>
            <a:endParaRPr lang="en-US" altLang="zh-CN" sz="1600" b="1">
              <a:solidFill>
                <a:schemeClr val="tx1"/>
              </a:solidFill>
              <a:latin typeface="Times New Roman" panose="02020603050405020304" charset="0"/>
              <a:ea typeface="微软雅黑" panose="020B0503020204020204" pitchFamily="34" charset="-122"/>
              <a:sym typeface="+mn-ea"/>
            </a:endParaRPr>
          </a:p>
          <a:p>
            <a:pPr algn="ctr"/>
            <a:r>
              <a:rPr lang="en-US" altLang="zh-CN" sz="1600" b="1">
                <a:solidFill>
                  <a:schemeClr val="tx1"/>
                </a:solidFill>
                <a:latin typeface="Times New Roman" panose="02020603050405020304" charset="0"/>
                <a:ea typeface="微软雅黑" panose="020B0503020204020204" pitchFamily="34" charset="-122"/>
                <a:sym typeface="+mn-ea"/>
              </a:rPr>
              <a:t>模型</a:t>
            </a:r>
            <a:endParaRPr lang="en-US" altLang="zh-CN" sz="1600" b="1">
              <a:solidFill>
                <a:schemeClr val="tx1"/>
              </a:solidFill>
              <a:latin typeface="Times New Roman" panose="02020603050405020304" charset="0"/>
              <a:ea typeface="微软雅黑" panose="020B0503020204020204" pitchFamily="34" charset="-122"/>
              <a:sym typeface="+mn-ea"/>
            </a:endParaRPr>
          </a:p>
        </p:txBody>
      </p:sp>
      <p:sp>
        <p:nvSpPr>
          <p:cNvPr id="25" name="矩形 24"/>
          <p:cNvSpPr/>
          <p:nvPr>
            <p:custDataLst>
              <p:tags r:id="rId15"/>
            </p:custDataLst>
          </p:nvPr>
        </p:nvSpPr>
        <p:spPr>
          <a:xfrm>
            <a:off x="5090160" y="3850005"/>
            <a:ext cx="883285" cy="44704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latin typeface="Times New Roman" panose="02020603050405020304" charset="0"/>
                <a:ea typeface="微软雅黑" panose="020B0503020204020204" pitchFamily="34" charset="-122"/>
              </a:rPr>
              <a:t>BP</a:t>
            </a:r>
            <a:endParaRPr lang="en-US" altLang="zh-CN" b="1">
              <a:solidFill>
                <a:schemeClr val="tx1"/>
              </a:solidFill>
              <a:latin typeface="Times New Roman" panose="02020603050405020304" charset="0"/>
              <a:ea typeface="微软雅黑" panose="020B0503020204020204" pitchFamily="34" charset="-122"/>
            </a:endParaRPr>
          </a:p>
        </p:txBody>
      </p:sp>
      <p:sp>
        <p:nvSpPr>
          <p:cNvPr id="27" name="矩形 26"/>
          <p:cNvSpPr/>
          <p:nvPr>
            <p:custDataLst>
              <p:tags r:id="rId16"/>
            </p:custDataLst>
          </p:nvPr>
        </p:nvSpPr>
        <p:spPr>
          <a:xfrm>
            <a:off x="6289040" y="3849370"/>
            <a:ext cx="883285" cy="43942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latin typeface="Times New Roman" panose="02020603050405020304" charset="0"/>
                <a:ea typeface="微软雅黑" panose="020B0503020204020204" pitchFamily="34" charset="-122"/>
              </a:rPr>
              <a:t>SVR</a:t>
            </a:r>
            <a:endParaRPr lang="en-US" altLang="zh-CN" b="1">
              <a:solidFill>
                <a:schemeClr val="tx1"/>
              </a:solidFill>
              <a:latin typeface="Times New Roman" panose="02020603050405020304" charset="0"/>
              <a:ea typeface="微软雅黑" panose="020B0503020204020204" pitchFamily="34" charset="-122"/>
            </a:endParaRPr>
          </a:p>
        </p:txBody>
      </p:sp>
      <p:sp>
        <p:nvSpPr>
          <p:cNvPr id="28" name="矩形 27"/>
          <p:cNvSpPr/>
          <p:nvPr>
            <p:custDataLst>
              <p:tags r:id="rId17"/>
            </p:custDataLst>
          </p:nvPr>
        </p:nvSpPr>
        <p:spPr>
          <a:xfrm>
            <a:off x="5090160" y="4514215"/>
            <a:ext cx="883285" cy="44704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latin typeface="Times New Roman" panose="02020603050405020304" charset="0"/>
                <a:ea typeface="微软雅黑" panose="020B0503020204020204" pitchFamily="34" charset="-122"/>
              </a:rPr>
              <a:t>DNN</a:t>
            </a:r>
            <a:endParaRPr lang="en-US" altLang="zh-CN" b="1">
              <a:solidFill>
                <a:schemeClr val="tx1"/>
              </a:solidFill>
              <a:latin typeface="Times New Roman" panose="02020603050405020304" charset="0"/>
              <a:ea typeface="微软雅黑" panose="020B0503020204020204" pitchFamily="34" charset="-122"/>
            </a:endParaRPr>
          </a:p>
        </p:txBody>
      </p:sp>
      <p:sp>
        <p:nvSpPr>
          <p:cNvPr id="29" name="矩形 28"/>
          <p:cNvSpPr/>
          <p:nvPr>
            <p:custDataLst>
              <p:tags r:id="rId18"/>
            </p:custDataLst>
          </p:nvPr>
        </p:nvSpPr>
        <p:spPr>
          <a:xfrm>
            <a:off x="5090160" y="5308600"/>
            <a:ext cx="883285" cy="44704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latin typeface="Times New Roman" panose="02020603050405020304" charset="0"/>
                <a:ea typeface="微软雅黑" panose="020B0503020204020204" pitchFamily="34" charset="-122"/>
              </a:rPr>
              <a:t>RNN</a:t>
            </a:r>
            <a:endParaRPr lang="en-US" altLang="zh-CN" b="1">
              <a:solidFill>
                <a:schemeClr val="tx1"/>
              </a:solidFill>
              <a:latin typeface="Times New Roman" panose="02020603050405020304" charset="0"/>
              <a:ea typeface="微软雅黑" panose="020B0503020204020204" pitchFamily="34" charset="-122"/>
            </a:endParaRPr>
          </a:p>
        </p:txBody>
      </p:sp>
      <p:sp>
        <p:nvSpPr>
          <p:cNvPr id="31" name="矩形 30"/>
          <p:cNvSpPr/>
          <p:nvPr>
            <p:custDataLst>
              <p:tags r:id="rId19"/>
            </p:custDataLst>
          </p:nvPr>
        </p:nvSpPr>
        <p:spPr>
          <a:xfrm>
            <a:off x="6289040" y="4508500"/>
            <a:ext cx="883285" cy="4445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latin typeface="Times New Roman" panose="02020603050405020304" charset="0"/>
                <a:ea typeface="微软雅黑" panose="020B0503020204020204" pitchFamily="34" charset="-122"/>
              </a:rPr>
              <a:t>CNN</a:t>
            </a:r>
            <a:endParaRPr lang="en-US" altLang="zh-CN" b="1">
              <a:solidFill>
                <a:schemeClr val="tx1"/>
              </a:solidFill>
              <a:latin typeface="Times New Roman" panose="02020603050405020304" charset="0"/>
              <a:ea typeface="微软雅黑" panose="020B0503020204020204" pitchFamily="34" charset="-122"/>
            </a:endParaRPr>
          </a:p>
        </p:txBody>
      </p:sp>
      <p:sp>
        <p:nvSpPr>
          <p:cNvPr id="32" name="矩形 31"/>
          <p:cNvSpPr/>
          <p:nvPr>
            <p:custDataLst>
              <p:tags r:id="rId20"/>
            </p:custDataLst>
          </p:nvPr>
        </p:nvSpPr>
        <p:spPr>
          <a:xfrm>
            <a:off x="6289040" y="5308600"/>
            <a:ext cx="883285" cy="43942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latin typeface="Times New Roman" panose="02020603050405020304" charset="0"/>
                <a:ea typeface="微软雅黑" panose="020B0503020204020204" pitchFamily="34" charset="-122"/>
              </a:rPr>
              <a:t>LSTM</a:t>
            </a:r>
            <a:endParaRPr lang="en-US" altLang="zh-CN" b="1">
              <a:solidFill>
                <a:schemeClr val="tx1"/>
              </a:solidFill>
              <a:latin typeface="Times New Roman" panose="02020603050405020304" charset="0"/>
              <a:ea typeface="微软雅黑" panose="020B0503020204020204" pitchFamily="34" charset="-122"/>
            </a:endParaRPr>
          </a:p>
        </p:txBody>
      </p:sp>
      <p:sp>
        <p:nvSpPr>
          <p:cNvPr id="34" name="矩形 33"/>
          <p:cNvSpPr/>
          <p:nvPr>
            <p:custDataLst>
              <p:tags r:id="rId21"/>
            </p:custDataLst>
          </p:nvPr>
        </p:nvSpPr>
        <p:spPr>
          <a:xfrm>
            <a:off x="8677275" y="3647440"/>
            <a:ext cx="1713865" cy="44704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latin typeface="Times New Roman" panose="02020603050405020304" charset="0"/>
                <a:ea typeface="微软雅黑" panose="020B0503020204020204" pitchFamily="34" charset="-122"/>
                <a:sym typeface="+mn-ea"/>
              </a:rPr>
              <a:t>小波变换</a:t>
            </a:r>
            <a:endParaRPr lang="en-US" altLang="zh-CN" b="1">
              <a:solidFill>
                <a:schemeClr val="tx1"/>
              </a:solidFill>
              <a:latin typeface="Times New Roman" panose="02020603050405020304" charset="0"/>
              <a:ea typeface="微软雅黑" panose="020B0503020204020204" pitchFamily="34" charset="-122"/>
              <a:sym typeface="+mn-ea"/>
            </a:endParaRPr>
          </a:p>
        </p:txBody>
      </p:sp>
      <p:sp>
        <p:nvSpPr>
          <p:cNvPr id="35" name="矩形 34"/>
          <p:cNvSpPr/>
          <p:nvPr>
            <p:custDataLst>
              <p:tags r:id="rId22"/>
            </p:custDataLst>
          </p:nvPr>
        </p:nvSpPr>
        <p:spPr>
          <a:xfrm>
            <a:off x="8677275" y="4910455"/>
            <a:ext cx="1713865" cy="44704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latin typeface="Times New Roman" panose="02020603050405020304" charset="0"/>
                <a:ea typeface="微软雅黑" panose="020B0503020204020204" pitchFamily="34" charset="-122"/>
                <a:sym typeface="+mn-ea"/>
              </a:rPr>
              <a:t>变分模式分解</a:t>
            </a:r>
            <a:endParaRPr lang="en-US" altLang="zh-CN" b="1">
              <a:solidFill>
                <a:schemeClr val="tx1"/>
              </a:solidFill>
              <a:latin typeface="Times New Roman" panose="02020603050405020304" charset="0"/>
              <a:ea typeface="微软雅黑" panose="020B0503020204020204" pitchFamily="34" charset="-122"/>
              <a:sym typeface="+mn-ea"/>
            </a:endParaRPr>
          </a:p>
        </p:txBody>
      </p:sp>
      <p:sp>
        <p:nvSpPr>
          <p:cNvPr id="36" name="矩形 35"/>
          <p:cNvSpPr/>
          <p:nvPr>
            <p:custDataLst>
              <p:tags r:id="rId23"/>
            </p:custDataLst>
          </p:nvPr>
        </p:nvSpPr>
        <p:spPr>
          <a:xfrm>
            <a:off x="8677275" y="4291965"/>
            <a:ext cx="1713865" cy="44704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latin typeface="Times New Roman" panose="02020603050405020304" charset="0"/>
                <a:ea typeface="微软雅黑" panose="020B0503020204020204" pitchFamily="34" charset="-122"/>
                <a:sym typeface="+mn-ea"/>
              </a:rPr>
              <a:t>k-means聚类</a:t>
            </a:r>
            <a:endParaRPr lang="en-US" altLang="zh-CN" b="1">
              <a:solidFill>
                <a:schemeClr val="tx1"/>
              </a:solidFill>
              <a:latin typeface="Times New Roman" panose="02020603050405020304" charset="0"/>
              <a:ea typeface="微软雅黑" panose="020B0503020204020204" pitchFamily="34" charset="-122"/>
              <a:sym typeface="+mn-ea"/>
            </a:endParaRPr>
          </a:p>
        </p:txBody>
      </p:sp>
      <p:sp>
        <p:nvSpPr>
          <p:cNvPr id="37" name="矩形 36"/>
          <p:cNvSpPr/>
          <p:nvPr>
            <p:custDataLst>
              <p:tags r:id="rId24"/>
            </p:custDataLst>
          </p:nvPr>
        </p:nvSpPr>
        <p:spPr>
          <a:xfrm>
            <a:off x="8677275" y="5528945"/>
            <a:ext cx="1713865" cy="44704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solidFill>
                  <a:schemeClr val="tx1"/>
                </a:solidFill>
                <a:latin typeface="Times New Roman" panose="02020603050405020304" charset="0"/>
                <a:ea typeface="微软雅黑" panose="020B0503020204020204" pitchFamily="34" charset="-122"/>
                <a:sym typeface="+mn-ea"/>
              </a:rPr>
              <a:t>引入其他特征</a:t>
            </a:r>
            <a:endParaRPr lang="en-US" altLang="zh-CN" b="1">
              <a:solidFill>
                <a:schemeClr val="tx1"/>
              </a:solidFill>
              <a:latin typeface="Times New Roman" panose="02020603050405020304" charset="0"/>
              <a:ea typeface="微软雅黑" panose="020B0503020204020204" pitchFamily="34" charset="-122"/>
              <a:sym typeface="+mn-ea"/>
            </a:endParaRPr>
          </a:p>
        </p:txBody>
      </p:sp>
      <p:pic>
        <p:nvPicPr>
          <p:cNvPr id="44" name="图片 43" descr="数字1"/>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152525" y="2642235"/>
            <a:ext cx="413385" cy="413385"/>
          </a:xfrm>
          <a:prstGeom prst="rect">
            <a:avLst/>
          </a:prstGeom>
        </p:spPr>
      </p:pic>
      <p:pic>
        <p:nvPicPr>
          <p:cNvPr id="45" name="图片 44" descr="数字2"/>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4474210" y="2638425"/>
            <a:ext cx="417195" cy="417195"/>
          </a:xfrm>
          <a:prstGeom prst="rect">
            <a:avLst/>
          </a:prstGeom>
        </p:spPr>
      </p:pic>
      <p:pic>
        <p:nvPicPr>
          <p:cNvPr id="46" name="图片 45" descr="数字3"/>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941945" y="2637790"/>
            <a:ext cx="392430" cy="392430"/>
          </a:xfrm>
          <a:prstGeom prst="rect">
            <a:avLst/>
          </a:prstGeom>
        </p:spPr>
      </p:pic>
    </p:spTree>
  </p:cSld>
  <p:clrMapOvr>
    <a:masterClrMapping/>
  </p:clrMapOvr>
  <p:transition>
    <p:dissolv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custDataLst>
              <p:tags r:id="rId1"/>
            </p:custDataLst>
          </p:nvPr>
        </p:nvSpPr>
        <p:spPr>
          <a:xfrm>
            <a:off x="1031240" y="4831080"/>
            <a:ext cx="10560050" cy="1192530"/>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4" name="圆角矩形 3"/>
          <p:cNvSpPr/>
          <p:nvPr>
            <p:custDataLst>
              <p:tags r:id="rId2"/>
            </p:custDataLst>
          </p:nvPr>
        </p:nvSpPr>
        <p:spPr>
          <a:xfrm>
            <a:off x="1032510" y="3305175"/>
            <a:ext cx="10560050" cy="1192530"/>
          </a:xfrm>
          <a:prstGeom prst="roundRect">
            <a:avLst>
              <a:gd name="adj" fmla="val 0"/>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30" name="圆角矩形 29"/>
          <p:cNvSpPr/>
          <p:nvPr>
            <p:custDataLst>
              <p:tags r:id="rId3"/>
            </p:custDataLst>
          </p:nvPr>
        </p:nvSpPr>
        <p:spPr>
          <a:xfrm>
            <a:off x="1032510" y="1790065"/>
            <a:ext cx="10560050" cy="1192530"/>
          </a:xfrm>
          <a:prstGeom prst="roundRect">
            <a:avLst>
              <a:gd name="adj" fmla="val 0"/>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2" name="内容占位符 1"/>
          <p:cNvSpPr>
            <a:spLocks noGrp="1"/>
          </p:cNvSpPr>
          <p:nvPr>
            <p:ph sz="quarter" idx="13"/>
          </p:nvPr>
        </p:nvSpPr>
        <p:spPr/>
        <p:txBody>
          <a:bodyPr/>
          <a:lstStyle/>
          <a:p>
            <a:r>
              <a:rPr lang="zh-CN" altLang="en-US" dirty="0" smtClean="0">
                <a:sym typeface="+mn-ea"/>
              </a:rPr>
              <a:t>课题</a:t>
            </a:r>
            <a:r>
              <a:rPr lang="zh-CN" altLang="en-US" dirty="0" smtClean="0">
                <a:sym typeface="+mn-ea"/>
              </a:rPr>
              <a:t>国内外发展现状</a:t>
            </a:r>
            <a:endParaRPr lang="zh-CN" altLang="en-US" dirty="0"/>
          </a:p>
          <a:p>
            <a:endParaRPr lang="zh-CN" altLang="en-US" dirty="0"/>
          </a:p>
        </p:txBody>
      </p:sp>
      <p:sp>
        <p:nvSpPr>
          <p:cNvPr id="3" name="灯片编号占位符 2"/>
          <p:cNvSpPr>
            <a:spLocks noGrp="1"/>
          </p:cNvSpPr>
          <p:nvPr>
            <p:ph type="sldNum" sz="quarter" idx="12"/>
          </p:nvPr>
        </p:nvSpPr>
        <p:spPr>
          <a:xfrm>
            <a:off x="11271286" y="6466725"/>
            <a:ext cx="472440" cy="365125"/>
          </a:xfrm>
        </p:spPr>
        <p:txBody>
          <a:bodyPr/>
          <a:lstStyle/>
          <a:p>
            <a:r>
              <a:rPr lang="en-US" altLang="zh-CN" dirty="0"/>
              <a:t>18</a:t>
            </a:r>
            <a:endParaRPr lang="en-US" altLang="zh-CN" dirty="0"/>
          </a:p>
        </p:txBody>
      </p:sp>
      <p:sp>
        <p:nvSpPr>
          <p:cNvPr id="94" name="矩形: 圆角 93"/>
          <p:cNvSpPr/>
          <p:nvPr/>
        </p:nvSpPr>
        <p:spPr>
          <a:xfrm>
            <a:off x="412750" y="972820"/>
            <a:ext cx="840676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负荷及电价预测研究现状</a:t>
            </a:r>
            <a:r>
              <a:rPr lang="zh-CN" altLang="en-US" sz="2400" dirty="0" smtClean="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4"/>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dirty="0">
                <a:solidFill>
                  <a:srgbClr val="FABC00"/>
                </a:solidFill>
                <a:latin typeface="微软雅黑" panose="020B0503020204020204" pitchFamily="34" charset="-122"/>
                <a:ea typeface="微软雅黑" panose="020B0503020204020204" pitchFamily="34" charset="-122"/>
                <a:sym typeface="+mn-ea"/>
              </a:rPr>
              <a:t>电力市场现货电价预测</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custDataLst>
              <p:tags r:id="rId5"/>
            </p:custDataLst>
          </p:nvPr>
        </p:nvSpPr>
        <p:spPr>
          <a:xfrm>
            <a:off x="1343025" y="1835785"/>
            <a:ext cx="10043160" cy="1087755"/>
          </a:xfrm>
          <a:prstGeom prst="rect">
            <a:avLst/>
          </a:prstGeom>
          <a:noFill/>
        </p:spPr>
        <p:txBody>
          <a:bodyPr wrap="square" rtlCol="0" anchor="t">
            <a:spAutoFit/>
          </a:bodyPr>
          <a:p>
            <a:pPr indent="457200" fontAlgn="auto">
              <a:lnSpc>
                <a:spcPct val="120000"/>
              </a:lnSpc>
            </a:pPr>
            <a:r>
              <a:rPr lang="zh-CN" altLang="en-US" b="1">
                <a:latin typeface="Times New Roman" panose="02020603050405020304" charset="0"/>
                <a:ea typeface="微软雅黑" panose="020B0503020204020204" pitchFamily="34" charset="-122"/>
                <a:cs typeface="Times New Roman" panose="02020603050405020304" charset="0"/>
              </a:rPr>
              <a:t>模型驱动的方法</a:t>
            </a:r>
            <a:r>
              <a:rPr lang="zh-CN" altLang="en-US" b="1">
                <a:solidFill>
                  <a:srgbClr val="080EF6"/>
                </a:solidFill>
                <a:highlight>
                  <a:srgbClr val="FFFF00"/>
                </a:highlight>
                <a:latin typeface="Times New Roman" panose="02020603050405020304" charset="0"/>
                <a:ea typeface="微软雅黑" panose="020B0503020204020204" pitchFamily="34" charset="-122"/>
                <a:cs typeface="Times New Roman" panose="02020603050405020304" charset="0"/>
              </a:rPr>
              <a:t>从数学假设和严谨的理论模型出发，使用实际数据对理论模型的待定系数进行率定，经过统计检验后获得预测模型。</a:t>
            </a:r>
            <a:r>
              <a:rPr lang="zh-CN" altLang="en-US" b="1">
                <a:latin typeface="Times New Roman" panose="02020603050405020304" charset="0"/>
                <a:ea typeface="微软雅黑" panose="020B0503020204020204" pitchFamily="34" charset="-122"/>
                <a:cs typeface="Times New Roman" panose="02020603050405020304" charset="0"/>
              </a:rPr>
              <a:t>统计模型通常将电价视为时间序列，利用</a:t>
            </a:r>
            <a:r>
              <a:rPr lang="zh-CN" altLang="en-US" b="1">
                <a:latin typeface="Times New Roman" panose="02020603050405020304" charset="0"/>
                <a:ea typeface="微软雅黑" panose="020B0503020204020204" pitchFamily="34" charset="-122"/>
                <a:cs typeface="Times New Roman" panose="02020603050405020304" charset="0"/>
              </a:rPr>
              <a:t>时间序列的统计属性进行预测。</a:t>
            </a:r>
            <a:endParaRPr lang="zh-CN" altLang="en-US" b="1">
              <a:latin typeface="Times New Roman" panose="02020603050405020304" charset="0"/>
              <a:ea typeface="微软雅黑" panose="020B0503020204020204" pitchFamily="34" charset="-122"/>
              <a:cs typeface="Times New Roman" panose="02020603050405020304" charset="0"/>
            </a:endParaRPr>
          </a:p>
        </p:txBody>
      </p:sp>
      <p:sp>
        <p:nvSpPr>
          <p:cNvPr id="18" name="文本框 17"/>
          <p:cNvSpPr txBox="1"/>
          <p:nvPr>
            <p:custDataLst>
              <p:tags r:id="rId6"/>
            </p:custDataLst>
          </p:nvPr>
        </p:nvSpPr>
        <p:spPr>
          <a:xfrm>
            <a:off x="1343025" y="4879340"/>
            <a:ext cx="10042525" cy="1087755"/>
          </a:xfrm>
          <a:prstGeom prst="rect">
            <a:avLst/>
          </a:prstGeom>
          <a:noFill/>
        </p:spPr>
        <p:txBody>
          <a:bodyPr wrap="square" rtlCol="0" anchor="t">
            <a:spAutoFit/>
          </a:bodyPr>
          <a:p>
            <a:pPr indent="457200" fontAlgn="auto">
              <a:lnSpc>
                <a:spcPct val="120000"/>
              </a:lnSpc>
            </a:pPr>
            <a:r>
              <a:rPr lang="zh-CN" altLang="en-US" b="1">
                <a:latin typeface="微软雅黑" panose="020B0503020204020204" pitchFamily="34" charset="-122"/>
                <a:ea typeface="微软雅黑" panose="020B0503020204020204" pitchFamily="34" charset="-122"/>
                <a:cs typeface="微软雅黑" panose="020B0503020204020204" pitchFamily="34" charset="-122"/>
              </a:rPr>
              <a:t>组合或混合模型的预测方法，主要有模型组合和模型混合两种手段。模型组合不改变单个模型的结构，而是</a:t>
            </a:r>
            <a:r>
              <a:rPr lang="zh-CN" altLang="en-US" b="1">
                <a:solidFill>
                  <a:srgbClr val="7030A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利用模型的性能和效果对模型结果进行加权组合或筛选</a:t>
            </a:r>
            <a:r>
              <a:rPr lang="zh-CN" altLang="en-US" b="1">
                <a:solidFill>
                  <a:srgbClr val="7030A0"/>
                </a:solidFill>
                <a:highlight>
                  <a:srgbClr val="FFFF00"/>
                </a:highlight>
                <a:latin typeface="Times New Roman" panose="02020603050405020304" charset="0"/>
                <a:ea typeface="微软雅黑" panose="020B0503020204020204" pitchFamily="34" charset="-122"/>
                <a:cs typeface="Times New Roman" panose="02020603050405020304" charset="0"/>
                <a:sym typeface="+mn-ea"/>
              </a:rPr>
              <a:t>。</a:t>
            </a:r>
            <a:r>
              <a:rPr lang="zh-CN" altLang="en-US" b="1">
                <a:latin typeface="Times New Roman" panose="02020603050405020304" charset="0"/>
                <a:ea typeface="微软雅黑" panose="020B0503020204020204" pitchFamily="34" charset="-122"/>
                <a:cs typeface="Times New Roman" panose="02020603050405020304" charset="0"/>
                <a:sym typeface="+mn-ea"/>
              </a:rPr>
              <a:t>模型混合则是</a:t>
            </a:r>
            <a:r>
              <a:rPr lang="zh-CN" altLang="en-US" b="1">
                <a:solidFill>
                  <a:srgbClr val="7030A0"/>
                </a:solidFill>
                <a:highlight>
                  <a:srgbClr val="FFFF00"/>
                </a:highlight>
                <a:latin typeface="Times New Roman" panose="02020603050405020304" charset="0"/>
                <a:ea typeface="微软雅黑" panose="020B0503020204020204" pitchFamily="34" charset="-122"/>
                <a:cs typeface="Times New Roman" panose="02020603050405020304" charset="0"/>
                <a:sym typeface="+mn-ea"/>
              </a:rPr>
              <a:t>在已有模型的基础上进行改造，将不同模型的组件融合在一起，形成一个新的模型。</a:t>
            </a:r>
            <a:endParaRPr lang="zh-CN" altLang="en-US" b="1">
              <a:solidFill>
                <a:srgbClr val="7030A0"/>
              </a:solidFill>
              <a:highlight>
                <a:srgbClr val="FFFF00"/>
              </a:highlight>
              <a:latin typeface="Times New Roman" panose="02020603050405020304" charset="0"/>
              <a:ea typeface="微软雅黑" panose="020B0503020204020204" pitchFamily="34" charset="-122"/>
              <a:cs typeface="Times New Roman" panose="02020603050405020304" charset="0"/>
              <a:sym typeface="+mn-ea"/>
            </a:endParaRPr>
          </a:p>
        </p:txBody>
      </p:sp>
      <p:sp>
        <p:nvSpPr>
          <p:cNvPr id="17" name="文本框 16"/>
          <p:cNvSpPr txBox="1"/>
          <p:nvPr>
            <p:custDataLst>
              <p:tags r:id="rId7"/>
            </p:custDataLst>
          </p:nvPr>
        </p:nvSpPr>
        <p:spPr>
          <a:xfrm>
            <a:off x="1343025" y="3324860"/>
            <a:ext cx="10043795" cy="1087755"/>
          </a:xfrm>
          <a:prstGeom prst="rect">
            <a:avLst/>
          </a:prstGeom>
          <a:noFill/>
        </p:spPr>
        <p:txBody>
          <a:bodyPr wrap="square" rtlCol="0" anchor="t">
            <a:spAutoFit/>
          </a:bodyPr>
          <a:p>
            <a:pPr indent="457200" fontAlgn="auto">
              <a:lnSpc>
                <a:spcPct val="120000"/>
              </a:lnSpc>
            </a:pPr>
            <a:r>
              <a:rPr lang="zh-CN" altLang="en-US" b="1">
                <a:latin typeface="Times New Roman" panose="02020603050405020304" charset="0"/>
                <a:ea typeface="微软雅黑" panose="020B0503020204020204" pitchFamily="34" charset="-122"/>
                <a:cs typeface="Times New Roman" panose="02020603050405020304" charset="0"/>
              </a:rPr>
              <a:t>数据驱动的方法一般不对变量间的逻辑关系做假设，而是采用统一的模型框架，</a:t>
            </a:r>
            <a:r>
              <a:rPr lang="zh-CN" altLang="en-US" b="1">
                <a:solidFill>
                  <a:srgbClr val="FF0000"/>
                </a:solidFill>
                <a:highlight>
                  <a:srgbClr val="FFFF00"/>
                </a:highlight>
                <a:latin typeface="Times New Roman" panose="02020603050405020304" charset="0"/>
                <a:ea typeface="微软雅黑" panose="020B0503020204020204" pitchFamily="34" charset="-122"/>
                <a:cs typeface="Times New Roman" panose="02020603050405020304" charset="0"/>
              </a:rPr>
              <a:t>模型采用简单的函数连接变量，进而形成输入到输出的复杂复合函数关系，然后利用已有真实数据训练模型参数，从而将变量之间的逻辑关系实例化。</a:t>
            </a:r>
            <a:endParaRPr lang="zh-CN" altLang="en-US" b="1">
              <a:solidFill>
                <a:srgbClr val="FF0000"/>
              </a:solidFill>
              <a:highlight>
                <a:srgbClr val="FFFF00"/>
              </a:highlight>
              <a:latin typeface="Times New Roman" panose="02020603050405020304" charset="0"/>
              <a:ea typeface="微软雅黑" panose="020B0503020204020204" pitchFamily="34" charset="-122"/>
              <a:cs typeface="Times New Roman" panose="02020603050405020304" charset="0"/>
            </a:endParaRPr>
          </a:p>
        </p:txBody>
      </p:sp>
      <p:pic>
        <p:nvPicPr>
          <p:cNvPr id="6" name="图片 5" descr="问题"/>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908030" y="1097280"/>
            <a:ext cx="1283970" cy="1283970"/>
          </a:xfrm>
          <a:prstGeom prst="rect">
            <a:avLst/>
          </a:prstGeom>
        </p:spPr>
      </p:pic>
      <p:pic>
        <p:nvPicPr>
          <p:cNvPr id="7" name="图片 6" descr="序号1"/>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60680" y="1988185"/>
            <a:ext cx="914400" cy="914400"/>
          </a:xfrm>
          <a:prstGeom prst="rect">
            <a:avLst/>
          </a:prstGeom>
        </p:spPr>
      </p:pic>
      <p:pic>
        <p:nvPicPr>
          <p:cNvPr id="8" name="图片 7" descr="序号2"/>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60680" y="3449955"/>
            <a:ext cx="914400" cy="914400"/>
          </a:xfrm>
          <a:prstGeom prst="rect">
            <a:avLst/>
          </a:prstGeom>
        </p:spPr>
      </p:pic>
      <p:pic>
        <p:nvPicPr>
          <p:cNvPr id="9" name="图片 8" descr="序号3"/>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60680" y="4970145"/>
            <a:ext cx="914400" cy="914400"/>
          </a:xfrm>
          <a:prstGeom prst="rect">
            <a:avLst/>
          </a:prstGeom>
        </p:spPr>
      </p:pic>
    </p:spTree>
  </p:cSld>
  <p:clrMapOvr>
    <a:masterClrMapping/>
  </p:clrMapOvr>
  <p:transition>
    <p:dissolv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lstStyle/>
          <a:p>
            <a:r>
              <a:rPr lang="zh-CN" altLang="en-US" dirty="0" smtClean="0">
                <a:sym typeface="+mn-ea"/>
              </a:rPr>
              <a:t>课题</a:t>
            </a:r>
            <a:r>
              <a:rPr lang="zh-CN" altLang="en-US" dirty="0" smtClean="0">
                <a:sym typeface="+mn-ea"/>
              </a:rPr>
              <a:t>国内外发展现状</a:t>
            </a:r>
            <a:endParaRPr lang="zh-CN" altLang="en-US" dirty="0"/>
          </a:p>
          <a:p>
            <a:endParaRPr lang="zh-CN" altLang="en-US" dirty="0"/>
          </a:p>
        </p:txBody>
      </p:sp>
      <p:sp>
        <p:nvSpPr>
          <p:cNvPr id="3" name="灯片编号占位符 2"/>
          <p:cNvSpPr>
            <a:spLocks noGrp="1"/>
          </p:cNvSpPr>
          <p:nvPr>
            <p:ph type="sldNum" sz="quarter" idx="12"/>
          </p:nvPr>
        </p:nvSpPr>
        <p:spPr>
          <a:xfrm>
            <a:off x="11272556" y="6471170"/>
            <a:ext cx="472440" cy="365125"/>
          </a:xfrm>
        </p:spPr>
        <p:txBody>
          <a:bodyPr/>
          <a:lstStyle/>
          <a:p>
            <a:r>
              <a:rPr lang="en-US" altLang="zh-CN" dirty="0"/>
              <a:t>19</a:t>
            </a:r>
            <a:endParaRPr lang="en-US" altLang="zh-CN" dirty="0"/>
          </a:p>
        </p:txBody>
      </p:sp>
      <p:sp>
        <p:nvSpPr>
          <p:cNvPr id="94" name="矩形: 圆角 93"/>
          <p:cNvSpPr/>
          <p:nvPr/>
        </p:nvSpPr>
        <p:spPr>
          <a:xfrm>
            <a:off x="412750" y="789940"/>
            <a:ext cx="11889740"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基于人工智能技术的新型电力系统负荷及</a:t>
            </a:r>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电价预测研究框架</a:t>
            </a:r>
            <a:endParaRPr lang="zh-CN" altLang="en-US" sz="2400" dirty="0">
              <a:solidFill>
                <a:srgbClr val="FABC00"/>
              </a:solidFill>
              <a:latin typeface="微软雅黑" panose="020B0503020204020204" pitchFamily="34" charset="-122"/>
              <a:ea typeface="微软雅黑" panose="020B0503020204020204" pitchFamily="34" charset="-122"/>
              <a:sym typeface="+mn-ea"/>
            </a:endParaRPr>
          </a:p>
        </p:txBody>
      </p:sp>
      <p:sp>
        <p:nvSpPr>
          <p:cNvPr id="34" name="矩形 33"/>
          <p:cNvSpPr/>
          <p:nvPr>
            <p:custDataLst>
              <p:tags r:id="rId1"/>
            </p:custDataLst>
          </p:nvPr>
        </p:nvSpPr>
        <p:spPr>
          <a:xfrm>
            <a:off x="1524635" y="1303655"/>
            <a:ext cx="6694170" cy="479425"/>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14" name="矩形 13"/>
          <p:cNvSpPr/>
          <p:nvPr>
            <p:custDataLst>
              <p:tags r:id="rId2"/>
            </p:custDataLst>
          </p:nvPr>
        </p:nvSpPr>
        <p:spPr>
          <a:xfrm>
            <a:off x="1691005" y="1377315"/>
            <a:ext cx="6597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建设规划</a:t>
            </a:r>
            <a:endParaRPr lang="zh-CN" altLang="en-US" sz="900" b="1">
              <a:solidFill>
                <a:schemeClr val="tx1"/>
              </a:solidFill>
            </a:endParaRPr>
          </a:p>
        </p:txBody>
      </p:sp>
      <p:sp>
        <p:nvSpPr>
          <p:cNvPr id="15" name="矩形 14"/>
          <p:cNvSpPr/>
          <p:nvPr>
            <p:custDataLst>
              <p:tags r:id="rId3"/>
            </p:custDataLst>
          </p:nvPr>
        </p:nvSpPr>
        <p:spPr>
          <a:xfrm>
            <a:off x="2478405" y="1377315"/>
            <a:ext cx="6597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优化调度</a:t>
            </a:r>
            <a:endParaRPr lang="zh-CN" altLang="en-US" sz="900" b="1">
              <a:solidFill>
                <a:schemeClr val="tx1"/>
              </a:solidFill>
            </a:endParaRPr>
          </a:p>
        </p:txBody>
      </p:sp>
      <p:sp>
        <p:nvSpPr>
          <p:cNvPr id="10" name="矩形 9"/>
          <p:cNvSpPr/>
          <p:nvPr>
            <p:custDataLst>
              <p:tags r:id="rId4"/>
            </p:custDataLst>
          </p:nvPr>
        </p:nvSpPr>
        <p:spPr>
          <a:xfrm>
            <a:off x="3265805" y="1377315"/>
            <a:ext cx="6597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经济运行</a:t>
            </a:r>
            <a:endParaRPr lang="zh-CN" altLang="en-US" sz="900" b="1">
              <a:solidFill>
                <a:schemeClr val="tx1"/>
              </a:solidFill>
            </a:endParaRPr>
          </a:p>
        </p:txBody>
      </p:sp>
      <p:sp>
        <p:nvSpPr>
          <p:cNvPr id="11" name="矩形 10"/>
          <p:cNvSpPr/>
          <p:nvPr>
            <p:custDataLst>
              <p:tags r:id="rId5"/>
            </p:custDataLst>
          </p:nvPr>
        </p:nvSpPr>
        <p:spPr>
          <a:xfrm>
            <a:off x="4053205" y="1377315"/>
            <a:ext cx="6597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检修</a:t>
            </a:r>
            <a:r>
              <a:rPr lang="zh-CN" altLang="en-US" sz="900" b="1">
                <a:solidFill>
                  <a:schemeClr val="tx1"/>
                </a:solidFill>
              </a:rPr>
              <a:t>计划</a:t>
            </a:r>
            <a:endParaRPr lang="zh-CN" altLang="en-US" sz="900" b="1">
              <a:solidFill>
                <a:schemeClr val="tx1"/>
              </a:solidFill>
            </a:endParaRPr>
          </a:p>
        </p:txBody>
      </p:sp>
      <p:sp>
        <p:nvSpPr>
          <p:cNvPr id="12" name="矩形 11"/>
          <p:cNvSpPr/>
          <p:nvPr>
            <p:custDataLst>
              <p:tags r:id="rId6"/>
            </p:custDataLst>
          </p:nvPr>
        </p:nvSpPr>
        <p:spPr>
          <a:xfrm>
            <a:off x="4840605" y="1377315"/>
            <a:ext cx="6597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监视控制</a:t>
            </a:r>
            <a:endParaRPr lang="zh-CN" altLang="en-US" sz="900" b="1">
              <a:solidFill>
                <a:schemeClr val="tx1"/>
              </a:solidFill>
            </a:endParaRPr>
          </a:p>
        </p:txBody>
      </p:sp>
      <p:sp>
        <p:nvSpPr>
          <p:cNvPr id="19" name="矩形 18"/>
          <p:cNvSpPr/>
          <p:nvPr>
            <p:custDataLst>
              <p:tags r:id="rId7"/>
            </p:custDataLst>
          </p:nvPr>
        </p:nvSpPr>
        <p:spPr>
          <a:xfrm>
            <a:off x="5628005" y="1377315"/>
            <a:ext cx="6597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场景生成</a:t>
            </a:r>
            <a:endParaRPr lang="zh-CN" altLang="en-US" sz="900" b="1">
              <a:solidFill>
                <a:schemeClr val="tx1"/>
              </a:solidFill>
            </a:endParaRPr>
          </a:p>
        </p:txBody>
      </p:sp>
      <p:sp>
        <p:nvSpPr>
          <p:cNvPr id="20" name="矩形 19"/>
          <p:cNvSpPr/>
          <p:nvPr>
            <p:custDataLst>
              <p:tags r:id="rId8"/>
            </p:custDataLst>
          </p:nvPr>
        </p:nvSpPr>
        <p:spPr>
          <a:xfrm>
            <a:off x="6415405" y="1377315"/>
            <a:ext cx="7613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可靠性分析</a:t>
            </a:r>
            <a:endParaRPr lang="zh-CN" altLang="en-US" sz="900" b="1">
              <a:solidFill>
                <a:schemeClr val="tx1"/>
              </a:solidFill>
            </a:endParaRPr>
          </a:p>
        </p:txBody>
      </p:sp>
      <p:sp>
        <p:nvSpPr>
          <p:cNvPr id="35" name="矩形 34"/>
          <p:cNvSpPr/>
          <p:nvPr>
            <p:custDataLst>
              <p:tags r:id="rId9"/>
            </p:custDataLst>
          </p:nvPr>
        </p:nvSpPr>
        <p:spPr>
          <a:xfrm>
            <a:off x="8533130" y="1303655"/>
            <a:ext cx="3160395" cy="2660650"/>
          </a:xfrm>
          <a:prstGeom prst="rect">
            <a:avLst/>
          </a:prstGeom>
          <a:solidFill>
            <a:schemeClr val="bg1"/>
          </a:solid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21" name="矩形 20"/>
          <p:cNvSpPr/>
          <p:nvPr>
            <p:custDataLst>
              <p:tags r:id="rId10"/>
            </p:custDataLst>
          </p:nvPr>
        </p:nvSpPr>
        <p:spPr>
          <a:xfrm>
            <a:off x="7304405" y="1377315"/>
            <a:ext cx="6597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需求响应</a:t>
            </a:r>
            <a:endParaRPr lang="zh-CN" altLang="en-US" sz="900" b="1">
              <a:solidFill>
                <a:schemeClr val="tx1"/>
              </a:solidFill>
            </a:endParaRPr>
          </a:p>
        </p:txBody>
      </p:sp>
      <p:sp>
        <p:nvSpPr>
          <p:cNvPr id="22" name="矩形 21"/>
          <p:cNvSpPr/>
          <p:nvPr>
            <p:custDataLst>
              <p:tags r:id="rId11"/>
            </p:custDataLst>
          </p:nvPr>
        </p:nvSpPr>
        <p:spPr>
          <a:xfrm>
            <a:off x="9234170" y="1431290"/>
            <a:ext cx="21355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面向数据匮乏场景的负荷</a:t>
            </a:r>
            <a:r>
              <a:rPr lang="zh-CN" altLang="en-US" sz="900" b="1">
                <a:solidFill>
                  <a:schemeClr val="tx1"/>
                </a:solidFill>
              </a:rPr>
              <a:t>预测技术</a:t>
            </a:r>
            <a:endParaRPr lang="zh-CN" altLang="en-US" sz="900" b="1">
              <a:solidFill>
                <a:schemeClr val="tx1"/>
              </a:solidFill>
            </a:endParaRPr>
          </a:p>
        </p:txBody>
      </p:sp>
      <p:sp>
        <p:nvSpPr>
          <p:cNvPr id="23" name="矩形 22"/>
          <p:cNvSpPr/>
          <p:nvPr>
            <p:custDataLst>
              <p:tags r:id="rId12"/>
            </p:custDataLst>
          </p:nvPr>
        </p:nvSpPr>
        <p:spPr>
          <a:xfrm>
            <a:off x="9234170" y="1771015"/>
            <a:ext cx="21355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基于多源数据融合的概率</a:t>
            </a:r>
            <a:r>
              <a:rPr lang="zh-CN" altLang="en-US" sz="900" b="1">
                <a:solidFill>
                  <a:schemeClr val="tx1"/>
                </a:solidFill>
              </a:rPr>
              <a:t>负荷预测技术</a:t>
            </a:r>
            <a:endParaRPr lang="zh-CN" altLang="en-US" sz="900" b="1">
              <a:solidFill>
                <a:schemeClr val="tx1"/>
              </a:solidFill>
            </a:endParaRPr>
          </a:p>
        </p:txBody>
      </p:sp>
      <p:sp>
        <p:nvSpPr>
          <p:cNvPr id="26" name="矩形 25"/>
          <p:cNvSpPr/>
          <p:nvPr>
            <p:custDataLst>
              <p:tags r:id="rId13"/>
            </p:custDataLst>
          </p:nvPr>
        </p:nvSpPr>
        <p:spPr>
          <a:xfrm>
            <a:off x="8657590" y="1363345"/>
            <a:ext cx="304800" cy="69596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数据</a:t>
            </a:r>
            <a:r>
              <a:rPr lang="zh-CN" altLang="en-US" sz="900" b="1">
                <a:solidFill>
                  <a:schemeClr val="tx1"/>
                </a:solidFill>
              </a:rPr>
              <a:t>角度</a:t>
            </a:r>
            <a:endParaRPr lang="zh-CN" altLang="en-US" sz="900" b="1">
              <a:solidFill>
                <a:schemeClr val="tx1"/>
              </a:solidFill>
            </a:endParaRPr>
          </a:p>
        </p:txBody>
      </p:sp>
      <p:sp>
        <p:nvSpPr>
          <p:cNvPr id="27" name="矩形 26"/>
          <p:cNvSpPr/>
          <p:nvPr>
            <p:custDataLst>
              <p:tags r:id="rId14"/>
            </p:custDataLst>
          </p:nvPr>
        </p:nvSpPr>
        <p:spPr>
          <a:xfrm>
            <a:off x="8962390" y="1363345"/>
            <a:ext cx="2571750" cy="69596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0" b="1">
              <a:solidFill>
                <a:schemeClr val="tx1"/>
              </a:solidFill>
            </a:endParaRPr>
          </a:p>
        </p:txBody>
      </p:sp>
      <p:sp>
        <p:nvSpPr>
          <p:cNvPr id="28" name="矩形 27"/>
          <p:cNvSpPr/>
          <p:nvPr>
            <p:custDataLst>
              <p:tags r:id="rId15"/>
            </p:custDataLst>
          </p:nvPr>
        </p:nvSpPr>
        <p:spPr>
          <a:xfrm>
            <a:off x="9234170" y="2504440"/>
            <a:ext cx="21355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基于集成学习的自适应负荷</a:t>
            </a:r>
            <a:r>
              <a:rPr lang="zh-CN" altLang="en-US" sz="900" b="1">
                <a:solidFill>
                  <a:schemeClr val="tx1"/>
                </a:solidFill>
              </a:rPr>
              <a:t>预测技术</a:t>
            </a:r>
            <a:endParaRPr lang="zh-CN" altLang="en-US" sz="900" b="1">
              <a:solidFill>
                <a:schemeClr val="tx1"/>
              </a:solidFill>
            </a:endParaRPr>
          </a:p>
        </p:txBody>
      </p:sp>
      <p:sp>
        <p:nvSpPr>
          <p:cNvPr id="29" name="矩形 28"/>
          <p:cNvSpPr/>
          <p:nvPr>
            <p:custDataLst>
              <p:tags r:id="rId16"/>
            </p:custDataLst>
          </p:nvPr>
        </p:nvSpPr>
        <p:spPr>
          <a:xfrm>
            <a:off x="9234170" y="2873375"/>
            <a:ext cx="21355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基于图神经网络的</a:t>
            </a:r>
            <a:r>
              <a:rPr lang="zh-CN" altLang="en-US" sz="900" b="1">
                <a:solidFill>
                  <a:schemeClr val="tx1"/>
                </a:solidFill>
              </a:rPr>
              <a:t>负荷预测技术</a:t>
            </a:r>
            <a:endParaRPr lang="zh-CN" altLang="en-US" sz="900" b="1">
              <a:solidFill>
                <a:schemeClr val="tx1"/>
              </a:solidFill>
            </a:endParaRPr>
          </a:p>
        </p:txBody>
      </p:sp>
      <p:sp>
        <p:nvSpPr>
          <p:cNvPr id="13" name="矩形 12"/>
          <p:cNvSpPr/>
          <p:nvPr>
            <p:custDataLst>
              <p:tags r:id="rId17"/>
            </p:custDataLst>
          </p:nvPr>
        </p:nvSpPr>
        <p:spPr>
          <a:xfrm>
            <a:off x="9234170" y="3242310"/>
            <a:ext cx="21355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基于自动机器学习的负荷</a:t>
            </a:r>
            <a:r>
              <a:rPr lang="zh-CN" altLang="en-US" sz="900" b="1">
                <a:solidFill>
                  <a:schemeClr val="tx1"/>
                </a:solidFill>
              </a:rPr>
              <a:t>预测技术</a:t>
            </a:r>
            <a:endParaRPr lang="zh-CN" altLang="en-US" sz="900" b="1">
              <a:solidFill>
                <a:schemeClr val="tx1"/>
              </a:solidFill>
            </a:endParaRPr>
          </a:p>
        </p:txBody>
      </p:sp>
      <p:sp>
        <p:nvSpPr>
          <p:cNvPr id="31" name="矩形 30"/>
          <p:cNvSpPr/>
          <p:nvPr>
            <p:custDataLst>
              <p:tags r:id="rId18"/>
            </p:custDataLst>
          </p:nvPr>
        </p:nvSpPr>
        <p:spPr>
          <a:xfrm>
            <a:off x="9234170" y="3611245"/>
            <a:ext cx="21355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考虑模型可解释性的负荷</a:t>
            </a:r>
            <a:r>
              <a:rPr lang="zh-CN" altLang="en-US" sz="900" b="1">
                <a:solidFill>
                  <a:schemeClr val="tx1"/>
                </a:solidFill>
              </a:rPr>
              <a:t>预测技术</a:t>
            </a:r>
            <a:endParaRPr lang="zh-CN" altLang="en-US" sz="900" b="1">
              <a:solidFill>
                <a:schemeClr val="tx1"/>
              </a:solidFill>
            </a:endParaRPr>
          </a:p>
        </p:txBody>
      </p:sp>
      <p:sp>
        <p:nvSpPr>
          <p:cNvPr id="32" name="矩形 31"/>
          <p:cNvSpPr/>
          <p:nvPr>
            <p:custDataLst>
              <p:tags r:id="rId19"/>
            </p:custDataLst>
          </p:nvPr>
        </p:nvSpPr>
        <p:spPr>
          <a:xfrm>
            <a:off x="8963025" y="2443480"/>
            <a:ext cx="2625090" cy="146431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0" b="1">
              <a:solidFill>
                <a:schemeClr val="tx1"/>
              </a:solidFill>
            </a:endParaRPr>
          </a:p>
        </p:txBody>
      </p:sp>
      <p:sp>
        <p:nvSpPr>
          <p:cNvPr id="33" name="矩形 32"/>
          <p:cNvSpPr/>
          <p:nvPr>
            <p:custDataLst>
              <p:tags r:id="rId20"/>
            </p:custDataLst>
          </p:nvPr>
        </p:nvSpPr>
        <p:spPr>
          <a:xfrm>
            <a:off x="8657590" y="2443480"/>
            <a:ext cx="304800" cy="146431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模型角度</a:t>
            </a:r>
            <a:endParaRPr lang="zh-CN" altLang="en-US" sz="900" b="1">
              <a:solidFill>
                <a:schemeClr val="tx1"/>
              </a:solidFill>
            </a:endParaRPr>
          </a:p>
        </p:txBody>
      </p:sp>
      <p:sp>
        <p:nvSpPr>
          <p:cNvPr id="38" name="矩形 37"/>
          <p:cNvSpPr/>
          <p:nvPr>
            <p:custDataLst>
              <p:tags r:id="rId21"/>
            </p:custDataLst>
          </p:nvPr>
        </p:nvSpPr>
        <p:spPr>
          <a:xfrm>
            <a:off x="1525270" y="2029460"/>
            <a:ext cx="6693535" cy="84582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39" name="矩形 38"/>
          <p:cNvSpPr/>
          <p:nvPr>
            <p:custDataLst>
              <p:tags r:id="rId22"/>
            </p:custDataLst>
          </p:nvPr>
        </p:nvSpPr>
        <p:spPr>
          <a:xfrm>
            <a:off x="1523365" y="3116580"/>
            <a:ext cx="6694170" cy="277876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37" name="矩形 36"/>
          <p:cNvSpPr/>
          <p:nvPr>
            <p:custDataLst>
              <p:tags r:id="rId23"/>
            </p:custDataLst>
          </p:nvPr>
        </p:nvSpPr>
        <p:spPr>
          <a:xfrm>
            <a:off x="2058035" y="2492375"/>
            <a:ext cx="55562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短期</a:t>
            </a:r>
            <a:endParaRPr lang="zh-CN" altLang="en-US" sz="900" b="1">
              <a:solidFill>
                <a:schemeClr val="tx1"/>
              </a:solidFill>
            </a:endParaRPr>
          </a:p>
        </p:txBody>
      </p:sp>
      <p:sp>
        <p:nvSpPr>
          <p:cNvPr id="40" name="矩形 39"/>
          <p:cNvSpPr/>
          <p:nvPr>
            <p:custDataLst>
              <p:tags r:id="rId24"/>
            </p:custDataLst>
          </p:nvPr>
        </p:nvSpPr>
        <p:spPr>
          <a:xfrm>
            <a:off x="1525270" y="6140450"/>
            <a:ext cx="6694805" cy="645795"/>
          </a:xfrm>
          <a:prstGeom prst="rect">
            <a:avLst/>
          </a:prstGeom>
          <a:solidFill>
            <a:schemeClr val="bg1"/>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41" name="矩形 40"/>
          <p:cNvSpPr/>
          <p:nvPr>
            <p:custDataLst>
              <p:tags r:id="rId25"/>
            </p:custDataLst>
          </p:nvPr>
        </p:nvSpPr>
        <p:spPr>
          <a:xfrm>
            <a:off x="2717165" y="2171700"/>
            <a:ext cx="55562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中期</a:t>
            </a:r>
            <a:endParaRPr lang="zh-CN" altLang="en-US" sz="900" b="1">
              <a:solidFill>
                <a:schemeClr val="tx1"/>
              </a:solidFill>
            </a:endParaRPr>
          </a:p>
        </p:txBody>
      </p:sp>
      <p:sp>
        <p:nvSpPr>
          <p:cNvPr id="43" name="矩形 42"/>
          <p:cNvSpPr/>
          <p:nvPr>
            <p:custDataLst>
              <p:tags r:id="rId26"/>
            </p:custDataLst>
          </p:nvPr>
        </p:nvSpPr>
        <p:spPr>
          <a:xfrm>
            <a:off x="2716530" y="2492375"/>
            <a:ext cx="55562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超短期</a:t>
            </a:r>
            <a:endParaRPr lang="zh-CN" altLang="en-US" sz="900" b="1">
              <a:solidFill>
                <a:schemeClr val="tx1"/>
              </a:solidFill>
            </a:endParaRPr>
          </a:p>
        </p:txBody>
      </p:sp>
      <p:sp>
        <p:nvSpPr>
          <p:cNvPr id="44" name="矩形 43"/>
          <p:cNvSpPr/>
          <p:nvPr>
            <p:custDataLst>
              <p:tags r:id="rId27"/>
            </p:custDataLst>
          </p:nvPr>
        </p:nvSpPr>
        <p:spPr>
          <a:xfrm>
            <a:off x="1691640" y="2097405"/>
            <a:ext cx="263525" cy="71374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时间维度</a:t>
            </a:r>
            <a:endParaRPr lang="zh-CN" altLang="en-US" sz="900" b="1">
              <a:solidFill>
                <a:schemeClr val="tx1"/>
              </a:solidFill>
            </a:endParaRPr>
          </a:p>
        </p:txBody>
      </p:sp>
      <p:sp>
        <p:nvSpPr>
          <p:cNvPr id="45" name="矩形 44"/>
          <p:cNvSpPr/>
          <p:nvPr>
            <p:custDataLst>
              <p:tags r:id="rId28"/>
            </p:custDataLst>
          </p:nvPr>
        </p:nvSpPr>
        <p:spPr>
          <a:xfrm>
            <a:off x="1955165" y="2097405"/>
            <a:ext cx="1398270" cy="71374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0" b="1">
              <a:solidFill>
                <a:schemeClr val="tx1"/>
              </a:solidFill>
            </a:endParaRPr>
          </a:p>
        </p:txBody>
      </p:sp>
      <p:sp>
        <p:nvSpPr>
          <p:cNvPr id="46" name="矩形 45"/>
          <p:cNvSpPr/>
          <p:nvPr>
            <p:custDataLst>
              <p:tags r:id="rId29"/>
            </p:custDataLst>
          </p:nvPr>
        </p:nvSpPr>
        <p:spPr>
          <a:xfrm>
            <a:off x="2058035" y="2171700"/>
            <a:ext cx="55626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长期</a:t>
            </a:r>
            <a:endParaRPr lang="zh-CN" altLang="en-US" sz="900" b="1">
              <a:solidFill>
                <a:schemeClr val="tx1"/>
              </a:solidFill>
            </a:endParaRPr>
          </a:p>
        </p:txBody>
      </p:sp>
      <p:sp>
        <p:nvSpPr>
          <p:cNvPr id="48" name="矩形 47"/>
          <p:cNvSpPr/>
          <p:nvPr>
            <p:custDataLst>
              <p:tags r:id="rId30"/>
            </p:custDataLst>
          </p:nvPr>
        </p:nvSpPr>
        <p:spPr>
          <a:xfrm>
            <a:off x="3464560" y="2097405"/>
            <a:ext cx="263525" cy="71374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空间维度</a:t>
            </a:r>
            <a:endParaRPr lang="zh-CN" altLang="en-US" sz="900" b="1">
              <a:solidFill>
                <a:schemeClr val="tx1"/>
              </a:solidFill>
            </a:endParaRPr>
          </a:p>
        </p:txBody>
      </p:sp>
      <p:sp>
        <p:nvSpPr>
          <p:cNvPr id="49" name="矩形 48"/>
          <p:cNvSpPr/>
          <p:nvPr>
            <p:custDataLst>
              <p:tags r:id="rId31"/>
            </p:custDataLst>
          </p:nvPr>
        </p:nvSpPr>
        <p:spPr>
          <a:xfrm>
            <a:off x="3728085" y="2097405"/>
            <a:ext cx="2014855" cy="71374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0" b="1">
              <a:solidFill>
                <a:schemeClr val="tx1"/>
              </a:solidFill>
            </a:endParaRPr>
          </a:p>
        </p:txBody>
      </p:sp>
      <p:sp>
        <p:nvSpPr>
          <p:cNvPr id="50" name="矩形 49"/>
          <p:cNvSpPr/>
          <p:nvPr>
            <p:custDataLst>
              <p:tags r:id="rId32"/>
            </p:custDataLst>
          </p:nvPr>
        </p:nvSpPr>
        <p:spPr>
          <a:xfrm>
            <a:off x="5844540" y="2097405"/>
            <a:ext cx="263525" cy="71374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新</a:t>
            </a:r>
            <a:r>
              <a:rPr lang="zh-CN" altLang="en-US" sz="900" b="1">
                <a:solidFill>
                  <a:schemeClr val="tx1"/>
                </a:solidFill>
              </a:rPr>
              <a:t>兴场景</a:t>
            </a:r>
            <a:endParaRPr lang="zh-CN" altLang="en-US" sz="900" b="1">
              <a:solidFill>
                <a:schemeClr val="tx1"/>
              </a:solidFill>
            </a:endParaRPr>
          </a:p>
        </p:txBody>
      </p:sp>
      <p:sp>
        <p:nvSpPr>
          <p:cNvPr id="51" name="矩形 50"/>
          <p:cNvSpPr/>
          <p:nvPr>
            <p:custDataLst>
              <p:tags r:id="rId33"/>
            </p:custDataLst>
          </p:nvPr>
        </p:nvSpPr>
        <p:spPr>
          <a:xfrm>
            <a:off x="6108065" y="2097405"/>
            <a:ext cx="1958340" cy="71374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0" b="1">
              <a:solidFill>
                <a:schemeClr val="tx1"/>
              </a:solidFill>
            </a:endParaRPr>
          </a:p>
        </p:txBody>
      </p:sp>
      <p:sp>
        <p:nvSpPr>
          <p:cNvPr id="52" name="矩形 51"/>
          <p:cNvSpPr/>
          <p:nvPr>
            <p:custDataLst>
              <p:tags r:id="rId34"/>
            </p:custDataLst>
          </p:nvPr>
        </p:nvSpPr>
        <p:spPr>
          <a:xfrm>
            <a:off x="3781425" y="2171700"/>
            <a:ext cx="78740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系统或区域</a:t>
            </a:r>
            <a:endParaRPr lang="zh-CN" altLang="en-US" sz="900" b="1">
              <a:solidFill>
                <a:schemeClr val="tx1"/>
              </a:solidFill>
            </a:endParaRPr>
          </a:p>
        </p:txBody>
      </p:sp>
      <p:sp>
        <p:nvSpPr>
          <p:cNvPr id="53" name="矩形 52"/>
          <p:cNvSpPr/>
          <p:nvPr>
            <p:custDataLst>
              <p:tags r:id="rId35"/>
            </p:custDataLst>
          </p:nvPr>
        </p:nvSpPr>
        <p:spPr>
          <a:xfrm>
            <a:off x="4622165" y="2171700"/>
            <a:ext cx="108902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母线节点</a:t>
            </a:r>
            <a:r>
              <a:rPr lang="zh-CN" altLang="en-US" sz="900" b="1">
                <a:solidFill>
                  <a:schemeClr val="tx1"/>
                </a:solidFill>
              </a:rPr>
              <a:t>或馈线</a:t>
            </a:r>
            <a:endParaRPr lang="zh-CN" altLang="en-US" sz="900" b="1">
              <a:solidFill>
                <a:schemeClr val="tx1"/>
              </a:solidFill>
            </a:endParaRPr>
          </a:p>
        </p:txBody>
      </p:sp>
      <p:sp>
        <p:nvSpPr>
          <p:cNvPr id="54" name="矩形 53"/>
          <p:cNvSpPr/>
          <p:nvPr>
            <p:custDataLst>
              <p:tags r:id="rId36"/>
            </p:custDataLst>
          </p:nvPr>
        </p:nvSpPr>
        <p:spPr>
          <a:xfrm>
            <a:off x="3781425" y="2492375"/>
            <a:ext cx="53467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微电网</a:t>
            </a:r>
            <a:endParaRPr lang="zh-CN" altLang="en-US" sz="900" b="1">
              <a:solidFill>
                <a:schemeClr val="tx1"/>
              </a:solidFill>
            </a:endParaRPr>
          </a:p>
        </p:txBody>
      </p:sp>
      <p:sp>
        <p:nvSpPr>
          <p:cNvPr id="55" name="矩形 54"/>
          <p:cNvSpPr/>
          <p:nvPr>
            <p:custDataLst>
              <p:tags r:id="rId37"/>
            </p:custDataLst>
          </p:nvPr>
        </p:nvSpPr>
        <p:spPr>
          <a:xfrm>
            <a:off x="4342765" y="2493010"/>
            <a:ext cx="67310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用户集群</a:t>
            </a:r>
            <a:endParaRPr lang="zh-CN" altLang="en-US" sz="900" b="1">
              <a:solidFill>
                <a:schemeClr val="tx1"/>
              </a:solidFill>
            </a:endParaRPr>
          </a:p>
        </p:txBody>
      </p:sp>
      <p:sp>
        <p:nvSpPr>
          <p:cNvPr id="56" name="矩形 55"/>
          <p:cNvSpPr/>
          <p:nvPr>
            <p:custDataLst>
              <p:tags r:id="rId38"/>
            </p:custDataLst>
          </p:nvPr>
        </p:nvSpPr>
        <p:spPr>
          <a:xfrm>
            <a:off x="5042535" y="2493010"/>
            <a:ext cx="6623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单一用户</a:t>
            </a:r>
            <a:endParaRPr lang="zh-CN" altLang="en-US" sz="900" b="1">
              <a:solidFill>
                <a:schemeClr val="tx1"/>
              </a:solidFill>
            </a:endParaRPr>
          </a:p>
        </p:txBody>
      </p:sp>
      <p:sp>
        <p:nvSpPr>
          <p:cNvPr id="57" name="矩形 56"/>
          <p:cNvSpPr/>
          <p:nvPr>
            <p:custDataLst>
              <p:tags r:id="rId39"/>
            </p:custDataLst>
          </p:nvPr>
        </p:nvSpPr>
        <p:spPr>
          <a:xfrm>
            <a:off x="6170295" y="2171700"/>
            <a:ext cx="914400" cy="24193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b="1">
                <a:solidFill>
                  <a:schemeClr val="tx1"/>
                </a:solidFill>
              </a:rPr>
              <a:t>电动汽车充放电负荷预测</a:t>
            </a:r>
            <a:endParaRPr lang="zh-CN" altLang="en-US" sz="800" b="1">
              <a:solidFill>
                <a:schemeClr val="tx1"/>
              </a:solidFill>
            </a:endParaRPr>
          </a:p>
        </p:txBody>
      </p:sp>
      <p:sp>
        <p:nvSpPr>
          <p:cNvPr id="59" name="矩形 58"/>
          <p:cNvSpPr/>
          <p:nvPr>
            <p:custDataLst>
              <p:tags r:id="rId40"/>
            </p:custDataLst>
          </p:nvPr>
        </p:nvSpPr>
        <p:spPr>
          <a:xfrm>
            <a:off x="2394585" y="3251835"/>
            <a:ext cx="222758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确定性模型（点预测、</a:t>
            </a:r>
            <a:r>
              <a:rPr lang="zh-CN" altLang="en-US" sz="900" b="1">
                <a:solidFill>
                  <a:schemeClr val="tx1"/>
                </a:solidFill>
              </a:rPr>
              <a:t>连续曲线预测）</a:t>
            </a:r>
            <a:endParaRPr lang="zh-CN" altLang="en-US" sz="900" b="1">
              <a:solidFill>
                <a:schemeClr val="tx1"/>
              </a:solidFill>
            </a:endParaRPr>
          </a:p>
        </p:txBody>
      </p:sp>
      <p:sp>
        <p:nvSpPr>
          <p:cNvPr id="60" name="矩形 59"/>
          <p:cNvSpPr/>
          <p:nvPr>
            <p:custDataLst>
              <p:tags r:id="rId41"/>
            </p:custDataLst>
          </p:nvPr>
        </p:nvSpPr>
        <p:spPr>
          <a:xfrm>
            <a:off x="7184390" y="2171700"/>
            <a:ext cx="780415" cy="24193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b="1">
                <a:solidFill>
                  <a:schemeClr val="tx1"/>
                </a:solidFill>
              </a:rPr>
              <a:t>净负荷预测</a:t>
            </a:r>
            <a:endParaRPr lang="zh-CN" altLang="en-US" sz="800" b="1">
              <a:solidFill>
                <a:schemeClr val="tx1"/>
              </a:solidFill>
            </a:endParaRPr>
          </a:p>
        </p:txBody>
      </p:sp>
      <p:sp>
        <p:nvSpPr>
          <p:cNvPr id="61" name="矩形 60"/>
          <p:cNvSpPr/>
          <p:nvPr>
            <p:custDataLst>
              <p:tags r:id="rId42"/>
            </p:custDataLst>
          </p:nvPr>
        </p:nvSpPr>
        <p:spPr>
          <a:xfrm>
            <a:off x="6170295" y="2493010"/>
            <a:ext cx="914400" cy="24193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b="1">
                <a:solidFill>
                  <a:schemeClr val="tx1"/>
                </a:solidFill>
              </a:rPr>
              <a:t>考虑需求响应</a:t>
            </a:r>
            <a:r>
              <a:rPr lang="zh-CN" altLang="en-US" sz="800" b="1">
                <a:solidFill>
                  <a:schemeClr val="tx1"/>
                </a:solidFill>
              </a:rPr>
              <a:t>的负荷预测</a:t>
            </a:r>
            <a:endParaRPr lang="zh-CN" altLang="en-US" sz="800" b="1">
              <a:solidFill>
                <a:schemeClr val="tx1"/>
              </a:solidFill>
            </a:endParaRPr>
          </a:p>
        </p:txBody>
      </p:sp>
      <p:sp>
        <p:nvSpPr>
          <p:cNvPr id="62" name="矩形 61"/>
          <p:cNvSpPr/>
          <p:nvPr>
            <p:custDataLst>
              <p:tags r:id="rId43"/>
            </p:custDataLst>
          </p:nvPr>
        </p:nvSpPr>
        <p:spPr>
          <a:xfrm>
            <a:off x="7177405" y="2493010"/>
            <a:ext cx="786765" cy="24193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800" b="1">
                <a:solidFill>
                  <a:schemeClr val="tx1"/>
                </a:solidFill>
              </a:rPr>
              <a:t>综合能源</a:t>
            </a:r>
            <a:r>
              <a:rPr lang="zh-CN" altLang="en-US" sz="800" b="1">
                <a:solidFill>
                  <a:schemeClr val="tx1"/>
                </a:solidFill>
              </a:rPr>
              <a:t>系统负荷预测</a:t>
            </a:r>
            <a:endParaRPr lang="zh-CN" altLang="en-US" sz="800" b="1">
              <a:solidFill>
                <a:schemeClr val="tx1"/>
              </a:solidFill>
            </a:endParaRPr>
          </a:p>
        </p:txBody>
      </p:sp>
      <p:sp>
        <p:nvSpPr>
          <p:cNvPr id="24" name="矩形 23"/>
          <p:cNvSpPr/>
          <p:nvPr>
            <p:custDataLst>
              <p:tags r:id="rId44"/>
            </p:custDataLst>
          </p:nvPr>
        </p:nvSpPr>
        <p:spPr>
          <a:xfrm>
            <a:off x="1691640" y="3165475"/>
            <a:ext cx="6374765" cy="40703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0" b="1">
              <a:solidFill>
                <a:schemeClr val="tx1"/>
              </a:solidFill>
            </a:endParaRPr>
          </a:p>
        </p:txBody>
      </p:sp>
      <p:sp>
        <p:nvSpPr>
          <p:cNvPr id="25" name="矩形 24"/>
          <p:cNvSpPr/>
          <p:nvPr>
            <p:custDataLst>
              <p:tags r:id="rId45"/>
            </p:custDataLst>
          </p:nvPr>
        </p:nvSpPr>
        <p:spPr>
          <a:xfrm>
            <a:off x="1689735" y="3809365"/>
            <a:ext cx="6374765" cy="203898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0" b="1">
              <a:solidFill>
                <a:schemeClr val="tx1"/>
              </a:solidFill>
            </a:endParaRPr>
          </a:p>
        </p:txBody>
      </p:sp>
      <p:sp>
        <p:nvSpPr>
          <p:cNvPr id="36" name="文本框 35"/>
          <p:cNvSpPr txBox="1"/>
          <p:nvPr>
            <p:custDataLst>
              <p:tags r:id="rId46"/>
            </p:custDataLst>
          </p:nvPr>
        </p:nvSpPr>
        <p:spPr>
          <a:xfrm>
            <a:off x="1790065" y="3142615"/>
            <a:ext cx="403225" cy="460375"/>
          </a:xfrm>
          <a:prstGeom prst="rect">
            <a:avLst/>
          </a:prstGeom>
          <a:noFill/>
        </p:spPr>
        <p:txBody>
          <a:bodyPr wrap="square" rtlCol="0">
            <a:spAutoFit/>
          </a:bodyPr>
          <a:p>
            <a:r>
              <a:rPr lang="zh-CN" altLang="en-US" sz="800" b="1"/>
              <a:t>预测结果形式</a:t>
            </a:r>
            <a:endParaRPr lang="zh-CN" altLang="en-US" sz="800" b="1"/>
          </a:p>
        </p:txBody>
      </p:sp>
      <p:sp>
        <p:nvSpPr>
          <p:cNvPr id="42" name="矩形 41"/>
          <p:cNvSpPr/>
          <p:nvPr>
            <p:custDataLst>
              <p:tags r:id="rId47"/>
            </p:custDataLst>
          </p:nvPr>
        </p:nvSpPr>
        <p:spPr>
          <a:xfrm>
            <a:off x="5080000" y="3251835"/>
            <a:ext cx="222504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概率模型（区间预测、</a:t>
            </a:r>
            <a:r>
              <a:rPr lang="zh-CN" altLang="en-US" sz="900" b="1">
                <a:solidFill>
                  <a:schemeClr val="tx1"/>
                </a:solidFill>
              </a:rPr>
              <a:t>概率密度预测）</a:t>
            </a:r>
            <a:endParaRPr lang="zh-CN" altLang="en-US" sz="900" b="1">
              <a:solidFill>
                <a:schemeClr val="tx1"/>
              </a:solidFill>
            </a:endParaRPr>
          </a:p>
        </p:txBody>
      </p:sp>
      <p:sp>
        <p:nvSpPr>
          <p:cNvPr id="47" name="矩形 46"/>
          <p:cNvSpPr/>
          <p:nvPr>
            <p:custDataLst>
              <p:tags r:id="rId48"/>
            </p:custDataLst>
          </p:nvPr>
        </p:nvSpPr>
        <p:spPr>
          <a:xfrm>
            <a:off x="1788160" y="3856990"/>
            <a:ext cx="263525" cy="97218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机器学习</a:t>
            </a:r>
            <a:endParaRPr lang="zh-CN" altLang="en-US" sz="900" b="1">
              <a:solidFill>
                <a:schemeClr val="tx1"/>
              </a:solidFill>
            </a:endParaRPr>
          </a:p>
        </p:txBody>
      </p:sp>
      <p:sp>
        <p:nvSpPr>
          <p:cNvPr id="58" name="矩形 57"/>
          <p:cNvSpPr/>
          <p:nvPr>
            <p:custDataLst>
              <p:tags r:id="rId49"/>
            </p:custDataLst>
          </p:nvPr>
        </p:nvSpPr>
        <p:spPr>
          <a:xfrm>
            <a:off x="1788160" y="4963160"/>
            <a:ext cx="263525" cy="84201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相关性分析</a:t>
            </a:r>
            <a:endParaRPr lang="zh-CN" altLang="en-US" sz="900" b="1">
              <a:solidFill>
                <a:schemeClr val="tx1"/>
              </a:solidFill>
            </a:endParaRPr>
          </a:p>
        </p:txBody>
      </p:sp>
      <p:sp>
        <p:nvSpPr>
          <p:cNvPr id="63" name="矩形 62"/>
          <p:cNvSpPr/>
          <p:nvPr>
            <p:custDataLst>
              <p:tags r:id="rId50"/>
            </p:custDataLst>
          </p:nvPr>
        </p:nvSpPr>
        <p:spPr>
          <a:xfrm>
            <a:off x="1691640" y="6183630"/>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气象条件</a:t>
            </a:r>
            <a:endParaRPr lang="zh-CN" altLang="en-US" sz="900" b="1">
              <a:solidFill>
                <a:schemeClr val="tx1"/>
              </a:solidFill>
            </a:endParaRPr>
          </a:p>
        </p:txBody>
      </p:sp>
      <p:sp>
        <p:nvSpPr>
          <p:cNvPr id="64" name="矩形 63"/>
          <p:cNvSpPr/>
          <p:nvPr>
            <p:custDataLst>
              <p:tags r:id="rId51"/>
            </p:custDataLst>
          </p:nvPr>
        </p:nvSpPr>
        <p:spPr>
          <a:xfrm>
            <a:off x="2051685" y="3856990"/>
            <a:ext cx="2320290" cy="97282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0" b="1">
              <a:solidFill>
                <a:schemeClr val="tx1"/>
              </a:solidFill>
            </a:endParaRPr>
          </a:p>
        </p:txBody>
      </p:sp>
      <p:sp>
        <p:nvSpPr>
          <p:cNvPr id="65" name="矩形 64"/>
          <p:cNvSpPr/>
          <p:nvPr>
            <p:custDataLst>
              <p:tags r:id="rId52"/>
            </p:custDataLst>
          </p:nvPr>
        </p:nvSpPr>
        <p:spPr>
          <a:xfrm>
            <a:off x="2109470" y="3905250"/>
            <a:ext cx="87439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支持向量回归</a:t>
            </a:r>
            <a:endParaRPr lang="zh-CN" altLang="en-US" sz="900" b="1">
              <a:solidFill>
                <a:schemeClr val="tx1"/>
              </a:solidFill>
            </a:endParaRPr>
          </a:p>
        </p:txBody>
      </p:sp>
      <p:sp>
        <p:nvSpPr>
          <p:cNvPr id="66" name="矩形 65"/>
          <p:cNvSpPr/>
          <p:nvPr>
            <p:custDataLst>
              <p:tags r:id="rId53"/>
            </p:custDataLst>
          </p:nvPr>
        </p:nvSpPr>
        <p:spPr>
          <a:xfrm>
            <a:off x="3054985" y="3905250"/>
            <a:ext cx="54038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决策树</a:t>
            </a:r>
            <a:endParaRPr lang="zh-CN" altLang="en-US" sz="900" b="1">
              <a:solidFill>
                <a:schemeClr val="tx1"/>
              </a:solidFill>
            </a:endParaRPr>
          </a:p>
        </p:txBody>
      </p:sp>
      <p:sp>
        <p:nvSpPr>
          <p:cNvPr id="67" name="矩形 66"/>
          <p:cNvSpPr/>
          <p:nvPr>
            <p:custDataLst>
              <p:tags r:id="rId54"/>
            </p:custDataLst>
          </p:nvPr>
        </p:nvSpPr>
        <p:spPr>
          <a:xfrm>
            <a:off x="3660775" y="3905250"/>
            <a:ext cx="65341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随机森林</a:t>
            </a:r>
            <a:endParaRPr lang="zh-CN" altLang="en-US" sz="900" b="1">
              <a:solidFill>
                <a:schemeClr val="tx1"/>
              </a:solidFill>
            </a:endParaRPr>
          </a:p>
        </p:txBody>
      </p:sp>
      <p:sp>
        <p:nvSpPr>
          <p:cNvPr id="68" name="矩形 67"/>
          <p:cNvSpPr/>
          <p:nvPr>
            <p:custDataLst>
              <p:tags r:id="rId55"/>
            </p:custDataLst>
          </p:nvPr>
        </p:nvSpPr>
        <p:spPr>
          <a:xfrm>
            <a:off x="2109470" y="4222750"/>
            <a:ext cx="87439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人工</a:t>
            </a:r>
            <a:r>
              <a:rPr lang="zh-CN" altLang="en-US" sz="900" b="1">
                <a:solidFill>
                  <a:schemeClr val="tx1"/>
                </a:solidFill>
              </a:rPr>
              <a:t>神经网络</a:t>
            </a:r>
            <a:endParaRPr lang="zh-CN" altLang="en-US" sz="900" b="1">
              <a:solidFill>
                <a:schemeClr val="tx1"/>
              </a:solidFill>
            </a:endParaRPr>
          </a:p>
        </p:txBody>
      </p:sp>
      <p:sp>
        <p:nvSpPr>
          <p:cNvPr id="69" name="矩形 68"/>
          <p:cNvSpPr/>
          <p:nvPr>
            <p:custDataLst>
              <p:tags r:id="rId56"/>
            </p:custDataLst>
          </p:nvPr>
        </p:nvSpPr>
        <p:spPr>
          <a:xfrm>
            <a:off x="3055620" y="4222750"/>
            <a:ext cx="125857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梯度提升</a:t>
            </a:r>
            <a:r>
              <a:rPr lang="zh-CN" altLang="en-US" sz="900" b="1">
                <a:solidFill>
                  <a:schemeClr val="tx1"/>
                </a:solidFill>
              </a:rPr>
              <a:t>决策树</a:t>
            </a:r>
            <a:endParaRPr lang="zh-CN" altLang="en-US" sz="900" b="1">
              <a:solidFill>
                <a:schemeClr val="tx1"/>
              </a:solidFill>
            </a:endParaRPr>
          </a:p>
        </p:txBody>
      </p:sp>
      <p:sp>
        <p:nvSpPr>
          <p:cNvPr id="70" name="矩形 69"/>
          <p:cNvSpPr/>
          <p:nvPr>
            <p:custDataLst>
              <p:tags r:id="rId57"/>
            </p:custDataLst>
          </p:nvPr>
        </p:nvSpPr>
        <p:spPr>
          <a:xfrm>
            <a:off x="2109470" y="4532630"/>
            <a:ext cx="6623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层次聚类</a:t>
            </a:r>
            <a:endParaRPr lang="zh-CN" altLang="en-US" sz="900" b="1">
              <a:solidFill>
                <a:schemeClr val="tx1"/>
              </a:solidFill>
            </a:endParaRPr>
          </a:p>
        </p:txBody>
      </p:sp>
      <p:sp>
        <p:nvSpPr>
          <p:cNvPr id="71" name="矩形 70"/>
          <p:cNvSpPr/>
          <p:nvPr>
            <p:custDataLst>
              <p:tags r:id="rId58"/>
            </p:custDataLst>
          </p:nvPr>
        </p:nvSpPr>
        <p:spPr>
          <a:xfrm>
            <a:off x="2842260" y="4532630"/>
            <a:ext cx="75247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900" b="1">
                <a:solidFill>
                  <a:schemeClr val="tx1"/>
                </a:solidFill>
              </a:rPr>
              <a:t>K</a:t>
            </a:r>
            <a:r>
              <a:rPr lang="zh-CN" altLang="en-US" sz="900" b="1">
                <a:solidFill>
                  <a:schemeClr val="tx1"/>
                </a:solidFill>
              </a:rPr>
              <a:t>均值聚类</a:t>
            </a:r>
            <a:endParaRPr lang="zh-CN" altLang="en-US" sz="900" b="1">
              <a:solidFill>
                <a:schemeClr val="tx1"/>
              </a:solidFill>
            </a:endParaRPr>
          </a:p>
        </p:txBody>
      </p:sp>
      <p:sp>
        <p:nvSpPr>
          <p:cNvPr id="72" name="矩形 71"/>
          <p:cNvSpPr/>
          <p:nvPr>
            <p:custDataLst>
              <p:tags r:id="rId59"/>
            </p:custDataLst>
          </p:nvPr>
        </p:nvSpPr>
        <p:spPr>
          <a:xfrm>
            <a:off x="3651885" y="4532630"/>
            <a:ext cx="6623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稀疏编码</a:t>
            </a:r>
            <a:endParaRPr lang="zh-CN" altLang="en-US" sz="900" b="1">
              <a:solidFill>
                <a:schemeClr val="tx1"/>
              </a:solidFill>
            </a:endParaRPr>
          </a:p>
        </p:txBody>
      </p:sp>
      <p:sp>
        <p:nvSpPr>
          <p:cNvPr id="73" name="矩形 72"/>
          <p:cNvSpPr/>
          <p:nvPr>
            <p:custDataLst>
              <p:tags r:id="rId60"/>
            </p:custDataLst>
          </p:nvPr>
        </p:nvSpPr>
        <p:spPr>
          <a:xfrm>
            <a:off x="2056130" y="4962525"/>
            <a:ext cx="2320290" cy="8394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0" b="1">
              <a:solidFill>
                <a:schemeClr val="tx1"/>
              </a:solidFill>
            </a:endParaRPr>
          </a:p>
        </p:txBody>
      </p:sp>
      <p:sp>
        <p:nvSpPr>
          <p:cNvPr id="74" name="矩形 73"/>
          <p:cNvSpPr/>
          <p:nvPr>
            <p:custDataLst>
              <p:tags r:id="rId61"/>
            </p:custDataLst>
          </p:nvPr>
        </p:nvSpPr>
        <p:spPr>
          <a:xfrm>
            <a:off x="2109470" y="5067300"/>
            <a:ext cx="109220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皮尔逊</a:t>
            </a:r>
            <a:r>
              <a:rPr lang="zh-CN" altLang="en-US" sz="900" b="1">
                <a:solidFill>
                  <a:schemeClr val="tx1"/>
                </a:solidFill>
              </a:rPr>
              <a:t>相关系数</a:t>
            </a:r>
            <a:endParaRPr lang="zh-CN" altLang="en-US" sz="900" b="1">
              <a:solidFill>
                <a:schemeClr val="tx1"/>
              </a:solidFill>
            </a:endParaRPr>
          </a:p>
        </p:txBody>
      </p:sp>
      <p:sp>
        <p:nvSpPr>
          <p:cNvPr id="75" name="矩形 74"/>
          <p:cNvSpPr/>
          <p:nvPr>
            <p:custDataLst>
              <p:tags r:id="rId62"/>
            </p:custDataLst>
          </p:nvPr>
        </p:nvSpPr>
        <p:spPr>
          <a:xfrm>
            <a:off x="3273425" y="5067300"/>
            <a:ext cx="104076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最大</a:t>
            </a:r>
            <a:r>
              <a:rPr lang="zh-CN" altLang="en-US" sz="900" b="1">
                <a:solidFill>
                  <a:schemeClr val="tx1"/>
                </a:solidFill>
              </a:rPr>
              <a:t>信息系数</a:t>
            </a:r>
            <a:endParaRPr lang="zh-CN" altLang="en-US" sz="900" b="1">
              <a:solidFill>
                <a:schemeClr val="tx1"/>
              </a:solidFill>
            </a:endParaRPr>
          </a:p>
        </p:txBody>
      </p:sp>
      <p:sp>
        <p:nvSpPr>
          <p:cNvPr id="76" name="矩形 75"/>
          <p:cNvSpPr/>
          <p:nvPr>
            <p:custDataLst>
              <p:tags r:id="rId63"/>
            </p:custDataLst>
          </p:nvPr>
        </p:nvSpPr>
        <p:spPr>
          <a:xfrm>
            <a:off x="2109470" y="5436235"/>
            <a:ext cx="109220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斯皮尔曼相关系数</a:t>
            </a:r>
            <a:endParaRPr lang="zh-CN" altLang="en-US" sz="900" b="1">
              <a:solidFill>
                <a:schemeClr val="tx1"/>
              </a:solidFill>
            </a:endParaRPr>
          </a:p>
        </p:txBody>
      </p:sp>
      <p:sp>
        <p:nvSpPr>
          <p:cNvPr id="77" name="矩形 76"/>
          <p:cNvSpPr/>
          <p:nvPr>
            <p:custDataLst>
              <p:tags r:id="rId64"/>
            </p:custDataLst>
          </p:nvPr>
        </p:nvSpPr>
        <p:spPr>
          <a:xfrm>
            <a:off x="3273425" y="5436235"/>
            <a:ext cx="104140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灰色关联分析</a:t>
            </a:r>
            <a:endParaRPr lang="zh-CN" altLang="en-US" sz="900" b="1">
              <a:solidFill>
                <a:schemeClr val="tx1"/>
              </a:solidFill>
            </a:endParaRPr>
          </a:p>
        </p:txBody>
      </p:sp>
      <p:sp>
        <p:nvSpPr>
          <p:cNvPr id="78" name="矩形 77"/>
          <p:cNvSpPr/>
          <p:nvPr>
            <p:custDataLst>
              <p:tags r:id="rId65"/>
            </p:custDataLst>
          </p:nvPr>
        </p:nvSpPr>
        <p:spPr>
          <a:xfrm>
            <a:off x="4493260" y="3856990"/>
            <a:ext cx="263525" cy="97218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深度学习</a:t>
            </a:r>
            <a:endParaRPr lang="zh-CN" altLang="en-US" sz="900" b="1">
              <a:solidFill>
                <a:schemeClr val="tx1"/>
              </a:solidFill>
            </a:endParaRPr>
          </a:p>
        </p:txBody>
      </p:sp>
      <p:sp>
        <p:nvSpPr>
          <p:cNvPr id="79" name="矩形 78"/>
          <p:cNvSpPr/>
          <p:nvPr>
            <p:custDataLst>
              <p:tags r:id="rId66"/>
            </p:custDataLst>
          </p:nvPr>
        </p:nvSpPr>
        <p:spPr>
          <a:xfrm>
            <a:off x="4756785" y="3856990"/>
            <a:ext cx="2320290" cy="97282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0" b="1">
              <a:solidFill>
                <a:schemeClr val="tx1"/>
              </a:solidFill>
            </a:endParaRPr>
          </a:p>
        </p:txBody>
      </p:sp>
      <p:sp>
        <p:nvSpPr>
          <p:cNvPr id="80" name="矩形 79"/>
          <p:cNvSpPr/>
          <p:nvPr>
            <p:custDataLst>
              <p:tags r:id="rId67"/>
            </p:custDataLst>
          </p:nvPr>
        </p:nvSpPr>
        <p:spPr>
          <a:xfrm>
            <a:off x="4817745" y="3905250"/>
            <a:ext cx="12211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全连接</a:t>
            </a:r>
            <a:r>
              <a:rPr lang="zh-CN" altLang="en-US" sz="900" b="1">
                <a:solidFill>
                  <a:schemeClr val="tx1"/>
                </a:solidFill>
              </a:rPr>
              <a:t>深度神经网络</a:t>
            </a:r>
            <a:endParaRPr lang="zh-CN" altLang="en-US" sz="900" b="1">
              <a:solidFill>
                <a:schemeClr val="tx1"/>
              </a:solidFill>
            </a:endParaRPr>
          </a:p>
        </p:txBody>
      </p:sp>
      <p:sp>
        <p:nvSpPr>
          <p:cNvPr id="81" name="矩形 80"/>
          <p:cNvSpPr/>
          <p:nvPr>
            <p:custDataLst>
              <p:tags r:id="rId68"/>
            </p:custDataLst>
          </p:nvPr>
        </p:nvSpPr>
        <p:spPr>
          <a:xfrm>
            <a:off x="6106160" y="3905250"/>
            <a:ext cx="90106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循环神经网络</a:t>
            </a:r>
            <a:endParaRPr lang="zh-CN" altLang="en-US" sz="900" b="1">
              <a:solidFill>
                <a:schemeClr val="tx1"/>
              </a:solidFill>
            </a:endParaRPr>
          </a:p>
        </p:txBody>
      </p:sp>
      <p:sp>
        <p:nvSpPr>
          <p:cNvPr id="82" name="矩形 81"/>
          <p:cNvSpPr/>
          <p:nvPr>
            <p:custDataLst>
              <p:tags r:id="rId69"/>
            </p:custDataLst>
          </p:nvPr>
        </p:nvSpPr>
        <p:spPr>
          <a:xfrm>
            <a:off x="4817745" y="4222750"/>
            <a:ext cx="12211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长短期记忆神经网络</a:t>
            </a:r>
            <a:endParaRPr lang="zh-CN" altLang="en-US" sz="900" b="1">
              <a:solidFill>
                <a:schemeClr val="tx1"/>
              </a:solidFill>
            </a:endParaRPr>
          </a:p>
        </p:txBody>
      </p:sp>
      <p:sp>
        <p:nvSpPr>
          <p:cNvPr id="83" name="矩形 82"/>
          <p:cNvSpPr/>
          <p:nvPr>
            <p:custDataLst>
              <p:tags r:id="rId70"/>
            </p:custDataLst>
          </p:nvPr>
        </p:nvSpPr>
        <p:spPr>
          <a:xfrm>
            <a:off x="4817745" y="4532630"/>
            <a:ext cx="12211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卷积神经网络</a:t>
            </a:r>
            <a:endParaRPr lang="zh-CN" altLang="en-US" sz="900" b="1">
              <a:solidFill>
                <a:schemeClr val="tx1"/>
              </a:solidFill>
            </a:endParaRPr>
          </a:p>
        </p:txBody>
      </p:sp>
      <p:sp>
        <p:nvSpPr>
          <p:cNvPr id="84" name="矩形 83"/>
          <p:cNvSpPr/>
          <p:nvPr>
            <p:custDataLst>
              <p:tags r:id="rId71"/>
            </p:custDataLst>
          </p:nvPr>
        </p:nvSpPr>
        <p:spPr>
          <a:xfrm>
            <a:off x="6106160" y="4222750"/>
            <a:ext cx="90106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深度置信网络</a:t>
            </a:r>
            <a:endParaRPr lang="zh-CN" altLang="en-US" sz="900" b="1">
              <a:solidFill>
                <a:schemeClr val="tx1"/>
              </a:solidFill>
            </a:endParaRPr>
          </a:p>
        </p:txBody>
      </p:sp>
      <p:sp>
        <p:nvSpPr>
          <p:cNvPr id="85" name="矩形 84"/>
          <p:cNvSpPr/>
          <p:nvPr>
            <p:custDataLst>
              <p:tags r:id="rId72"/>
            </p:custDataLst>
          </p:nvPr>
        </p:nvSpPr>
        <p:spPr>
          <a:xfrm>
            <a:off x="6106160" y="4532630"/>
            <a:ext cx="90106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堆叠自编码器</a:t>
            </a:r>
            <a:endParaRPr lang="zh-CN" altLang="en-US" sz="900" b="1">
              <a:solidFill>
                <a:schemeClr val="tx1"/>
              </a:solidFill>
            </a:endParaRPr>
          </a:p>
        </p:txBody>
      </p:sp>
      <p:sp>
        <p:nvSpPr>
          <p:cNvPr id="86" name="矩形 85"/>
          <p:cNvSpPr/>
          <p:nvPr>
            <p:custDataLst>
              <p:tags r:id="rId73"/>
            </p:custDataLst>
          </p:nvPr>
        </p:nvSpPr>
        <p:spPr>
          <a:xfrm>
            <a:off x="4493260" y="4959985"/>
            <a:ext cx="263525" cy="84201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zh-CN" sz="900" b="1">
                <a:solidFill>
                  <a:schemeClr val="tx1"/>
                </a:solidFill>
              </a:rPr>
              <a:t>优化算法</a:t>
            </a:r>
            <a:endParaRPr lang="zh-CN" altLang="zh-CN" sz="900" b="1">
              <a:solidFill>
                <a:schemeClr val="tx1"/>
              </a:solidFill>
            </a:endParaRPr>
          </a:p>
        </p:txBody>
      </p:sp>
      <p:sp>
        <p:nvSpPr>
          <p:cNvPr id="87" name="矩形 86"/>
          <p:cNvSpPr/>
          <p:nvPr>
            <p:custDataLst>
              <p:tags r:id="rId74"/>
            </p:custDataLst>
          </p:nvPr>
        </p:nvSpPr>
        <p:spPr>
          <a:xfrm>
            <a:off x="4756785" y="4959985"/>
            <a:ext cx="2320290" cy="8394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0" b="1">
              <a:solidFill>
                <a:schemeClr val="tx1"/>
              </a:solidFill>
            </a:endParaRPr>
          </a:p>
        </p:txBody>
      </p:sp>
      <p:sp>
        <p:nvSpPr>
          <p:cNvPr id="88" name="矩形 87"/>
          <p:cNvSpPr/>
          <p:nvPr>
            <p:custDataLst>
              <p:tags r:id="rId75"/>
            </p:custDataLst>
          </p:nvPr>
        </p:nvSpPr>
        <p:spPr>
          <a:xfrm>
            <a:off x="4817745" y="5067300"/>
            <a:ext cx="98552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网格</a:t>
            </a:r>
            <a:r>
              <a:rPr lang="zh-CN" altLang="en-US" sz="900" b="1">
                <a:solidFill>
                  <a:schemeClr val="tx1"/>
                </a:solidFill>
              </a:rPr>
              <a:t>搜索</a:t>
            </a:r>
            <a:endParaRPr lang="zh-CN" altLang="en-US" sz="900" b="1">
              <a:solidFill>
                <a:schemeClr val="tx1"/>
              </a:solidFill>
            </a:endParaRPr>
          </a:p>
        </p:txBody>
      </p:sp>
      <p:sp>
        <p:nvSpPr>
          <p:cNvPr id="89" name="矩形 88"/>
          <p:cNvSpPr/>
          <p:nvPr>
            <p:custDataLst>
              <p:tags r:id="rId76"/>
            </p:custDataLst>
          </p:nvPr>
        </p:nvSpPr>
        <p:spPr>
          <a:xfrm>
            <a:off x="5951855" y="5067300"/>
            <a:ext cx="105537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遗传算法</a:t>
            </a:r>
            <a:endParaRPr lang="zh-CN" altLang="en-US" sz="900" b="1">
              <a:solidFill>
                <a:schemeClr val="tx1"/>
              </a:solidFill>
            </a:endParaRPr>
          </a:p>
        </p:txBody>
      </p:sp>
      <p:sp>
        <p:nvSpPr>
          <p:cNvPr id="90" name="矩形 89"/>
          <p:cNvSpPr/>
          <p:nvPr>
            <p:custDataLst>
              <p:tags r:id="rId77"/>
            </p:custDataLst>
          </p:nvPr>
        </p:nvSpPr>
        <p:spPr>
          <a:xfrm>
            <a:off x="4817745" y="5436235"/>
            <a:ext cx="98552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随机搜索</a:t>
            </a:r>
            <a:endParaRPr lang="zh-CN" altLang="en-US" sz="900" b="1">
              <a:solidFill>
                <a:schemeClr val="tx1"/>
              </a:solidFill>
            </a:endParaRPr>
          </a:p>
        </p:txBody>
      </p:sp>
      <p:sp>
        <p:nvSpPr>
          <p:cNvPr id="91" name="矩形 90"/>
          <p:cNvSpPr/>
          <p:nvPr>
            <p:custDataLst>
              <p:tags r:id="rId78"/>
            </p:custDataLst>
          </p:nvPr>
        </p:nvSpPr>
        <p:spPr>
          <a:xfrm>
            <a:off x="5951855" y="5436235"/>
            <a:ext cx="105537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粒子群优化</a:t>
            </a:r>
            <a:endParaRPr lang="zh-CN" altLang="en-US" sz="900" b="1">
              <a:solidFill>
                <a:schemeClr val="tx1"/>
              </a:solidFill>
            </a:endParaRPr>
          </a:p>
        </p:txBody>
      </p:sp>
      <p:sp>
        <p:nvSpPr>
          <p:cNvPr id="92" name="矩形 91"/>
          <p:cNvSpPr/>
          <p:nvPr>
            <p:custDataLst>
              <p:tags r:id="rId79"/>
            </p:custDataLst>
          </p:nvPr>
        </p:nvSpPr>
        <p:spPr>
          <a:xfrm>
            <a:off x="7132955" y="3856990"/>
            <a:ext cx="87312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小波分解</a:t>
            </a:r>
            <a:endParaRPr lang="zh-CN" altLang="en-US" sz="900" b="1">
              <a:solidFill>
                <a:schemeClr val="tx1"/>
              </a:solidFill>
            </a:endParaRPr>
          </a:p>
        </p:txBody>
      </p:sp>
      <p:sp>
        <p:nvSpPr>
          <p:cNvPr id="93" name="矩形 92"/>
          <p:cNvSpPr/>
          <p:nvPr>
            <p:custDataLst>
              <p:tags r:id="rId80"/>
            </p:custDataLst>
          </p:nvPr>
        </p:nvSpPr>
        <p:spPr>
          <a:xfrm>
            <a:off x="7131685" y="4173855"/>
            <a:ext cx="87439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经验模式分解</a:t>
            </a:r>
            <a:endParaRPr lang="zh-CN" altLang="en-US" sz="900" b="1">
              <a:solidFill>
                <a:schemeClr val="tx1"/>
              </a:solidFill>
            </a:endParaRPr>
          </a:p>
        </p:txBody>
      </p:sp>
      <p:sp>
        <p:nvSpPr>
          <p:cNvPr id="95" name="矩形 94"/>
          <p:cNvSpPr/>
          <p:nvPr>
            <p:custDataLst>
              <p:tags r:id="rId81"/>
            </p:custDataLst>
          </p:nvPr>
        </p:nvSpPr>
        <p:spPr>
          <a:xfrm>
            <a:off x="7131685" y="4489450"/>
            <a:ext cx="87439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动态模式分解</a:t>
            </a:r>
            <a:endParaRPr lang="zh-CN" altLang="en-US" sz="900" b="1">
              <a:solidFill>
                <a:schemeClr val="tx1"/>
              </a:solidFill>
            </a:endParaRPr>
          </a:p>
        </p:txBody>
      </p:sp>
      <p:sp>
        <p:nvSpPr>
          <p:cNvPr id="96" name="矩形 95"/>
          <p:cNvSpPr/>
          <p:nvPr>
            <p:custDataLst>
              <p:tags r:id="rId82"/>
            </p:custDataLst>
          </p:nvPr>
        </p:nvSpPr>
        <p:spPr>
          <a:xfrm>
            <a:off x="7132955" y="4801870"/>
            <a:ext cx="87439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卡尔曼滤波</a:t>
            </a:r>
            <a:endParaRPr lang="zh-CN" altLang="en-US" sz="900" b="1">
              <a:solidFill>
                <a:schemeClr val="tx1"/>
              </a:solidFill>
            </a:endParaRPr>
          </a:p>
        </p:txBody>
      </p:sp>
      <p:sp>
        <p:nvSpPr>
          <p:cNvPr id="97" name="矩形 96"/>
          <p:cNvSpPr/>
          <p:nvPr>
            <p:custDataLst>
              <p:tags r:id="rId83"/>
            </p:custDataLst>
          </p:nvPr>
        </p:nvSpPr>
        <p:spPr>
          <a:xfrm>
            <a:off x="7131685" y="5114925"/>
            <a:ext cx="87439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蒙特卡罗方法</a:t>
            </a:r>
            <a:endParaRPr lang="zh-CN" altLang="en-US" sz="900" b="1">
              <a:solidFill>
                <a:schemeClr val="tx1"/>
              </a:solidFill>
            </a:endParaRPr>
          </a:p>
        </p:txBody>
      </p:sp>
      <p:sp>
        <p:nvSpPr>
          <p:cNvPr id="98" name="矩形 97"/>
          <p:cNvSpPr/>
          <p:nvPr>
            <p:custDataLst>
              <p:tags r:id="rId84"/>
            </p:custDataLst>
          </p:nvPr>
        </p:nvSpPr>
        <p:spPr>
          <a:xfrm>
            <a:off x="7132955" y="5436235"/>
            <a:ext cx="874395" cy="342900"/>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集成</a:t>
            </a:r>
            <a:r>
              <a:rPr lang="zh-CN" altLang="en-US" sz="900" b="1">
                <a:solidFill>
                  <a:schemeClr val="tx1"/>
                </a:solidFill>
              </a:rPr>
              <a:t>高斯过程方法</a:t>
            </a:r>
            <a:endParaRPr lang="zh-CN" altLang="en-US" sz="900" b="1">
              <a:solidFill>
                <a:schemeClr val="tx1"/>
              </a:solidFill>
            </a:endParaRPr>
          </a:p>
        </p:txBody>
      </p:sp>
      <p:sp>
        <p:nvSpPr>
          <p:cNvPr id="99" name="矩形 98"/>
          <p:cNvSpPr/>
          <p:nvPr>
            <p:custDataLst>
              <p:tags r:id="rId85"/>
            </p:custDataLst>
          </p:nvPr>
        </p:nvSpPr>
        <p:spPr>
          <a:xfrm>
            <a:off x="1955165" y="6182995"/>
            <a:ext cx="2166620" cy="57340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0" b="1">
              <a:solidFill>
                <a:schemeClr val="tx1"/>
              </a:solidFill>
            </a:endParaRPr>
          </a:p>
        </p:txBody>
      </p:sp>
      <p:sp>
        <p:nvSpPr>
          <p:cNvPr id="100" name="矩形 99"/>
          <p:cNvSpPr/>
          <p:nvPr>
            <p:custDataLst>
              <p:tags r:id="rId86"/>
            </p:custDataLst>
          </p:nvPr>
        </p:nvSpPr>
        <p:spPr>
          <a:xfrm>
            <a:off x="2029460" y="6298565"/>
            <a:ext cx="239395" cy="3435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温度</a:t>
            </a:r>
            <a:endParaRPr lang="zh-CN" altLang="en-US" sz="900" b="1">
              <a:solidFill>
                <a:schemeClr val="tx1"/>
              </a:solidFill>
            </a:endParaRPr>
          </a:p>
        </p:txBody>
      </p:sp>
      <p:sp>
        <p:nvSpPr>
          <p:cNvPr id="101" name="矩形 100"/>
          <p:cNvSpPr/>
          <p:nvPr>
            <p:custDataLst>
              <p:tags r:id="rId87"/>
            </p:custDataLst>
          </p:nvPr>
        </p:nvSpPr>
        <p:spPr>
          <a:xfrm>
            <a:off x="2374265" y="6298565"/>
            <a:ext cx="239395" cy="3435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湿度</a:t>
            </a:r>
            <a:endParaRPr lang="zh-CN" altLang="en-US" sz="900" b="1">
              <a:solidFill>
                <a:schemeClr val="tx1"/>
              </a:solidFill>
            </a:endParaRPr>
          </a:p>
        </p:txBody>
      </p:sp>
      <p:sp>
        <p:nvSpPr>
          <p:cNvPr id="102" name="矩形 101"/>
          <p:cNvSpPr/>
          <p:nvPr>
            <p:custDataLst>
              <p:tags r:id="rId88"/>
            </p:custDataLst>
          </p:nvPr>
        </p:nvSpPr>
        <p:spPr>
          <a:xfrm>
            <a:off x="2716530" y="6298565"/>
            <a:ext cx="239395" cy="3435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气压</a:t>
            </a:r>
            <a:endParaRPr lang="zh-CN" altLang="en-US" sz="900" b="1">
              <a:solidFill>
                <a:schemeClr val="tx1"/>
              </a:solidFill>
            </a:endParaRPr>
          </a:p>
        </p:txBody>
      </p:sp>
      <p:sp>
        <p:nvSpPr>
          <p:cNvPr id="103" name="矩形 102"/>
          <p:cNvSpPr/>
          <p:nvPr>
            <p:custDataLst>
              <p:tags r:id="rId89"/>
            </p:custDataLst>
          </p:nvPr>
        </p:nvSpPr>
        <p:spPr>
          <a:xfrm>
            <a:off x="3056890" y="6298565"/>
            <a:ext cx="429260" cy="3435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降雨量</a:t>
            </a:r>
            <a:endParaRPr lang="zh-CN" altLang="en-US" sz="900" b="1">
              <a:solidFill>
                <a:schemeClr val="tx1"/>
              </a:solidFill>
            </a:endParaRPr>
          </a:p>
        </p:txBody>
      </p:sp>
      <p:sp>
        <p:nvSpPr>
          <p:cNvPr id="104" name="矩形 103"/>
          <p:cNvSpPr/>
          <p:nvPr>
            <p:custDataLst>
              <p:tags r:id="rId90"/>
            </p:custDataLst>
          </p:nvPr>
        </p:nvSpPr>
        <p:spPr>
          <a:xfrm>
            <a:off x="9034145" y="4253230"/>
            <a:ext cx="2167255" cy="2025015"/>
          </a:xfrm>
          <a:prstGeom prst="rect">
            <a:avLst/>
          </a:prstGeom>
          <a:solidFill>
            <a:schemeClr val="bg1"/>
          </a:solid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105" name="矩形 104"/>
          <p:cNvSpPr/>
          <p:nvPr>
            <p:custDataLst>
              <p:tags r:id="rId91"/>
            </p:custDataLst>
          </p:nvPr>
        </p:nvSpPr>
        <p:spPr>
          <a:xfrm>
            <a:off x="3596640" y="6298565"/>
            <a:ext cx="429260" cy="3435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光照强度</a:t>
            </a:r>
            <a:endParaRPr lang="zh-CN" altLang="en-US" sz="900" b="1">
              <a:solidFill>
                <a:schemeClr val="tx1"/>
              </a:solidFill>
            </a:endParaRPr>
          </a:p>
        </p:txBody>
      </p:sp>
      <p:sp>
        <p:nvSpPr>
          <p:cNvPr id="106" name="矩形 105"/>
          <p:cNvSpPr/>
          <p:nvPr>
            <p:custDataLst>
              <p:tags r:id="rId92"/>
            </p:custDataLst>
          </p:nvPr>
        </p:nvSpPr>
        <p:spPr>
          <a:xfrm>
            <a:off x="4231640" y="6183630"/>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季节</a:t>
            </a:r>
            <a:r>
              <a:rPr lang="zh-CN" altLang="en-US" sz="900" b="1">
                <a:solidFill>
                  <a:schemeClr val="tx1"/>
                </a:solidFill>
              </a:rPr>
              <a:t>状况</a:t>
            </a:r>
            <a:endParaRPr lang="zh-CN" altLang="en-US" sz="900" b="1">
              <a:solidFill>
                <a:schemeClr val="tx1"/>
              </a:solidFill>
            </a:endParaRPr>
          </a:p>
        </p:txBody>
      </p:sp>
      <p:sp>
        <p:nvSpPr>
          <p:cNvPr id="107" name="矩形 106"/>
          <p:cNvSpPr/>
          <p:nvPr>
            <p:custDataLst>
              <p:tags r:id="rId93"/>
            </p:custDataLst>
          </p:nvPr>
        </p:nvSpPr>
        <p:spPr>
          <a:xfrm>
            <a:off x="4622165" y="6182995"/>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天气</a:t>
            </a:r>
            <a:r>
              <a:rPr lang="zh-CN" altLang="en-US" sz="900" b="1">
                <a:solidFill>
                  <a:schemeClr val="tx1"/>
                </a:solidFill>
              </a:rPr>
              <a:t>类型</a:t>
            </a:r>
            <a:endParaRPr lang="zh-CN" altLang="en-US" sz="900" b="1">
              <a:solidFill>
                <a:schemeClr val="tx1"/>
              </a:solidFill>
            </a:endParaRPr>
          </a:p>
        </p:txBody>
      </p:sp>
      <p:sp>
        <p:nvSpPr>
          <p:cNvPr id="108" name="矩形 107"/>
          <p:cNvSpPr/>
          <p:nvPr>
            <p:custDataLst>
              <p:tags r:id="rId94"/>
            </p:custDataLst>
          </p:nvPr>
        </p:nvSpPr>
        <p:spPr>
          <a:xfrm>
            <a:off x="5012690" y="6183630"/>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地理位置</a:t>
            </a:r>
            <a:endParaRPr lang="zh-CN" altLang="en-US" sz="900" b="1">
              <a:solidFill>
                <a:schemeClr val="tx1"/>
              </a:solidFill>
            </a:endParaRPr>
          </a:p>
        </p:txBody>
      </p:sp>
      <p:sp>
        <p:nvSpPr>
          <p:cNvPr id="109" name="矩形 108"/>
          <p:cNvSpPr/>
          <p:nvPr>
            <p:custDataLst>
              <p:tags r:id="rId95"/>
            </p:custDataLst>
          </p:nvPr>
        </p:nvSpPr>
        <p:spPr>
          <a:xfrm>
            <a:off x="5403215" y="6183630"/>
            <a:ext cx="440690"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节假日类型</a:t>
            </a:r>
            <a:endParaRPr lang="zh-CN" altLang="en-US" sz="900" b="1">
              <a:solidFill>
                <a:schemeClr val="tx1"/>
              </a:solidFill>
            </a:endParaRPr>
          </a:p>
        </p:txBody>
      </p:sp>
      <p:sp>
        <p:nvSpPr>
          <p:cNvPr id="110" name="矩形 109"/>
          <p:cNvSpPr/>
          <p:nvPr>
            <p:custDataLst>
              <p:tags r:id="rId96"/>
            </p:custDataLst>
          </p:nvPr>
        </p:nvSpPr>
        <p:spPr>
          <a:xfrm>
            <a:off x="5983605" y="6183630"/>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时刻信息</a:t>
            </a:r>
            <a:endParaRPr lang="zh-CN" altLang="en-US" sz="900" b="1">
              <a:solidFill>
                <a:schemeClr val="tx1"/>
              </a:solidFill>
            </a:endParaRPr>
          </a:p>
        </p:txBody>
      </p:sp>
      <p:sp>
        <p:nvSpPr>
          <p:cNvPr id="111" name="矩形 110"/>
          <p:cNvSpPr/>
          <p:nvPr>
            <p:custDataLst>
              <p:tags r:id="rId97"/>
            </p:custDataLst>
          </p:nvPr>
        </p:nvSpPr>
        <p:spPr>
          <a:xfrm>
            <a:off x="6349365" y="6183630"/>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电价</a:t>
            </a:r>
            <a:endParaRPr lang="zh-CN" altLang="en-US" sz="900" b="1">
              <a:solidFill>
                <a:schemeClr val="tx1"/>
              </a:solidFill>
            </a:endParaRPr>
          </a:p>
        </p:txBody>
      </p:sp>
      <p:sp>
        <p:nvSpPr>
          <p:cNvPr id="112" name="矩形 111"/>
          <p:cNvSpPr/>
          <p:nvPr>
            <p:custDataLst>
              <p:tags r:id="rId98"/>
            </p:custDataLst>
          </p:nvPr>
        </p:nvSpPr>
        <p:spPr>
          <a:xfrm>
            <a:off x="6711950" y="6183630"/>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激励政策</a:t>
            </a:r>
            <a:endParaRPr lang="zh-CN" altLang="en-US" sz="900" b="1">
              <a:solidFill>
                <a:schemeClr val="tx1"/>
              </a:solidFill>
            </a:endParaRPr>
          </a:p>
        </p:txBody>
      </p:sp>
      <p:sp>
        <p:nvSpPr>
          <p:cNvPr id="113" name="矩形 112"/>
          <p:cNvSpPr/>
          <p:nvPr>
            <p:custDataLst>
              <p:tags r:id="rId99"/>
            </p:custDataLst>
          </p:nvPr>
        </p:nvSpPr>
        <p:spPr>
          <a:xfrm>
            <a:off x="7078980" y="6183630"/>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用电习惯</a:t>
            </a:r>
            <a:endParaRPr lang="zh-CN" altLang="en-US" sz="900" b="1">
              <a:solidFill>
                <a:schemeClr val="tx1"/>
              </a:solidFill>
            </a:endParaRPr>
          </a:p>
        </p:txBody>
      </p:sp>
      <p:sp>
        <p:nvSpPr>
          <p:cNvPr id="114" name="矩形 113"/>
          <p:cNvSpPr/>
          <p:nvPr>
            <p:custDataLst>
              <p:tags r:id="rId100"/>
            </p:custDataLst>
          </p:nvPr>
        </p:nvSpPr>
        <p:spPr>
          <a:xfrm>
            <a:off x="7439025" y="6183630"/>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社会事件</a:t>
            </a:r>
            <a:endParaRPr lang="zh-CN" altLang="en-US" sz="900" b="1">
              <a:solidFill>
                <a:schemeClr val="tx1"/>
              </a:solidFill>
            </a:endParaRPr>
          </a:p>
        </p:txBody>
      </p:sp>
      <p:sp>
        <p:nvSpPr>
          <p:cNvPr id="115" name="矩形 114"/>
          <p:cNvSpPr/>
          <p:nvPr>
            <p:custDataLst>
              <p:tags r:id="rId101"/>
            </p:custDataLst>
          </p:nvPr>
        </p:nvSpPr>
        <p:spPr>
          <a:xfrm>
            <a:off x="7802880" y="6183630"/>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国民经济</a:t>
            </a:r>
            <a:endParaRPr lang="zh-CN" altLang="en-US" sz="900" b="1">
              <a:solidFill>
                <a:schemeClr val="tx1"/>
              </a:solidFill>
            </a:endParaRPr>
          </a:p>
        </p:txBody>
      </p:sp>
      <p:sp>
        <p:nvSpPr>
          <p:cNvPr id="116" name="矩形 115"/>
          <p:cNvSpPr/>
          <p:nvPr>
            <p:custDataLst>
              <p:tags r:id="rId102"/>
            </p:custDataLst>
          </p:nvPr>
        </p:nvSpPr>
        <p:spPr>
          <a:xfrm>
            <a:off x="9143365" y="5247640"/>
            <a:ext cx="263525" cy="97218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模型方面</a:t>
            </a:r>
            <a:endParaRPr lang="zh-CN" altLang="en-US" sz="900" b="1">
              <a:solidFill>
                <a:schemeClr val="tx1"/>
              </a:solidFill>
            </a:endParaRPr>
          </a:p>
        </p:txBody>
      </p:sp>
      <p:sp>
        <p:nvSpPr>
          <p:cNvPr id="117" name="矩形 116"/>
          <p:cNvSpPr/>
          <p:nvPr>
            <p:custDataLst>
              <p:tags r:id="rId103"/>
            </p:custDataLst>
          </p:nvPr>
        </p:nvSpPr>
        <p:spPr>
          <a:xfrm>
            <a:off x="9143365" y="4330065"/>
            <a:ext cx="263525" cy="80200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数据方面</a:t>
            </a:r>
            <a:endParaRPr lang="zh-CN" altLang="en-US" sz="900" b="1">
              <a:solidFill>
                <a:schemeClr val="tx1"/>
              </a:solidFill>
            </a:endParaRPr>
          </a:p>
        </p:txBody>
      </p:sp>
      <p:sp>
        <p:nvSpPr>
          <p:cNvPr id="118" name="矩形 117"/>
          <p:cNvSpPr/>
          <p:nvPr>
            <p:custDataLst>
              <p:tags r:id="rId104"/>
            </p:custDataLst>
          </p:nvPr>
        </p:nvSpPr>
        <p:spPr>
          <a:xfrm>
            <a:off x="9406890" y="5247005"/>
            <a:ext cx="1670685" cy="97282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0" b="1">
              <a:solidFill>
                <a:schemeClr val="tx1"/>
              </a:solidFill>
            </a:endParaRPr>
          </a:p>
        </p:txBody>
      </p:sp>
      <p:sp>
        <p:nvSpPr>
          <p:cNvPr id="119" name="矩形 118"/>
          <p:cNvSpPr/>
          <p:nvPr>
            <p:custDataLst>
              <p:tags r:id="rId105"/>
            </p:custDataLst>
          </p:nvPr>
        </p:nvSpPr>
        <p:spPr>
          <a:xfrm>
            <a:off x="9525635" y="5302885"/>
            <a:ext cx="143383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适应场景单一</a:t>
            </a:r>
            <a:r>
              <a:rPr lang="zh-CN" altLang="en-US" sz="900" b="1">
                <a:solidFill>
                  <a:schemeClr val="tx1"/>
                </a:solidFill>
              </a:rPr>
              <a:t>问题</a:t>
            </a:r>
            <a:endParaRPr lang="zh-CN" altLang="en-US" sz="900" b="1">
              <a:solidFill>
                <a:schemeClr val="tx1"/>
              </a:solidFill>
            </a:endParaRPr>
          </a:p>
        </p:txBody>
      </p:sp>
      <p:sp>
        <p:nvSpPr>
          <p:cNvPr id="120" name="矩形 119"/>
          <p:cNvSpPr/>
          <p:nvPr>
            <p:custDataLst>
              <p:tags r:id="rId106"/>
            </p:custDataLst>
          </p:nvPr>
        </p:nvSpPr>
        <p:spPr>
          <a:xfrm>
            <a:off x="9525635" y="5612765"/>
            <a:ext cx="143383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时空</a:t>
            </a:r>
            <a:r>
              <a:rPr lang="zh-CN" altLang="en-US" sz="900" b="1">
                <a:solidFill>
                  <a:schemeClr val="tx1"/>
                </a:solidFill>
              </a:rPr>
              <a:t>相关性问题</a:t>
            </a:r>
            <a:endParaRPr lang="zh-CN" altLang="en-US" sz="900" b="1">
              <a:solidFill>
                <a:schemeClr val="tx1"/>
              </a:solidFill>
            </a:endParaRPr>
          </a:p>
        </p:txBody>
      </p:sp>
      <p:sp>
        <p:nvSpPr>
          <p:cNvPr id="121" name="矩形 120"/>
          <p:cNvSpPr/>
          <p:nvPr>
            <p:custDataLst>
              <p:tags r:id="rId107"/>
            </p:custDataLst>
          </p:nvPr>
        </p:nvSpPr>
        <p:spPr>
          <a:xfrm>
            <a:off x="9525635" y="5928995"/>
            <a:ext cx="143383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模型自动</a:t>
            </a:r>
            <a:r>
              <a:rPr lang="zh-CN" altLang="en-US" sz="900" b="1">
                <a:solidFill>
                  <a:schemeClr val="tx1"/>
                </a:solidFill>
              </a:rPr>
              <a:t>调优问题</a:t>
            </a:r>
            <a:endParaRPr lang="zh-CN" altLang="en-US" sz="900" b="1">
              <a:solidFill>
                <a:schemeClr val="tx1"/>
              </a:solidFill>
            </a:endParaRPr>
          </a:p>
        </p:txBody>
      </p:sp>
      <p:sp>
        <p:nvSpPr>
          <p:cNvPr id="122" name="矩形 121"/>
          <p:cNvSpPr/>
          <p:nvPr>
            <p:custDataLst>
              <p:tags r:id="rId108"/>
            </p:custDataLst>
          </p:nvPr>
        </p:nvSpPr>
        <p:spPr>
          <a:xfrm>
            <a:off x="9406890" y="4330065"/>
            <a:ext cx="1670685" cy="80200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0" b="1">
              <a:solidFill>
                <a:schemeClr val="tx1"/>
              </a:solidFill>
            </a:endParaRPr>
          </a:p>
        </p:txBody>
      </p:sp>
      <p:sp>
        <p:nvSpPr>
          <p:cNvPr id="123" name="矩形 122"/>
          <p:cNvSpPr/>
          <p:nvPr>
            <p:custDataLst>
              <p:tags r:id="rId109"/>
            </p:custDataLst>
          </p:nvPr>
        </p:nvSpPr>
        <p:spPr>
          <a:xfrm>
            <a:off x="9525635" y="4426585"/>
            <a:ext cx="143383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小样本问题</a:t>
            </a:r>
            <a:endParaRPr lang="zh-CN" altLang="en-US" sz="900" b="1">
              <a:solidFill>
                <a:schemeClr val="tx1"/>
              </a:solidFill>
            </a:endParaRPr>
          </a:p>
        </p:txBody>
      </p:sp>
      <p:sp>
        <p:nvSpPr>
          <p:cNvPr id="124" name="矩形 123"/>
          <p:cNvSpPr/>
          <p:nvPr>
            <p:custDataLst>
              <p:tags r:id="rId110"/>
            </p:custDataLst>
          </p:nvPr>
        </p:nvSpPr>
        <p:spPr>
          <a:xfrm>
            <a:off x="9525635" y="4792345"/>
            <a:ext cx="143383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900" b="1">
                <a:solidFill>
                  <a:schemeClr val="tx1"/>
                </a:solidFill>
              </a:rPr>
              <a:t>影响因素</a:t>
            </a:r>
            <a:r>
              <a:rPr lang="zh-CN" altLang="en-US" sz="900" b="1">
                <a:solidFill>
                  <a:schemeClr val="tx1"/>
                </a:solidFill>
              </a:rPr>
              <a:t>考虑不足问题</a:t>
            </a:r>
            <a:endParaRPr lang="zh-CN" altLang="en-US" sz="900" b="1">
              <a:solidFill>
                <a:schemeClr val="tx1"/>
              </a:solidFill>
            </a:endParaRPr>
          </a:p>
        </p:txBody>
      </p:sp>
      <p:sp>
        <p:nvSpPr>
          <p:cNvPr id="125" name="燕尾形箭头 124"/>
          <p:cNvSpPr/>
          <p:nvPr>
            <p:custDataLst>
              <p:tags r:id="rId111"/>
            </p:custDataLst>
          </p:nvPr>
        </p:nvSpPr>
        <p:spPr>
          <a:xfrm rot="5400000">
            <a:off x="10026650" y="4046220"/>
            <a:ext cx="172085" cy="143510"/>
          </a:xfrm>
          <a:prstGeom prst="notch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b="1"/>
          </a:p>
        </p:txBody>
      </p:sp>
      <p:sp>
        <p:nvSpPr>
          <p:cNvPr id="126" name="燕尾形箭头 125"/>
          <p:cNvSpPr/>
          <p:nvPr>
            <p:custDataLst>
              <p:tags r:id="rId112"/>
            </p:custDataLst>
          </p:nvPr>
        </p:nvSpPr>
        <p:spPr>
          <a:xfrm rot="10800000">
            <a:off x="8502650" y="5034280"/>
            <a:ext cx="278130" cy="142240"/>
          </a:xfrm>
          <a:prstGeom prst="notch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b="1"/>
          </a:p>
        </p:txBody>
      </p:sp>
      <p:sp>
        <p:nvSpPr>
          <p:cNvPr id="127" name="文本框 126"/>
          <p:cNvSpPr txBox="1"/>
          <p:nvPr>
            <p:custDataLst>
              <p:tags r:id="rId113"/>
            </p:custDataLst>
          </p:nvPr>
        </p:nvSpPr>
        <p:spPr>
          <a:xfrm>
            <a:off x="5014595" y="2871470"/>
            <a:ext cx="774065" cy="245110"/>
          </a:xfrm>
          <a:prstGeom prst="rect">
            <a:avLst/>
          </a:prstGeom>
          <a:noFill/>
        </p:spPr>
        <p:txBody>
          <a:bodyPr wrap="square" rtlCol="0">
            <a:spAutoFit/>
          </a:bodyPr>
          <a:p>
            <a:r>
              <a:rPr lang="zh-CN" altLang="en-US" sz="1000" b="1"/>
              <a:t>技术支撑</a:t>
            </a:r>
            <a:endParaRPr lang="zh-CN" altLang="en-US" sz="1000" b="1"/>
          </a:p>
        </p:txBody>
      </p:sp>
      <p:sp>
        <p:nvSpPr>
          <p:cNvPr id="128" name="燕尾形箭头 127"/>
          <p:cNvSpPr/>
          <p:nvPr>
            <p:custDataLst>
              <p:tags r:id="rId114"/>
            </p:custDataLst>
          </p:nvPr>
        </p:nvSpPr>
        <p:spPr>
          <a:xfrm rot="16200000">
            <a:off x="4867910" y="1830705"/>
            <a:ext cx="163195" cy="127635"/>
          </a:xfrm>
          <a:prstGeom prst="notch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b="1"/>
          </a:p>
        </p:txBody>
      </p:sp>
      <p:sp>
        <p:nvSpPr>
          <p:cNvPr id="129" name="文本框 128"/>
          <p:cNvSpPr txBox="1"/>
          <p:nvPr>
            <p:custDataLst>
              <p:tags r:id="rId115"/>
            </p:custDataLst>
          </p:nvPr>
        </p:nvSpPr>
        <p:spPr>
          <a:xfrm>
            <a:off x="5012690" y="1774825"/>
            <a:ext cx="774065" cy="245110"/>
          </a:xfrm>
          <a:prstGeom prst="rect">
            <a:avLst/>
          </a:prstGeom>
          <a:noFill/>
        </p:spPr>
        <p:txBody>
          <a:bodyPr wrap="square" rtlCol="0">
            <a:spAutoFit/>
          </a:bodyPr>
          <a:p>
            <a:r>
              <a:rPr lang="zh-CN" altLang="en-US" sz="1000" b="1"/>
              <a:t>场景支持</a:t>
            </a:r>
            <a:endParaRPr lang="zh-CN" altLang="en-US" sz="1000" b="1"/>
          </a:p>
        </p:txBody>
      </p:sp>
      <p:sp>
        <p:nvSpPr>
          <p:cNvPr id="131" name="文本框 130"/>
          <p:cNvSpPr txBox="1"/>
          <p:nvPr>
            <p:custDataLst>
              <p:tags r:id="rId116"/>
            </p:custDataLst>
          </p:nvPr>
        </p:nvSpPr>
        <p:spPr>
          <a:xfrm>
            <a:off x="5017770" y="3572510"/>
            <a:ext cx="774065" cy="245110"/>
          </a:xfrm>
          <a:prstGeom prst="rect">
            <a:avLst/>
          </a:prstGeom>
          <a:noFill/>
        </p:spPr>
        <p:txBody>
          <a:bodyPr wrap="square" rtlCol="0">
            <a:spAutoFit/>
          </a:bodyPr>
          <a:p>
            <a:r>
              <a:rPr lang="zh-CN" altLang="en-US" sz="1000" b="1"/>
              <a:t>算法支撑</a:t>
            </a:r>
            <a:endParaRPr lang="zh-CN" altLang="en-US" sz="1000" b="1"/>
          </a:p>
        </p:txBody>
      </p:sp>
      <p:sp>
        <p:nvSpPr>
          <p:cNvPr id="133" name="文本框 132"/>
          <p:cNvSpPr txBox="1"/>
          <p:nvPr>
            <p:custDataLst>
              <p:tags r:id="rId117"/>
            </p:custDataLst>
          </p:nvPr>
        </p:nvSpPr>
        <p:spPr>
          <a:xfrm>
            <a:off x="5029200" y="5895340"/>
            <a:ext cx="774065" cy="245110"/>
          </a:xfrm>
          <a:prstGeom prst="rect">
            <a:avLst/>
          </a:prstGeom>
          <a:noFill/>
        </p:spPr>
        <p:txBody>
          <a:bodyPr wrap="square" rtlCol="0">
            <a:spAutoFit/>
          </a:bodyPr>
          <a:p>
            <a:r>
              <a:rPr lang="zh-CN" altLang="en-US" sz="1000" b="1"/>
              <a:t>数据支撑</a:t>
            </a:r>
            <a:endParaRPr lang="zh-CN" altLang="en-US" sz="1000" b="1"/>
          </a:p>
        </p:txBody>
      </p:sp>
      <p:sp>
        <p:nvSpPr>
          <p:cNvPr id="135" name="文本框 134"/>
          <p:cNvSpPr txBox="1"/>
          <p:nvPr>
            <p:custDataLst>
              <p:tags r:id="rId118"/>
            </p:custDataLst>
          </p:nvPr>
        </p:nvSpPr>
        <p:spPr>
          <a:xfrm>
            <a:off x="10184765" y="3978910"/>
            <a:ext cx="774065" cy="245110"/>
          </a:xfrm>
          <a:prstGeom prst="rect">
            <a:avLst/>
          </a:prstGeom>
          <a:noFill/>
        </p:spPr>
        <p:txBody>
          <a:bodyPr wrap="square" rtlCol="0">
            <a:spAutoFit/>
          </a:bodyPr>
          <a:p>
            <a:r>
              <a:rPr lang="zh-CN" altLang="en-US" sz="1000" b="1"/>
              <a:t>解决方案</a:t>
            </a:r>
            <a:endParaRPr lang="zh-CN" altLang="en-US" sz="1000" b="1"/>
          </a:p>
        </p:txBody>
      </p:sp>
      <p:sp>
        <p:nvSpPr>
          <p:cNvPr id="136" name="文本框 135"/>
          <p:cNvSpPr txBox="1"/>
          <p:nvPr>
            <p:custDataLst>
              <p:tags r:id="rId119"/>
            </p:custDataLst>
          </p:nvPr>
        </p:nvSpPr>
        <p:spPr>
          <a:xfrm>
            <a:off x="8439150" y="4668520"/>
            <a:ext cx="507365" cy="424180"/>
          </a:xfrm>
          <a:prstGeom prst="rect">
            <a:avLst/>
          </a:prstGeom>
          <a:noFill/>
        </p:spPr>
        <p:txBody>
          <a:bodyPr wrap="square" rtlCol="0">
            <a:noAutofit/>
          </a:bodyPr>
          <a:p>
            <a:r>
              <a:rPr lang="zh-CN" altLang="en-US" sz="1000" b="1"/>
              <a:t>精度限制</a:t>
            </a:r>
            <a:endParaRPr lang="zh-CN" altLang="en-US" sz="1000" b="1"/>
          </a:p>
        </p:txBody>
      </p:sp>
      <p:pic>
        <p:nvPicPr>
          <p:cNvPr id="137" name="图片 136" descr="趋势"/>
          <p:cNvPicPr>
            <a:picLocks noChangeAspect="1"/>
          </p:cNvPicPr>
          <p:nvPr>
            <p:custDataLst>
              <p:tags r:id="rId120"/>
            </p:custDataLst>
          </p:nvPr>
        </p:nvPicPr>
        <p:blipFill>
          <a:blip r:embed="rId121">
            <a:extLst>
              <a:ext uri="{96DAC541-7B7A-43D3-8B79-37D633B846F1}">
                <asvg:svgBlip xmlns:asvg="http://schemas.microsoft.com/office/drawing/2016/SVG/main" r:embed="rId122"/>
              </a:ext>
            </a:extLst>
          </a:blip>
          <a:stretch>
            <a:fillRect/>
          </a:stretch>
        </p:blipFill>
        <p:spPr>
          <a:xfrm>
            <a:off x="985520" y="2276475"/>
            <a:ext cx="457835" cy="457835"/>
          </a:xfrm>
          <a:prstGeom prst="rect">
            <a:avLst/>
          </a:prstGeom>
        </p:spPr>
      </p:pic>
      <p:sp>
        <p:nvSpPr>
          <p:cNvPr id="138" name="文本框 137"/>
          <p:cNvSpPr txBox="1"/>
          <p:nvPr>
            <p:custDataLst>
              <p:tags r:id="rId123"/>
            </p:custDataLst>
          </p:nvPr>
        </p:nvSpPr>
        <p:spPr>
          <a:xfrm>
            <a:off x="639445" y="2157095"/>
            <a:ext cx="311785" cy="577215"/>
          </a:xfrm>
          <a:prstGeom prst="rect">
            <a:avLst/>
          </a:prstGeom>
          <a:noFill/>
        </p:spPr>
        <p:txBody>
          <a:bodyPr wrap="square" rtlCol="0">
            <a:noAutofit/>
          </a:bodyPr>
          <a:p>
            <a:r>
              <a:rPr lang="zh-CN" altLang="en-US" sz="900" b="1"/>
              <a:t>预测场景</a:t>
            </a:r>
            <a:endParaRPr lang="zh-CN" altLang="en-US" sz="900" b="1"/>
          </a:p>
        </p:txBody>
      </p:sp>
      <p:pic>
        <p:nvPicPr>
          <p:cNvPr id="139" name="图片 138" descr="书包"/>
          <p:cNvPicPr>
            <a:picLocks noChangeAspect="1"/>
          </p:cNvPicPr>
          <p:nvPr>
            <p:custDataLst>
              <p:tags r:id="rId124"/>
            </p:custDataLst>
          </p:nvPr>
        </p:nvPicPr>
        <p:blipFill>
          <a:blip r:embed="rId125">
            <a:extLst>
              <a:ext uri="{96DAC541-7B7A-43D3-8B79-37D633B846F1}">
                <asvg:svgBlip xmlns:asvg="http://schemas.microsoft.com/office/drawing/2016/SVG/main" r:embed="rId126"/>
              </a:ext>
            </a:extLst>
          </a:blip>
          <a:stretch>
            <a:fillRect/>
          </a:stretch>
        </p:blipFill>
        <p:spPr>
          <a:xfrm>
            <a:off x="949960" y="1333500"/>
            <a:ext cx="492760" cy="373380"/>
          </a:xfrm>
          <a:prstGeom prst="rect">
            <a:avLst/>
          </a:prstGeom>
        </p:spPr>
      </p:pic>
      <p:sp>
        <p:nvSpPr>
          <p:cNvPr id="140" name="文本框 139"/>
          <p:cNvSpPr txBox="1"/>
          <p:nvPr>
            <p:custDataLst>
              <p:tags r:id="rId127"/>
            </p:custDataLst>
          </p:nvPr>
        </p:nvSpPr>
        <p:spPr>
          <a:xfrm>
            <a:off x="638810" y="1227455"/>
            <a:ext cx="311785" cy="577215"/>
          </a:xfrm>
          <a:prstGeom prst="rect">
            <a:avLst/>
          </a:prstGeom>
          <a:noFill/>
        </p:spPr>
        <p:txBody>
          <a:bodyPr wrap="square" rtlCol="0">
            <a:noAutofit/>
          </a:bodyPr>
          <a:p>
            <a:r>
              <a:rPr lang="zh-CN" altLang="en-US" sz="900" b="1"/>
              <a:t>业务应用</a:t>
            </a:r>
            <a:endParaRPr lang="zh-CN" altLang="en-US" sz="900" b="1"/>
          </a:p>
        </p:txBody>
      </p:sp>
      <p:pic>
        <p:nvPicPr>
          <p:cNvPr id="141" name="图片 140" descr="工具"/>
          <p:cNvPicPr>
            <a:picLocks noChangeAspect="1"/>
          </p:cNvPicPr>
          <p:nvPr>
            <p:custDataLst>
              <p:tags r:id="rId128"/>
            </p:custDataLst>
          </p:nvPr>
        </p:nvPicPr>
        <p:blipFill>
          <a:blip r:embed="rId129">
            <a:extLst>
              <a:ext uri="{96DAC541-7B7A-43D3-8B79-37D633B846F1}">
                <asvg:svgBlip xmlns:asvg="http://schemas.microsoft.com/office/drawing/2016/SVG/main" r:embed="rId130"/>
              </a:ext>
            </a:extLst>
          </a:blip>
          <a:stretch>
            <a:fillRect/>
          </a:stretch>
        </p:blipFill>
        <p:spPr>
          <a:xfrm>
            <a:off x="985520" y="4193540"/>
            <a:ext cx="411480" cy="396240"/>
          </a:xfrm>
          <a:prstGeom prst="rect">
            <a:avLst/>
          </a:prstGeom>
        </p:spPr>
      </p:pic>
      <p:sp>
        <p:nvSpPr>
          <p:cNvPr id="142" name="文本框 141"/>
          <p:cNvSpPr txBox="1"/>
          <p:nvPr>
            <p:custDataLst>
              <p:tags r:id="rId131"/>
            </p:custDataLst>
          </p:nvPr>
        </p:nvSpPr>
        <p:spPr>
          <a:xfrm>
            <a:off x="641350" y="4070350"/>
            <a:ext cx="311785" cy="577215"/>
          </a:xfrm>
          <a:prstGeom prst="rect">
            <a:avLst/>
          </a:prstGeom>
          <a:noFill/>
        </p:spPr>
        <p:txBody>
          <a:bodyPr wrap="square" rtlCol="0">
            <a:noAutofit/>
          </a:bodyPr>
          <a:p>
            <a:r>
              <a:rPr lang="zh-CN" altLang="en-US" sz="900" b="1"/>
              <a:t>算法模型</a:t>
            </a:r>
            <a:endParaRPr lang="zh-CN" altLang="en-US" sz="900" b="1"/>
          </a:p>
        </p:txBody>
      </p:sp>
      <p:pic>
        <p:nvPicPr>
          <p:cNvPr id="143" name="图片 142" descr="太阳"/>
          <p:cNvPicPr>
            <a:picLocks noChangeAspect="1"/>
          </p:cNvPicPr>
          <p:nvPr>
            <p:custDataLst>
              <p:tags r:id="rId132"/>
            </p:custDataLst>
          </p:nvPr>
        </p:nvPicPr>
        <p:blipFill>
          <a:blip r:embed="rId133">
            <a:extLst>
              <a:ext uri="{96DAC541-7B7A-43D3-8B79-37D633B846F1}">
                <asvg:svgBlip xmlns:asvg="http://schemas.microsoft.com/office/drawing/2016/SVG/main" r:embed="rId134"/>
              </a:ext>
            </a:extLst>
          </a:blip>
          <a:stretch>
            <a:fillRect/>
          </a:stretch>
        </p:blipFill>
        <p:spPr>
          <a:xfrm>
            <a:off x="985520" y="6299200"/>
            <a:ext cx="457200" cy="457200"/>
          </a:xfrm>
          <a:prstGeom prst="rect">
            <a:avLst/>
          </a:prstGeom>
        </p:spPr>
      </p:pic>
      <p:sp>
        <p:nvSpPr>
          <p:cNvPr id="144" name="文本框 143"/>
          <p:cNvSpPr txBox="1"/>
          <p:nvPr>
            <p:custDataLst>
              <p:tags r:id="rId135"/>
            </p:custDataLst>
          </p:nvPr>
        </p:nvSpPr>
        <p:spPr>
          <a:xfrm>
            <a:off x="638810" y="6170295"/>
            <a:ext cx="311785" cy="577215"/>
          </a:xfrm>
          <a:prstGeom prst="rect">
            <a:avLst/>
          </a:prstGeom>
          <a:noFill/>
        </p:spPr>
        <p:txBody>
          <a:bodyPr wrap="square" rtlCol="0">
            <a:noAutofit/>
          </a:bodyPr>
          <a:p>
            <a:r>
              <a:rPr lang="zh-CN" altLang="en-US" sz="900" b="1"/>
              <a:t>影响因素</a:t>
            </a:r>
            <a:endParaRPr lang="zh-CN" altLang="en-US" sz="900" b="1"/>
          </a:p>
        </p:txBody>
      </p:sp>
      <p:pic>
        <p:nvPicPr>
          <p:cNvPr id="145" name="图片 144" descr="感叹号"/>
          <p:cNvPicPr>
            <a:picLocks noChangeAspect="1"/>
          </p:cNvPicPr>
          <p:nvPr>
            <p:custDataLst>
              <p:tags r:id="rId136"/>
            </p:custDataLst>
          </p:nvPr>
        </p:nvPicPr>
        <p:blipFill>
          <a:blip r:embed="rId137">
            <a:extLst>
              <a:ext uri="{96DAC541-7B7A-43D3-8B79-37D633B846F1}">
                <asvg:svgBlip xmlns:asvg="http://schemas.microsoft.com/office/drawing/2016/SVG/main" r:embed="rId138"/>
              </a:ext>
            </a:extLst>
          </a:blip>
          <a:stretch>
            <a:fillRect/>
          </a:stretch>
        </p:blipFill>
        <p:spPr>
          <a:xfrm>
            <a:off x="10347960" y="6346825"/>
            <a:ext cx="349250" cy="241935"/>
          </a:xfrm>
          <a:prstGeom prst="rect">
            <a:avLst/>
          </a:prstGeom>
        </p:spPr>
      </p:pic>
      <p:pic>
        <p:nvPicPr>
          <p:cNvPr id="146" name="图片 145" descr="手电筒"/>
          <p:cNvPicPr>
            <a:picLocks noChangeAspect="1"/>
          </p:cNvPicPr>
          <p:nvPr>
            <p:custDataLst>
              <p:tags r:id="rId139"/>
            </p:custDataLst>
          </p:nvPr>
        </p:nvPicPr>
        <p:blipFill>
          <a:blip r:embed="rId140">
            <a:extLst>
              <a:ext uri="{96DAC541-7B7A-43D3-8B79-37D633B846F1}">
                <asvg:svgBlip xmlns:asvg="http://schemas.microsoft.com/office/drawing/2016/SVG/main" r:embed="rId141"/>
              </a:ext>
            </a:extLst>
          </a:blip>
          <a:stretch>
            <a:fillRect/>
          </a:stretch>
        </p:blipFill>
        <p:spPr>
          <a:xfrm>
            <a:off x="10304780" y="1069340"/>
            <a:ext cx="187960" cy="187960"/>
          </a:xfrm>
          <a:prstGeom prst="rect">
            <a:avLst/>
          </a:prstGeom>
        </p:spPr>
      </p:pic>
      <p:sp>
        <p:nvSpPr>
          <p:cNvPr id="147" name="文本框 146"/>
          <p:cNvSpPr txBox="1"/>
          <p:nvPr>
            <p:custDataLst>
              <p:tags r:id="rId142"/>
            </p:custDataLst>
          </p:nvPr>
        </p:nvSpPr>
        <p:spPr>
          <a:xfrm>
            <a:off x="9779635" y="6358890"/>
            <a:ext cx="774065" cy="229870"/>
          </a:xfrm>
          <a:prstGeom prst="rect">
            <a:avLst/>
          </a:prstGeom>
          <a:noFill/>
        </p:spPr>
        <p:txBody>
          <a:bodyPr wrap="square" rtlCol="0">
            <a:spAutoFit/>
          </a:bodyPr>
          <a:p>
            <a:r>
              <a:rPr lang="zh-CN" altLang="en-US" sz="900" b="1"/>
              <a:t>问题与不足</a:t>
            </a:r>
            <a:endParaRPr lang="zh-CN" altLang="en-US" sz="900" b="1"/>
          </a:p>
        </p:txBody>
      </p:sp>
      <p:sp>
        <p:nvSpPr>
          <p:cNvPr id="148" name="文本框 147"/>
          <p:cNvSpPr txBox="1"/>
          <p:nvPr>
            <p:custDataLst>
              <p:tags r:id="rId143"/>
            </p:custDataLst>
          </p:nvPr>
        </p:nvSpPr>
        <p:spPr>
          <a:xfrm>
            <a:off x="9613900" y="1073785"/>
            <a:ext cx="774065" cy="229870"/>
          </a:xfrm>
          <a:prstGeom prst="rect">
            <a:avLst/>
          </a:prstGeom>
          <a:noFill/>
        </p:spPr>
        <p:txBody>
          <a:bodyPr wrap="square" rtlCol="0">
            <a:spAutoFit/>
          </a:bodyPr>
          <a:p>
            <a:r>
              <a:rPr lang="zh-CN" altLang="en-US" sz="900" b="1"/>
              <a:t>技术展望</a:t>
            </a:r>
            <a:endParaRPr lang="zh-CN" altLang="en-US" sz="900" b="1"/>
          </a:p>
        </p:txBody>
      </p:sp>
      <p:sp>
        <p:nvSpPr>
          <p:cNvPr id="149" name="燕尾形箭头 148"/>
          <p:cNvSpPr/>
          <p:nvPr>
            <p:custDataLst>
              <p:tags r:id="rId144"/>
            </p:custDataLst>
          </p:nvPr>
        </p:nvSpPr>
        <p:spPr>
          <a:xfrm rot="16200000">
            <a:off x="4895850" y="2921635"/>
            <a:ext cx="163195" cy="127635"/>
          </a:xfrm>
          <a:prstGeom prst="notch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b="1"/>
          </a:p>
        </p:txBody>
      </p:sp>
      <p:sp>
        <p:nvSpPr>
          <p:cNvPr id="150" name="燕尾形箭头 149"/>
          <p:cNvSpPr/>
          <p:nvPr>
            <p:custDataLst>
              <p:tags r:id="rId145"/>
            </p:custDataLst>
          </p:nvPr>
        </p:nvSpPr>
        <p:spPr>
          <a:xfrm rot="16200000">
            <a:off x="4897120" y="3620770"/>
            <a:ext cx="163195" cy="127635"/>
          </a:xfrm>
          <a:prstGeom prst="notch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b="1"/>
          </a:p>
        </p:txBody>
      </p:sp>
      <p:sp>
        <p:nvSpPr>
          <p:cNvPr id="151" name="燕尾形箭头 150"/>
          <p:cNvSpPr/>
          <p:nvPr>
            <p:custDataLst>
              <p:tags r:id="rId146"/>
            </p:custDataLst>
          </p:nvPr>
        </p:nvSpPr>
        <p:spPr>
          <a:xfrm rot="16200000">
            <a:off x="4897120" y="5939155"/>
            <a:ext cx="163195" cy="127635"/>
          </a:xfrm>
          <a:prstGeom prst="notch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b="1"/>
          </a:p>
        </p:txBody>
      </p:sp>
    </p:spTree>
  </p:cSld>
  <p:clrMapOvr>
    <a:masterClrMapping/>
  </p:clrMapOvr>
  <p:transition>
    <p:dissolv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圆角矩形 177"/>
          <p:cNvSpPr/>
          <p:nvPr/>
        </p:nvSpPr>
        <p:spPr>
          <a:xfrm>
            <a:off x="1085850" y="1492885"/>
            <a:ext cx="10187305" cy="493458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内容占位符 1"/>
          <p:cNvSpPr>
            <a:spLocks noGrp="1"/>
          </p:cNvSpPr>
          <p:nvPr>
            <p:ph sz="quarter" idx="13"/>
          </p:nvPr>
        </p:nvSpPr>
        <p:spPr/>
        <p:txBody>
          <a:bodyPr/>
          <a:lstStyle/>
          <a:p>
            <a:r>
              <a:rPr lang="zh-CN" altLang="en-US" dirty="0" smtClean="0">
                <a:sym typeface="+mn-ea"/>
              </a:rPr>
              <a:t>课题</a:t>
            </a:r>
            <a:r>
              <a:rPr lang="zh-CN" altLang="en-US" dirty="0" smtClean="0">
                <a:sym typeface="+mn-ea"/>
              </a:rPr>
              <a:t>国内外发展现状</a:t>
            </a:r>
            <a:endParaRPr lang="zh-CN" altLang="en-US" dirty="0"/>
          </a:p>
          <a:p>
            <a:endParaRPr lang="zh-CN" altLang="en-US" dirty="0"/>
          </a:p>
        </p:txBody>
      </p:sp>
      <p:sp>
        <p:nvSpPr>
          <p:cNvPr id="3" name="灯片编号占位符 2"/>
          <p:cNvSpPr>
            <a:spLocks noGrp="1"/>
          </p:cNvSpPr>
          <p:nvPr>
            <p:ph type="sldNum" sz="quarter" idx="12"/>
          </p:nvPr>
        </p:nvSpPr>
        <p:spPr>
          <a:xfrm>
            <a:off x="11272556" y="6471170"/>
            <a:ext cx="472440" cy="365125"/>
          </a:xfrm>
        </p:spPr>
        <p:txBody>
          <a:bodyPr/>
          <a:lstStyle/>
          <a:p>
            <a:r>
              <a:rPr lang="en-US" altLang="zh-CN" dirty="0"/>
              <a:t>20</a:t>
            </a:r>
            <a:endParaRPr lang="en-US" altLang="zh-CN" dirty="0"/>
          </a:p>
        </p:txBody>
      </p:sp>
      <p:sp>
        <p:nvSpPr>
          <p:cNvPr id="94" name="矩形: 圆角 93"/>
          <p:cNvSpPr/>
          <p:nvPr/>
        </p:nvSpPr>
        <p:spPr>
          <a:xfrm>
            <a:off x="412750" y="887095"/>
            <a:ext cx="558101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基于深度学习的时间序列预测发展</a:t>
            </a:r>
            <a:r>
              <a:rPr lang="zh-CN" altLang="en-US" sz="2400" dirty="0" smtClean="0">
                <a:solidFill>
                  <a:schemeClr val="accent1"/>
                </a:solidFill>
                <a:latin typeface="微软雅黑" panose="020B0503020204020204" pitchFamily="34" charset="-122"/>
                <a:ea typeface="微软雅黑" panose="020B0503020204020204" pitchFamily="34" charset="-122"/>
                <a:sym typeface="+mn-ea"/>
              </a:rPr>
              <a:t>现状</a:t>
            </a:r>
            <a:endParaRPr lang="zh-CN" altLang="en-US" sz="2400" dirty="0" smtClean="0">
              <a:solidFill>
                <a:schemeClr val="accent1"/>
              </a:solidFill>
              <a:latin typeface="微软雅黑" panose="020B0503020204020204" pitchFamily="34" charset="-122"/>
              <a:ea typeface="微软雅黑" panose="020B0503020204020204" pitchFamily="34" charset="-122"/>
              <a:sym typeface="+mn-ea"/>
            </a:endParaRPr>
          </a:p>
        </p:txBody>
      </p:sp>
      <p:cxnSp>
        <p:nvCxnSpPr>
          <p:cNvPr id="4" name="直接连接符 3"/>
          <p:cNvCxnSpPr/>
          <p:nvPr>
            <p:custDataLst>
              <p:tags r:id="rId1"/>
            </p:custDataLst>
          </p:nvPr>
        </p:nvCxnSpPr>
        <p:spPr>
          <a:xfrm>
            <a:off x="1467485" y="3848100"/>
            <a:ext cx="9496425" cy="0"/>
          </a:xfrm>
          <a:prstGeom prst="line">
            <a:avLst/>
          </a:prstGeom>
          <a:ln w="57150">
            <a:gradFill>
              <a:gsLst>
                <a:gs pos="0">
                  <a:srgbClr val="7B32B2"/>
                </a:gs>
                <a:gs pos="100000">
                  <a:srgbClr val="401A5D"/>
                </a:gs>
              </a:gsLst>
            </a:gradFill>
          </a:ln>
        </p:spPr>
        <p:style>
          <a:lnRef idx="1">
            <a:schemeClr val="accent1"/>
          </a:lnRef>
          <a:fillRef idx="0">
            <a:schemeClr val="accent1"/>
          </a:fillRef>
          <a:effectRef idx="0">
            <a:schemeClr val="accent1"/>
          </a:effectRef>
          <a:fontRef idx="minor">
            <a:schemeClr val="tx1"/>
          </a:fontRef>
        </p:style>
      </p:cxnSp>
      <p:sp>
        <p:nvSpPr>
          <p:cNvPr id="6" name="文本框 5"/>
          <p:cNvSpPr txBox="1"/>
          <p:nvPr>
            <p:custDataLst>
              <p:tags r:id="rId2"/>
            </p:custDataLst>
          </p:nvPr>
        </p:nvSpPr>
        <p:spPr>
          <a:xfrm>
            <a:off x="1630680" y="3903345"/>
            <a:ext cx="603250" cy="337185"/>
          </a:xfrm>
          <a:prstGeom prst="rect">
            <a:avLst/>
          </a:prstGeom>
          <a:noFill/>
        </p:spPr>
        <p:txBody>
          <a:bodyPr wrap="square" rtlCol="0">
            <a:spAutoFit/>
          </a:bodyPr>
          <a:p>
            <a:r>
              <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rPr>
              <a:t>1989</a:t>
            </a:r>
            <a:endPar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cxnSp>
        <p:nvCxnSpPr>
          <p:cNvPr id="17" name="直接连接符 16"/>
          <p:cNvCxnSpPr/>
          <p:nvPr>
            <p:custDataLst>
              <p:tags r:id="rId3"/>
            </p:custDataLst>
          </p:nvPr>
        </p:nvCxnSpPr>
        <p:spPr>
          <a:xfrm flipV="1">
            <a:off x="1898015" y="2614295"/>
            <a:ext cx="0" cy="1205865"/>
          </a:xfrm>
          <a:prstGeom prst="line">
            <a:avLst/>
          </a:prstGeom>
          <a:ln w="12700"/>
        </p:spPr>
        <p:style>
          <a:lnRef idx="1">
            <a:schemeClr val="accent4"/>
          </a:lnRef>
          <a:fillRef idx="0">
            <a:schemeClr val="accent4"/>
          </a:fillRef>
          <a:effectRef idx="0">
            <a:schemeClr val="accent4"/>
          </a:effectRef>
          <a:fontRef idx="minor">
            <a:schemeClr val="tx1"/>
          </a:fontRef>
        </p:style>
      </p:cxnSp>
      <p:sp>
        <p:nvSpPr>
          <p:cNvPr id="18" name="文本框 17"/>
          <p:cNvSpPr txBox="1"/>
          <p:nvPr>
            <p:custDataLst>
              <p:tags r:id="rId4"/>
            </p:custDataLst>
          </p:nvPr>
        </p:nvSpPr>
        <p:spPr>
          <a:xfrm>
            <a:off x="1085850" y="1745615"/>
            <a:ext cx="1624330" cy="785495"/>
          </a:xfrm>
          <a:prstGeom prst="rect">
            <a:avLst/>
          </a:prstGeom>
          <a:noFill/>
        </p:spPr>
        <p:txBody>
          <a:bodyPr wrap="square" rtlCol="0">
            <a:noAutofit/>
          </a:bodyPr>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CNN</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1989,Yann LeCun</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5" name="文本框 4"/>
          <p:cNvSpPr txBox="1"/>
          <p:nvPr>
            <p:custDataLst>
              <p:tags r:id="rId5"/>
            </p:custDataLst>
          </p:nvPr>
        </p:nvSpPr>
        <p:spPr>
          <a:xfrm>
            <a:off x="2233930" y="3902075"/>
            <a:ext cx="603250" cy="337185"/>
          </a:xfrm>
          <a:prstGeom prst="rect">
            <a:avLst/>
          </a:prstGeom>
          <a:noFill/>
        </p:spPr>
        <p:txBody>
          <a:bodyPr wrap="square" rtlCol="0">
            <a:spAutoFit/>
          </a:bodyPr>
          <a:p>
            <a:r>
              <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rPr>
              <a:t>1990</a:t>
            </a:r>
            <a:endPar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cxnSp>
        <p:nvCxnSpPr>
          <p:cNvPr id="7" name="直接连接符 6"/>
          <p:cNvCxnSpPr/>
          <p:nvPr>
            <p:custDataLst>
              <p:tags r:id="rId6"/>
            </p:custDataLst>
          </p:nvPr>
        </p:nvCxnSpPr>
        <p:spPr>
          <a:xfrm flipV="1">
            <a:off x="2535555" y="4208780"/>
            <a:ext cx="0" cy="1080000"/>
          </a:xfrm>
          <a:prstGeom prst="line">
            <a:avLst/>
          </a:prstGeom>
          <a:ln w="12700"/>
        </p:spPr>
        <p:style>
          <a:lnRef idx="1">
            <a:schemeClr val="accent4"/>
          </a:lnRef>
          <a:fillRef idx="0">
            <a:schemeClr val="accent4"/>
          </a:fillRef>
          <a:effectRef idx="0">
            <a:schemeClr val="accent4"/>
          </a:effectRef>
          <a:fontRef idx="minor">
            <a:schemeClr val="tx1"/>
          </a:fontRef>
        </p:style>
      </p:cxnSp>
      <p:sp>
        <p:nvSpPr>
          <p:cNvPr id="8" name="文本框 7"/>
          <p:cNvSpPr txBox="1"/>
          <p:nvPr>
            <p:custDataLst>
              <p:tags r:id="rId7"/>
            </p:custDataLst>
          </p:nvPr>
        </p:nvSpPr>
        <p:spPr>
          <a:xfrm>
            <a:off x="1633855" y="5302885"/>
            <a:ext cx="1831975" cy="785495"/>
          </a:xfrm>
          <a:prstGeom prst="rect">
            <a:avLst/>
          </a:prstGeom>
          <a:noFill/>
        </p:spPr>
        <p:txBody>
          <a:bodyPr wrap="square" rtlCol="0">
            <a:noAutofit/>
          </a:bodyPr>
          <a:p>
            <a:pPr indent="0" algn="ctr" fontAlgn="auto">
              <a:lnSpc>
                <a:spcPct val="100000"/>
              </a:lnSpc>
            </a:pPr>
            <a:r>
              <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rPr>
              <a:t>RNN</a:t>
            </a:r>
            <a:endPar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1990,M.I.Jordan</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9" name="文本框 8"/>
          <p:cNvSpPr txBox="1"/>
          <p:nvPr>
            <p:custDataLst>
              <p:tags r:id="rId8"/>
            </p:custDataLst>
          </p:nvPr>
        </p:nvSpPr>
        <p:spPr>
          <a:xfrm>
            <a:off x="2837180" y="3903345"/>
            <a:ext cx="603250" cy="337185"/>
          </a:xfrm>
          <a:prstGeom prst="rect">
            <a:avLst/>
          </a:prstGeom>
          <a:noFill/>
        </p:spPr>
        <p:txBody>
          <a:bodyPr wrap="square" rtlCol="0">
            <a:spAutoFit/>
          </a:bodyPr>
          <a:p>
            <a:r>
              <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rPr>
              <a:t>1997</a:t>
            </a:r>
            <a:endPar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cxnSp>
        <p:nvCxnSpPr>
          <p:cNvPr id="16" name="直接连接符 15"/>
          <p:cNvCxnSpPr/>
          <p:nvPr>
            <p:custDataLst>
              <p:tags r:id="rId9"/>
            </p:custDataLst>
          </p:nvPr>
        </p:nvCxnSpPr>
        <p:spPr>
          <a:xfrm flipV="1">
            <a:off x="3138805" y="3388360"/>
            <a:ext cx="0" cy="432000"/>
          </a:xfrm>
          <a:prstGeom prst="line">
            <a:avLst/>
          </a:prstGeom>
          <a:ln w="12700"/>
        </p:spPr>
        <p:style>
          <a:lnRef idx="1">
            <a:schemeClr val="accent4"/>
          </a:lnRef>
          <a:fillRef idx="0">
            <a:schemeClr val="accent4"/>
          </a:fillRef>
          <a:effectRef idx="0">
            <a:schemeClr val="accent4"/>
          </a:effectRef>
          <a:fontRef idx="minor">
            <a:schemeClr val="tx1"/>
          </a:fontRef>
        </p:style>
      </p:cxnSp>
      <p:sp>
        <p:nvSpPr>
          <p:cNvPr id="30" name="文本框 29"/>
          <p:cNvSpPr txBox="1"/>
          <p:nvPr>
            <p:custDataLst>
              <p:tags r:id="rId10"/>
            </p:custDataLst>
          </p:nvPr>
        </p:nvSpPr>
        <p:spPr>
          <a:xfrm>
            <a:off x="2296795" y="2046605"/>
            <a:ext cx="1684020" cy="1258570"/>
          </a:xfrm>
          <a:prstGeom prst="rect">
            <a:avLst/>
          </a:prstGeom>
          <a:noFill/>
        </p:spPr>
        <p:txBody>
          <a:bodyPr wrap="square" rtlCol="0">
            <a:noAutofit/>
          </a:bodyPr>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Bi-RNN</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(1997,Schuster)</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LSTM</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latin typeface="Times New Roman" panose="02020603050405020304" charset="0"/>
                <a:ea typeface="微软雅黑" panose="020B0503020204020204" pitchFamily="34" charset="-122"/>
                <a:cs typeface="Times New Roman" panose="02020603050405020304" charset="0"/>
                <a:sym typeface="+mn-ea"/>
              </a:rPr>
              <a:t>(1997,</a:t>
            </a:r>
            <a:endParaRPr lang="en-US" altLang="zh-CN" sz="1600" b="1">
              <a:latin typeface="Times New Roman" panose="02020603050405020304" charset="0"/>
              <a:ea typeface="微软雅黑" panose="020B0503020204020204" pitchFamily="34" charset="-122"/>
              <a:cs typeface="Times New Roman" panose="02020603050405020304" charset="0"/>
              <a:sym typeface="+mn-ea"/>
            </a:endParaRPr>
          </a:p>
          <a:p>
            <a:pPr indent="0" algn="ctr" fontAlgn="auto">
              <a:lnSpc>
                <a:spcPct val="100000"/>
              </a:lnSpc>
            </a:pPr>
            <a:r>
              <a:rPr lang="en-US" altLang="zh-CN" sz="1600" b="1">
                <a:latin typeface="Times New Roman" panose="02020603050405020304" charset="0"/>
                <a:ea typeface="微软雅黑" panose="020B0503020204020204" pitchFamily="34" charset="-122"/>
                <a:cs typeface="Times New Roman" panose="02020603050405020304" charset="0"/>
                <a:sym typeface="+mn-ea"/>
              </a:rPr>
              <a:t>S Hochreiter)</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ts val="2000"/>
              </a:lnSpc>
            </a:pP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130" name="文本框 129"/>
          <p:cNvSpPr txBox="1"/>
          <p:nvPr>
            <p:custDataLst>
              <p:tags r:id="rId11"/>
            </p:custDataLst>
          </p:nvPr>
        </p:nvSpPr>
        <p:spPr>
          <a:xfrm>
            <a:off x="3440430" y="3903345"/>
            <a:ext cx="603250" cy="337185"/>
          </a:xfrm>
          <a:prstGeom prst="rect">
            <a:avLst/>
          </a:prstGeom>
          <a:noFill/>
        </p:spPr>
        <p:txBody>
          <a:bodyPr wrap="square" rtlCol="0">
            <a:spAutoFit/>
          </a:bodyPr>
          <a:p>
            <a:r>
              <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rPr>
              <a:t>2005</a:t>
            </a:r>
            <a:endPar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cxnSp>
        <p:nvCxnSpPr>
          <p:cNvPr id="132" name="直接连接符 131"/>
          <p:cNvCxnSpPr/>
          <p:nvPr>
            <p:custDataLst>
              <p:tags r:id="rId12"/>
            </p:custDataLst>
          </p:nvPr>
        </p:nvCxnSpPr>
        <p:spPr>
          <a:xfrm flipV="1">
            <a:off x="3742055" y="4208780"/>
            <a:ext cx="0" cy="432000"/>
          </a:xfrm>
          <a:prstGeom prst="line">
            <a:avLst/>
          </a:prstGeom>
          <a:ln w="12700"/>
        </p:spPr>
        <p:style>
          <a:lnRef idx="1">
            <a:schemeClr val="accent4"/>
          </a:lnRef>
          <a:fillRef idx="0">
            <a:schemeClr val="accent4"/>
          </a:fillRef>
          <a:effectRef idx="0">
            <a:schemeClr val="accent4"/>
          </a:effectRef>
          <a:fontRef idx="minor">
            <a:schemeClr val="tx1"/>
          </a:fontRef>
        </p:style>
      </p:cxnSp>
      <p:sp>
        <p:nvSpPr>
          <p:cNvPr id="134" name="文本框 133"/>
          <p:cNvSpPr txBox="1"/>
          <p:nvPr>
            <p:custDataLst>
              <p:tags r:id="rId13"/>
            </p:custDataLst>
          </p:nvPr>
        </p:nvSpPr>
        <p:spPr>
          <a:xfrm>
            <a:off x="2929890" y="4653915"/>
            <a:ext cx="1624330" cy="785495"/>
          </a:xfrm>
          <a:prstGeom prst="rect">
            <a:avLst/>
          </a:prstGeom>
          <a:noFill/>
        </p:spPr>
        <p:txBody>
          <a:bodyPr wrap="square" rtlCol="0">
            <a:noAutofit/>
          </a:bodyPr>
          <a:p>
            <a:pPr indent="0" algn="ctr" fontAlgn="auto">
              <a:lnSpc>
                <a:spcPct val="100000"/>
              </a:lnSpc>
            </a:pPr>
            <a:r>
              <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rPr>
              <a:t>Bi-LSTM</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(2005,Graves)</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152" name="文本框 151"/>
          <p:cNvSpPr txBox="1"/>
          <p:nvPr>
            <p:custDataLst>
              <p:tags r:id="rId14"/>
            </p:custDataLst>
          </p:nvPr>
        </p:nvSpPr>
        <p:spPr>
          <a:xfrm>
            <a:off x="4132580" y="3903345"/>
            <a:ext cx="603250" cy="337185"/>
          </a:xfrm>
          <a:prstGeom prst="rect">
            <a:avLst/>
          </a:prstGeom>
          <a:noFill/>
        </p:spPr>
        <p:txBody>
          <a:bodyPr wrap="square" rtlCol="0">
            <a:spAutoFit/>
          </a:bodyPr>
          <a:p>
            <a:r>
              <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rPr>
              <a:t>2014</a:t>
            </a:r>
            <a:endPar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cxnSp>
        <p:nvCxnSpPr>
          <p:cNvPr id="153" name="直接连接符 152"/>
          <p:cNvCxnSpPr/>
          <p:nvPr>
            <p:custDataLst>
              <p:tags r:id="rId15"/>
            </p:custDataLst>
          </p:nvPr>
        </p:nvCxnSpPr>
        <p:spPr>
          <a:xfrm flipV="1">
            <a:off x="4434205" y="3091815"/>
            <a:ext cx="0" cy="720000"/>
          </a:xfrm>
          <a:prstGeom prst="line">
            <a:avLst/>
          </a:prstGeom>
          <a:ln w="12700"/>
        </p:spPr>
        <p:style>
          <a:lnRef idx="1">
            <a:schemeClr val="accent4"/>
          </a:lnRef>
          <a:fillRef idx="0">
            <a:schemeClr val="accent4"/>
          </a:fillRef>
          <a:effectRef idx="0">
            <a:schemeClr val="accent4"/>
          </a:effectRef>
          <a:fontRef idx="minor">
            <a:schemeClr val="tx1"/>
          </a:fontRef>
        </p:style>
      </p:cxnSp>
      <p:sp>
        <p:nvSpPr>
          <p:cNvPr id="154" name="文本框 153"/>
          <p:cNvSpPr txBox="1"/>
          <p:nvPr>
            <p:custDataLst>
              <p:tags r:id="rId16"/>
            </p:custDataLst>
          </p:nvPr>
        </p:nvSpPr>
        <p:spPr>
          <a:xfrm>
            <a:off x="3554730" y="2491105"/>
            <a:ext cx="1624330" cy="785495"/>
          </a:xfrm>
          <a:prstGeom prst="rect">
            <a:avLst/>
          </a:prstGeom>
          <a:noFill/>
        </p:spPr>
        <p:txBody>
          <a:bodyPr wrap="square" rtlCol="0">
            <a:noAutofit/>
          </a:bodyPr>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GRU</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(2014,Cho,K)</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155" name="文本框 154"/>
          <p:cNvSpPr txBox="1"/>
          <p:nvPr>
            <p:custDataLst>
              <p:tags r:id="rId17"/>
            </p:custDataLst>
          </p:nvPr>
        </p:nvSpPr>
        <p:spPr>
          <a:xfrm>
            <a:off x="5066030" y="3901440"/>
            <a:ext cx="603250" cy="337185"/>
          </a:xfrm>
          <a:prstGeom prst="rect">
            <a:avLst/>
          </a:prstGeom>
          <a:noFill/>
        </p:spPr>
        <p:txBody>
          <a:bodyPr wrap="square" rtlCol="0">
            <a:spAutoFit/>
          </a:bodyPr>
          <a:p>
            <a:r>
              <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rPr>
              <a:t>2017</a:t>
            </a:r>
            <a:endPar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cxnSp>
        <p:nvCxnSpPr>
          <p:cNvPr id="156" name="直接连接符 155"/>
          <p:cNvCxnSpPr/>
          <p:nvPr>
            <p:custDataLst>
              <p:tags r:id="rId18"/>
            </p:custDataLst>
          </p:nvPr>
        </p:nvCxnSpPr>
        <p:spPr>
          <a:xfrm flipV="1">
            <a:off x="5367655" y="2746375"/>
            <a:ext cx="0" cy="1080000"/>
          </a:xfrm>
          <a:prstGeom prst="line">
            <a:avLst/>
          </a:prstGeom>
          <a:ln w="12700"/>
        </p:spPr>
        <p:style>
          <a:lnRef idx="1">
            <a:schemeClr val="accent4"/>
          </a:lnRef>
          <a:fillRef idx="0">
            <a:schemeClr val="accent4"/>
          </a:fillRef>
          <a:effectRef idx="0">
            <a:schemeClr val="accent4"/>
          </a:effectRef>
          <a:fontRef idx="minor">
            <a:schemeClr val="tx1"/>
          </a:fontRef>
        </p:style>
      </p:cxnSp>
      <p:sp>
        <p:nvSpPr>
          <p:cNvPr id="157" name="文本框 156"/>
          <p:cNvSpPr txBox="1"/>
          <p:nvPr>
            <p:custDataLst>
              <p:tags r:id="rId19"/>
            </p:custDataLst>
          </p:nvPr>
        </p:nvSpPr>
        <p:spPr>
          <a:xfrm>
            <a:off x="4464685" y="1600200"/>
            <a:ext cx="1797685" cy="930910"/>
          </a:xfrm>
          <a:prstGeom prst="rect">
            <a:avLst/>
          </a:prstGeom>
          <a:noFill/>
        </p:spPr>
        <p:txBody>
          <a:bodyPr wrap="square" rtlCol="0">
            <a:noAutofit/>
          </a:bodyPr>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WaveNet-CNN</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(2017,Borovykh A)</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Kmeans-CNN</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latin typeface="Times New Roman" panose="02020603050405020304" charset="0"/>
                <a:ea typeface="微软雅黑" panose="020B0503020204020204" pitchFamily="34" charset="-122"/>
                <a:cs typeface="Times New Roman" panose="02020603050405020304" charset="0"/>
                <a:sym typeface="+mn-ea"/>
              </a:rPr>
              <a:t>(2017,Dong X)</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158" name="文本框 157"/>
          <p:cNvSpPr txBox="1"/>
          <p:nvPr>
            <p:custDataLst>
              <p:tags r:id="rId20"/>
            </p:custDataLst>
          </p:nvPr>
        </p:nvSpPr>
        <p:spPr>
          <a:xfrm>
            <a:off x="5942965" y="3898900"/>
            <a:ext cx="603250" cy="337185"/>
          </a:xfrm>
          <a:prstGeom prst="rect">
            <a:avLst/>
          </a:prstGeom>
          <a:noFill/>
        </p:spPr>
        <p:txBody>
          <a:bodyPr wrap="square" rtlCol="0">
            <a:spAutoFit/>
          </a:bodyPr>
          <a:p>
            <a:r>
              <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rPr>
              <a:t>2018</a:t>
            </a:r>
            <a:endPar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cxnSp>
        <p:nvCxnSpPr>
          <p:cNvPr id="159" name="直接连接符 158"/>
          <p:cNvCxnSpPr/>
          <p:nvPr>
            <p:custDataLst>
              <p:tags r:id="rId21"/>
            </p:custDataLst>
          </p:nvPr>
        </p:nvCxnSpPr>
        <p:spPr>
          <a:xfrm flipV="1">
            <a:off x="5367655" y="4208145"/>
            <a:ext cx="0" cy="360000"/>
          </a:xfrm>
          <a:prstGeom prst="line">
            <a:avLst/>
          </a:prstGeom>
          <a:ln w="12700"/>
        </p:spPr>
        <p:style>
          <a:lnRef idx="1">
            <a:schemeClr val="accent4"/>
          </a:lnRef>
          <a:fillRef idx="0">
            <a:schemeClr val="accent4"/>
          </a:fillRef>
          <a:effectRef idx="0">
            <a:schemeClr val="accent4"/>
          </a:effectRef>
          <a:fontRef idx="minor">
            <a:schemeClr val="tx1"/>
          </a:fontRef>
        </p:style>
      </p:cxnSp>
      <p:sp>
        <p:nvSpPr>
          <p:cNvPr id="160" name="文本框 159"/>
          <p:cNvSpPr txBox="1"/>
          <p:nvPr>
            <p:custDataLst>
              <p:tags r:id="rId22"/>
            </p:custDataLst>
          </p:nvPr>
        </p:nvSpPr>
        <p:spPr>
          <a:xfrm>
            <a:off x="4554220" y="4568190"/>
            <a:ext cx="1624330" cy="785495"/>
          </a:xfrm>
          <a:prstGeom prst="rect">
            <a:avLst/>
          </a:prstGeom>
          <a:noFill/>
        </p:spPr>
        <p:txBody>
          <a:bodyPr wrap="square" rtlCol="0">
            <a:noAutofit/>
          </a:bodyPr>
          <a:p>
            <a:pPr indent="0" algn="ctr" fontAlgn="auto">
              <a:lnSpc>
                <a:spcPct val="100000"/>
              </a:lnSpc>
            </a:pPr>
            <a:r>
              <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rPr>
              <a:t>Transformer</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(2017,Vaswani A)</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cxnSp>
        <p:nvCxnSpPr>
          <p:cNvPr id="161" name="直接连接符 160"/>
          <p:cNvCxnSpPr/>
          <p:nvPr>
            <p:custDataLst>
              <p:tags r:id="rId23"/>
            </p:custDataLst>
          </p:nvPr>
        </p:nvCxnSpPr>
        <p:spPr>
          <a:xfrm flipV="1">
            <a:off x="6262370" y="4210050"/>
            <a:ext cx="0" cy="792000"/>
          </a:xfrm>
          <a:prstGeom prst="line">
            <a:avLst/>
          </a:prstGeom>
          <a:ln w="12700"/>
        </p:spPr>
        <p:style>
          <a:lnRef idx="1">
            <a:schemeClr val="accent4"/>
          </a:lnRef>
          <a:fillRef idx="0">
            <a:schemeClr val="accent4"/>
          </a:fillRef>
          <a:effectRef idx="0">
            <a:schemeClr val="accent4"/>
          </a:effectRef>
          <a:fontRef idx="minor">
            <a:schemeClr val="tx1"/>
          </a:fontRef>
        </p:style>
      </p:cxnSp>
      <p:sp>
        <p:nvSpPr>
          <p:cNvPr id="162" name="文本框 161"/>
          <p:cNvSpPr txBox="1"/>
          <p:nvPr>
            <p:custDataLst>
              <p:tags r:id="rId24"/>
            </p:custDataLst>
          </p:nvPr>
        </p:nvSpPr>
        <p:spPr>
          <a:xfrm>
            <a:off x="5404485" y="5054600"/>
            <a:ext cx="1716405" cy="1282065"/>
          </a:xfrm>
          <a:prstGeom prst="rect">
            <a:avLst/>
          </a:prstGeom>
          <a:noFill/>
        </p:spPr>
        <p:txBody>
          <a:bodyPr wrap="square" rtlCol="0">
            <a:noAutofit/>
          </a:bodyPr>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Bert</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(2018,Devlin J)</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rPr>
              <a:t>TCN</a:t>
            </a:r>
            <a:endPar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latin typeface="Times New Roman" panose="02020603050405020304" charset="0"/>
                <a:ea typeface="微软雅黑" panose="020B0503020204020204" pitchFamily="34" charset="-122"/>
                <a:cs typeface="Times New Roman" panose="02020603050405020304" charset="0"/>
                <a:sym typeface="+mn-ea"/>
              </a:rPr>
              <a:t>(2018,S haoJie Bai)</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163" name="文本框 162"/>
          <p:cNvSpPr txBox="1"/>
          <p:nvPr>
            <p:custDataLst>
              <p:tags r:id="rId25"/>
            </p:custDataLst>
          </p:nvPr>
        </p:nvSpPr>
        <p:spPr>
          <a:xfrm>
            <a:off x="6819900" y="3903345"/>
            <a:ext cx="603250" cy="337185"/>
          </a:xfrm>
          <a:prstGeom prst="rect">
            <a:avLst/>
          </a:prstGeom>
          <a:noFill/>
        </p:spPr>
        <p:txBody>
          <a:bodyPr wrap="square" rtlCol="0">
            <a:spAutoFit/>
          </a:bodyPr>
          <a:p>
            <a:r>
              <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rPr>
              <a:t>2020</a:t>
            </a:r>
            <a:endPar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cxnSp>
        <p:nvCxnSpPr>
          <p:cNvPr id="164" name="直接连接符 163"/>
          <p:cNvCxnSpPr/>
          <p:nvPr>
            <p:custDataLst>
              <p:tags r:id="rId26"/>
            </p:custDataLst>
          </p:nvPr>
        </p:nvCxnSpPr>
        <p:spPr>
          <a:xfrm flipV="1">
            <a:off x="7120890" y="3533775"/>
            <a:ext cx="0" cy="288000"/>
          </a:xfrm>
          <a:prstGeom prst="line">
            <a:avLst/>
          </a:prstGeom>
          <a:ln w="12700"/>
        </p:spPr>
        <p:style>
          <a:lnRef idx="1">
            <a:schemeClr val="accent4"/>
          </a:lnRef>
          <a:fillRef idx="0">
            <a:schemeClr val="accent4"/>
          </a:fillRef>
          <a:effectRef idx="0">
            <a:schemeClr val="accent4"/>
          </a:effectRef>
          <a:fontRef idx="minor">
            <a:schemeClr val="tx1"/>
          </a:fontRef>
        </p:style>
      </p:cxnSp>
      <p:sp>
        <p:nvSpPr>
          <p:cNvPr id="165" name="文本框 164"/>
          <p:cNvSpPr txBox="1"/>
          <p:nvPr>
            <p:custDataLst>
              <p:tags r:id="rId27"/>
            </p:custDataLst>
          </p:nvPr>
        </p:nvSpPr>
        <p:spPr>
          <a:xfrm>
            <a:off x="6301105" y="2903855"/>
            <a:ext cx="1624330" cy="785495"/>
          </a:xfrm>
          <a:prstGeom prst="rect">
            <a:avLst/>
          </a:prstGeom>
          <a:noFill/>
        </p:spPr>
        <p:txBody>
          <a:bodyPr wrap="square" rtlCol="0">
            <a:noAutofit/>
          </a:bodyPr>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AST</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(2020,Wu S)</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166" name="文本框 165"/>
          <p:cNvSpPr txBox="1"/>
          <p:nvPr>
            <p:custDataLst>
              <p:tags r:id="rId28"/>
            </p:custDataLst>
          </p:nvPr>
        </p:nvSpPr>
        <p:spPr>
          <a:xfrm>
            <a:off x="7835900" y="3898900"/>
            <a:ext cx="603250" cy="337185"/>
          </a:xfrm>
          <a:prstGeom prst="rect">
            <a:avLst/>
          </a:prstGeom>
          <a:noFill/>
        </p:spPr>
        <p:txBody>
          <a:bodyPr wrap="square" rtlCol="0">
            <a:spAutoFit/>
          </a:bodyPr>
          <a:p>
            <a:r>
              <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rPr>
              <a:t>2021</a:t>
            </a:r>
            <a:endPar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cxnSp>
        <p:nvCxnSpPr>
          <p:cNvPr id="167" name="直接连接符 166"/>
          <p:cNvCxnSpPr/>
          <p:nvPr>
            <p:custDataLst>
              <p:tags r:id="rId29"/>
            </p:custDataLst>
          </p:nvPr>
        </p:nvCxnSpPr>
        <p:spPr>
          <a:xfrm flipV="1">
            <a:off x="8137525" y="4205605"/>
            <a:ext cx="0" cy="612000"/>
          </a:xfrm>
          <a:prstGeom prst="line">
            <a:avLst/>
          </a:prstGeom>
          <a:ln w="12700"/>
        </p:spPr>
        <p:style>
          <a:lnRef idx="1">
            <a:schemeClr val="accent4"/>
          </a:lnRef>
          <a:fillRef idx="0">
            <a:schemeClr val="accent4"/>
          </a:fillRef>
          <a:effectRef idx="0">
            <a:schemeClr val="accent4"/>
          </a:effectRef>
          <a:fontRef idx="minor">
            <a:schemeClr val="tx1"/>
          </a:fontRef>
        </p:style>
      </p:cxnSp>
      <p:sp>
        <p:nvSpPr>
          <p:cNvPr id="168" name="文本框 167"/>
          <p:cNvSpPr txBox="1"/>
          <p:nvPr>
            <p:custDataLst>
              <p:tags r:id="rId30"/>
            </p:custDataLst>
          </p:nvPr>
        </p:nvSpPr>
        <p:spPr>
          <a:xfrm>
            <a:off x="7279005" y="4827905"/>
            <a:ext cx="1716405" cy="1482090"/>
          </a:xfrm>
          <a:prstGeom prst="rect">
            <a:avLst/>
          </a:prstGeom>
          <a:noFill/>
        </p:spPr>
        <p:txBody>
          <a:bodyPr wrap="square" rtlCol="0">
            <a:noAutofit/>
          </a:bodyPr>
          <a:p>
            <a:pPr indent="0" algn="ctr" fontAlgn="auto">
              <a:lnSpc>
                <a:spcPct val="100000"/>
              </a:lnSpc>
            </a:pPr>
            <a:r>
              <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rPr>
              <a:t>Informer</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(2021,Zhou H)</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TFT</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latin typeface="Times New Roman" panose="02020603050405020304" charset="0"/>
                <a:ea typeface="微软雅黑" panose="020B0503020204020204" pitchFamily="34" charset="-122"/>
                <a:cs typeface="Times New Roman" panose="02020603050405020304" charset="0"/>
                <a:sym typeface="+mn-ea"/>
              </a:rPr>
              <a:t>(2021,Lim B)</a:t>
            </a:r>
            <a:endParaRPr lang="en-US" altLang="zh-CN" sz="1600" b="1">
              <a:latin typeface="Times New Roman" panose="02020603050405020304" charset="0"/>
              <a:ea typeface="微软雅黑" panose="020B0503020204020204" pitchFamily="34" charset="-122"/>
              <a:cs typeface="Times New Roman" panose="02020603050405020304" charset="0"/>
              <a:sym typeface="+mn-ea"/>
            </a:endParaRPr>
          </a:p>
          <a:p>
            <a:pPr indent="0" algn="ctr" fontAlgn="auto">
              <a:lnSpc>
                <a:spcPct val="100000"/>
              </a:lnSpc>
            </a:pPr>
            <a:r>
              <a:rPr lang="en-US" altLang="zh-CN" sz="1600" b="1">
                <a:latin typeface="Times New Roman" panose="02020603050405020304" charset="0"/>
                <a:ea typeface="微软雅黑" panose="020B0503020204020204" pitchFamily="34" charset="-122"/>
                <a:cs typeface="Times New Roman" panose="02020603050405020304" charset="0"/>
                <a:sym typeface="+mn-ea"/>
              </a:rPr>
              <a:t>SSDNet</a:t>
            </a:r>
            <a:endParaRPr lang="en-US" altLang="zh-CN" sz="1600" b="1">
              <a:latin typeface="Times New Roman" panose="02020603050405020304" charset="0"/>
              <a:ea typeface="微软雅黑" panose="020B0503020204020204" pitchFamily="34" charset="-122"/>
              <a:cs typeface="Times New Roman" panose="02020603050405020304" charset="0"/>
              <a:sym typeface="+mn-ea"/>
            </a:endParaRPr>
          </a:p>
          <a:p>
            <a:pPr indent="0" algn="ctr" fontAlgn="auto">
              <a:lnSpc>
                <a:spcPct val="100000"/>
              </a:lnSpc>
            </a:pPr>
            <a:r>
              <a:rPr lang="en-US" altLang="zh-CN" sz="1600" b="1">
                <a:latin typeface="Times New Roman" panose="02020603050405020304" charset="0"/>
                <a:ea typeface="微软雅黑" panose="020B0503020204020204" pitchFamily="34" charset="-122"/>
                <a:cs typeface="Times New Roman" panose="02020603050405020304" charset="0"/>
                <a:sym typeface="+mn-ea"/>
              </a:rPr>
              <a:t>(2021,Lin Y)</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169" name="文本框 168"/>
          <p:cNvSpPr txBox="1"/>
          <p:nvPr>
            <p:custDataLst>
              <p:tags r:id="rId31"/>
            </p:custDataLst>
          </p:nvPr>
        </p:nvSpPr>
        <p:spPr>
          <a:xfrm>
            <a:off x="8851900" y="3903345"/>
            <a:ext cx="603250" cy="337185"/>
          </a:xfrm>
          <a:prstGeom prst="rect">
            <a:avLst/>
          </a:prstGeom>
          <a:noFill/>
        </p:spPr>
        <p:txBody>
          <a:bodyPr wrap="square" rtlCol="0">
            <a:spAutoFit/>
          </a:bodyPr>
          <a:p>
            <a:r>
              <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rPr>
              <a:t>2022</a:t>
            </a:r>
            <a:endPar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cxnSp>
        <p:nvCxnSpPr>
          <p:cNvPr id="170" name="直接连接符 169"/>
          <p:cNvCxnSpPr/>
          <p:nvPr>
            <p:custDataLst>
              <p:tags r:id="rId32"/>
            </p:custDataLst>
          </p:nvPr>
        </p:nvCxnSpPr>
        <p:spPr>
          <a:xfrm flipV="1">
            <a:off x="9153525" y="2774315"/>
            <a:ext cx="0" cy="1044000"/>
          </a:xfrm>
          <a:prstGeom prst="line">
            <a:avLst/>
          </a:prstGeom>
          <a:ln w="12700"/>
        </p:spPr>
        <p:style>
          <a:lnRef idx="1">
            <a:schemeClr val="accent4"/>
          </a:lnRef>
          <a:fillRef idx="0">
            <a:schemeClr val="accent4"/>
          </a:fillRef>
          <a:effectRef idx="0">
            <a:schemeClr val="accent4"/>
          </a:effectRef>
          <a:fontRef idx="minor">
            <a:schemeClr val="tx1"/>
          </a:fontRef>
        </p:style>
      </p:cxnSp>
      <p:sp>
        <p:nvSpPr>
          <p:cNvPr id="171" name="文本框 170"/>
          <p:cNvSpPr txBox="1"/>
          <p:nvPr>
            <p:custDataLst>
              <p:tags r:id="rId33"/>
            </p:custDataLst>
          </p:nvPr>
        </p:nvSpPr>
        <p:spPr>
          <a:xfrm>
            <a:off x="8295640" y="1645285"/>
            <a:ext cx="1716405" cy="1043940"/>
          </a:xfrm>
          <a:prstGeom prst="rect">
            <a:avLst/>
          </a:prstGeom>
          <a:noFill/>
        </p:spPr>
        <p:txBody>
          <a:bodyPr wrap="square" rtlCol="0">
            <a:noAutofit/>
          </a:bodyPr>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FEDformer</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(2022,Zhou T)</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Pyraformer</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latin typeface="Times New Roman" panose="02020603050405020304" charset="0"/>
                <a:ea typeface="微软雅黑" panose="020B0503020204020204" pitchFamily="34" charset="-122"/>
                <a:cs typeface="Times New Roman" panose="02020603050405020304" charset="0"/>
                <a:sym typeface="+mn-ea"/>
              </a:rPr>
              <a:t>(2022,Liu S)</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cxnSp>
        <p:nvCxnSpPr>
          <p:cNvPr id="172" name="直接连接符 171"/>
          <p:cNvCxnSpPr/>
          <p:nvPr>
            <p:custDataLst>
              <p:tags r:id="rId34"/>
            </p:custDataLst>
          </p:nvPr>
        </p:nvCxnSpPr>
        <p:spPr>
          <a:xfrm flipV="1">
            <a:off x="10149205" y="3276600"/>
            <a:ext cx="0" cy="540000"/>
          </a:xfrm>
          <a:prstGeom prst="line">
            <a:avLst/>
          </a:prstGeom>
          <a:ln w="12700"/>
        </p:spPr>
        <p:style>
          <a:lnRef idx="1">
            <a:schemeClr val="accent4"/>
          </a:lnRef>
          <a:fillRef idx="0">
            <a:schemeClr val="accent4"/>
          </a:fillRef>
          <a:effectRef idx="0">
            <a:schemeClr val="accent4"/>
          </a:effectRef>
          <a:fontRef idx="minor">
            <a:schemeClr val="tx1"/>
          </a:fontRef>
        </p:style>
      </p:cxnSp>
      <p:sp>
        <p:nvSpPr>
          <p:cNvPr id="173" name="文本框 172"/>
          <p:cNvSpPr txBox="1"/>
          <p:nvPr>
            <p:custDataLst>
              <p:tags r:id="rId35"/>
            </p:custDataLst>
          </p:nvPr>
        </p:nvSpPr>
        <p:spPr>
          <a:xfrm>
            <a:off x="9867900" y="3898900"/>
            <a:ext cx="603250" cy="337185"/>
          </a:xfrm>
          <a:prstGeom prst="rect">
            <a:avLst/>
          </a:prstGeom>
          <a:noFill/>
        </p:spPr>
        <p:txBody>
          <a:bodyPr wrap="square" rtlCol="0">
            <a:spAutoFit/>
          </a:bodyPr>
          <a:p>
            <a:r>
              <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rPr>
              <a:t>2023</a:t>
            </a:r>
            <a:endParaRPr lang="en-US" altLang="zh-CN" sz="1600" b="1">
              <a:solidFill>
                <a:srgbClr val="00B050"/>
              </a:solidFill>
              <a:latin typeface="Times New Roman" panose="02020603050405020304" charset="0"/>
              <a:ea typeface="微软雅黑" panose="020B0503020204020204" pitchFamily="34" charset="-122"/>
              <a:cs typeface="Times New Roman" panose="02020603050405020304" charset="0"/>
            </a:endParaRPr>
          </a:p>
        </p:txBody>
      </p:sp>
      <p:sp>
        <p:nvSpPr>
          <p:cNvPr id="174" name="文本框 173"/>
          <p:cNvSpPr txBox="1"/>
          <p:nvPr>
            <p:custDataLst>
              <p:tags r:id="rId36"/>
            </p:custDataLst>
          </p:nvPr>
        </p:nvSpPr>
        <p:spPr>
          <a:xfrm>
            <a:off x="9339580" y="2643505"/>
            <a:ext cx="1624330" cy="785495"/>
          </a:xfrm>
          <a:prstGeom prst="rect">
            <a:avLst/>
          </a:prstGeom>
          <a:noFill/>
        </p:spPr>
        <p:txBody>
          <a:bodyPr wrap="square" rtlCol="0">
            <a:noAutofit/>
          </a:bodyPr>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Conformer</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(2023,Yan Li)</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176" name="文本框 175"/>
          <p:cNvSpPr txBox="1"/>
          <p:nvPr>
            <p:custDataLst>
              <p:tags r:id="rId37"/>
            </p:custDataLst>
          </p:nvPr>
        </p:nvSpPr>
        <p:spPr>
          <a:xfrm>
            <a:off x="8526145" y="4827905"/>
            <a:ext cx="1716405" cy="1123315"/>
          </a:xfrm>
          <a:prstGeom prst="rect">
            <a:avLst/>
          </a:prstGeom>
          <a:noFill/>
        </p:spPr>
        <p:txBody>
          <a:bodyPr wrap="square" rtlCol="0">
            <a:noAutofit/>
          </a:bodyPr>
          <a:p>
            <a:pPr indent="0" algn="ctr" fontAlgn="auto">
              <a:lnSpc>
                <a:spcPct val="100000"/>
              </a:lnSpc>
            </a:pPr>
            <a:r>
              <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rPr>
              <a:t>Autoformer</a:t>
            </a:r>
            <a:endPar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(2021,Wu H)</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rPr>
              <a:t>Aliformer</a:t>
            </a: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r>
              <a:rPr lang="en-US" altLang="zh-CN" sz="1600" b="1">
                <a:latin typeface="Times New Roman" panose="02020603050405020304" charset="0"/>
                <a:ea typeface="微软雅黑" panose="020B0503020204020204" pitchFamily="34" charset="-122"/>
                <a:cs typeface="Times New Roman" panose="02020603050405020304" charset="0"/>
                <a:sym typeface="+mn-ea"/>
              </a:rPr>
              <a:t>(2021,Lim B)</a:t>
            </a:r>
            <a:endParaRPr lang="en-US" altLang="zh-CN" sz="1600" b="1">
              <a:latin typeface="Times New Roman" panose="02020603050405020304" charset="0"/>
              <a:ea typeface="微软雅黑" panose="020B0503020204020204" pitchFamily="34" charset="-122"/>
              <a:cs typeface="Times New Roman" panose="02020603050405020304" charset="0"/>
              <a:sym typeface="+mn-ea"/>
            </a:endParaRPr>
          </a:p>
          <a:p>
            <a:pPr indent="0" algn="ctr" fontAlgn="auto">
              <a:lnSpc>
                <a:spcPct val="100000"/>
              </a:lnSpc>
            </a:pP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a:p>
            <a:pPr indent="0" algn="ctr" fontAlgn="auto">
              <a:lnSpc>
                <a:spcPct val="100000"/>
              </a:lnSpc>
            </a:pPr>
            <a:endParaRPr lang="en-US" altLang="zh-CN" sz="16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Tree>
  </p:cSld>
  <p:clrMapOvr>
    <a:masterClrMapping/>
  </p:clrMapOvr>
  <p:transition>
    <p:dissolv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p:cNvSpPr/>
          <p:nvPr/>
        </p:nvSpPr>
        <p:spPr>
          <a:xfrm>
            <a:off x="1909822" y="2246935"/>
            <a:ext cx="2592730" cy="2592730"/>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文本框 10"/>
          <p:cNvSpPr txBox="1"/>
          <p:nvPr/>
        </p:nvSpPr>
        <p:spPr>
          <a:xfrm>
            <a:off x="5685786" y="2731268"/>
            <a:ext cx="5516880" cy="1753235"/>
          </a:xfrm>
          <a:prstGeom prst="rect">
            <a:avLst/>
          </a:prstGeom>
          <a:noFill/>
        </p:spPr>
        <p:txBody>
          <a:bodyPr wrap="none" rtlCol="0">
            <a:spAutoFit/>
          </a:bodyPr>
          <a:lstStyle/>
          <a:p>
            <a:pPr algn="l"/>
            <a:r>
              <a:rPr lang="zh-CN" altLang="en-US" sz="5400" b="1" spc="600" dirty="0" smtClean="0">
                <a:latin typeface="Arial" panose="020B0604020202020204" pitchFamily="34" charset="0"/>
                <a:ea typeface="微软雅黑" panose="020B0503020204020204" pitchFamily="34" charset="-122"/>
                <a:sym typeface="Arial" panose="020B0604020202020204" pitchFamily="34" charset="0"/>
              </a:rPr>
              <a:t>课题主要研究、</a:t>
            </a:r>
            <a:endParaRPr lang="zh-CN" altLang="en-US" sz="5400" b="1" spc="600" dirty="0" smtClean="0">
              <a:latin typeface="Arial" panose="020B0604020202020204" pitchFamily="34" charset="0"/>
              <a:ea typeface="微软雅黑" panose="020B0503020204020204" pitchFamily="34" charset="-122"/>
              <a:sym typeface="Arial" panose="020B0604020202020204" pitchFamily="34" charset="0"/>
            </a:endParaRPr>
          </a:p>
          <a:p>
            <a:pPr algn="l"/>
            <a:r>
              <a:rPr lang="zh-CN" altLang="en-US" sz="5400" b="1" spc="600" dirty="0" smtClean="0">
                <a:latin typeface="Arial" panose="020B0604020202020204" pitchFamily="34" charset="0"/>
                <a:ea typeface="微软雅黑" panose="020B0503020204020204" pitchFamily="34" charset="-122"/>
                <a:sym typeface="Arial" panose="020B0604020202020204" pitchFamily="34" charset="0"/>
              </a:rPr>
              <a:t>工作内容</a:t>
            </a:r>
            <a:endParaRPr lang="zh-CN" altLang="en-US" sz="5400" b="1" spc="600" dirty="0" smtClean="0">
              <a:latin typeface="Arial" panose="020B0604020202020204" pitchFamily="34" charset="0"/>
              <a:ea typeface="微软雅黑" panose="020B0503020204020204" pitchFamily="34" charset="-122"/>
              <a:sym typeface="Arial" panose="020B0604020202020204" pitchFamily="34" charset="0"/>
            </a:endParaRPr>
          </a:p>
        </p:txBody>
      </p:sp>
      <p:sp>
        <p:nvSpPr>
          <p:cNvPr id="17" name="文本框 16"/>
          <p:cNvSpPr txBox="1"/>
          <p:nvPr/>
        </p:nvSpPr>
        <p:spPr>
          <a:xfrm>
            <a:off x="2543185" y="2730867"/>
            <a:ext cx="1326004" cy="1323439"/>
          </a:xfrm>
          <a:prstGeom prst="rect">
            <a:avLst/>
          </a:prstGeom>
          <a:noFill/>
        </p:spPr>
        <p:txBody>
          <a:bodyPr wrap="none" rtlCol="0">
            <a:spAutoFit/>
          </a:bodyPr>
          <a:lstStyle/>
          <a:p>
            <a:r>
              <a:rPr lang="en-US" altLang="zh-CN" sz="8000" b="1" dirty="0">
                <a:solidFill>
                  <a:srgbClr val="0081E2"/>
                </a:solidFill>
                <a:latin typeface="Arial" panose="020B0604020202020204" pitchFamily="34" charset="0"/>
                <a:ea typeface="微软雅黑" panose="020B0503020204020204" pitchFamily="34" charset="-122"/>
                <a:sym typeface="Arial" panose="020B0604020202020204" pitchFamily="34" charset="0"/>
              </a:rPr>
              <a:t>03</a:t>
            </a:r>
            <a:endParaRPr lang="zh-CN" altLang="en-US" sz="8000" b="1" dirty="0">
              <a:solidFill>
                <a:srgbClr val="0081E2"/>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文本框 17"/>
          <p:cNvSpPr txBox="1"/>
          <p:nvPr/>
        </p:nvSpPr>
        <p:spPr>
          <a:xfrm>
            <a:off x="2141825" y="3931914"/>
            <a:ext cx="2128724" cy="461665"/>
          </a:xfrm>
          <a:prstGeom prst="rect">
            <a:avLst/>
          </a:prstGeom>
          <a:noFill/>
        </p:spPr>
        <p:txBody>
          <a:bodyPr wrap="none" rtlCol="0">
            <a:spAutoFit/>
          </a:bodyPr>
          <a:lstStyle/>
          <a:p>
            <a:r>
              <a:rPr lang="en-US" altLang="zh-CN" sz="2400" b="1" dirty="0">
                <a:solidFill>
                  <a:srgbClr val="0081E2"/>
                </a:solidFill>
                <a:latin typeface="Arial" panose="020B0604020202020204" pitchFamily="34" charset="0"/>
                <a:ea typeface="微软雅黑" panose="020B0503020204020204" pitchFamily="34" charset="-122"/>
                <a:sym typeface="Arial" panose="020B0604020202020204" pitchFamily="34" charset="0"/>
              </a:rPr>
              <a:t>PART THREE</a:t>
            </a:r>
            <a:endParaRPr lang="en-US" altLang="zh-CN" sz="2400" b="1" dirty="0">
              <a:solidFill>
                <a:srgbClr val="0081E2"/>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transition>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圆角矩形 177"/>
          <p:cNvSpPr/>
          <p:nvPr/>
        </p:nvSpPr>
        <p:spPr>
          <a:xfrm>
            <a:off x="1835785" y="901065"/>
            <a:ext cx="10152380" cy="89852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en-US" altLang="zh-CN" sz="1200" b="1">
                <a:solidFill>
                  <a:schemeClr val="tx1"/>
                </a:solidFill>
                <a:latin typeface="Times New Roman" panose="02020603050405020304" charset="0"/>
                <a:ea typeface="微软雅黑" panose="020B0503020204020204" pitchFamily="34" charset="-122"/>
                <a:cs typeface="Times New Roman" panose="02020603050405020304" charset="0"/>
              </a:rPr>
              <a:t>1.</a:t>
            </a:r>
            <a:r>
              <a:rPr lang="zh-CN" altLang="en-US" sz="1200" b="1">
                <a:solidFill>
                  <a:schemeClr val="tx1"/>
                </a:solidFill>
                <a:latin typeface="Times New Roman" panose="02020603050405020304" charset="0"/>
                <a:ea typeface="微软雅黑" panose="020B0503020204020204" pitchFamily="34" charset="-122"/>
                <a:cs typeface="Times New Roman" panose="02020603050405020304" charset="0"/>
              </a:rPr>
              <a:t>总负荷预测精度高，精细化</a:t>
            </a:r>
            <a:r>
              <a:rPr lang="zh-CN" altLang="en-US" sz="1200" b="1">
                <a:solidFill>
                  <a:schemeClr val="tx1"/>
                </a:solidFill>
                <a:latin typeface="Times New Roman" panose="02020603050405020304" charset="0"/>
                <a:ea typeface="微软雅黑" panose="020B0503020204020204" pitchFamily="34" charset="-122"/>
                <a:cs typeface="Times New Roman" panose="02020603050405020304" charset="0"/>
              </a:rPr>
              <a:t>负荷预测精度低。</a:t>
            </a:r>
            <a:endParaRPr lang="zh-CN" altLang="en-US" sz="1200" b="1">
              <a:solidFill>
                <a:schemeClr val="tx1"/>
              </a:solidFill>
              <a:latin typeface="Times New Roman" panose="02020603050405020304" charset="0"/>
              <a:ea typeface="微软雅黑" panose="020B0503020204020204" pitchFamily="34" charset="-122"/>
              <a:cs typeface="Times New Roman" panose="02020603050405020304" charset="0"/>
            </a:endParaRPr>
          </a:p>
          <a:p>
            <a:pPr algn="l"/>
            <a:r>
              <a:rPr lang="en-US" altLang="zh-CN" sz="1200" b="1">
                <a:solidFill>
                  <a:schemeClr val="tx1"/>
                </a:solidFill>
                <a:latin typeface="Times New Roman" panose="02020603050405020304" charset="0"/>
                <a:ea typeface="微软雅黑" panose="020B0503020204020204" pitchFamily="34" charset="-122"/>
                <a:cs typeface="Times New Roman" panose="02020603050405020304" charset="0"/>
              </a:rPr>
              <a:t>2.</a:t>
            </a:r>
            <a:r>
              <a:rPr lang="zh-CN" altLang="en-US" sz="1200" b="1">
                <a:solidFill>
                  <a:schemeClr val="tx1"/>
                </a:solidFill>
                <a:latin typeface="Times New Roman" panose="02020603050405020304" charset="0"/>
                <a:ea typeface="微软雅黑" panose="020B0503020204020204" pitchFamily="34" charset="-122"/>
                <a:cs typeface="Times New Roman" panose="02020603050405020304" charset="0"/>
              </a:rPr>
              <a:t>高比例新能源接入对负荷预测提出更高的要求。高比例新能源接入导致电网发供平衡调节能力日趋紧张，需要更为精准的负荷预测提供决策依据。</a:t>
            </a:r>
            <a:endParaRPr lang="zh-CN" altLang="en-US" sz="1200" b="1">
              <a:solidFill>
                <a:schemeClr val="tx1"/>
              </a:solidFill>
              <a:latin typeface="Times New Roman" panose="02020603050405020304" charset="0"/>
              <a:ea typeface="微软雅黑" panose="020B0503020204020204" pitchFamily="34" charset="-122"/>
              <a:cs typeface="Times New Roman" panose="02020603050405020304" charset="0"/>
            </a:endParaRPr>
          </a:p>
          <a:p>
            <a:pPr algn="l"/>
            <a:r>
              <a:rPr lang="en-US" altLang="zh-CN" sz="1200" b="1">
                <a:solidFill>
                  <a:schemeClr val="tx1"/>
                </a:solidFill>
                <a:latin typeface="Times New Roman" panose="02020603050405020304" charset="0"/>
                <a:ea typeface="微软雅黑" panose="020B0503020204020204" pitchFamily="34" charset="-122"/>
                <a:cs typeface="Times New Roman" panose="02020603050405020304" charset="0"/>
              </a:rPr>
              <a:t>3.</a:t>
            </a:r>
            <a:r>
              <a:rPr lang="zh-CN" altLang="en-US" sz="1200" b="1">
                <a:solidFill>
                  <a:schemeClr val="tx1"/>
                </a:solidFill>
                <a:latin typeface="Times New Roman" panose="02020603050405020304" charset="0"/>
                <a:ea typeface="微软雅黑" panose="020B0503020204020204" pitchFamily="34" charset="-122"/>
                <a:cs typeface="Times New Roman" panose="02020603050405020304" charset="0"/>
              </a:rPr>
              <a:t>电力现货交易对负荷预测提出更高要求。高精度的负荷预测是电力现货市场良性运转的重要基础。</a:t>
            </a:r>
            <a:endParaRPr lang="zh-CN" altLang="en-US" sz="1200" b="1">
              <a:solidFill>
                <a:schemeClr val="tx1"/>
              </a:solidFill>
              <a:latin typeface="Times New Roman" panose="02020603050405020304" charset="0"/>
              <a:ea typeface="微软雅黑" panose="020B0503020204020204" pitchFamily="34" charset="-122"/>
              <a:cs typeface="Times New Roman" panose="02020603050405020304" charset="0"/>
            </a:endParaRPr>
          </a:p>
          <a:p>
            <a:pPr algn="l"/>
            <a:r>
              <a:rPr lang="en-US" altLang="zh-CN" sz="1200" b="1">
                <a:solidFill>
                  <a:schemeClr val="tx1"/>
                </a:solidFill>
                <a:latin typeface="Times New Roman" panose="02020603050405020304" charset="0"/>
                <a:ea typeface="微软雅黑" panose="020B0503020204020204" pitchFamily="34" charset="-122"/>
                <a:cs typeface="Times New Roman" panose="02020603050405020304" charset="0"/>
              </a:rPr>
              <a:t>4.</a:t>
            </a:r>
            <a:r>
              <a:rPr lang="zh-CN" altLang="en-US" sz="1200" b="1">
                <a:solidFill>
                  <a:schemeClr val="tx1"/>
                </a:solidFill>
                <a:latin typeface="Times New Roman" panose="02020603050405020304" charset="0"/>
                <a:ea typeface="微软雅黑" panose="020B0503020204020204" pitchFamily="34" charset="-122"/>
                <a:cs typeface="Times New Roman" panose="02020603050405020304" charset="0"/>
              </a:rPr>
              <a:t>电力供应紧张对负荷预测提出更高的要求。精准负荷预测协助发电资源合理利用，实现</a:t>
            </a:r>
            <a:r>
              <a:rPr lang="en-US" altLang="zh-CN" sz="1200" b="1">
                <a:solidFill>
                  <a:schemeClr val="tx1"/>
                </a:solidFill>
                <a:latin typeface="Times New Roman" panose="02020603050405020304" charset="0"/>
                <a:ea typeface="微软雅黑" panose="020B0503020204020204" pitchFamily="34" charset="-122"/>
                <a:cs typeface="Times New Roman" panose="02020603050405020304" charset="0"/>
              </a:rPr>
              <a:t>“</a:t>
            </a:r>
            <a:r>
              <a:rPr lang="zh-CN" altLang="en-US" sz="1200" b="1">
                <a:solidFill>
                  <a:schemeClr val="tx1"/>
                </a:solidFill>
                <a:latin typeface="Times New Roman" panose="02020603050405020304" charset="0"/>
                <a:ea typeface="微软雅黑" panose="020B0503020204020204" pitchFamily="34" charset="-122"/>
                <a:cs typeface="Times New Roman" panose="02020603050405020304" charset="0"/>
              </a:rPr>
              <a:t>缺口小点，影响小点</a:t>
            </a:r>
            <a:r>
              <a:rPr lang="en-US" altLang="zh-CN" sz="1200" b="1">
                <a:solidFill>
                  <a:schemeClr val="tx1"/>
                </a:solidFill>
                <a:latin typeface="Times New Roman" panose="02020603050405020304" charset="0"/>
                <a:ea typeface="微软雅黑" panose="020B0503020204020204" pitchFamily="34" charset="-122"/>
                <a:cs typeface="Times New Roman" panose="02020603050405020304" charset="0"/>
              </a:rPr>
              <a:t>”</a:t>
            </a:r>
            <a:r>
              <a:rPr lang="zh-CN" altLang="en-US" sz="1200" b="1">
                <a:solidFill>
                  <a:schemeClr val="tx1"/>
                </a:solidFill>
                <a:latin typeface="Times New Roman" panose="02020603050405020304" charset="0"/>
                <a:ea typeface="微软雅黑" panose="020B0503020204020204" pitchFamily="34" charset="-122"/>
                <a:cs typeface="Times New Roman" panose="02020603050405020304" charset="0"/>
              </a:rPr>
              <a:t>。</a:t>
            </a:r>
            <a:endParaRPr lang="zh-CN" altLang="en-US" sz="12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2" name="内容占位符 1"/>
          <p:cNvSpPr>
            <a:spLocks noGrp="1"/>
          </p:cNvSpPr>
          <p:nvPr>
            <p:ph sz="quarter" idx="13"/>
          </p:nvPr>
        </p:nvSpPr>
        <p:spPr/>
        <p:txBody>
          <a:bodyPr/>
          <a:lstStyle/>
          <a:p>
            <a:r>
              <a:rPr lang="zh-CN" altLang="en-US" dirty="0" smtClean="0">
                <a:sym typeface="+mn-ea"/>
              </a:rPr>
              <a:t>课题</a:t>
            </a:r>
            <a:r>
              <a:rPr lang="zh-CN" altLang="en-US" dirty="0" smtClean="0">
                <a:sym typeface="+mn-ea"/>
              </a:rPr>
              <a:t>国内外发展现状</a:t>
            </a:r>
            <a:endParaRPr lang="zh-CN" altLang="en-US" dirty="0"/>
          </a:p>
        </p:txBody>
      </p:sp>
      <p:sp>
        <p:nvSpPr>
          <p:cNvPr id="3" name="灯片编号占位符 2"/>
          <p:cNvSpPr>
            <a:spLocks noGrp="1"/>
          </p:cNvSpPr>
          <p:nvPr>
            <p:ph type="sldNum" sz="quarter" idx="12"/>
          </p:nvPr>
        </p:nvSpPr>
        <p:spPr>
          <a:xfrm>
            <a:off x="11272556" y="6471170"/>
            <a:ext cx="472440" cy="365125"/>
          </a:xfrm>
        </p:spPr>
        <p:txBody>
          <a:bodyPr/>
          <a:lstStyle/>
          <a:p>
            <a:r>
              <a:rPr lang="en-US" altLang="zh-CN" dirty="0"/>
              <a:t>20</a:t>
            </a:r>
            <a:endParaRPr lang="en-US" altLang="zh-CN" dirty="0"/>
          </a:p>
        </p:txBody>
      </p:sp>
      <p:sp>
        <p:nvSpPr>
          <p:cNvPr id="12" name="圆角矩形 11"/>
          <p:cNvSpPr/>
          <p:nvPr>
            <p:custDataLst>
              <p:tags r:id="rId1"/>
            </p:custDataLst>
          </p:nvPr>
        </p:nvSpPr>
        <p:spPr>
          <a:xfrm>
            <a:off x="329565" y="1148080"/>
            <a:ext cx="1223645" cy="40449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课题背景</a:t>
            </a:r>
            <a:endParaRPr lang="zh-CN" altLang="en-US">
              <a:solidFill>
                <a:schemeClr val="tx1"/>
              </a:solidFill>
            </a:endParaRPr>
          </a:p>
        </p:txBody>
      </p:sp>
      <p:sp>
        <p:nvSpPr>
          <p:cNvPr id="13" name="圆角矩形 12"/>
          <p:cNvSpPr/>
          <p:nvPr>
            <p:custDataLst>
              <p:tags r:id="rId2"/>
            </p:custDataLst>
          </p:nvPr>
        </p:nvSpPr>
        <p:spPr>
          <a:xfrm>
            <a:off x="329565" y="2973705"/>
            <a:ext cx="1223645" cy="40449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关键</a:t>
            </a:r>
            <a:r>
              <a:rPr lang="zh-CN" altLang="en-US">
                <a:solidFill>
                  <a:schemeClr val="tx1"/>
                </a:solidFill>
              </a:rPr>
              <a:t>问题</a:t>
            </a:r>
            <a:endParaRPr lang="zh-CN" altLang="en-US">
              <a:solidFill>
                <a:schemeClr val="tx1"/>
              </a:solidFill>
            </a:endParaRPr>
          </a:p>
        </p:txBody>
      </p:sp>
      <p:sp>
        <p:nvSpPr>
          <p:cNvPr id="14" name="圆角矩形 13"/>
          <p:cNvSpPr/>
          <p:nvPr>
            <p:custDataLst>
              <p:tags r:id="rId3"/>
            </p:custDataLst>
          </p:nvPr>
        </p:nvSpPr>
        <p:spPr>
          <a:xfrm>
            <a:off x="254635" y="5198745"/>
            <a:ext cx="1223645" cy="40449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研究</a:t>
            </a:r>
            <a:r>
              <a:rPr lang="zh-CN" altLang="en-US">
                <a:solidFill>
                  <a:schemeClr val="tx1"/>
                </a:solidFill>
              </a:rPr>
              <a:t>内容</a:t>
            </a:r>
            <a:endParaRPr lang="zh-CN" altLang="en-US">
              <a:solidFill>
                <a:schemeClr val="tx1"/>
              </a:solidFill>
            </a:endParaRPr>
          </a:p>
        </p:txBody>
      </p:sp>
      <p:sp>
        <p:nvSpPr>
          <p:cNvPr id="15" name="圆角矩形 14"/>
          <p:cNvSpPr/>
          <p:nvPr>
            <p:custDataLst>
              <p:tags r:id="rId4"/>
            </p:custDataLst>
          </p:nvPr>
        </p:nvSpPr>
        <p:spPr>
          <a:xfrm>
            <a:off x="3684270" y="2632710"/>
            <a:ext cx="5725795" cy="40322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600" b="1">
                <a:solidFill>
                  <a:schemeClr val="tx1"/>
                </a:solidFill>
                <a:latin typeface="Times New Roman" panose="02020603050405020304" charset="0"/>
                <a:ea typeface="微软雅黑" panose="020B0503020204020204" pitchFamily="34" charset="-122"/>
              </a:rPr>
              <a:t>问题：研究基于时空数据挖掘的电力负荷及现货电价预测方法</a:t>
            </a:r>
            <a:endParaRPr lang="zh-CN" altLang="en-US" sz="1600" b="1">
              <a:solidFill>
                <a:schemeClr val="tx1"/>
              </a:solidFill>
              <a:latin typeface="Times New Roman" panose="02020603050405020304" charset="0"/>
              <a:ea typeface="微软雅黑" panose="020B0503020204020204" pitchFamily="34" charset="-122"/>
            </a:endParaRPr>
          </a:p>
        </p:txBody>
      </p:sp>
      <p:sp>
        <p:nvSpPr>
          <p:cNvPr id="19" name="圆角矩形 18"/>
          <p:cNvSpPr/>
          <p:nvPr>
            <p:custDataLst>
              <p:tags r:id="rId5"/>
            </p:custDataLst>
          </p:nvPr>
        </p:nvSpPr>
        <p:spPr>
          <a:xfrm>
            <a:off x="2688590" y="3331210"/>
            <a:ext cx="3608070" cy="584200"/>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rPr>
              <a:t>问题</a:t>
            </a:r>
            <a:r>
              <a:rPr lang="en-US" altLang="zh-CN" sz="1400" b="1">
                <a:solidFill>
                  <a:schemeClr val="tx1"/>
                </a:solidFill>
                <a:latin typeface="Times New Roman" panose="02020603050405020304" charset="0"/>
                <a:ea typeface="微软雅黑" panose="020B0503020204020204" pitchFamily="34" charset="-122"/>
                <a:cs typeface="Times New Roman" panose="02020603050405020304" charset="0"/>
              </a:rPr>
              <a:t>1</a:t>
            </a:r>
            <a:r>
              <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rPr>
              <a:t>：如何充分利用负荷及电价的空间</a:t>
            </a:r>
            <a:endPar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endParaRPr>
          </a:p>
          <a:p>
            <a:pPr algn="ctr"/>
            <a:r>
              <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rPr>
              <a:t>影响性以提高预测精度？</a:t>
            </a:r>
            <a:endPar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20" name="圆角矩形 19"/>
          <p:cNvSpPr/>
          <p:nvPr>
            <p:custDataLst>
              <p:tags r:id="rId6"/>
            </p:custDataLst>
          </p:nvPr>
        </p:nvSpPr>
        <p:spPr>
          <a:xfrm>
            <a:off x="6543675" y="3331210"/>
            <a:ext cx="3493135" cy="584200"/>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rPr>
              <a:t>问题</a:t>
            </a:r>
            <a:r>
              <a:rPr lang="en-US" altLang="zh-CN" sz="1400" b="1">
                <a:solidFill>
                  <a:schemeClr val="tx1"/>
                </a:solidFill>
                <a:latin typeface="Times New Roman" panose="02020603050405020304" charset="0"/>
                <a:ea typeface="微软雅黑" panose="020B0503020204020204" pitchFamily="34" charset="-122"/>
                <a:cs typeface="Times New Roman" panose="02020603050405020304" charset="0"/>
              </a:rPr>
              <a:t>2</a:t>
            </a:r>
            <a:r>
              <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rPr>
              <a:t>：如何提高负荷及电价</a:t>
            </a:r>
            <a:endPar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endParaRPr>
          </a:p>
          <a:p>
            <a:pPr algn="ctr"/>
            <a:r>
              <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rPr>
              <a:t>的多步长预测精度？</a:t>
            </a:r>
            <a:endPar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21" name="圆角矩形 20"/>
          <p:cNvSpPr/>
          <p:nvPr>
            <p:custDataLst>
              <p:tags r:id="rId7"/>
            </p:custDataLst>
          </p:nvPr>
        </p:nvSpPr>
        <p:spPr>
          <a:xfrm>
            <a:off x="2688590" y="4138295"/>
            <a:ext cx="3608070" cy="58991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rPr>
              <a:t>问题</a:t>
            </a:r>
            <a:r>
              <a:rPr lang="en-US" altLang="zh-CN" sz="1400" b="1">
                <a:solidFill>
                  <a:schemeClr val="tx1"/>
                </a:solidFill>
                <a:latin typeface="Times New Roman" panose="02020603050405020304" charset="0"/>
                <a:ea typeface="微软雅黑" panose="020B0503020204020204" pitchFamily="34" charset="-122"/>
                <a:cs typeface="Times New Roman" panose="02020603050405020304" charset="0"/>
              </a:rPr>
              <a:t>3</a:t>
            </a:r>
            <a:r>
              <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rPr>
              <a:t>：在时空数据挖掘的基础上，如何建立多特征因素以</a:t>
            </a:r>
            <a:r>
              <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sym typeface="+mn-ea"/>
              </a:rPr>
              <a:t>提高负荷及电价的预测精度</a:t>
            </a:r>
            <a:r>
              <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rPr>
              <a:t>？</a:t>
            </a:r>
            <a:endPar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22" name="圆角矩形 21"/>
          <p:cNvSpPr/>
          <p:nvPr>
            <p:custDataLst>
              <p:tags r:id="rId8"/>
            </p:custDataLst>
          </p:nvPr>
        </p:nvSpPr>
        <p:spPr>
          <a:xfrm>
            <a:off x="6543675" y="4138295"/>
            <a:ext cx="3493135" cy="58991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rPr>
              <a:t>问题</a:t>
            </a:r>
            <a:r>
              <a:rPr lang="en-US" altLang="zh-CN" sz="1400" b="1">
                <a:solidFill>
                  <a:schemeClr val="tx1"/>
                </a:solidFill>
                <a:latin typeface="Times New Roman" panose="02020603050405020304" charset="0"/>
                <a:ea typeface="微软雅黑" panose="020B0503020204020204" pitchFamily="34" charset="-122"/>
                <a:cs typeface="Times New Roman" panose="02020603050405020304" charset="0"/>
              </a:rPr>
              <a:t>4</a:t>
            </a:r>
            <a:r>
              <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rPr>
              <a:t>：在时空数据挖掘的基础上，如何考虑时序分解以</a:t>
            </a:r>
            <a:r>
              <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sym typeface="+mn-ea"/>
              </a:rPr>
              <a:t>提高负荷及电价的预测精度</a:t>
            </a:r>
            <a:r>
              <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rPr>
              <a:t>？</a:t>
            </a:r>
            <a:endParaRPr lang="zh-CN" altLang="en-US" sz="1400" b="1">
              <a:solidFill>
                <a:schemeClr val="tx1"/>
              </a:solidFill>
              <a:latin typeface="Times New Roman" panose="02020603050405020304" charset="0"/>
              <a:ea typeface="微软雅黑" panose="020B0503020204020204" pitchFamily="34" charset="-122"/>
              <a:cs typeface="Times New Roman" panose="02020603050405020304" charset="0"/>
            </a:endParaRPr>
          </a:p>
        </p:txBody>
      </p:sp>
      <p:sp>
        <p:nvSpPr>
          <p:cNvPr id="23" name="圆角矩形 22"/>
          <p:cNvSpPr/>
          <p:nvPr>
            <p:custDataLst>
              <p:tags r:id="rId9"/>
            </p:custDataLst>
          </p:nvPr>
        </p:nvSpPr>
        <p:spPr>
          <a:xfrm>
            <a:off x="4420235" y="2043430"/>
            <a:ext cx="1223645" cy="40449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极端天气</a:t>
            </a:r>
            <a:endParaRPr lang="zh-CN" altLang="en-US">
              <a:solidFill>
                <a:schemeClr val="tx1"/>
              </a:solidFill>
            </a:endParaRPr>
          </a:p>
        </p:txBody>
      </p:sp>
      <p:sp>
        <p:nvSpPr>
          <p:cNvPr id="24" name="圆角矩形 23"/>
          <p:cNvSpPr/>
          <p:nvPr>
            <p:custDataLst>
              <p:tags r:id="rId10"/>
            </p:custDataLst>
          </p:nvPr>
        </p:nvSpPr>
        <p:spPr>
          <a:xfrm>
            <a:off x="5843905" y="2043430"/>
            <a:ext cx="1223645" cy="40449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柔性</a:t>
            </a:r>
            <a:r>
              <a:rPr lang="zh-CN" altLang="en-US">
                <a:solidFill>
                  <a:schemeClr val="tx1"/>
                </a:solidFill>
              </a:rPr>
              <a:t>负荷</a:t>
            </a:r>
            <a:endParaRPr lang="zh-CN" altLang="en-US">
              <a:solidFill>
                <a:schemeClr val="tx1"/>
              </a:solidFill>
            </a:endParaRPr>
          </a:p>
        </p:txBody>
      </p:sp>
      <p:sp>
        <p:nvSpPr>
          <p:cNvPr id="25" name="圆角矩形 24"/>
          <p:cNvSpPr/>
          <p:nvPr>
            <p:custDataLst>
              <p:tags r:id="rId11"/>
            </p:custDataLst>
          </p:nvPr>
        </p:nvSpPr>
        <p:spPr>
          <a:xfrm>
            <a:off x="7267575" y="2043430"/>
            <a:ext cx="1223645" cy="40449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充电</a:t>
            </a:r>
            <a:r>
              <a:rPr lang="zh-CN" altLang="en-US">
                <a:solidFill>
                  <a:schemeClr val="tx1"/>
                </a:solidFill>
              </a:rPr>
              <a:t>负荷</a:t>
            </a:r>
            <a:endParaRPr lang="zh-CN" altLang="en-US">
              <a:solidFill>
                <a:schemeClr val="tx1"/>
              </a:solidFill>
            </a:endParaRPr>
          </a:p>
        </p:txBody>
      </p:sp>
      <p:sp>
        <p:nvSpPr>
          <p:cNvPr id="26" name="圆角矩形 25"/>
          <p:cNvSpPr/>
          <p:nvPr>
            <p:custDataLst>
              <p:tags r:id="rId12"/>
            </p:custDataLst>
          </p:nvPr>
        </p:nvSpPr>
        <p:spPr>
          <a:xfrm>
            <a:off x="9613265" y="5662295"/>
            <a:ext cx="1877060" cy="40449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电力供应</a:t>
            </a:r>
            <a:r>
              <a:rPr lang="zh-CN" altLang="en-US">
                <a:solidFill>
                  <a:schemeClr val="tx1"/>
                </a:solidFill>
              </a:rPr>
              <a:t>紧张</a:t>
            </a:r>
            <a:endParaRPr lang="zh-CN" altLang="en-US">
              <a:solidFill>
                <a:schemeClr val="tx1"/>
              </a:solidFill>
            </a:endParaRPr>
          </a:p>
        </p:txBody>
      </p:sp>
      <p:sp>
        <p:nvSpPr>
          <p:cNvPr id="28" name="圆角矩形 27"/>
          <p:cNvSpPr/>
          <p:nvPr>
            <p:custDataLst>
              <p:tags r:id="rId13"/>
            </p:custDataLst>
          </p:nvPr>
        </p:nvSpPr>
        <p:spPr>
          <a:xfrm>
            <a:off x="6936740" y="5813425"/>
            <a:ext cx="2228215" cy="40449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电力现货交易</a:t>
            </a:r>
            <a:r>
              <a:rPr lang="zh-CN" altLang="en-US">
                <a:solidFill>
                  <a:schemeClr val="tx1"/>
                </a:solidFill>
              </a:rPr>
              <a:t>开启</a:t>
            </a:r>
            <a:endParaRPr lang="zh-CN" altLang="en-US">
              <a:solidFill>
                <a:schemeClr val="tx1"/>
              </a:solidFill>
            </a:endParaRPr>
          </a:p>
        </p:txBody>
      </p:sp>
      <p:sp>
        <p:nvSpPr>
          <p:cNvPr id="29" name="圆角矩形 28"/>
          <p:cNvSpPr/>
          <p:nvPr>
            <p:custDataLst>
              <p:tags r:id="rId14"/>
            </p:custDataLst>
          </p:nvPr>
        </p:nvSpPr>
        <p:spPr>
          <a:xfrm>
            <a:off x="4420235" y="5813425"/>
            <a:ext cx="2228215" cy="40449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高比例新能源</a:t>
            </a:r>
            <a:r>
              <a:rPr lang="zh-CN" altLang="en-US">
                <a:solidFill>
                  <a:schemeClr val="tx1"/>
                </a:solidFill>
              </a:rPr>
              <a:t>接入</a:t>
            </a:r>
            <a:endParaRPr lang="zh-CN" altLang="en-US">
              <a:solidFill>
                <a:schemeClr val="tx1"/>
              </a:solidFill>
            </a:endParaRPr>
          </a:p>
        </p:txBody>
      </p:sp>
      <p:sp>
        <p:nvSpPr>
          <p:cNvPr id="31" name="圆角矩形 30"/>
          <p:cNvSpPr/>
          <p:nvPr>
            <p:custDataLst>
              <p:tags r:id="rId15"/>
            </p:custDataLst>
          </p:nvPr>
        </p:nvSpPr>
        <p:spPr>
          <a:xfrm>
            <a:off x="6648450" y="5200650"/>
            <a:ext cx="5339080" cy="40449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负荷预测是电力平衡决策和电网运行控制的</a:t>
            </a:r>
            <a:r>
              <a:rPr lang="zh-CN" altLang="en-US">
                <a:solidFill>
                  <a:schemeClr val="tx1"/>
                </a:solidFill>
              </a:rPr>
              <a:t>基础</a:t>
            </a:r>
            <a:endParaRPr lang="zh-CN" altLang="en-US">
              <a:solidFill>
                <a:schemeClr val="tx1"/>
              </a:solidFill>
            </a:endParaRPr>
          </a:p>
        </p:txBody>
      </p:sp>
      <p:sp>
        <p:nvSpPr>
          <p:cNvPr id="32" name="圆角矩形 31"/>
          <p:cNvSpPr/>
          <p:nvPr>
            <p:custDataLst>
              <p:tags r:id="rId16"/>
            </p:custDataLst>
          </p:nvPr>
        </p:nvSpPr>
        <p:spPr>
          <a:xfrm>
            <a:off x="1835785" y="2043430"/>
            <a:ext cx="2295525" cy="404495"/>
          </a:xfrm>
          <a:prstGeom prst="roundRect">
            <a:avLst>
              <a:gd name="adj" fmla="val 2729"/>
            </a:avLst>
          </a:prstGeom>
          <a:solidFill>
            <a:schemeClr val="accent5">
              <a:lumMod val="20000"/>
              <a:lumOff val="80000"/>
            </a:schemeClr>
          </a:solidFill>
          <a:ln w="19050">
            <a:solidFill>
              <a:srgbClr val="080E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rgbClr val="FF0000"/>
                </a:solidFill>
              </a:rPr>
              <a:t>缺少空间性，长序列</a:t>
            </a:r>
            <a:endParaRPr lang="zh-CN" altLang="en-US">
              <a:solidFill>
                <a:srgbClr val="FF0000"/>
              </a:solidFill>
            </a:endParaRPr>
          </a:p>
        </p:txBody>
      </p:sp>
    </p:spTree>
  </p:cSld>
  <p:clrMapOvr>
    <a:masterClrMapping/>
  </p:clrMapOvr>
  <p:transition>
    <p:dissolv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圆角矩形 21"/>
          <p:cNvSpPr/>
          <p:nvPr/>
        </p:nvSpPr>
        <p:spPr>
          <a:xfrm>
            <a:off x="394970" y="1456055"/>
            <a:ext cx="11184255" cy="925830"/>
          </a:xfrm>
          <a:prstGeom prst="roundRect">
            <a:avLst>
              <a:gd name="adj" fmla="val 0"/>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2" name="内容占位符 1"/>
          <p:cNvSpPr>
            <a:spLocks noGrp="1"/>
          </p:cNvSpPr>
          <p:nvPr>
            <p:ph sz="quarter" idx="13"/>
          </p:nvPr>
        </p:nvSpPr>
        <p:spPr/>
        <p:txBody>
          <a:bodyPr/>
          <a:lstStyle/>
          <a:p>
            <a:r>
              <a:rPr lang="zh-CN" altLang="en-US" dirty="0">
                <a:sym typeface="+mn-ea"/>
              </a:rPr>
              <a:t>课题主要研究、工作内容</a:t>
            </a:r>
            <a:endParaRPr lang="zh-CN" altLang="en-US" dirty="0"/>
          </a:p>
          <a:p>
            <a:endParaRPr lang="zh-CN" altLang="en-US" dirty="0"/>
          </a:p>
        </p:txBody>
      </p:sp>
      <p:sp>
        <p:nvSpPr>
          <p:cNvPr id="3" name="灯片编号占位符 2"/>
          <p:cNvSpPr>
            <a:spLocks noGrp="1"/>
          </p:cNvSpPr>
          <p:nvPr>
            <p:ph type="sldNum" sz="quarter" idx="12"/>
          </p:nvPr>
        </p:nvSpPr>
        <p:spPr/>
        <p:txBody>
          <a:bodyPr/>
          <a:lstStyle/>
          <a:p>
            <a:r>
              <a:rPr lang="en-US" altLang="zh-CN" dirty="0"/>
              <a:t>22</a:t>
            </a:r>
            <a:endParaRPr lang="en-US" altLang="zh-CN" dirty="0"/>
          </a:p>
        </p:txBody>
      </p:sp>
      <p:sp>
        <p:nvSpPr>
          <p:cNvPr id="18" name="矩形: 圆角 5"/>
          <p:cNvSpPr/>
          <p:nvPr/>
        </p:nvSpPr>
        <p:spPr>
          <a:xfrm>
            <a:off x="741045" y="912495"/>
            <a:ext cx="7628890"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accent1"/>
                </a:solidFill>
                <a:latin typeface="微软雅黑" panose="020B0503020204020204" pitchFamily="34" charset="-122"/>
                <a:ea typeface="微软雅黑" panose="020B0503020204020204" pitchFamily="34" charset="-122"/>
              </a:rPr>
              <a:t>课题主要研究、工作内容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总体技术</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路线：</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pic>
        <p:nvPicPr>
          <p:cNvPr id="15" name="图片 14" descr="32313537363133303b32313537363131303bbcfdcdb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10104755" y="5255260"/>
            <a:ext cx="499110" cy="464820"/>
          </a:xfrm>
          <a:prstGeom prst="rect">
            <a:avLst/>
          </a:prstGeom>
        </p:spPr>
      </p:pic>
      <p:sp>
        <p:nvSpPr>
          <p:cNvPr id="32" name="圆角矩形 31"/>
          <p:cNvSpPr/>
          <p:nvPr/>
        </p:nvSpPr>
        <p:spPr>
          <a:xfrm>
            <a:off x="394970" y="4824095"/>
            <a:ext cx="11183620" cy="1429385"/>
          </a:xfrm>
          <a:prstGeom prst="roundRect">
            <a:avLst>
              <a:gd name="adj" fmla="val 0"/>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23" name="圆角矩形 22"/>
          <p:cNvSpPr/>
          <p:nvPr/>
        </p:nvSpPr>
        <p:spPr>
          <a:xfrm>
            <a:off x="902970" y="3650615"/>
            <a:ext cx="2421890" cy="40449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Graph WaveNet</a:t>
            </a:r>
            <a:endPar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34" name="圆角矩形 33"/>
          <p:cNvSpPr/>
          <p:nvPr/>
        </p:nvSpPr>
        <p:spPr>
          <a:xfrm>
            <a:off x="900430" y="2625090"/>
            <a:ext cx="2422525" cy="397510"/>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潜在空间依赖</a:t>
            </a: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性</a:t>
            </a:r>
            <a:endPar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35" name="圆角矩形 34"/>
          <p:cNvSpPr/>
          <p:nvPr/>
        </p:nvSpPr>
        <p:spPr>
          <a:xfrm>
            <a:off x="904875" y="4166870"/>
            <a:ext cx="2419985" cy="40449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构造充电负荷时空信息图</a:t>
            </a:r>
            <a:endPar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36" name="圆角矩形 35"/>
          <p:cNvSpPr/>
          <p:nvPr/>
        </p:nvSpPr>
        <p:spPr>
          <a:xfrm>
            <a:off x="9002395" y="4163695"/>
            <a:ext cx="2419350" cy="40449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构造现货电价时空信息</a:t>
            </a: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图</a:t>
            </a:r>
            <a:endPar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37" name="圆角矩形 36"/>
          <p:cNvSpPr/>
          <p:nvPr/>
        </p:nvSpPr>
        <p:spPr>
          <a:xfrm>
            <a:off x="1133475" y="1590675"/>
            <a:ext cx="1859280" cy="656590"/>
          </a:xfrm>
          <a:prstGeom prst="roundRect">
            <a:avLst>
              <a:gd name="adj" fmla="val 0"/>
            </a:avLst>
          </a:prstGeom>
          <a:solidFill>
            <a:schemeClr val="accent5">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0000"/>
              </a:lnSpc>
            </a:pPr>
            <a:r>
              <a:rPr lang="zh-CN" altLang="en-US" sz="1600" b="1">
                <a:solidFill>
                  <a:schemeClr val="bg1"/>
                </a:solidFill>
                <a:latin typeface="Times New Roman" panose="02020603050405020304" charset="0"/>
                <a:ea typeface="微软雅黑" panose="020B0503020204020204" pitchFamily="34" charset="-122"/>
                <a:cs typeface="Times New Roman" panose="02020603050405020304" charset="0"/>
                <a:sym typeface="+mn-ea"/>
              </a:rPr>
              <a:t>电动汽车充电负荷时空预测</a:t>
            </a:r>
            <a:endParaRPr lang="zh-CN" altLang="en-US" sz="1600" b="1">
              <a:solidFill>
                <a:schemeClr val="bg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38" name="圆角矩形 37"/>
          <p:cNvSpPr/>
          <p:nvPr/>
        </p:nvSpPr>
        <p:spPr>
          <a:xfrm>
            <a:off x="6524625" y="1598930"/>
            <a:ext cx="1964055" cy="658495"/>
          </a:xfrm>
          <a:prstGeom prst="roundRect">
            <a:avLst>
              <a:gd name="adj" fmla="val 0"/>
            </a:avLst>
          </a:prstGeom>
          <a:solidFill>
            <a:schemeClr val="accent5">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0000"/>
              </a:lnSpc>
            </a:pPr>
            <a:r>
              <a:rPr lang="zh-CN" altLang="en-US" sz="1600" b="1">
                <a:solidFill>
                  <a:schemeClr val="bg1"/>
                </a:solidFill>
                <a:latin typeface="Times New Roman" panose="02020603050405020304" charset="0"/>
                <a:ea typeface="微软雅黑" panose="020B0503020204020204" pitchFamily="34" charset="-122"/>
                <a:cs typeface="Times New Roman" panose="02020603050405020304" charset="0"/>
                <a:sym typeface="+mn-ea"/>
              </a:rPr>
              <a:t>综合能源系统多元负荷预测</a:t>
            </a:r>
            <a:endParaRPr lang="zh-CN" altLang="en-US" sz="1600" b="1">
              <a:solidFill>
                <a:schemeClr val="bg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39" name="圆角矩形 38"/>
          <p:cNvSpPr/>
          <p:nvPr/>
        </p:nvSpPr>
        <p:spPr>
          <a:xfrm>
            <a:off x="9245600" y="1598930"/>
            <a:ext cx="1917065" cy="658495"/>
          </a:xfrm>
          <a:prstGeom prst="roundRect">
            <a:avLst>
              <a:gd name="adj" fmla="val 0"/>
            </a:avLst>
          </a:prstGeom>
          <a:solidFill>
            <a:schemeClr val="accent5">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0000"/>
              </a:lnSpc>
            </a:pPr>
            <a:r>
              <a:rPr lang="zh-CN" altLang="en-US" sz="1600" b="1">
                <a:solidFill>
                  <a:schemeClr val="bg1"/>
                </a:solidFill>
                <a:latin typeface="Times New Roman" panose="02020603050405020304" charset="0"/>
                <a:ea typeface="微软雅黑" panose="020B0503020204020204" pitchFamily="34" charset="-122"/>
                <a:cs typeface="Times New Roman" panose="02020603050405020304" charset="0"/>
                <a:sym typeface="+mn-ea"/>
              </a:rPr>
              <a:t>电力市场现货电价时空预测</a:t>
            </a:r>
            <a:endParaRPr lang="zh-CN" altLang="en-US" sz="1600" b="1">
              <a:solidFill>
                <a:schemeClr val="bg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40" name="圆角矩形 39"/>
          <p:cNvSpPr/>
          <p:nvPr/>
        </p:nvSpPr>
        <p:spPr>
          <a:xfrm>
            <a:off x="3808730" y="1598930"/>
            <a:ext cx="1944370" cy="655320"/>
          </a:xfrm>
          <a:prstGeom prst="roundRect">
            <a:avLst>
              <a:gd name="adj" fmla="val 0"/>
            </a:avLst>
          </a:prstGeom>
          <a:solidFill>
            <a:schemeClr val="accent5">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0000"/>
              </a:lnSpc>
            </a:pPr>
            <a:r>
              <a:rPr lang="zh-CN" altLang="en-US" sz="1600" b="1">
                <a:solidFill>
                  <a:schemeClr val="bg1"/>
                </a:solidFill>
                <a:latin typeface="Times New Roman" panose="02020603050405020304" charset="0"/>
                <a:ea typeface="微软雅黑" panose="020B0503020204020204" pitchFamily="34" charset="-122"/>
                <a:cs typeface="Times New Roman" panose="02020603050405020304" charset="0"/>
                <a:sym typeface="+mn-ea"/>
              </a:rPr>
              <a:t>用户用电空间负荷时空预测</a:t>
            </a:r>
            <a:endParaRPr lang="zh-CN" altLang="en-US" sz="1600" b="1">
              <a:solidFill>
                <a:schemeClr val="bg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41" name="圆角矩形 40"/>
          <p:cNvSpPr/>
          <p:nvPr/>
        </p:nvSpPr>
        <p:spPr>
          <a:xfrm>
            <a:off x="902970" y="3134360"/>
            <a:ext cx="2419985" cy="40449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自适应邻接矩阵</a:t>
            </a:r>
            <a:endPar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42" name="圆角矩形 41"/>
          <p:cNvSpPr/>
          <p:nvPr/>
        </p:nvSpPr>
        <p:spPr>
          <a:xfrm>
            <a:off x="3570605" y="4166870"/>
            <a:ext cx="2419985" cy="40449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构造空间</a:t>
            </a: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负荷时空信息图</a:t>
            </a:r>
            <a:endPar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43" name="圆角矩形 42"/>
          <p:cNvSpPr/>
          <p:nvPr/>
        </p:nvSpPr>
        <p:spPr>
          <a:xfrm>
            <a:off x="3571875" y="3651885"/>
            <a:ext cx="2420620" cy="40449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STGCN</a:t>
            </a:r>
            <a:endPar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44" name="圆角矩形 43"/>
          <p:cNvSpPr/>
          <p:nvPr/>
        </p:nvSpPr>
        <p:spPr>
          <a:xfrm>
            <a:off x="3571240" y="2624455"/>
            <a:ext cx="2420620" cy="40449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已知空间依赖性</a:t>
            </a:r>
            <a:endPar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45" name="圆角矩形 44"/>
          <p:cNvSpPr/>
          <p:nvPr/>
        </p:nvSpPr>
        <p:spPr>
          <a:xfrm>
            <a:off x="6304280" y="4166870"/>
            <a:ext cx="2419985" cy="40449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构造多元负荷</a:t>
            </a: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耦合信息图</a:t>
            </a:r>
            <a:endPar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46" name="圆角矩形 45"/>
          <p:cNvSpPr/>
          <p:nvPr/>
        </p:nvSpPr>
        <p:spPr>
          <a:xfrm>
            <a:off x="6299835" y="3137535"/>
            <a:ext cx="2416175" cy="40449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自适应邻接矩阵</a:t>
            </a:r>
            <a:endPar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47" name="圆角矩形 46"/>
          <p:cNvSpPr/>
          <p:nvPr/>
        </p:nvSpPr>
        <p:spPr>
          <a:xfrm>
            <a:off x="6304280" y="2625090"/>
            <a:ext cx="2404745" cy="40449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隐藏耦合依赖性</a:t>
            </a:r>
            <a:endPar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48" name="圆角矩形 47"/>
          <p:cNvSpPr/>
          <p:nvPr/>
        </p:nvSpPr>
        <p:spPr>
          <a:xfrm>
            <a:off x="6297930" y="3649345"/>
            <a:ext cx="2418080" cy="40449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MTGNN</a:t>
            </a:r>
            <a:endPar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33" name="圆角矩形 32"/>
          <p:cNvSpPr/>
          <p:nvPr/>
        </p:nvSpPr>
        <p:spPr>
          <a:xfrm>
            <a:off x="3571875" y="3137535"/>
            <a:ext cx="2419985" cy="40449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邻接矩阵</a:t>
            </a:r>
            <a:endParaRPr lang="zh-CN" altLang="en-US" sz="16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49" name="圆角矩形 48"/>
          <p:cNvSpPr/>
          <p:nvPr/>
        </p:nvSpPr>
        <p:spPr>
          <a:xfrm>
            <a:off x="9002395" y="2544445"/>
            <a:ext cx="2406650" cy="485140"/>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4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已知空间依赖性</a:t>
            </a:r>
            <a:r>
              <a:rPr lang="en-US" altLang="zh-CN" sz="14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a:t>
            </a:r>
            <a:r>
              <a:rPr lang="zh-CN" altLang="en-US" sz="14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潜在</a:t>
            </a:r>
            <a:endParaRPr lang="zh-CN" altLang="en-US" sz="14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a:p>
            <a:pPr algn="ctr" fontAlgn="auto">
              <a:lnSpc>
                <a:spcPct val="100000"/>
              </a:lnSpc>
            </a:pPr>
            <a:r>
              <a:rPr lang="zh-CN" altLang="en-US" sz="14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空间依赖性</a:t>
            </a:r>
            <a:endParaRPr lang="zh-CN" altLang="en-US" sz="14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51" name="圆角矩形 50"/>
          <p:cNvSpPr/>
          <p:nvPr/>
        </p:nvSpPr>
        <p:spPr>
          <a:xfrm>
            <a:off x="8997315" y="3112770"/>
            <a:ext cx="2404110" cy="44767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4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邻接矩阵</a:t>
            </a:r>
            <a:r>
              <a:rPr lang="en-US" altLang="zh-CN" sz="14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a:t>
            </a:r>
            <a:r>
              <a:rPr lang="zh-CN" altLang="en-US" sz="14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自适应</a:t>
            </a:r>
            <a:endParaRPr lang="zh-CN" altLang="en-US" sz="14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a:p>
            <a:pPr algn="ctr" fontAlgn="auto">
              <a:lnSpc>
                <a:spcPct val="100000"/>
              </a:lnSpc>
            </a:pPr>
            <a:r>
              <a:rPr lang="zh-CN" altLang="en-US" sz="14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邻接矩阵</a:t>
            </a:r>
            <a:endParaRPr lang="zh-CN" altLang="en-US" sz="14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52" name="圆角矩形 51"/>
          <p:cNvSpPr/>
          <p:nvPr/>
        </p:nvSpPr>
        <p:spPr>
          <a:xfrm>
            <a:off x="1242695" y="5073650"/>
            <a:ext cx="1729105" cy="358775"/>
          </a:xfrm>
          <a:prstGeom prst="roundRect">
            <a:avLst>
              <a:gd name="adj" fmla="val 0"/>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rPr>
              <a:t>充电站地理信息</a:t>
            </a:r>
            <a:endPar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53" name="圆角矩形 52"/>
          <p:cNvSpPr/>
          <p:nvPr/>
        </p:nvSpPr>
        <p:spPr>
          <a:xfrm>
            <a:off x="1242695" y="5608320"/>
            <a:ext cx="1729105" cy="358775"/>
          </a:xfrm>
          <a:prstGeom prst="roundRect">
            <a:avLst>
              <a:gd name="adj" fmla="val 0"/>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rPr>
              <a:t>充电负荷数据</a:t>
            </a:r>
            <a:endPar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54" name="圆角矩形 53"/>
          <p:cNvSpPr/>
          <p:nvPr/>
        </p:nvSpPr>
        <p:spPr>
          <a:xfrm>
            <a:off x="3917950" y="5354955"/>
            <a:ext cx="1729105" cy="358775"/>
          </a:xfrm>
          <a:prstGeom prst="roundRect">
            <a:avLst>
              <a:gd name="adj" fmla="val 0"/>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rPr>
              <a:t>元胞地理信息</a:t>
            </a:r>
            <a:endPar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55" name="圆角矩形 54"/>
          <p:cNvSpPr/>
          <p:nvPr/>
        </p:nvSpPr>
        <p:spPr>
          <a:xfrm>
            <a:off x="3917950" y="5784215"/>
            <a:ext cx="1729105" cy="358775"/>
          </a:xfrm>
          <a:prstGeom prst="roundRect">
            <a:avLst>
              <a:gd name="adj" fmla="val 0"/>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rPr>
              <a:t>空间负荷数据</a:t>
            </a:r>
            <a:endPar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56" name="圆角矩形 55"/>
          <p:cNvSpPr/>
          <p:nvPr/>
        </p:nvSpPr>
        <p:spPr>
          <a:xfrm>
            <a:off x="3916045" y="4925695"/>
            <a:ext cx="1729105" cy="358775"/>
          </a:xfrm>
          <a:prstGeom prst="roundRect">
            <a:avLst>
              <a:gd name="adj" fmla="val 0"/>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rPr>
              <a:t>配电网拓扑结构</a:t>
            </a:r>
            <a:endPar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57" name="圆角矩形 56"/>
          <p:cNvSpPr/>
          <p:nvPr/>
        </p:nvSpPr>
        <p:spPr>
          <a:xfrm>
            <a:off x="6655435" y="5608320"/>
            <a:ext cx="1729105" cy="358775"/>
          </a:xfrm>
          <a:prstGeom prst="roundRect">
            <a:avLst>
              <a:gd name="adj" fmla="val 0"/>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rPr>
              <a:t>多元负荷数据</a:t>
            </a:r>
            <a:endPar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58" name="圆角矩形 57"/>
          <p:cNvSpPr/>
          <p:nvPr/>
        </p:nvSpPr>
        <p:spPr>
          <a:xfrm>
            <a:off x="6655435" y="5073650"/>
            <a:ext cx="1729105" cy="358775"/>
          </a:xfrm>
          <a:prstGeom prst="roundRect">
            <a:avLst>
              <a:gd name="adj" fmla="val 0"/>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rPr>
              <a:t>负荷特性信息</a:t>
            </a:r>
            <a:endPar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59" name="圆角矩形 58"/>
          <p:cNvSpPr/>
          <p:nvPr/>
        </p:nvSpPr>
        <p:spPr>
          <a:xfrm>
            <a:off x="9347200" y="5784215"/>
            <a:ext cx="1729105" cy="358775"/>
          </a:xfrm>
          <a:prstGeom prst="roundRect">
            <a:avLst>
              <a:gd name="adj" fmla="val 0"/>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rPr>
              <a:t>现货电价数据</a:t>
            </a:r>
            <a:endPar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60" name="圆角矩形 59"/>
          <p:cNvSpPr/>
          <p:nvPr/>
        </p:nvSpPr>
        <p:spPr>
          <a:xfrm>
            <a:off x="9347200" y="5349240"/>
            <a:ext cx="1734185" cy="358775"/>
          </a:xfrm>
          <a:prstGeom prst="roundRect">
            <a:avLst>
              <a:gd name="adj" fmla="val 0"/>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rPr>
              <a:t>市场地理信息</a:t>
            </a:r>
            <a:endPar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61" name="圆角矩形 60"/>
          <p:cNvSpPr/>
          <p:nvPr/>
        </p:nvSpPr>
        <p:spPr>
          <a:xfrm>
            <a:off x="9353550" y="4914265"/>
            <a:ext cx="1710690" cy="358775"/>
          </a:xfrm>
          <a:prstGeom prst="roundRect">
            <a:avLst>
              <a:gd name="adj" fmla="val 0"/>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rPr>
              <a:t>输电网拓扑结构</a:t>
            </a:r>
            <a:endPar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62" name="圆角矩形 61"/>
          <p:cNvSpPr/>
          <p:nvPr/>
        </p:nvSpPr>
        <p:spPr>
          <a:xfrm>
            <a:off x="9002395" y="3649345"/>
            <a:ext cx="2420620" cy="40449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s-adp STGCN</a:t>
            </a:r>
            <a:endParaRPr lang="en-US" altLang="zh-CN" sz="1600"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64" name="文本框 63"/>
          <p:cNvSpPr txBox="1"/>
          <p:nvPr/>
        </p:nvSpPr>
        <p:spPr>
          <a:xfrm>
            <a:off x="480695" y="5078095"/>
            <a:ext cx="477520" cy="922020"/>
          </a:xfrm>
          <a:prstGeom prst="rect">
            <a:avLst/>
          </a:prstGeom>
          <a:noFill/>
          <a:effectLst/>
          <a:extLst>
            <a:ext uri="{909E8E84-426E-40DD-AFC4-6F175D3DCCD1}">
              <a14:hiddenFill xmlns:a14="http://schemas.microsoft.com/office/drawing/2010/main">
                <a:solidFill>
                  <a:schemeClr val="accent6">
                    <a:lumMod val="20000"/>
                    <a:lumOff val="80000"/>
                  </a:schemeClr>
                </a:solidFill>
              </a14:hiddenFill>
            </a:ext>
          </a:extLst>
        </p:spPr>
        <p:txBody>
          <a:bodyPr wrap="square" rtlCol="0">
            <a:spAutoFit/>
          </a:bodyPr>
          <a:p>
            <a:pPr algn="ctr"/>
            <a:r>
              <a:rPr lang="zh-CN" altLang="en-US" b="1">
                <a:solidFill>
                  <a:srgbClr val="080EF6"/>
                </a:solidFill>
                <a:latin typeface="微软雅黑" panose="020B0503020204020204" pitchFamily="34" charset="-122"/>
                <a:ea typeface="微软雅黑" panose="020B0503020204020204" pitchFamily="34" charset="-122"/>
              </a:rPr>
              <a:t>数据层</a:t>
            </a:r>
            <a:endParaRPr lang="zh-CN" altLang="en-US" b="1">
              <a:solidFill>
                <a:srgbClr val="080EF6"/>
              </a:solidFill>
              <a:latin typeface="微软雅黑" panose="020B0503020204020204" pitchFamily="34" charset="-122"/>
              <a:ea typeface="微软雅黑" panose="020B0503020204020204" pitchFamily="34" charset="-122"/>
            </a:endParaRPr>
          </a:p>
        </p:txBody>
      </p:sp>
      <p:sp>
        <p:nvSpPr>
          <p:cNvPr id="66" name="矩形 65"/>
          <p:cNvSpPr/>
          <p:nvPr/>
        </p:nvSpPr>
        <p:spPr>
          <a:xfrm>
            <a:off x="394970" y="2465070"/>
            <a:ext cx="11184255" cy="2220595"/>
          </a:xfrm>
          <a:prstGeom prst="rect">
            <a:avLst/>
          </a:prstGeom>
          <a:noFill/>
          <a:ln w="19050">
            <a:solidFill>
              <a:srgbClr val="00B050"/>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67" name="直接连接符 66"/>
          <p:cNvCxnSpPr/>
          <p:nvPr/>
        </p:nvCxnSpPr>
        <p:spPr>
          <a:xfrm>
            <a:off x="3453130" y="1456055"/>
            <a:ext cx="12065" cy="480123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6157595" y="1456055"/>
            <a:ext cx="12065" cy="480123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8867140" y="1452245"/>
            <a:ext cx="12065" cy="480123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70" name="上箭头 69"/>
          <p:cNvSpPr/>
          <p:nvPr/>
        </p:nvSpPr>
        <p:spPr>
          <a:xfrm>
            <a:off x="78105" y="2033905"/>
            <a:ext cx="269240" cy="3750310"/>
          </a:xfrm>
          <a:prstGeom prst="upArrow">
            <a:avLst>
              <a:gd name="adj1" fmla="val 40681"/>
              <a:gd name="adj2" fmla="val 91182"/>
            </a:avLst>
          </a:prstGeom>
          <a:gradFill>
            <a:gsLst>
              <a:gs pos="0">
                <a:schemeClr val="accent6">
                  <a:lumMod val="75000"/>
                </a:schemeClr>
              </a:gs>
              <a:gs pos="25000">
                <a:schemeClr val="accent6">
                  <a:lumMod val="60000"/>
                  <a:lumOff val="40000"/>
                </a:schemeClr>
              </a:gs>
              <a:gs pos="50000">
                <a:schemeClr val="accent6">
                  <a:lumMod val="40000"/>
                  <a:lumOff val="60000"/>
                </a:schemeClr>
              </a:gs>
              <a:gs pos="100000">
                <a:schemeClr val="accent6">
                  <a:lumMod val="20000"/>
                  <a:lumOff val="80000"/>
                </a:schemeClr>
              </a:gs>
            </a:gsLst>
            <a:lin ang="5400000" scaled="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3" name="文本框 72"/>
          <p:cNvSpPr txBox="1"/>
          <p:nvPr/>
        </p:nvSpPr>
        <p:spPr>
          <a:xfrm>
            <a:off x="380365" y="2844800"/>
            <a:ext cx="360680" cy="1322070"/>
          </a:xfrm>
          <a:prstGeom prst="rect">
            <a:avLst/>
          </a:prstGeom>
          <a:noFill/>
          <a:effectLst/>
          <a:extLst>
            <a:ext uri="{909E8E84-426E-40DD-AFC4-6F175D3DCCD1}">
              <a14:hiddenFill xmlns:a14="http://schemas.microsoft.com/office/drawing/2010/main">
                <a:solidFill>
                  <a:schemeClr val="accent6">
                    <a:lumMod val="20000"/>
                    <a:lumOff val="80000"/>
                  </a:schemeClr>
                </a:solidFill>
              </a14:hiddenFill>
            </a:ext>
          </a:extLst>
        </p:spPr>
        <p:txBody>
          <a:bodyPr wrap="square" rtlCol="0">
            <a:spAutoFit/>
          </a:bodyPr>
          <a:p>
            <a:pPr algn="ctr"/>
            <a:r>
              <a:rPr lang="zh-CN" altLang="en-US" sz="2000" b="1">
                <a:solidFill>
                  <a:srgbClr val="FF0000"/>
                </a:solidFill>
                <a:latin typeface="微软雅黑" panose="020B0503020204020204" pitchFamily="34" charset="-122"/>
                <a:ea typeface="微软雅黑" panose="020B0503020204020204" pitchFamily="34" charset="-122"/>
              </a:rPr>
              <a:t>关键技术</a:t>
            </a:r>
            <a:endParaRPr lang="zh-CN" altLang="en-US" sz="2000" b="1">
              <a:solidFill>
                <a:srgbClr val="FF0000"/>
              </a:solidFill>
              <a:latin typeface="微软雅黑" panose="020B0503020204020204" pitchFamily="34" charset="-122"/>
              <a:ea typeface="微软雅黑" panose="020B0503020204020204" pitchFamily="34" charset="-122"/>
            </a:endParaRPr>
          </a:p>
        </p:txBody>
      </p:sp>
      <p:sp>
        <p:nvSpPr>
          <p:cNvPr id="74" name="文本框 73"/>
          <p:cNvSpPr txBox="1"/>
          <p:nvPr/>
        </p:nvSpPr>
        <p:spPr>
          <a:xfrm>
            <a:off x="511175" y="1467485"/>
            <a:ext cx="417195" cy="922020"/>
          </a:xfrm>
          <a:prstGeom prst="rect">
            <a:avLst/>
          </a:prstGeom>
          <a:noFill/>
        </p:spPr>
        <p:txBody>
          <a:bodyPr wrap="square" rtlCol="0" anchor="t">
            <a:spAutoFit/>
          </a:bodyPr>
          <a:p>
            <a:r>
              <a:rPr lang="zh-CN" altLang="en-US" b="1">
                <a:solidFill>
                  <a:srgbClr val="080EF6"/>
                </a:solidFill>
                <a:latin typeface="微软雅黑" panose="020B0503020204020204" pitchFamily="34" charset="-122"/>
                <a:ea typeface="微软雅黑" panose="020B0503020204020204" pitchFamily="34" charset="-122"/>
                <a:sym typeface="+mn-ea"/>
              </a:rPr>
              <a:t>应用</a:t>
            </a:r>
            <a:endParaRPr lang="zh-CN" altLang="en-US" b="1">
              <a:solidFill>
                <a:srgbClr val="080EF6"/>
              </a:solidFill>
              <a:latin typeface="微软雅黑" panose="020B0503020204020204" pitchFamily="34" charset="-122"/>
              <a:ea typeface="微软雅黑" panose="020B0503020204020204" pitchFamily="34" charset="-122"/>
              <a:sym typeface="+mn-ea"/>
            </a:endParaRPr>
          </a:p>
          <a:p>
            <a:r>
              <a:rPr lang="zh-CN" altLang="en-US" b="1">
                <a:solidFill>
                  <a:srgbClr val="080EF6"/>
                </a:solidFill>
                <a:latin typeface="微软雅黑" panose="020B0503020204020204" pitchFamily="34" charset="-122"/>
                <a:ea typeface="微软雅黑" panose="020B0503020204020204" pitchFamily="34" charset="-122"/>
                <a:sym typeface="+mn-ea"/>
              </a:rPr>
              <a:t>层</a:t>
            </a:r>
            <a:endParaRPr lang="zh-CN" altLang="en-US" b="1">
              <a:solidFill>
                <a:srgbClr val="080EF6"/>
              </a:solidFill>
              <a:latin typeface="微软雅黑" panose="020B0503020204020204" pitchFamily="34" charset="-122"/>
              <a:ea typeface="微软雅黑" panose="020B0503020204020204" pitchFamily="34" charset="-122"/>
              <a:sym typeface="+mn-ea"/>
            </a:endParaRPr>
          </a:p>
        </p:txBody>
      </p:sp>
      <p:sp>
        <p:nvSpPr>
          <p:cNvPr id="4" name="圆角矩形 3"/>
          <p:cNvSpPr/>
          <p:nvPr>
            <p:custDataLst>
              <p:tags r:id="rId4"/>
            </p:custDataLst>
          </p:nvPr>
        </p:nvSpPr>
        <p:spPr>
          <a:xfrm>
            <a:off x="11814175" y="1452245"/>
            <a:ext cx="323850" cy="2518410"/>
          </a:xfrm>
          <a:prstGeom prst="roundRect">
            <a:avLst>
              <a:gd name="adj" fmla="val 0"/>
            </a:avLst>
          </a:prstGeom>
          <a:solidFill>
            <a:schemeClr val="accent2">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0000"/>
              </a:lnSpc>
            </a:pPr>
            <a:r>
              <a:rPr lang="zh-CN" altLang="zh-CN" sz="1200" b="1">
                <a:solidFill>
                  <a:schemeClr val="bg1"/>
                </a:solidFill>
                <a:latin typeface="Times New Roman" panose="02020603050405020304" charset="0"/>
                <a:ea typeface="微软雅黑" panose="020B0503020204020204" pitchFamily="34" charset="-122"/>
                <a:cs typeface="Times New Roman" panose="02020603050405020304" charset="0"/>
                <a:sym typeface="+mn-ea"/>
              </a:rPr>
              <a:t>多时间尺度和多空间尺度</a:t>
            </a:r>
            <a:endParaRPr lang="zh-CN" altLang="zh-CN" sz="1200" b="1">
              <a:solidFill>
                <a:schemeClr val="bg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5" name="圆角矩形 4"/>
          <p:cNvSpPr/>
          <p:nvPr>
            <p:custDataLst>
              <p:tags r:id="rId5"/>
            </p:custDataLst>
          </p:nvPr>
        </p:nvSpPr>
        <p:spPr>
          <a:xfrm>
            <a:off x="11814810" y="4078605"/>
            <a:ext cx="323850" cy="1128395"/>
          </a:xfrm>
          <a:prstGeom prst="roundRect">
            <a:avLst>
              <a:gd name="adj" fmla="val 0"/>
            </a:avLst>
          </a:prstGeom>
          <a:solidFill>
            <a:schemeClr val="accent2">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0000"/>
              </a:lnSpc>
            </a:pPr>
            <a:r>
              <a:rPr lang="zh-CN" altLang="zh-CN" sz="1200" b="1">
                <a:solidFill>
                  <a:schemeClr val="bg1"/>
                </a:solidFill>
                <a:latin typeface="Times New Roman" panose="02020603050405020304" charset="0"/>
                <a:ea typeface="微软雅黑" panose="020B0503020204020204" pitchFamily="34" charset="-122"/>
                <a:cs typeface="Times New Roman" panose="02020603050405020304" charset="0"/>
                <a:sym typeface="+mn-ea"/>
              </a:rPr>
              <a:t>多特征因素</a:t>
            </a:r>
            <a:endParaRPr lang="zh-CN" altLang="zh-CN" sz="1200" b="1">
              <a:solidFill>
                <a:schemeClr val="bg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6" name="圆角矩形 5"/>
          <p:cNvSpPr/>
          <p:nvPr>
            <p:custDataLst>
              <p:tags r:id="rId6"/>
            </p:custDataLst>
          </p:nvPr>
        </p:nvSpPr>
        <p:spPr>
          <a:xfrm>
            <a:off x="11814175" y="5309870"/>
            <a:ext cx="324485" cy="947420"/>
          </a:xfrm>
          <a:prstGeom prst="roundRect">
            <a:avLst>
              <a:gd name="adj" fmla="val 0"/>
            </a:avLst>
          </a:prstGeom>
          <a:solidFill>
            <a:schemeClr val="accent2">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0000"/>
              </a:lnSpc>
            </a:pPr>
            <a:r>
              <a:rPr lang="zh-CN" altLang="zh-CN" sz="1200" b="1">
                <a:solidFill>
                  <a:schemeClr val="bg1"/>
                </a:solidFill>
                <a:latin typeface="Times New Roman" panose="02020603050405020304" charset="0"/>
                <a:ea typeface="微软雅黑" panose="020B0503020204020204" pitchFamily="34" charset="-122"/>
                <a:cs typeface="Times New Roman" panose="02020603050405020304" charset="0"/>
                <a:sym typeface="+mn-ea"/>
              </a:rPr>
              <a:t>时序分解</a:t>
            </a:r>
            <a:endParaRPr lang="zh-CN" altLang="zh-CN" sz="1200" b="1">
              <a:solidFill>
                <a:schemeClr val="bg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7" name="文本框 6"/>
          <p:cNvSpPr txBox="1"/>
          <p:nvPr>
            <p:custDataLst>
              <p:tags r:id="rId7"/>
            </p:custDataLst>
          </p:nvPr>
        </p:nvSpPr>
        <p:spPr>
          <a:xfrm>
            <a:off x="591820" y="3112770"/>
            <a:ext cx="417195" cy="922020"/>
          </a:xfrm>
          <a:prstGeom prst="rect">
            <a:avLst/>
          </a:prstGeom>
          <a:noFill/>
        </p:spPr>
        <p:txBody>
          <a:bodyPr wrap="square" rtlCol="0" anchor="t">
            <a:spAutoFit/>
          </a:bodyPr>
          <a:p>
            <a:r>
              <a:rPr lang="zh-CN" altLang="en-US" b="1">
                <a:solidFill>
                  <a:srgbClr val="080EF6"/>
                </a:solidFill>
                <a:latin typeface="微软雅黑" panose="020B0503020204020204" pitchFamily="34" charset="-122"/>
                <a:ea typeface="微软雅黑" panose="020B0503020204020204" pitchFamily="34" charset="-122"/>
                <a:sym typeface="+mn-ea"/>
              </a:rPr>
              <a:t>算法</a:t>
            </a:r>
            <a:endParaRPr lang="zh-CN" altLang="en-US" b="1">
              <a:solidFill>
                <a:srgbClr val="080EF6"/>
              </a:solidFill>
              <a:latin typeface="微软雅黑" panose="020B0503020204020204" pitchFamily="34" charset="-122"/>
              <a:ea typeface="微软雅黑" panose="020B0503020204020204" pitchFamily="34" charset="-122"/>
              <a:sym typeface="+mn-ea"/>
            </a:endParaRPr>
          </a:p>
          <a:p>
            <a:r>
              <a:rPr lang="zh-CN" altLang="en-US" b="1">
                <a:solidFill>
                  <a:srgbClr val="080EF6"/>
                </a:solidFill>
                <a:latin typeface="微软雅黑" panose="020B0503020204020204" pitchFamily="34" charset="-122"/>
                <a:ea typeface="微软雅黑" panose="020B0503020204020204" pitchFamily="34" charset="-122"/>
                <a:sym typeface="+mn-ea"/>
              </a:rPr>
              <a:t>层</a:t>
            </a:r>
            <a:endParaRPr lang="zh-CN" altLang="en-US" b="1">
              <a:solidFill>
                <a:srgbClr val="080EF6"/>
              </a:solidFill>
              <a:latin typeface="微软雅黑" panose="020B0503020204020204" pitchFamily="34" charset="-122"/>
              <a:ea typeface="微软雅黑" panose="020B0503020204020204" pitchFamily="34" charset="-122"/>
              <a:sym typeface="+mn-ea"/>
            </a:endParaRPr>
          </a:p>
        </p:txBody>
      </p:sp>
      <p:sp>
        <p:nvSpPr>
          <p:cNvPr id="8" name="右中括号 7"/>
          <p:cNvSpPr/>
          <p:nvPr/>
        </p:nvSpPr>
        <p:spPr>
          <a:xfrm>
            <a:off x="11600815" y="1467485"/>
            <a:ext cx="142875" cy="4789805"/>
          </a:xfrm>
          <a:prstGeom prst="rightBracket">
            <a:avLst>
              <a:gd name="adj" fmla="val 85148"/>
            </a:avLst>
          </a:prstGeom>
          <a:ln w="38100"/>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 name="流程图: 摘录 8"/>
          <p:cNvSpPr/>
          <p:nvPr/>
        </p:nvSpPr>
        <p:spPr>
          <a:xfrm rot="5580000">
            <a:off x="11725275" y="3818255"/>
            <a:ext cx="119380" cy="76200"/>
          </a:xfrm>
          <a:prstGeom prst="flowChartExtra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635000" y="2526030"/>
            <a:ext cx="10939145" cy="1370330"/>
          </a:xfrm>
          <a:prstGeom prst="rect">
            <a:avLst/>
          </a:prstGeom>
          <a:solidFill>
            <a:schemeClr val="accent4">
              <a:lumMod val="20000"/>
              <a:lumOff val="80000"/>
            </a:schemeClr>
          </a:solidFill>
          <a:ln w="19050">
            <a:solidFill>
              <a:schemeClr val="accent4">
                <a:lumMod val="7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内容占位符 1"/>
          <p:cNvSpPr>
            <a:spLocks noGrp="1"/>
          </p:cNvSpPr>
          <p:nvPr>
            <p:ph sz="quarter" idx="13"/>
          </p:nvPr>
        </p:nvSpPr>
        <p:spPr/>
        <p:txBody>
          <a:bodyPr/>
          <a:lstStyle/>
          <a:p>
            <a:r>
              <a:rPr lang="zh-CN" altLang="en-US" dirty="0">
                <a:sym typeface="+mn-ea"/>
              </a:rPr>
              <a:t>课题主要研究、工作内容</a:t>
            </a:r>
            <a:endParaRPr lang="zh-CN" altLang="en-US" dirty="0"/>
          </a:p>
          <a:p>
            <a:endParaRPr lang="zh-CN" altLang="en-US" dirty="0"/>
          </a:p>
        </p:txBody>
      </p:sp>
      <p:sp>
        <p:nvSpPr>
          <p:cNvPr id="3" name="灯片编号占位符 2"/>
          <p:cNvSpPr>
            <a:spLocks noGrp="1"/>
          </p:cNvSpPr>
          <p:nvPr>
            <p:ph type="sldNum" sz="quarter" idx="12"/>
          </p:nvPr>
        </p:nvSpPr>
        <p:spPr/>
        <p:txBody>
          <a:bodyPr/>
          <a:lstStyle/>
          <a:p>
            <a:r>
              <a:rPr lang="en-US" altLang="zh-CN" dirty="0"/>
              <a:t>23</a:t>
            </a:r>
            <a:endParaRPr lang="en-US" altLang="zh-CN" dirty="0"/>
          </a:p>
        </p:txBody>
      </p:sp>
      <p:sp>
        <p:nvSpPr>
          <p:cNvPr id="18" name="矩形: 圆角 5"/>
          <p:cNvSpPr/>
          <p:nvPr/>
        </p:nvSpPr>
        <p:spPr>
          <a:xfrm>
            <a:off x="741045" y="912495"/>
            <a:ext cx="7628890"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accent1"/>
                </a:solidFill>
                <a:latin typeface="微软雅黑" panose="020B0503020204020204" pitchFamily="34" charset="-122"/>
                <a:ea typeface="微软雅黑" panose="020B0503020204020204" pitchFamily="34" charset="-122"/>
              </a:rPr>
              <a:t>课题主要研究、工作内容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课题框架：</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 name="圆角矩形 4"/>
          <p:cNvSpPr/>
          <p:nvPr/>
        </p:nvSpPr>
        <p:spPr>
          <a:xfrm>
            <a:off x="2846070" y="1456055"/>
            <a:ext cx="6499860" cy="573405"/>
          </a:xfrm>
          <a:prstGeom prst="roundRect">
            <a:avLst>
              <a:gd name="adj" fmla="val 13477"/>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b="1" spc="150" dirty="0" smtClean="0">
                <a:solidFill>
                  <a:srgbClr val="FF0000"/>
                </a:solidFill>
                <a:uFillTx/>
                <a:latin typeface="Arial" panose="020B0604020202020204" pitchFamily="34" charset="0"/>
                <a:ea typeface="微软雅黑" panose="020B0503020204020204" pitchFamily="34" charset="-122"/>
                <a:sym typeface="Arial" panose="020B0604020202020204" pitchFamily="34" charset="0"/>
              </a:rPr>
              <a:t>基于时空数据挖掘的电力负荷及现货电价预测方法研究</a:t>
            </a:r>
            <a:endParaRPr lang="zh-CN" altLang="en-US" b="1" spc="150" dirty="0" smtClean="0">
              <a:solidFill>
                <a:srgbClr val="FF0000"/>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7" name="圆角矩形 6"/>
          <p:cNvSpPr/>
          <p:nvPr/>
        </p:nvSpPr>
        <p:spPr>
          <a:xfrm>
            <a:off x="920115" y="2639695"/>
            <a:ext cx="2055495" cy="1077595"/>
          </a:xfrm>
          <a:prstGeom prst="roundRect">
            <a:avLst>
              <a:gd name="adj" fmla="val 13477"/>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b="1" spc="150" dirty="0" smtClean="0">
                <a:solidFill>
                  <a:srgbClr val="00B050"/>
                </a:solidFill>
                <a:uFillTx/>
                <a:latin typeface="Arial" panose="020B0604020202020204" pitchFamily="34" charset="0"/>
                <a:ea typeface="微软雅黑" panose="020B0503020204020204" pitchFamily="34" charset="-122"/>
                <a:sym typeface="Arial" panose="020B0604020202020204" pitchFamily="34" charset="0"/>
              </a:rPr>
              <a:t>基于图</a:t>
            </a:r>
            <a:r>
              <a:rPr lang="zh-CN" altLang="en-US" b="1" spc="150" dirty="0" smtClean="0">
                <a:solidFill>
                  <a:srgbClr val="00B050"/>
                </a:solidFill>
                <a:uFillTx/>
                <a:latin typeface="Times New Roman" panose="02020603050405020304" charset="0"/>
                <a:ea typeface="微软雅黑" panose="020B0503020204020204" pitchFamily="34" charset="-122"/>
                <a:cs typeface="Times New Roman" panose="02020603050405020304" charset="0"/>
                <a:sym typeface="Arial" panose="020B0604020202020204" pitchFamily="34" charset="0"/>
              </a:rPr>
              <a:t>WaveNet</a:t>
            </a:r>
            <a:r>
              <a:rPr lang="zh-CN" altLang="en-US" b="1" spc="150" dirty="0" smtClean="0">
                <a:solidFill>
                  <a:srgbClr val="00B050"/>
                </a:solidFill>
                <a:uFillTx/>
                <a:latin typeface="Arial" panose="020B0604020202020204" pitchFamily="34" charset="0"/>
                <a:ea typeface="微软雅黑" panose="020B0503020204020204" pitchFamily="34" charset="-122"/>
                <a:sym typeface="Arial" panose="020B0604020202020204" pitchFamily="34" charset="0"/>
              </a:rPr>
              <a:t>的电动汽车充电负荷预测</a:t>
            </a:r>
            <a:endParaRPr lang="zh-CN" altLang="en-US" b="1" spc="150" dirty="0" smtClean="0">
              <a:solidFill>
                <a:srgbClr val="00B050"/>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8" name="圆角矩形 7"/>
          <p:cNvSpPr/>
          <p:nvPr/>
        </p:nvSpPr>
        <p:spPr>
          <a:xfrm>
            <a:off x="3415665" y="2639695"/>
            <a:ext cx="2042795" cy="1081405"/>
          </a:xfrm>
          <a:prstGeom prst="roundRect">
            <a:avLst>
              <a:gd name="adj" fmla="val 13477"/>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b="1" spc="150" dirty="0" smtClean="0">
                <a:solidFill>
                  <a:srgbClr val="00B050"/>
                </a:solidFill>
                <a:uFillTx/>
                <a:latin typeface="Arial" panose="020B0604020202020204" pitchFamily="34" charset="0"/>
                <a:ea typeface="微软雅黑" panose="020B0503020204020204" pitchFamily="34" charset="-122"/>
                <a:sym typeface="Arial" panose="020B0604020202020204" pitchFamily="34" charset="0"/>
              </a:rPr>
              <a:t>基于时空图卷积网络的</a:t>
            </a:r>
            <a:r>
              <a:rPr lang="zh-CN" altLang="en-US" b="1" spc="150" dirty="0" smtClean="0">
                <a:solidFill>
                  <a:srgbClr val="00B050"/>
                </a:solidFill>
                <a:uFillTx/>
                <a:latin typeface="Arial" panose="020B0604020202020204" pitchFamily="34" charset="0"/>
                <a:ea typeface="微软雅黑" panose="020B0503020204020204" pitchFamily="34" charset="-122"/>
                <a:sym typeface="Arial" panose="020B0604020202020204" pitchFamily="34" charset="0"/>
              </a:rPr>
              <a:t>短期空间负荷预测方法</a:t>
            </a:r>
            <a:endParaRPr lang="zh-CN" altLang="en-US" b="1" spc="150" dirty="0" smtClean="0">
              <a:solidFill>
                <a:srgbClr val="00B050"/>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9" name="圆角矩形 8"/>
          <p:cNvSpPr/>
          <p:nvPr/>
        </p:nvSpPr>
        <p:spPr>
          <a:xfrm>
            <a:off x="5949950" y="2642870"/>
            <a:ext cx="2257425" cy="1078230"/>
          </a:xfrm>
          <a:prstGeom prst="roundRect">
            <a:avLst>
              <a:gd name="adj" fmla="val 13477"/>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b="1" spc="150" dirty="0" smtClean="0">
                <a:solidFill>
                  <a:srgbClr val="7030A0"/>
                </a:solidFill>
                <a:uFillTx/>
                <a:latin typeface="Arial" panose="020B0604020202020204" pitchFamily="34" charset="0"/>
                <a:ea typeface="微软雅黑" panose="020B0503020204020204" pitchFamily="34" charset="-122"/>
                <a:sym typeface="Arial" panose="020B0604020202020204" pitchFamily="34" charset="0"/>
              </a:rPr>
              <a:t>基于图神经网络的综合能源系统多元负荷预测</a:t>
            </a:r>
            <a:endParaRPr lang="zh-CN" altLang="en-US" b="1" spc="150" dirty="0" smtClean="0">
              <a:solidFill>
                <a:srgbClr val="7030A0"/>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10" name="圆角矩形 9"/>
          <p:cNvSpPr/>
          <p:nvPr/>
        </p:nvSpPr>
        <p:spPr>
          <a:xfrm>
            <a:off x="8698865" y="2643505"/>
            <a:ext cx="2572385" cy="1077595"/>
          </a:xfrm>
          <a:prstGeom prst="roundRect">
            <a:avLst>
              <a:gd name="adj" fmla="val 13477"/>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b="1" spc="150" dirty="0" smtClean="0">
                <a:solidFill>
                  <a:srgbClr val="7030A0"/>
                </a:solidFill>
                <a:uFillTx/>
                <a:latin typeface="Arial" panose="020B0604020202020204" pitchFamily="34" charset="0"/>
                <a:ea typeface="微软雅黑" panose="020B0503020204020204" pitchFamily="34" charset="-122"/>
                <a:sym typeface="Arial" panose="020B0604020202020204" pitchFamily="34" charset="0"/>
              </a:rPr>
              <a:t>基于时空数据挖掘的</a:t>
            </a:r>
            <a:r>
              <a:rPr lang="zh-CN" altLang="en-US" b="1" spc="150" dirty="0" smtClean="0">
                <a:solidFill>
                  <a:srgbClr val="7030A0"/>
                </a:solidFill>
                <a:uFillTx/>
                <a:latin typeface="Arial" panose="020B0604020202020204" pitchFamily="34" charset="0"/>
                <a:ea typeface="微软雅黑" panose="020B0503020204020204" pitchFamily="34" charset="-122"/>
                <a:sym typeface="Arial" panose="020B0604020202020204" pitchFamily="34" charset="0"/>
              </a:rPr>
              <a:t>现货电价预测</a:t>
            </a:r>
            <a:endParaRPr lang="zh-CN" altLang="en-US" b="1" spc="150" dirty="0" smtClean="0">
              <a:solidFill>
                <a:srgbClr val="7030A0"/>
              </a:solidFill>
              <a:uFillTx/>
              <a:latin typeface="Arial" panose="020B0604020202020204" pitchFamily="34" charset="0"/>
              <a:ea typeface="微软雅黑" panose="020B0503020204020204" pitchFamily="34" charset="-122"/>
              <a:sym typeface="Arial" panose="020B0604020202020204" pitchFamily="34" charset="0"/>
            </a:endParaRPr>
          </a:p>
        </p:txBody>
      </p:sp>
      <p:pic>
        <p:nvPicPr>
          <p:cNvPr id="15" name="图片 14" descr="32313537363133303b32313537363131303bbcfdcdb7"/>
          <p:cNvPicPr>
            <a:picLocks noChangeAspect="1"/>
          </p:cNvPicPr>
          <p:nvPr/>
        </p:nvPicPr>
        <p:blipFill>
          <a:blip r:embed="rId2"/>
          <a:stretch>
            <a:fillRect/>
          </a:stretch>
        </p:blipFill>
        <p:spPr>
          <a:xfrm>
            <a:off x="7870825" y="2061210"/>
            <a:ext cx="499110" cy="464820"/>
          </a:xfrm>
          <a:prstGeom prst="rect">
            <a:avLst/>
          </a:prstGeom>
        </p:spPr>
      </p:pic>
      <p:pic>
        <p:nvPicPr>
          <p:cNvPr id="16" name="图片 15" descr="32313537363133303b32313537363131303bbcfdcdb7"/>
          <p:cNvPicPr>
            <a:picLocks noChangeAspect="1"/>
          </p:cNvPicPr>
          <p:nvPr/>
        </p:nvPicPr>
        <p:blipFill>
          <a:blip r:embed="rId2"/>
          <a:stretch>
            <a:fillRect/>
          </a:stretch>
        </p:blipFill>
        <p:spPr>
          <a:xfrm>
            <a:off x="5953125" y="2068830"/>
            <a:ext cx="499110" cy="464820"/>
          </a:xfrm>
          <a:prstGeom prst="rect">
            <a:avLst/>
          </a:prstGeom>
        </p:spPr>
      </p:pic>
      <p:pic>
        <p:nvPicPr>
          <p:cNvPr id="17" name="图片 16" descr="32313537363133303b32313537363131303bbcfdcdb7"/>
          <p:cNvPicPr>
            <a:picLocks noChangeAspect="1"/>
          </p:cNvPicPr>
          <p:nvPr/>
        </p:nvPicPr>
        <p:blipFill>
          <a:blip r:embed="rId2"/>
          <a:stretch>
            <a:fillRect/>
          </a:stretch>
        </p:blipFill>
        <p:spPr>
          <a:xfrm>
            <a:off x="4035425" y="2045335"/>
            <a:ext cx="499110" cy="464820"/>
          </a:xfrm>
          <a:prstGeom prst="rect">
            <a:avLst/>
          </a:prstGeom>
        </p:spPr>
      </p:pic>
      <p:pic>
        <p:nvPicPr>
          <p:cNvPr id="24" name="图片 23" descr="新建 PPTX 演示文稿_16"/>
          <p:cNvPicPr>
            <a:picLocks noChangeAspect="1"/>
          </p:cNvPicPr>
          <p:nvPr/>
        </p:nvPicPr>
        <p:blipFill>
          <a:blip r:embed="rId3"/>
          <a:srcRect l="12443" t="5124" r="10670" b="4350"/>
          <a:stretch>
            <a:fillRect/>
          </a:stretch>
        </p:blipFill>
        <p:spPr>
          <a:xfrm>
            <a:off x="3234690" y="3982085"/>
            <a:ext cx="2545715" cy="1654810"/>
          </a:xfrm>
          <a:prstGeom prst="rect">
            <a:avLst/>
          </a:prstGeom>
        </p:spPr>
      </p:pic>
      <p:pic>
        <p:nvPicPr>
          <p:cNvPr id="25" name="图片 24" descr="图1"/>
          <p:cNvPicPr>
            <a:picLocks noChangeAspect="1"/>
          </p:cNvPicPr>
          <p:nvPr/>
        </p:nvPicPr>
        <p:blipFill>
          <a:blip r:embed="rId4"/>
          <a:srcRect l="10943" t="5702" r="11698" b="5367"/>
          <a:stretch>
            <a:fillRect/>
          </a:stretch>
        </p:blipFill>
        <p:spPr>
          <a:xfrm>
            <a:off x="469900" y="3982085"/>
            <a:ext cx="2681605" cy="1734820"/>
          </a:xfrm>
          <a:prstGeom prst="rect">
            <a:avLst/>
          </a:prstGeom>
        </p:spPr>
      </p:pic>
      <p:pic>
        <p:nvPicPr>
          <p:cNvPr id="26" name="图片 25"/>
          <p:cNvPicPr>
            <a:picLocks noChangeAspect="1"/>
          </p:cNvPicPr>
          <p:nvPr/>
        </p:nvPicPr>
        <p:blipFill>
          <a:blip r:embed="rId5"/>
          <a:stretch>
            <a:fillRect/>
          </a:stretch>
        </p:blipFill>
        <p:spPr>
          <a:xfrm>
            <a:off x="6014720" y="3982085"/>
            <a:ext cx="2401570" cy="1099185"/>
          </a:xfrm>
          <a:prstGeom prst="rect">
            <a:avLst/>
          </a:prstGeom>
        </p:spPr>
      </p:pic>
      <p:sp>
        <p:nvSpPr>
          <p:cNvPr id="27" name="文本框 26"/>
          <p:cNvSpPr txBox="1"/>
          <p:nvPr/>
        </p:nvSpPr>
        <p:spPr>
          <a:xfrm>
            <a:off x="6014720" y="5117465"/>
            <a:ext cx="2402840" cy="645160"/>
          </a:xfrm>
          <a:prstGeom prst="rect">
            <a:avLst/>
          </a:prstGeom>
          <a:solidFill>
            <a:srgbClr val="FFFF00"/>
          </a:solidFill>
          <a:effectLst>
            <a:outerShdw blurRad="50800" dist="38100" dir="2700000" algn="tl" rotWithShape="0">
              <a:prstClr val="black">
                <a:alpha val="40000"/>
              </a:prstClr>
            </a:outerShdw>
          </a:effectLst>
        </p:spPr>
        <p:txBody>
          <a:bodyPr wrap="square" rtlCol="0" anchor="t">
            <a:spAutoFit/>
          </a:bodyPr>
          <a:p>
            <a:pPr indent="0" algn="ctr" fontAlgn="auto">
              <a:lnSpc>
                <a:spcPct val="100000"/>
              </a:lnSpc>
              <a:spcBef>
                <a:spcPts val="0"/>
              </a:spcBef>
              <a:spcAft>
                <a:spcPts val="0"/>
              </a:spcAft>
              <a:buFontTx/>
              <a:buNone/>
              <a:defRPr/>
            </a:pPr>
            <a:r>
              <a:rPr lang="zh-CN" altLang="en-US" b="1">
                <a:solidFill>
                  <a:srgbClr val="080EF6"/>
                </a:solidFill>
                <a:latin typeface="Arial" panose="020B0604020202020204" pitchFamily="34" charset="0"/>
                <a:sym typeface="+mn-ea"/>
              </a:rPr>
              <a:t>挖掘电</a:t>
            </a:r>
            <a:r>
              <a:rPr lang="en-US" altLang="zh-CN" b="1">
                <a:solidFill>
                  <a:srgbClr val="080EF6"/>
                </a:solidFill>
                <a:latin typeface="Arial" panose="020B0604020202020204" pitchFamily="34" charset="0"/>
                <a:sym typeface="+mn-ea"/>
              </a:rPr>
              <a:t>-</a:t>
            </a:r>
            <a:r>
              <a:rPr lang="zh-CN" altLang="en-US" b="1">
                <a:solidFill>
                  <a:srgbClr val="080EF6"/>
                </a:solidFill>
                <a:latin typeface="Arial" panose="020B0604020202020204" pitchFamily="34" charset="0"/>
                <a:sym typeface="+mn-ea"/>
              </a:rPr>
              <a:t>热</a:t>
            </a:r>
            <a:r>
              <a:rPr lang="en-US" altLang="zh-CN" b="1">
                <a:solidFill>
                  <a:srgbClr val="080EF6"/>
                </a:solidFill>
                <a:latin typeface="Arial" panose="020B0604020202020204" pitchFamily="34" charset="0"/>
                <a:sym typeface="+mn-ea"/>
              </a:rPr>
              <a:t>-</a:t>
            </a:r>
            <a:r>
              <a:rPr lang="zh-CN" altLang="en-US" b="1">
                <a:solidFill>
                  <a:srgbClr val="080EF6"/>
                </a:solidFill>
                <a:latin typeface="Arial" panose="020B0604020202020204" pitchFamily="34" charset="0"/>
                <a:sym typeface="+mn-ea"/>
              </a:rPr>
              <a:t>冷</a:t>
            </a:r>
            <a:r>
              <a:rPr lang="en-US" altLang="zh-CN" b="1">
                <a:solidFill>
                  <a:srgbClr val="080EF6"/>
                </a:solidFill>
                <a:latin typeface="Arial" panose="020B0604020202020204" pitchFamily="34" charset="0"/>
                <a:sym typeface="+mn-ea"/>
              </a:rPr>
              <a:t>-</a:t>
            </a:r>
            <a:r>
              <a:rPr lang="zh-CN" altLang="en-US" b="1">
                <a:solidFill>
                  <a:srgbClr val="080EF6"/>
                </a:solidFill>
                <a:latin typeface="Arial" panose="020B0604020202020204" pitchFamily="34" charset="0"/>
                <a:sym typeface="+mn-ea"/>
              </a:rPr>
              <a:t>气负荷之间的多元时序关系</a:t>
            </a:r>
            <a:endParaRPr lang="zh-CN" altLang="en-US" b="1">
              <a:solidFill>
                <a:srgbClr val="080EF6"/>
              </a:solidFill>
              <a:latin typeface="Arial" panose="020B0604020202020204" pitchFamily="34" charset="0"/>
              <a:sym typeface="+mn-ea"/>
            </a:endParaRPr>
          </a:p>
        </p:txBody>
      </p:sp>
      <p:sp>
        <p:nvSpPr>
          <p:cNvPr id="29" name="圆角矩形 28"/>
          <p:cNvSpPr/>
          <p:nvPr/>
        </p:nvSpPr>
        <p:spPr>
          <a:xfrm>
            <a:off x="521970" y="5897880"/>
            <a:ext cx="2521585" cy="47561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b="1">
                <a:solidFill>
                  <a:schemeClr val="tx1"/>
                </a:solidFill>
                <a:latin typeface="微软雅黑" panose="020B0503020204020204" pitchFamily="34" charset="-122"/>
                <a:ea typeface="微软雅黑" panose="020B0503020204020204" pitchFamily="34" charset="-122"/>
                <a:sym typeface="+mn-ea"/>
              </a:rPr>
              <a:t>算法：</a:t>
            </a:r>
            <a:r>
              <a:rPr lang="en-US" altLang="zh-CN" b="1">
                <a:solidFill>
                  <a:srgbClr val="FF0000"/>
                </a:solidFill>
                <a:latin typeface="Times New Roman" panose="02020603050405020304" charset="0"/>
                <a:ea typeface="微软雅黑" panose="020B0503020204020204" pitchFamily="34" charset="-122"/>
                <a:cs typeface="Times New Roman" panose="02020603050405020304" charset="0"/>
                <a:sym typeface="+mn-ea"/>
              </a:rPr>
              <a:t>Graph WaveNet</a:t>
            </a:r>
            <a:endParaRPr lang="zh-CN" altLang="en-US" b="1" spc="150" dirty="0" smtClean="0">
              <a:solidFill>
                <a:srgbClr val="00B050"/>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30" name="圆角矩形 29"/>
          <p:cNvSpPr/>
          <p:nvPr/>
        </p:nvSpPr>
        <p:spPr>
          <a:xfrm>
            <a:off x="3340100" y="5897880"/>
            <a:ext cx="2373630" cy="47561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b="1">
                <a:solidFill>
                  <a:schemeClr val="tx1"/>
                </a:solidFill>
                <a:latin typeface="微软雅黑" panose="020B0503020204020204" pitchFamily="34" charset="-122"/>
                <a:ea typeface="微软雅黑" panose="020B0503020204020204" pitchFamily="34" charset="-122"/>
                <a:sym typeface="+mn-ea"/>
              </a:rPr>
              <a:t>算法：</a:t>
            </a:r>
            <a:r>
              <a:rPr lang="en-US" altLang="zh-CN" b="1">
                <a:solidFill>
                  <a:srgbClr val="FF0000"/>
                </a:solidFill>
                <a:latin typeface="Times New Roman" panose="02020603050405020304" charset="0"/>
                <a:ea typeface="微软雅黑" panose="020B0503020204020204" pitchFamily="34" charset="-122"/>
                <a:cs typeface="Times New Roman" panose="02020603050405020304" charset="0"/>
                <a:sym typeface="+mn-ea"/>
              </a:rPr>
              <a:t>STGCN</a:t>
            </a:r>
            <a:endParaRPr lang="en-US" altLang="zh-CN" b="1" spc="150" dirty="0" smtClean="0">
              <a:solidFill>
                <a:srgbClr val="FF0000"/>
              </a:solidFill>
              <a:uFillTx/>
              <a:latin typeface="Times New Roman" panose="02020603050405020304" charset="0"/>
              <a:ea typeface="微软雅黑" panose="020B0503020204020204" pitchFamily="34" charset="-122"/>
              <a:cs typeface="Times New Roman" panose="02020603050405020304" charset="0"/>
              <a:sym typeface="+mn-ea"/>
            </a:endParaRPr>
          </a:p>
        </p:txBody>
      </p:sp>
      <p:sp>
        <p:nvSpPr>
          <p:cNvPr id="31" name="圆角矩形 30"/>
          <p:cNvSpPr/>
          <p:nvPr/>
        </p:nvSpPr>
        <p:spPr>
          <a:xfrm>
            <a:off x="6010275" y="5897880"/>
            <a:ext cx="2406015" cy="47561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b="1">
                <a:solidFill>
                  <a:schemeClr val="tx1"/>
                </a:solidFill>
                <a:latin typeface="微软雅黑" panose="020B0503020204020204" pitchFamily="34" charset="-122"/>
                <a:ea typeface="微软雅黑" panose="020B0503020204020204" pitchFamily="34" charset="-122"/>
                <a:sym typeface="+mn-ea"/>
              </a:rPr>
              <a:t>算法：</a:t>
            </a:r>
            <a:r>
              <a:rPr lang="en-US" altLang="zh-CN" b="1">
                <a:solidFill>
                  <a:srgbClr val="FF0000"/>
                </a:solidFill>
                <a:latin typeface="Times New Roman" panose="02020603050405020304" charset="0"/>
                <a:ea typeface="微软雅黑" panose="020B0503020204020204" pitchFamily="34" charset="-122"/>
                <a:cs typeface="Times New Roman" panose="02020603050405020304" charset="0"/>
                <a:sym typeface="+mn-ea"/>
              </a:rPr>
              <a:t>MTGNN</a:t>
            </a:r>
            <a:endParaRPr lang="en-US" altLang="zh-CN" b="1" spc="150" dirty="0" smtClean="0">
              <a:solidFill>
                <a:srgbClr val="FF0000"/>
              </a:solidFill>
              <a:uFillTx/>
              <a:latin typeface="Times New Roman" panose="02020603050405020304" charset="0"/>
              <a:ea typeface="微软雅黑" panose="020B0503020204020204" pitchFamily="34" charset="-122"/>
              <a:cs typeface="Times New Roman" panose="02020603050405020304" charset="0"/>
              <a:sym typeface="+mn-ea"/>
            </a:endParaRPr>
          </a:p>
        </p:txBody>
      </p:sp>
      <p:sp>
        <p:nvSpPr>
          <p:cNvPr id="32" name="圆角矩形 31"/>
          <p:cNvSpPr/>
          <p:nvPr/>
        </p:nvSpPr>
        <p:spPr>
          <a:xfrm>
            <a:off x="8830945" y="5897880"/>
            <a:ext cx="2717800" cy="47561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b="1">
                <a:solidFill>
                  <a:schemeClr val="tx1"/>
                </a:solidFill>
                <a:latin typeface="微软雅黑" panose="020B0503020204020204" pitchFamily="34" charset="-122"/>
                <a:ea typeface="微软雅黑" panose="020B0503020204020204" pitchFamily="34" charset="-122"/>
                <a:sym typeface="+mn-ea"/>
              </a:rPr>
              <a:t>算法：</a:t>
            </a:r>
            <a:r>
              <a:rPr lang="en-US" altLang="zh-CN" b="1">
                <a:solidFill>
                  <a:srgbClr val="FF0000"/>
                </a:solidFill>
                <a:latin typeface="Times New Roman" panose="02020603050405020304" charset="0"/>
                <a:ea typeface="微软雅黑" panose="020B0503020204020204" pitchFamily="34" charset="-122"/>
                <a:cs typeface="Times New Roman" panose="02020603050405020304" charset="0"/>
                <a:sym typeface="+mn-ea"/>
              </a:rPr>
              <a:t>s-adp STGCN</a:t>
            </a:r>
            <a:endParaRPr lang="en-US" altLang="zh-CN"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cxnSp>
        <p:nvCxnSpPr>
          <p:cNvPr id="13" name="直接连接符 12"/>
          <p:cNvCxnSpPr/>
          <p:nvPr/>
        </p:nvCxnSpPr>
        <p:spPr>
          <a:xfrm flipH="1">
            <a:off x="3187700" y="3992245"/>
            <a:ext cx="10795" cy="248729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5868670" y="3992245"/>
            <a:ext cx="10795" cy="248729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8596630" y="3968750"/>
            <a:ext cx="10795" cy="248729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4" name="图片 3" descr="32313534353139323b32313534353234303bcafdd7d631"/>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5000" y="2618105"/>
            <a:ext cx="450850" cy="450850"/>
          </a:xfrm>
          <a:prstGeom prst="rect">
            <a:avLst/>
          </a:prstGeom>
        </p:spPr>
      </p:pic>
      <p:pic>
        <p:nvPicPr>
          <p:cNvPr id="6" name="图片 5" descr="32313534353139323b32313534353234323bcafdd7d632"/>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043555" y="2606675"/>
            <a:ext cx="462280" cy="462280"/>
          </a:xfrm>
          <a:prstGeom prst="rect">
            <a:avLst/>
          </a:prstGeom>
        </p:spPr>
      </p:pic>
      <p:pic>
        <p:nvPicPr>
          <p:cNvPr id="20" name="图片 19" descr="32313534353139323b32313534353234343bcafdd7d633"/>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59425" y="2606675"/>
            <a:ext cx="450850" cy="450850"/>
          </a:xfrm>
          <a:prstGeom prst="rect">
            <a:avLst/>
          </a:prstGeom>
        </p:spPr>
      </p:pic>
      <p:pic>
        <p:nvPicPr>
          <p:cNvPr id="21" name="图片 20" descr="32313534353139323b32313534353234363bcafdd7d634"/>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369935" y="2625725"/>
            <a:ext cx="434975" cy="434975"/>
          </a:xfrm>
          <a:prstGeom prst="rect">
            <a:avLst/>
          </a:prstGeom>
        </p:spPr>
      </p:pic>
      <p:pic>
        <p:nvPicPr>
          <p:cNvPr id="11" name="图片 10"/>
          <p:cNvPicPr>
            <a:picLocks noChangeAspect="1"/>
          </p:cNvPicPr>
          <p:nvPr>
            <p:custDataLst>
              <p:tags r:id="rId14"/>
            </p:custDataLst>
          </p:nvPr>
        </p:nvPicPr>
        <p:blipFill>
          <a:blip r:embed="rId15"/>
          <a:stretch>
            <a:fillRect/>
          </a:stretch>
        </p:blipFill>
        <p:spPr>
          <a:xfrm>
            <a:off x="8704580" y="3982085"/>
            <a:ext cx="2845435" cy="1765935"/>
          </a:xfrm>
          <a:prstGeom prst="rect">
            <a:avLst/>
          </a:prstGeom>
        </p:spPr>
      </p:pic>
    </p:spTree>
  </p:cSld>
  <p:clrMapOvr>
    <a:masterClrMapping/>
  </p:clrMapOvr>
  <p:transition>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图片 76"/>
          <p:cNvPicPr>
            <a:picLocks noChangeAspect="1"/>
          </p:cNvPicPr>
          <p:nvPr/>
        </p:nvPicPr>
        <p:blipFill>
          <a:blip r:embed="rId1"/>
          <a:stretch>
            <a:fillRect/>
          </a:stretch>
        </p:blipFill>
        <p:spPr>
          <a:xfrm>
            <a:off x="9857740" y="4434205"/>
            <a:ext cx="2325370" cy="1687830"/>
          </a:xfrm>
          <a:prstGeom prst="rect">
            <a:avLst/>
          </a:prstGeom>
        </p:spPr>
      </p:pic>
      <p:pic>
        <p:nvPicPr>
          <p:cNvPr id="11" name="图片 10"/>
          <p:cNvPicPr>
            <a:picLocks noChangeAspect="1"/>
          </p:cNvPicPr>
          <p:nvPr/>
        </p:nvPicPr>
        <p:blipFill>
          <a:blip r:embed="rId2"/>
          <a:srcRect b="3284"/>
          <a:stretch>
            <a:fillRect/>
          </a:stretch>
        </p:blipFill>
        <p:spPr>
          <a:xfrm>
            <a:off x="733425" y="4798695"/>
            <a:ext cx="5183505" cy="1595120"/>
          </a:xfrm>
          <a:prstGeom prst="rect">
            <a:avLst/>
          </a:prstGeom>
        </p:spPr>
      </p:pic>
      <p:pic>
        <p:nvPicPr>
          <p:cNvPr id="7" name="图片 6"/>
          <p:cNvPicPr>
            <a:picLocks noChangeAspect="1"/>
          </p:cNvPicPr>
          <p:nvPr/>
        </p:nvPicPr>
        <p:blipFill>
          <a:blip r:embed="rId3"/>
          <a:stretch>
            <a:fillRect/>
          </a:stretch>
        </p:blipFill>
        <p:spPr>
          <a:xfrm>
            <a:off x="733425" y="2210435"/>
            <a:ext cx="4839970" cy="1638300"/>
          </a:xfrm>
          <a:prstGeom prst="rect">
            <a:avLst/>
          </a:prstGeom>
        </p:spPr>
      </p:pic>
      <p:sp>
        <p:nvSpPr>
          <p:cNvPr id="2" name="内容占位符 1"/>
          <p:cNvSpPr>
            <a:spLocks noGrp="1"/>
          </p:cNvSpPr>
          <p:nvPr>
            <p:ph sz="quarter" idx="13"/>
          </p:nvPr>
        </p:nvSpPr>
        <p:spPr/>
        <p:txBody>
          <a:bodyPr/>
          <a:lstStyle/>
          <a:p>
            <a:r>
              <a:rPr lang="zh-CN" altLang="en-US" dirty="0"/>
              <a:t>课题主要研究、</a:t>
            </a:r>
            <a:r>
              <a:rPr lang="zh-CN" altLang="en-US" dirty="0"/>
              <a:t>工作内容</a:t>
            </a:r>
            <a:endParaRPr lang="zh-CN" altLang="en-US" dirty="0"/>
          </a:p>
        </p:txBody>
      </p:sp>
      <p:sp>
        <p:nvSpPr>
          <p:cNvPr id="3" name="灯片编号占位符 2"/>
          <p:cNvSpPr>
            <a:spLocks noGrp="1"/>
          </p:cNvSpPr>
          <p:nvPr>
            <p:ph type="sldNum" sz="quarter" idx="12"/>
          </p:nvPr>
        </p:nvSpPr>
        <p:spPr/>
        <p:txBody>
          <a:bodyPr/>
          <a:lstStyle/>
          <a:p>
            <a:r>
              <a:rPr lang="en-US" altLang="zh-CN" dirty="0"/>
              <a:t>24</a:t>
            </a:r>
            <a:endParaRPr lang="en-US" altLang="zh-CN" dirty="0"/>
          </a:p>
        </p:txBody>
      </p:sp>
      <p:sp>
        <p:nvSpPr>
          <p:cNvPr id="6" name="矩形: 圆角 5"/>
          <p:cNvSpPr/>
          <p:nvPr/>
        </p:nvSpPr>
        <p:spPr>
          <a:xfrm>
            <a:off x="741045" y="912495"/>
            <a:ext cx="722820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accent1"/>
                </a:solidFill>
                <a:latin typeface="微软雅黑" panose="020B0503020204020204" pitchFamily="34" charset="-122"/>
                <a:ea typeface="微软雅黑" panose="020B0503020204020204" pitchFamily="34" charset="-122"/>
                <a:sym typeface="+mn-ea"/>
              </a:rPr>
              <a:t>课题主要研究、工作内容</a:t>
            </a:r>
            <a:r>
              <a:rPr lang="zh-CN" altLang="en-US" sz="2400" dirty="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4"/>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spc="100" dirty="0">
                <a:blipFill>
                  <a:blip r:embed="rId4"/>
                  <a:stretch>
                    <a:fillRect/>
                  </a:stretch>
                </a:blipFill>
                <a:latin typeface="微软雅黑" panose="020B0503020204020204" pitchFamily="34" charset="-122"/>
                <a:ea typeface="微软雅黑" panose="020B0503020204020204" pitchFamily="34" charset="-122"/>
                <a:sym typeface="Wingdings 3" panose="05040102010807070707" pitchFamily="18" charset="2"/>
              </a:rPr>
              <a:t>预备知识</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28" name="圆角矩形 27"/>
          <p:cNvSpPr/>
          <p:nvPr/>
        </p:nvSpPr>
        <p:spPr>
          <a:xfrm>
            <a:off x="437515" y="1456055"/>
            <a:ext cx="2497455" cy="573405"/>
          </a:xfrm>
          <a:prstGeom prst="roundRect">
            <a:avLst>
              <a:gd name="adj" fmla="val 6809"/>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b="1" dirty="0">
                <a:solidFill>
                  <a:srgbClr val="FF0000"/>
                </a:solidFill>
                <a:latin typeface="微软雅黑" panose="020B0503020204020204" pitchFamily="34" charset="-122"/>
                <a:ea typeface="微软雅黑" panose="020B0503020204020204" pitchFamily="34" charset="-122"/>
                <a:sym typeface="+mn-ea"/>
              </a:rPr>
              <a:t>时空网格数据</a:t>
            </a:r>
            <a:endParaRPr lang="zh-CN" altLang="en-US" sz="2400" b="1" dirty="0">
              <a:solidFill>
                <a:srgbClr val="FF0000"/>
              </a:solidFill>
              <a:latin typeface="微软雅黑" panose="020B0503020204020204" pitchFamily="34" charset="-122"/>
              <a:ea typeface="微软雅黑" panose="020B0503020204020204" pitchFamily="34" charset="-122"/>
              <a:sym typeface="+mn-ea"/>
            </a:endParaRPr>
          </a:p>
        </p:txBody>
      </p:sp>
      <p:sp>
        <p:nvSpPr>
          <p:cNvPr id="42" name="圆角矩形 41"/>
          <p:cNvSpPr/>
          <p:nvPr/>
        </p:nvSpPr>
        <p:spPr>
          <a:xfrm>
            <a:off x="437515" y="2189480"/>
            <a:ext cx="9424035" cy="1680210"/>
          </a:xfrm>
          <a:prstGeom prst="roundRect">
            <a:avLst>
              <a:gd name="adj" fmla="val 3913"/>
            </a:avLst>
          </a:prstGeom>
          <a:noFill/>
          <a:ln w="19050">
            <a:solidFill>
              <a:schemeClr val="accent4">
                <a:lumMod val="75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 name="圆角矩形 43"/>
          <p:cNvSpPr/>
          <p:nvPr/>
        </p:nvSpPr>
        <p:spPr>
          <a:xfrm>
            <a:off x="10008235" y="1459230"/>
            <a:ext cx="1892300" cy="2567305"/>
          </a:xfrm>
          <a:prstGeom prst="roundRect">
            <a:avLst>
              <a:gd name="adj" fmla="val 3505"/>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36195" algn="l" fontAlgn="auto">
              <a:lnSpc>
                <a:spcPct val="120000"/>
              </a:lnSpc>
            </a:pPr>
            <a:r>
              <a:rPr lang="en-US" altLang="zh-CN" sz="2400" b="1">
                <a:solidFill>
                  <a:schemeClr val="tx1"/>
                </a:solidFill>
                <a:latin typeface="Times New Roman" panose="02020603050405020304" charset="0"/>
                <a:ea typeface="微软雅黑" panose="020B0503020204020204" pitchFamily="34" charset="-122"/>
                <a:cs typeface="Times New Roman" panose="02020603050405020304" charset="0"/>
              </a:rPr>
              <a:t>不同之处：时空图数据涉及的区域的</a:t>
            </a:r>
            <a:r>
              <a:rPr lang="en-US" altLang="zh-CN" sz="2400" b="1">
                <a:solidFill>
                  <a:srgbClr val="080EF6"/>
                </a:solidFill>
                <a:highlight>
                  <a:srgbClr val="FFFF00"/>
                </a:highlight>
                <a:latin typeface="Times New Roman" panose="02020603050405020304" charset="0"/>
                <a:ea typeface="微软雅黑" panose="020B0503020204020204" pitchFamily="34" charset="-122"/>
                <a:cs typeface="Times New Roman" panose="02020603050405020304" charset="0"/>
              </a:rPr>
              <a:t>空间分布是不规则的</a:t>
            </a:r>
            <a:endParaRPr lang="en-US" altLang="zh-CN" sz="2400" b="1">
              <a:solidFill>
                <a:srgbClr val="080EF6"/>
              </a:solidFill>
              <a:highlight>
                <a:srgbClr val="FFFF00"/>
              </a:highlight>
              <a:latin typeface="Times New Roman" panose="02020603050405020304" charset="0"/>
              <a:ea typeface="微软雅黑" panose="020B0503020204020204" pitchFamily="34" charset="-122"/>
              <a:cs typeface="Times New Roman" panose="02020603050405020304" charset="0"/>
            </a:endParaRPr>
          </a:p>
        </p:txBody>
      </p:sp>
      <p:sp>
        <p:nvSpPr>
          <p:cNvPr id="4" name="圆角矩形 3"/>
          <p:cNvSpPr/>
          <p:nvPr/>
        </p:nvSpPr>
        <p:spPr>
          <a:xfrm>
            <a:off x="437515" y="4026535"/>
            <a:ext cx="2497455" cy="573405"/>
          </a:xfrm>
          <a:prstGeom prst="roundRect">
            <a:avLst>
              <a:gd name="adj" fmla="val 6809"/>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b="1" dirty="0">
                <a:solidFill>
                  <a:srgbClr val="FF0000"/>
                </a:solidFill>
                <a:latin typeface="微软雅黑" panose="020B0503020204020204" pitchFamily="34" charset="-122"/>
                <a:ea typeface="微软雅黑" panose="020B0503020204020204" pitchFamily="34" charset="-122"/>
                <a:sym typeface="+mn-ea"/>
              </a:rPr>
              <a:t>时空图数据</a:t>
            </a:r>
            <a:endParaRPr lang="zh-CN" altLang="en-US" sz="2400" b="1" dirty="0">
              <a:solidFill>
                <a:srgbClr val="FF0000"/>
              </a:solidFill>
              <a:latin typeface="微软雅黑" panose="020B0503020204020204" pitchFamily="34" charset="-122"/>
              <a:ea typeface="微软雅黑" panose="020B0503020204020204" pitchFamily="34" charset="-122"/>
              <a:sym typeface="+mn-ea"/>
            </a:endParaRPr>
          </a:p>
        </p:txBody>
      </p:sp>
      <p:pic>
        <p:nvPicPr>
          <p:cNvPr id="8" name="图片 7"/>
          <p:cNvPicPr>
            <a:picLocks noChangeAspect="1"/>
          </p:cNvPicPr>
          <p:nvPr/>
        </p:nvPicPr>
        <p:blipFill>
          <a:blip r:embed="rId5"/>
          <a:stretch>
            <a:fillRect/>
          </a:stretch>
        </p:blipFill>
        <p:spPr>
          <a:xfrm>
            <a:off x="5916930" y="2345055"/>
            <a:ext cx="1601470" cy="1371600"/>
          </a:xfrm>
          <a:prstGeom prst="rect">
            <a:avLst/>
          </a:prstGeom>
        </p:spPr>
      </p:pic>
      <p:pic>
        <p:nvPicPr>
          <p:cNvPr id="9" name="图片 8"/>
          <p:cNvPicPr>
            <a:picLocks noChangeAspect="1"/>
          </p:cNvPicPr>
          <p:nvPr/>
        </p:nvPicPr>
        <p:blipFill>
          <a:blip r:embed="rId6"/>
          <a:stretch>
            <a:fillRect/>
          </a:stretch>
        </p:blipFill>
        <p:spPr>
          <a:xfrm>
            <a:off x="7847965" y="2355850"/>
            <a:ext cx="1579880" cy="1377315"/>
          </a:xfrm>
          <a:prstGeom prst="rect">
            <a:avLst/>
          </a:prstGeom>
        </p:spPr>
      </p:pic>
      <p:sp>
        <p:nvSpPr>
          <p:cNvPr id="41" name="圆角矩形 40"/>
          <p:cNvSpPr/>
          <p:nvPr/>
        </p:nvSpPr>
        <p:spPr>
          <a:xfrm>
            <a:off x="3628390" y="1459230"/>
            <a:ext cx="6232525" cy="576580"/>
          </a:xfrm>
          <a:prstGeom prst="roundRect">
            <a:avLst>
              <a:gd name="adj" fmla="val 6809"/>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36195" algn="l" fontAlgn="auto">
              <a:lnSpc>
                <a:spcPct val="120000"/>
              </a:lnSpc>
            </a:pPr>
            <a:r>
              <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rPr>
              <a:t>时空网格数据：在固定的连续空间区域上，以固定时间间隔采样得到的观测指标。</a:t>
            </a:r>
            <a:endParaRPr lang="zh-CN" altLang="en-US" sz="1600" b="1">
              <a:solidFill>
                <a:schemeClr val="tx1"/>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45" name="圆角矩形 44"/>
          <p:cNvSpPr/>
          <p:nvPr/>
        </p:nvSpPr>
        <p:spPr>
          <a:xfrm>
            <a:off x="3628390" y="4023360"/>
            <a:ext cx="6233795" cy="576580"/>
          </a:xfrm>
          <a:prstGeom prst="roundRect">
            <a:avLst>
              <a:gd name="adj" fmla="val 6809"/>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36195" algn="l" fontAlgn="auto">
              <a:lnSpc>
                <a:spcPct val="120000"/>
              </a:lnSpc>
            </a:pPr>
            <a:r>
              <a:rPr lang="zh-CN" altLang="en-US"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rPr>
              <a:t>时空图数据：也是在固定的连续空间区域上，以固定时间间隔采样得到的数据</a:t>
            </a:r>
            <a:endParaRPr lang="zh-CN" altLang="en-US" sz="1600" b="1" spc="100">
              <a:solidFill>
                <a:schemeClr val="tx1"/>
              </a:solidFill>
              <a:uFillTx/>
              <a:latin typeface="Times New Roman" panose="02020603050405020304" charset="0"/>
              <a:ea typeface="微软雅黑" panose="020B0503020204020204" pitchFamily="34" charset="-122"/>
              <a:cs typeface="Times New Roman" panose="02020603050405020304" charset="0"/>
              <a:sym typeface="+mn-ea"/>
            </a:endParaRPr>
          </a:p>
        </p:txBody>
      </p:sp>
      <p:sp>
        <p:nvSpPr>
          <p:cNvPr id="46" name="圆角矩形 45"/>
          <p:cNvSpPr/>
          <p:nvPr/>
        </p:nvSpPr>
        <p:spPr>
          <a:xfrm>
            <a:off x="437515" y="4753610"/>
            <a:ext cx="9424035" cy="1680210"/>
          </a:xfrm>
          <a:prstGeom prst="roundRect">
            <a:avLst>
              <a:gd name="adj" fmla="val 3913"/>
            </a:avLst>
          </a:prstGeom>
          <a:noFill/>
          <a:ln w="19050">
            <a:solidFill>
              <a:schemeClr val="accent4">
                <a:lumMod val="75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47" name="图片 46"/>
          <p:cNvPicPr>
            <a:picLocks noChangeAspect="1"/>
          </p:cNvPicPr>
          <p:nvPr/>
        </p:nvPicPr>
        <p:blipFill>
          <a:blip r:embed="rId5"/>
          <a:stretch>
            <a:fillRect/>
          </a:stretch>
        </p:blipFill>
        <p:spPr>
          <a:xfrm>
            <a:off x="5944870" y="4906645"/>
            <a:ext cx="1601470" cy="1371600"/>
          </a:xfrm>
          <a:prstGeom prst="rect">
            <a:avLst/>
          </a:prstGeom>
        </p:spPr>
      </p:pic>
      <p:pic>
        <p:nvPicPr>
          <p:cNvPr id="48" name="图片 47"/>
          <p:cNvPicPr>
            <a:picLocks noChangeAspect="1"/>
          </p:cNvPicPr>
          <p:nvPr/>
        </p:nvPicPr>
        <p:blipFill>
          <a:blip r:embed="rId5"/>
          <a:stretch>
            <a:fillRect/>
          </a:stretch>
        </p:blipFill>
        <p:spPr>
          <a:xfrm>
            <a:off x="7847330" y="4906645"/>
            <a:ext cx="1581150" cy="1371600"/>
          </a:xfrm>
          <a:prstGeom prst="rect">
            <a:avLst/>
          </a:prstGeom>
        </p:spPr>
      </p:pic>
      <p:pic>
        <p:nvPicPr>
          <p:cNvPr id="54" name="图片 53" descr="templates\docerresourceshop\icons\\343538343130363b343538383239363bd7f8b1ea"/>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96655" y="5229225"/>
            <a:ext cx="149225" cy="149225"/>
          </a:xfrm>
          <a:prstGeom prst="rect">
            <a:avLst/>
          </a:prstGeom>
        </p:spPr>
      </p:pic>
      <p:pic>
        <p:nvPicPr>
          <p:cNvPr id="55" name="图片 54" descr="templates\docerresourceshop\icons\\343538343130363b343538383239363bd7f8b1ea"/>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99475" y="5349875"/>
            <a:ext cx="149225" cy="149225"/>
          </a:xfrm>
          <a:prstGeom prst="rect">
            <a:avLst/>
          </a:prstGeom>
        </p:spPr>
      </p:pic>
      <p:pic>
        <p:nvPicPr>
          <p:cNvPr id="57" name="图片 56" descr="templates\docerresourceshop\icons\\343538343130363b343538383239363bd7f8b1ea"/>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50555" y="5421630"/>
            <a:ext cx="149225" cy="149225"/>
          </a:xfrm>
          <a:prstGeom prst="rect">
            <a:avLst/>
          </a:prstGeom>
        </p:spPr>
      </p:pic>
      <p:pic>
        <p:nvPicPr>
          <p:cNvPr id="58" name="图片 57" descr="templates\docerresourceshop\icons\\343538343130363b343538383239363bd7f8b1ea"/>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88655" y="6084570"/>
            <a:ext cx="149225" cy="149225"/>
          </a:xfrm>
          <a:prstGeom prst="rect">
            <a:avLst/>
          </a:prstGeom>
        </p:spPr>
      </p:pic>
      <p:pic>
        <p:nvPicPr>
          <p:cNvPr id="59" name="图片 58" descr="templates\docerresourceshop\icons\\343538343130363b343538383239363bd7f8b1ea"/>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43010" y="5863590"/>
            <a:ext cx="149225" cy="149225"/>
          </a:xfrm>
          <a:prstGeom prst="rect">
            <a:avLst/>
          </a:prstGeom>
        </p:spPr>
      </p:pic>
      <p:pic>
        <p:nvPicPr>
          <p:cNvPr id="60" name="图片 59" descr="templates\docerresourceshop\icons\\343538343130363b343538383239363bd7f8b1ea"/>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60690" y="5765165"/>
            <a:ext cx="149225" cy="149225"/>
          </a:xfrm>
          <a:prstGeom prst="rect">
            <a:avLst/>
          </a:prstGeom>
        </p:spPr>
      </p:pic>
      <p:pic>
        <p:nvPicPr>
          <p:cNvPr id="61" name="图片 60" descr="templates\docerresourceshop\icons\\343538343130363b343538383239363bd7f8b1ea"/>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01330" y="5128895"/>
            <a:ext cx="149225" cy="149225"/>
          </a:xfrm>
          <a:prstGeom prst="rect">
            <a:avLst/>
          </a:prstGeom>
        </p:spPr>
      </p:pic>
      <p:pic>
        <p:nvPicPr>
          <p:cNvPr id="62" name="图片 61" descr="templates\docerresourceshop\icons\\343538343130363b343538383239363bd7f8b1ea"/>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88655" y="4951095"/>
            <a:ext cx="149225" cy="149225"/>
          </a:xfrm>
          <a:prstGeom prst="rect">
            <a:avLst/>
          </a:prstGeom>
        </p:spPr>
      </p:pic>
      <p:pic>
        <p:nvPicPr>
          <p:cNvPr id="63" name="图片 62" descr="templates\docerresourceshop\icons\\343538343130363b343538383239363bd7f8b1ea"/>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29930" y="5570855"/>
            <a:ext cx="149225" cy="149225"/>
          </a:xfrm>
          <a:prstGeom prst="rect">
            <a:avLst/>
          </a:prstGeom>
        </p:spPr>
      </p:pic>
      <p:cxnSp>
        <p:nvCxnSpPr>
          <p:cNvPr id="64" name="直接连接符 63"/>
          <p:cNvCxnSpPr>
            <a:stCxn id="62" idx="2"/>
            <a:endCxn id="53" idx="2"/>
          </p:cNvCxnSpPr>
          <p:nvPr/>
        </p:nvCxnSpPr>
        <p:spPr>
          <a:xfrm>
            <a:off x="8363585" y="5100320"/>
            <a:ext cx="190500" cy="1778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53" name="图片 52" descr="templates\docerresourceshop\icons\\343538343130363b343538383239363bd7f8b1ea"/>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79155" y="5128895"/>
            <a:ext cx="149225" cy="149225"/>
          </a:xfrm>
          <a:prstGeom prst="rect">
            <a:avLst/>
          </a:prstGeom>
        </p:spPr>
      </p:pic>
      <p:cxnSp>
        <p:nvCxnSpPr>
          <p:cNvPr id="65" name="直接连接符 64"/>
          <p:cNvCxnSpPr>
            <a:stCxn id="54" idx="2"/>
            <a:endCxn id="55" idx="2"/>
          </p:cNvCxnSpPr>
          <p:nvPr/>
        </p:nvCxnSpPr>
        <p:spPr>
          <a:xfrm flipH="1">
            <a:off x="8574405" y="5378450"/>
            <a:ext cx="297180" cy="1206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stCxn id="55" idx="2"/>
            <a:endCxn id="56" idx="2"/>
          </p:cNvCxnSpPr>
          <p:nvPr/>
        </p:nvCxnSpPr>
        <p:spPr>
          <a:xfrm>
            <a:off x="8574405" y="5499100"/>
            <a:ext cx="102235" cy="22098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56" name="图片 55" descr="templates\docerresourceshop\icons\\343538343130363b343538383239363bd7f8b1ea"/>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01710" y="5570855"/>
            <a:ext cx="149225" cy="149225"/>
          </a:xfrm>
          <a:prstGeom prst="rect">
            <a:avLst/>
          </a:prstGeom>
        </p:spPr>
      </p:pic>
      <p:cxnSp>
        <p:nvCxnSpPr>
          <p:cNvPr id="67" name="直接连接符 66"/>
          <p:cNvCxnSpPr>
            <a:stCxn id="59" idx="2"/>
            <a:endCxn id="56" idx="2"/>
          </p:cNvCxnSpPr>
          <p:nvPr/>
        </p:nvCxnSpPr>
        <p:spPr>
          <a:xfrm flipH="1" flipV="1">
            <a:off x="8676640" y="5720080"/>
            <a:ext cx="241300" cy="29273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53" idx="2"/>
            <a:endCxn id="61" idx="2"/>
          </p:cNvCxnSpPr>
          <p:nvPr/>
        </p:nvCxnSpPr>
        <p:spPr>
          <a:xfrm flipH="1">
            <a:off x="8176260" y="5278120"/>
            <a:ext cx="37782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61" idx="2"/>
            <a:endCxn id="57" idx="2"/>
          </p:cNvCxnSpPr>
          <p:nvPr/>
        </p:nvCxnSpPr>
        <p:spPr>
          <a:xfrm>
            <a:off x="8176260" y="5278120"/>
            <a:ext cx="149225" cy="29273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8135620" y="5720080"/>
            <a:ext cx="269240" cy="19431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60" idx="2"/>
            <a:endCxn id="58" idx="2"/>
          </p:cNvCxnSpPr>
          <p:nvPr/>
        </p:nvCxnSpPr>
        <p:spPr>
          <a:xfrm>
            <a:off x="8135620" y="5914390"/>
            <a:ext cx="227965" cy="31940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a:endCxn id="63" idx="2"/>
          </p:cNvCxnSpPr>
          <p:nvPr/>
        </p:nvCxnSpPr>
        <p:spPr>
          <a:xfrm>
            <a:off x="8319770" y="5554345"/>
            <a:ext cx="85090" cy="16573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55" idx="2"/>
            <a:endCxn id="63" idx="2"/>
          </p:cNvCxnSpPr>
          <p:nvPr/>
        </p:nvCxnSpPr>
        <p:spPr>
          <a:xfrm flipH="1">
            <a:off x="8404860" y="5499100"/>
            <a:ext cx="169545" cy="22098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omb/>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lstStyle/>
          <a:p>
            <a:r>
              <a:rPr lang="zh-CN" altLang="en-US" dirty="0"/>
              <a:t>课题主要研究、</a:t>
            </a:r>
            <a:r>
              <a:rPr lang="zh-CN" altLang="en-US" dirty="0"/>
              <a:t>工作内容</a:t>
            </a:r>
            <a:endParaRPr lang="zh-CN" altLang="en-US" dirty="0"/>
          </a:p>
        </p:txBody>
      </p:sp>
      <p:sp>
        <p:nvSpPr>
          <p:cNvPr id="3" name="灯片编号占位符 2"/>
          <p:cNvSpPr>
            <a:spLocks noGrp="1"/>
          </p:cNvSpPr>
          <p:nvPr>
            <p:ph type="sldNum" sz="quarter" idx="12"/>
          </p:nvPr>
        </p:nvSpPr>
        <p:spPr/>
        <p:txBody>
          <a:bodyPr/>
          <a:lstStyle/>
          <a:p>
            <a:r>
              <a:rPr lang="en-US" altLang="zh-CN" dirty="0"/>
              <a:t>25</a:t>
            </a:r>
            <a:endParaRPr lang="en-US" altLang="zh-CN" dirty="0"/>
          </a:p>
        </p:txBody>
      </p:sp>
      <p:sp>
        <p:nvSpPr>
          <p:cNvPr id="6" name="矩形: 圆角 5"/>
          <p:cNvSpPr/>
          <p:nvPr/>
        </p:nvSpPr>
        <p:spPr>
          <a:xfrm>
            <a:off x="741045" y="912495"/>
            <a:ext cx="722820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accent1"/>
                </a:solidFill>
                <a:latin typeface="微软雅黑" panose="020B0503020204020204" pitchFamily="34" charset="-122"/>
                <a:ea typeface="微软雅黑" panose="020B0503020204020204" pitchFamily="34" charset="-122"/>
                <a:sym typeface="+mn-ea"/>
              </a:rPr>
              <a:t>课题主要研究、工作内容</a:t>
            </a:r>
            <a:r>
              <a:rPr lang="zh-CN" altLang="en-US" sz="2400" dirty="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预备知识</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1322705" y="3539490"/>
            <a:ext cx="2083435" cy="368300"/>
          </a:xfrm>
          <a:prstGeom prst="rect">
            <a:avLst/>
          </a:prstGeom>
          <a:noFill/>
        </p:spPr>
        <p:txBody>
          <a:bodyPr wrap="square" rtlCol="0" anchor="t">
            <a:spAutoFit/>
          </a:bodyPr>
          <a:p>
            <a:r>
              <a:rPr lang="zh-CN" altLang="en-US">
                <a:latin typeface="Times New Roman" panose="02020603050405020304" charset="0"/>
                <a:ea typeface="微软雅黑" panose="020B0503020204020204" pitchFamily="34" charset="-122"/>
                <a:cs typeface="Times New Roman" panose="02020603050405020304" charset="0"/>
                <a:sym typeface="+mn-ea"/>
              </a:rPr>
              <a:t>图</a:t>
            </a:r>
            <a:r>
              <a:rPr lang="en-US" altLang="zh-CN">
                <a:latin typeface="Times New Roman" panose="02020603050405020304" charset="0"/>
                <a:ea typeface="微软雅黑" panose="020B0503020204020204" pitchFamily="34" charset="-122"/>
                <a:cs typeface="Times New Roman" panose="02020603050405020304" charset="0"/>
                <a:sym typeface="+mn-ea"/>
              </a:rPr>
              <a:t>1 </a:t>
            </a:r>
            <a:r>
              <a:rPr lang="zh-CN" altLang="en-US">
                <a:latin typeface="Times New Roman" panose="02020603050405020304" charset="0"/>
                <a:ea typeface="微软雅黑" panose="020B0503020204020204" pitchFamily="34" charset="-122"/>
                <a:cs typeface="Times New Roman" panose="02020603050405020304" charset="0"/>
                <a:sym typeface="+mn-ea"/>
              </a:rPr>
              <a:t>两种数据结构</a:t>
            </a:r>
            <a:endParaRPr lang="zh-CN" altLang="en-US">
              <a:latin typeface="Times New Roman" panose="02020603050405020304" charset="0"/>
              <a:ea typeface="微软雅黑" panose="020B0503020204020204" pitchFamily="34" charset="-122"/>
              <a:cs typeface="Times New Roman" panose="02020603050405020304" charset="0"/>
              <a:sym typeface="+mn-ea"/>
            </a:endParaRPr>
          </a:p>
        </p:txBody>
      </p:sp>
      <p:pic>
        <p:nvPicPr>
          <p:cNvPr id="21" name="图片 20" descr="新建 PPTX 演示文稿_04"/>
          <p:cNvPicPr>
            <a:picLocks noChangeAspect="1"/>
          </p:cNvPicPr>
          <p:nvPr>
            <p:custDataLst>
              <p:tags r:id="rId2"/>
            </p:custDataLst>
          </p:nvPr>
        </p:nvPicPr>
        <p:blipFill>
          <a:blip r:embed="rId3"/>
          <a:srcRect l="22164" t="26281" r="22601" b="30726"/>
          <a:stretch>
            <a:fillRect/>
          </a:stretch>
        </p:blipFill>
        <p:spPr>
          <a:xfrm>
            <a:off x="291465" y="1513205"/>
            <a:ext cx="3801110" cy="1664335"/>
          </a:xfrm>
          <a:prstGeom prst="rect">
            <a:avLst/>
          </a:prstGeom>
        </p:spPr>
      </p:pic>
      <p:sp>
        <p:nvSpPr>
          <p:cNvPr id="22" name="文本框 21"/>
          <p:cNvSpPr txBox="1"/>
          <p:nvPr/>
        </p:nvSpPr>
        <p:spPr>
          <a:xfrm>
            <a:off x="525780" y="3142615"/>
            <a:ext cx="1300480" cy="275590"/>
          </a:xfrm>
          <a:prstGeom prst="rect">
            <a:avLst/>
          </a:prstGeom>
          <a:noFill/>
        </p:spPr>
        <p:txBody>
          <a:bodyPr wrap="square" rtlCol="0" anchor="t">
            <a:spAutoFit/>
          </a:bodyPr>
          <a:p>
            <a:r>
              <a:rPr lang="en-US" altLang="zh-CN" sz="1200">
                <a:latin typeface="Times New Roman" panose="02020603050405020304" charset="0"/>
                <a:ea typeface="微软雅黑" panose="020B0503020204020204" pitchFamily="34" charset="-122"/>
                <a:cs typeface="Times New Roman" panose="02020603050405020304" charset="0"/>
                <a:sym typeface="+mn-ea"/>
              </a:rPr>
              <a:t>(a)</a:t>
            </a:r>
            <a:r>
              <a:rPr lang="zh-CN" altLang="en-US" sz="1200">
                <a:latin typeface="Times New Roman" panose="02020603050405020304" charset="0"/>
                <a:ea typeface="微软雅黑" panose="020B0503020204020204" pitchFamily="34" charset="-122"/>
                <a:cs typeface="Times New Roman" panose="02020603050405020304" charset="0"/>
                <a:sym typeface="+mn-ea"/>
              </a:rPr>
              <a:t>欧式数据结构</a:t>
            </a:r>
            <a:endParaRPr lang="zh-CN" altLang="en-US" sz="1200">
              <a:latin typeface="Times New Roman" panose="02020603050405020304" charset="0"/>
              <a:ea typeface="微软雅黑" panose="020B0503020204020204" pitchFamily="34" charset="-122"/>
              <a:cs typeface="Times New Roman" panose="02020603050405020304" charset="0"/>
              <a:sym typeface="+mn-ea"/>
            </a:endParaRPr>
          </a:p>
        </p:txBody>
      </p:sp>
      <p:sp>
        <p:nvSpPr>
          <p:cNvPr id="23" name="文本框 22"/>
          <p:cNvSpPr txBox="1"/>
          <p:nvPr/>
        </p:nvSpPr>
        <p:spPr>
          <a:xfrm>
            <a:off x="2560320" y="3142615"/>
            <a:ext cx="1480185" cy="275590"/>
          </a:xfrm>
          <a:prstGeom prst="rect">
            <a:avLst/>
          </a:prstGeom>
          <a:noFill/>
        </p:spPr>
        <p:txBody>
          <a:bodyPr wrap="square" rtlCol="0" anchor="t">
            <a:spAutoFit/>
          </a:bodyPr>
          <a:p>
            <a:r>
              <a:rPr lang="en-US" altLang="zh-CN" sz="1200">
                <a:latin typeface="Times New Roman" panose="02020603050405020304" charset="0"/>
                <a:ea typeface="微软雅黑" panose="020B0503020204020204" pitchFamily="34" charset="-122"/>
                <a:cs typeface="Times New Roman" panose="02020603050405020304" charset="0"/>
                <a:sym typeface="+mn-ea"/>
              </a:rPr>
              <a:t>(b)</a:t>
            </a:r>
            <a:r>
              <a:rPr lang="zh-CN" altLang="en-US" sz="1200">
                <a:latin typeface="Times New Roman" panose="02020603050405020304" charset="0"/>
                <a:ea typeface="微软雅黑" panose="020B0503020204020204" pitchFamily="34" charset="-122"/>
                <a:cs typeface="Times New Roman" panose="02020603050405020304" charset="0"/>
                <a:sym typeface="+mn-ea"/>
              </a:rPr>
              <a:t>非欧式数据结构</a:t>
            </a:r>
            <a:endParaRPr lang="zh-CN" altLang="en-US" sz="1200">
              <a:latin typeface="Times New Roman" panose="02020603050405020304" charset="0"/>
              <a:ea typeface="微软雅黑" panose="020B0503020204020204" pitchFamily="34" charset="-122"/>
              <a:cs typeface="Times New Roman" panose="02020603050405020304" charset="0"/>
              <a:sym typeface="+mn-ea"/>
            </a:endParaRPr>
          </a:p>
        </p:txBody>
      </p:sp>
      <p:sp>
        <p:nvSpPr>
          <p:cNvPr id="29" name="圆角矩形 28"/>
          <p:cNvSpPr/>
          <p:nvPr/>
        </p:nvSpPr>
        <p:spPr>
          <a:xfrm>
            <a:off x="4554220" y="1543050"/>
            <a:ext cx="2212340" cy="3049905"/>
          </a:xfrm>
          <a:prstGeom prst="roundRect">
            <a:avLst>
              <a:gd name="adj" fmla="val 0"/>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53975" algn="l" fontAlgn="auto">
              <a:lnSpc>
                <a:spcPct val="130000"/>
              </a:lnSpc>
            </a:pPr>
            <a:r>
              <a:rPr lang="zh-CN" altLang="en-US" b="1">
                <a:solidFill>
                  <a:srgbClr val="FF0000"/>
                </a:solidFill>
                <a:latin typeface="微软雅黑" panose="020B0503020204020204" pitchFamily="34" charset="-122"/>
                <a:ea typeface="微软雅黑" panose="020B0503020204020204" pitchFamily="34" charset="-122"/>
                <a:sym typeface="+mn-ea"/>
              </a:rPr>
              <a:t>在实际电力系统中，数据大都以非欧式结构存在的，并具有高维特征和节点间相互依赖的图结构关系。</a:t>
            </a:r>
            <a:r>
              <a:rPr lang="zh-CN" altLang="en-US" b="1">
                <a:solidFill>
                  <a:schemeClr val="tx1"/>
                </a:solidFill>
                <a:latin typeface="微软雅黑" panose="020B0503020204020204" pitchFamily="34" charset="-122"/>
                <a:ea typeface="微软雅黑" panose="020B0503020204020204" pitchFamily="34" charset="-122"/>
                <a:sym typeface="+mn-ea"/>
              </a:rPr>
              <a:t>如充电负荷、元胞负荷、电网拓扑</a:t>
            </a:r>
            <a:r>
              <a:rPr lang="zh-CN" altLang="en-US" b="1">
                <a:solidFill>
                  <a:schemeClr val="tx1"/>
                </a:solidFill>
                <a:latin typeface="微软雅黑" panose="020B0503020204020204" pitchFamily="34" charset="-122"/>
                <a:ea typeface="微软雅黑" panose="020B0503020204020204" pitchFamily="34" charset="-122"/>
                <a:sym typeface="+mn-ea"/>
              </a:rPr>
              <a:t>结构等。</a:t>
            </a:r>
            <a:endParaRPr lang="zh-CN" altLang="en-US" b="1" spc="150" dirty="0" smtClean="0">
              <a:solidFill>
                <a:schemeClr val="tx1"/>
              </a:solidFill>
              <a:uFillTx/>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1897380" y="1513205"/>
            <a:ext cx="385445" cy="1599565"/>
          </a:xfrm>
          <a:prstGeom prst="rect">
            <a:avLst/>
          </a:prstGeom>
          <a:solidFill>
            <a:schemeClr val="accent5">
              <a:lumMod val="20000"/>
              <a:lumOff val="80000"/>
            </a:schemeClr>
          </a:solidFill>
          <a:ln w="9525">
            <a:noFill/>
          </a:ln>
          <a:effectLst>
            <a:outerShdw blurRad="50800" dist="38100" dir="2700000" algn="tl" rotWithShape="0">
              <a:prstClr val="black">
                <a:alpha val="40000"/>
              </a:prstClr>
            </a:outerShdw>
          </a:effectLst>
        </p:spPr>
        <p:txBody>
          <a:bodyPr wrap="square">
            <a:spAutoFit/>
          </a:bodyPr>
          <a:p>
            <a:pPr indent="0"/>
            <a:r>
              <a:rPr lang="zh-CN" sz="1400" b="1">
                <a:solidFill>
                  <a:srgbClr val="FF0000"/>
                </a:solidFill>
                <a:latin typeface="微软雅黑" panose="020B0503020204020204" pitchFamily="34" charset="-122"/>
                <a:ea typeface="微软雅黑" panose="020B0503020204020204" pitchFamily="34" charset="-122"/>
              </a:rPr>
              <a:t>整齐</a:t>
            </a:r>
            <a:r>
              <a:rPr lang="zh-CN" sz="1400" b="1">
                <a:solidFill>
                  <a:srgbClr val="FF0000"/>
                </a:solidFill>
                <a:latin typeface="微软雅黑" panose="020B0503020204020204" pitchFamily="34" charset="-122"/>
                <a:ea typeface="微软雅黑" panose="020B0503020204020204" pitchFamily="34" charset="-122"/>
              </a:rPr>
              <a:t>固定的排序</a:t>
            </a:r>
            <a:endParaRPr lang="zh-CN" altLang="en-US" sz="1400" b="1">
              <a:solidFill>
                <a:srgbClr val="FF0000"/>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3989070" y="1543050"/>
            <a:ext cx="377190" cy="1599565"/>
          </a:xfrm>
          <a:prstGeom prst="rect">
            <a:avLst/>
          </a:prstGeom>
          <a:solidFill>
            <a:schemeClr val="accent5">
              <a:lumMod val="20000"/>
              <a:lumOff val="80000"/>
            </a:schemeClr>
          </a:solidFill>
          <a:ln w="9525">
            <a:noFill/>
          </a:ln>
          <a:effectLst>
            <a:outerShdw blurRad="50800" dist="38100" dir="2700000" algn="tl" rotWithShape="0">
              <a:prstClr val="black">
                <a:alpha val="40000"/>
              </a:prstClr>
            </a:outerShdw>
          </a:effectLst>
        </p:spPr>
        <p:txBody>
          <a:bodyPr wrap="square">
            <a:spAutoFit/>
          </a:bodyPr>
          <a:p>
            <a:pPr indent="0"/>
            <a:r>
              <a:rPr lang="zh-CN" sz="1400" b="1">
                <a:solidFill>
                  <a:srgbClr val="FF0000"/>
                </a:solidFill>
                <a:latin typeface="微软雅黑" panose="020B0503020204020204" pitchFamily="34" charset="-122"/>
                <a:ea typeface="微软雅黑" panose="020B0503020204020204" pitchFamily="34" charset="-122"/>
              </a:rPr>
              <a:t>没有固定的排序</a:t>
            </a:r>
            <a:endParaRPr lang="zh-CN" altLang="en-US" sz="1400" b="1">
              <a:solidFill>
                <a:srgbClr val="FF0000"/>
              </a:solidFill>
              <a:latin typeface="微软雅黑" panose="020B0503020204020204" pitchFamily="34" charset="-122"/>
              <a:ea typeface="微软雅黑" panose="020B0503020204020204" pitchFamily="34" charset="-122"/>
            </a:endParaRPr>
          </a:p>
        </p:txBody>
      </p:sp>
      <p:pic>
        <p:nvPicPr>
          <p:cNvPr id="33" name="图片 32" descr="5"/>
          <p:cNvPicPr>
            <a:picLocks noChangeAspect="1"/>
          </p:cNvPicPr>
          <p:nvPr/>
        </p:nvPicPr>
        <p:blipFill>
          <a:blip r:embed="rId4"/>
          <a:stretch>
            <a:fillRect/>
          </a:stretch>
        </p:blipFill>
        <p:spPr>
          <a:xfrm>
            <a:off x="6954520" y="2069465"/>
            <a:ext cx="2164080" cy="2055495"/>
          </a:xfrm>
          <a:prstGeom prst="rect">
            <a:avLst/>
          </a:prstGeom>
        </p:spPr>
      </p:pic>
      <p:sp>
        <p:nvSpPr>
          <p:cNvPr id="27" name="圆角矩形 26"/>
          <p:cNvSpPr/>
          <p:nvPr/>
        </p:nvSpPr>
        <p:spPr>
          <a:xfrm>
            <a:off x="7782560" y="919480"/>
            <a:ext cx="3258820" cy="573405"/>
          </a:xfrm>
          <a:prstGeom prst="roundRect">
            <a:avLst>
              <a:gd name="adj" fmla="val 6809"/>
            </a:avLst>
          </a:prstGeom>
          <a:solidFill>
            <a:srgbClr val="579ED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b="1">
                <a:solidFill>
                  <a:schemeClr val="bg1"/>
                </a:solidFill>
                <a:latin typeface="Times New Roman" panose="02020603050405020304" charset="0"/>
                <a:ea typeface="微软雅黑" panose="020B0503020204020204" pitchFamily="34" charset="-122"/>
                <a:cs typeface="Times New Roman" panose="02020603050405020304" charset="0"/>
              </a:rPr>
              <a:t>卷积神经网络</a:t>
            </a:r>
            <a:r>
              <a:rPr lang="en-US" altLang="zh-CN" sz="2400" b="1">
                <a:solidFill>
                  <a:schemeClr val="bg1"/>
                </a:solidFill>
                <a:latin typeface="Times New Roman" panose="02020603050405020304" charset="0"/>
                <a:ea typeface="微软雅黑" panose="020B0503020204020204" pitchFamily="34" charset="-122"/>
                <a:cs typeface="Times New Roman" panose="02020603050405020304" charset="0"/>
              </a:rPr>
              <a:t>CNN</a:t>
            </a:r>
            <a:endParaRPr lang="en-US" altLang="zh-CN" sz="2400" b="1">
              <a:solidFill>
                <a:schemeClr val="bg1"/>
              </a:solidFill>
              <a:latin typeface="Times New Roman" panose="02020603050405020304" charset="0"/>
              <a:ea typeface="微软雅黑" panose="020B0503020204020204" pitchFamily="34" charset="-122"/>
              <a:cs typeface="Times New Roman" panose="02020603050405020304" charset="0"/>
            </a:endParaRPr>
          </a:p>
        </p:txBody>
      </p:sp>
      <p:pic>
        <p:nvPicPr>
          <p:cNvPr id="31" name="图片 30" descr="b22d4b11a7a35c8f68907d76bb080c11"/>
          <p:cNvPicPr>
            <a:picLocks noChangeAspect="1"/>
          </p:cNvPicPr>
          <p:nvPr/>
        </p:nvPicPr>
        <p:blipFill>
          <a:blip r:embed="rId5"/>
          <a:stretch>
            <a:fillRect/>
          </a:stretch>
        </p:blipFill>
        <p:spPr>
          <a:xfrm>
            <a:off x="9178925" y="1615440"/>
            <a:ext cx="2564765" cy="2935605"/>
          </a:xfrm>
          <a:prstGeom prst="rect">
            <a:avLst/>
          </a:prstGeom>
        </p:spPr>
      </p:pic>
      <p:sp>
        <p:nvSpPr>
          <p:cNvPr id="28" name="圆角矩形 27"/>
          <p:cNvSpPr/>
          <p:nvPr/>
        </p:nvSpPr>
        <p:spPr>
          <a:xfrm>
            <a:off x="444500" y="4029075"/>
            <a:ext cx="3395980" cy="573405"/>
          </a:xfrm>
          <a:prstGeom prst="roundRect">
            <a:avLst>
              <a:gd name="adj" fmla="val 6809"/>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b="1" dirty="0">
                <a:solidFill>
                  <a:srgbClr val="FF0000"/>
                </a:solidFill>
                <a:latin typeface="微软雅黑" panose="020B0503020204020204" pitchFamily="34" charset="-122"/>
                <a:ea typeface="微软雅黑" panose="020B0503020204020204" pitchFamily="34" charset="-122"/>
                <a:sym typeface="+mn-ea"/>
              </a:rPr>
              <a:t>图卷积神经网络</a:t>
            </a:r>
            <a:r>
              <a:rPr lang="en-US" altLang="zh-CN" sz="2400" b="1" dirty="0">
                <a:solidFill>
                  <a:srgbClr val="FF0000"/>
                </a:solidFill>
                <a:latin typeface="Times New Roman" panose="02020603050405020304" charset="0"/>
                <a:ea typeface="微软雅黑" panose="020B0503020204020204" pitchFamily="34" charset="-122"/>
                <a:cs typeface="Times New Roman" panose="02020603050405020304" charset="0"/>
                <a:sym typeface="+mn-ea"/>
              </a:rPr>
              <a:t>GCN</a:t>
            </a:r>
            <a:endParaRPr lang="en-US" altLang="zh-CN" sz="2400" b="1" dirty="0">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30" name="手杖形箭头 29"/>
          <p:cNvSpPr/>
          <p:nvPr/>
        </p:nvSpPr>
        <p:spPr>
          <a:xfrm>
            <a:off x="6531610" y="5019675"/>
            <a:ext cx="553720" cy="329565"/>
          </a:xfrm>
          <a:prstGeom prst="utur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pic>
        <p:nvPicPr>
          <p:cNvPr id="34" name="图片 33" descr="v2-74cbb0466cff55b5d9d8772bce171a89_b"/>
          <p:cNvPicPr>
            <a:picLocks noChangeAspect="1"/>
          </p:cNvPicPr>
          <p:nvPr/>
        </p:nvPicPr>
        <p:blipFill>
          <a:blip r:embed="rId6"/>
          <a:stretch>
            <a:fillRect/>
          </a:stretch>
        </p:blipFill>
        <p:spPr>
          <a:xfrm>
            <a:off x="1254125" y="4953000"/>
            <a:ext cx="1968500" cy="1438910"/>
          </a:xfrm>
          <a:prstGeom prst="rect">
            <a:avLst/>
          </a:prstGeom>
        </p:spPr>
      </p:pic>
      <p:sp>
        <p:nvSpPr>
          <p:cNvPr id="35" name="矩形 34"/>
          <p:cNvSpPr/>
          <p:nvPr/>
        </p:nvSpPr>
        <p:spPr>
          <a:xfrm>
            <a:off x="659765" y="5349240"/>
            <a:ext cx="594360" cy="583565"/>
          </a:xfrm>
          <a:prstGeom prst="rect">
            <a:avLst/>
          </a:prstGeom>
          <a:solidFill>
            <a:schemeClr val="accent6">
              <a:lumMod val="20000"/>
              <a:lumOff val="80000"/>
            </a:schemeClr>
          </a:solidFill>
        </p:spPr>
        <p:txBody>
          <a:bodyPr wrap="square">
            <a:spAutoFit/>
          </a:bodyPr>
          <a:p>
            <a:r>
              <a:rPr lang="zh-CN" altLang="en-US" sz="1600" b="1" dirty="0">
                <a:solidFill>
                  <a:srgbClr val="C00000"/>
                </a:solidFill>
                <a:latin typeface="微软雅黑" panose="020B0503020204020204" pitchFamily="34" charset="-122"/>
                <a:ea typeface="微软雅黑" panose="020B0503020204020204" pitchFamily="34" charset="-122"/>
              </a:rPr>
              <a:t>发射</a:t>
            </a:r>
            <a:r>
              <a:rPr lang="zh-CN" altLang="en-US" sz="1600" b="1" dirty="0">
                <a:solidFill>
                  <a:srgbClr val="C00000"/>
                </a:solidFill>
                <a:latin typeface="微软雅黑" panose="020B0503020204020204" pitchFamily="34" charset="-122"/>
                <a:ea typeface="微软雅黑" panose="020B0503020204020204" pitchFamily="34" charset="-122"/>
              </a:rPr>
              <a:t>信息</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36" name="矩形 35"/>
          <p:cNvSpPr/>
          <p:nvPr/>
        </p:nvSpPr>
        <p:spPr>
          <a:xfrm>
            <a:off x="3333115" y="5349240"/>
            <a:ext cx="594360" cy="583565"/>
          </a:xfrm>
          <a:prstGeom prst="rect">
            <a:avLst/>
          </a:prstGeom>
          <a:solidFill>
            <a:schemeClr val="accent6">
              <a:lumMod val="20000"/>
              <a:lumOff val="80000"/>
            </a:schemeClr>
          </a:solidFill>
        </p:spPr>
        <p:txBody>
          <a:bodyPr wrap="square">
            <a:spAutoFit/>
          </a:bodyPr>
          <a:p>
            <a:r>
              <a:rPr lang="zh-CN" altLang="en-US" sz="1600" b="1" dirty="0">
                <a:solidFill>
                  <a:srgbClr val="C00000"/>
                </a:solidFill>
                <a:latin typeface="微软雅黑" panose="020B0503020204020204" pitchFamily="34" charset="-122"/>
                <a:ea typeface="微软雅黑" panose="020B0503020204020204" pitchFamily="34" charset="-122"/>
              </a:rPr>
              <a:t>接受信息</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37" name="矩形 36"/>
          <p:cNvSpPr/>
          <p:nvPr/>
        </p:nvSpPr>
        <p:spPr>
          <a:xfrm>
            <a:off x="5982335" y="5268595"/>
            <a:ext cx="796925" cy="583565"/>
          </a:xfrm>
          <a:prstGeom prst="rect">
            <a:avLst/>
          </a:prstGeom>
          <a:solidFill>
            <a:schemeClr val="accent6">
              <a:lumMod val="20000"/>
              <a:lumOff val="80000"/>
            </a:schemeClr>
          </a:solidFill>
        </p:spPr>
        <p:txBody>
          <a:bodyPr wrap="square">
            <a:spAutoFit/>
          </a:bodyPr>
          <a:p>
            <a:pPr algn="ctr"/>
            <a:r>
              <a:rPr lang="zh-CN" altLang="en-US" sz="1600" b="1" dirty="0">
                <a:solidFill>
                  <a:srgbClr val="C00000"/>
                </a:solidFill>
                <a:latin typeface="微软雅黑" panose="020B0503020204020204" pitchFamily="34" charset="-122"/>
                <a:ea typeface="微软雅黑" panose="020B0503020204020204" pitchFamily="34" charset="-122"/>
              </a:rPr>
              <a:t>非线性变换</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pic>
        <p:nvPicPr>
          <p:cNvPr id="38" name="图片 37" descr="2"/>
          <p:cNvPicPr>
            <a:picLocks noChangeAspect="1"/>
          </p:cNvPicPr>
          <p:nvPr/>
        </p:nvPicPr>
        <p:blipFill>
          <a:blip r:embed="rId7"/>
          <a:stretch>
            <a:fillRect/>
          </a:stretch>
        </p:blipFill>
        <p:spPr>
          <a:xfrm>
            <a:off x="3956050" y="4953000"/>
            <a:ext cx="1969135" cy="1438910"/>
          </a:xfrm>
          <a:prstGeom prst="rect">
            <a:avLst/>
          </a:prstGeom>
        </p:spPr>
      </p:pic>
      <p:pic>
        <p:nvPicPr>
          <p:cNvPr id="39" name="图片 38" descr="v2-7df5a6c0dfeb5d7d6b8fe1791352246a_b"/>
          <p:cNvPicPr>
            <a:picLocks noChangeAspect="1"/>
          </p:cNvPicPr>
          <p:nvPr/>
        </p:nvPicPr>
        <p:blipFill>
          <a:blip r:embed="rId8"/>
          <a:stretch>
            <a:fillRect/>
          </a:stretch>
        </p:blipFill>
        <p:spPr>
          <a:xfrm>
            <a:off x="7805420" y="4917440"/>
            <a:ext cx="1840230" cy="1447165"/>
          </a:xfrm>
          <a:prstGeom prst="rect">
            <a:avLst/>
          </a:prstGeom>
        </p:spPr>
      </p:pic>
      <p:sp>
        <p:nvSpPr>
          <p:cNvPr id="40" name="矩形 39"/>
          <p:cNvSpPr/>
          <p:nvPr/>
        </p:nvSpPr>
        <p:spPr>
          <a:xfrm>
            <a:off x="6866890" y="5268595"/>
            <a:ext cx="850900" cy="583565"/>
          </a:xfrm>
          <a:prstGeom prst="rect">
            <a:avLst/>
          </a:prstGeom>
          <a:solidFill>
            <a:schemeClr val="accent6">
              <a:lumMod val="20000"/>
              <a:lumOff val="80000"/>
            </a:schemeClr>
          </a:solidFill>
        </p:spPr>
        <p:txBody>
          <a:bodyPr wrap="square">
            <a:spAutoFit/>
          </a:bodyPr>
          <a:p>
            <a:r>
              <a:rPr lang="zh-CN" altLang="en-US" sz="1600" b="1" dirty="0">
                <a:solidFill>
                  <a:srgbClr val="C00000"/>
                </a:solidFill>
                <a:latin typeface="微软雅黑" panose="020B0503020204020204" pitchFamily="34" charset="-122"/>
                <a:ea typeface="微软雅黑" panose="020B0503020204020204" pitchFamily="34" charset="-122"/>
              </a:rPr>
              <a:t>局部参数</a:t>
            </a:r>
            <a:r>
              <a:rPr lang="zh-CN" altLang="en-US" sz="1600" b="1" dirty="0">
                <a:solidFill>
                  <a:srgbClr val="C00000"/>
                </a:solidFill>
                <a:latin typeface="微软雅黑" panose="020B0503020204020204" pitchFamily="34" charset="-122"/>
                <a:ea typeface="微软雅黑" panose="020B0503020204020204" pitchFamily="34" charset="-122"/>
              </a:rPr>
              <a:t>共享</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42" name="圆角矩形 41"/>
          <p:cNvSpPr/>
          <p:nvPr/>
        </p:nvSpPr>
        <p:spPr>
          <a:xfrm>
            <a:off x="444500" y="4749800"/>
            <a:ext cx="9424035" cy="1680210"/>
          </a:xfrm>
          <a:prstGeom prst="roundRect">
            <a:avLst>
              <a:gd name="adj" fmla="val 3913"/>
            </a:avLst>
          </a:prstGeom>
          <a:noFill/>
          <a:ln w="19050">
            <a:solidFill>
              <a:schemeClr val="accent4">
                <a:lumMod val="75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 name="圆角矩形 42"/>
          <p:cNvSpPr/>
          <p:nvPr/>
        </p:nvSpPr>
        <p:spPr>
          <a:xfrm>
            <a:off x="6866890" y="1550670"/>
            <a:ext cx="5090160" cy="3055620"/>
          </a:xfrm>
          <a:prstGeom prst="roundRect">
            <a:avLst>
              <a:gd name="adj" fmla="val 3913"/>
            </a:avLst>
          </a:prstGeom>
          <a:noFill/>
          <a:ln w="19050">
            <a:solidFill>
              <a:srgbClr val="0070C0"/>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 name="圆角矩形 43"/>
          <p:cNvSpPr/>
          <p:nvPr/>
        </p:nvSpPr>
        <p:spPr>
          <a:xfrm>
            <a:off x="9930765" y="4730115"/>
            <a:ext cx="2026285" cy="1702435"/>
          </a:xfrm>
          <a:prstGeom prst="roundRect">
            <a:avLst>
              <a:gd name="adj" fmla="val 6809"/>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l" fontAlgn="auto">
              <a:lnSpc>
                <a:spcPct val="120000"/>
              </a:lnSpc>
            </a:pPr>
            <a:r>
              <a:rPr lang="en-US" altLang="zh-CN" sz="1700" b="1">
                <a:solidFill>
                  <a:schemeClr val="tx1"/>
                </a:solidFill>
                <a:latin typeface="Times New Roman" panose="02020603050405020304" charset="0"/>
                <a:ea typeface="微软雅黑" panose="020B0503020204020204" pitchFamily="34" charset="-122"/>
                <a:cs typeface="Times New Roman" panose="02020603050405020304" charset="0"/>
              </a:rPr>
              <a:t>CNN 在非欧</a:t>
            </a:r>
            <a:r>
              <a:rPr lang="zh-CN" altLang="en-US" sz="1700" b="1">
                <a:solidFill>
                  <a:schemeClr val="tx1"/>
                </a:solidFill>
                <a:latin typeface="Times New Roman" panose="02020603050405020304" charset="0"/>
                <a:ea typeface="微软雅黑" panose="020B0503020204020204" pitchFamily="34" charset="-122"/>
                <a:cs typeface="Times New Roman" panose="02020603050405020304" charset="0"/>
              </a:rPr>
              <a:t>式</a:t>
            </a:r>
            <a:r>
              <a:rPr lang="en-US" altLang="zh-CN" sz="1700" b="1">
                <a:solidFill>
                  <a:schemeClr val="tx1"/>
                </a:solidFill>
                <a:latin typeface="Times New Roman" panose="02020603050405020304" charset="0"/>
                <a:ea typeface="微软雅黑" panose="020B0503020204020204" pitchFamily="34" charset="-122"/>
                <a:cs typeface="Times New Roman" panose="02020603050405020304" charset="0"/>
              </a:rPr>
              <a:t>数据</a:t>
            </a:r>
            <a:r>
              <a:rPr lang="zh-CN" altLang="en-US" sz="1700" b="1">
                <a:solidFill>
                  <a:schemeClr val="tx1"/>
                </a:solidFill>
                <a:latin typeface="Times New Roman" panose="02020603050405020304" charset="0"/>
                <a:ea typeface="微软雅黑" panose="020B0503020204020204" pitchFamily="34" charset="-122"/>
                <a:cs typeface="Times New Roman" panose="02020603050405020304" charset="0"/>
              </a:rPr>
              <a:t>结构</a:t>
            </a:r>
            <a:r>
              <a:rPr lang="en-US" altLang="zh-CN" sz="1700" b="1">
                <a:solidFill>
                  <a:schemeClr val="tx1"/>
                </a:solidFill>
                <a:latin typeface="Times New Roman" panose="02020603050405020304" charset="0"/>
                <a:ea typeface="微软雅黑" panose="020B0503020204020204" pitchFamily="34" charset="-122"/>
                <a:cs typeface="Times New Roman" panose="02020603050405020304" charset="0"/>
              </a:rPr>
              <a:t>中很难定义</a:t>
            </a:r>
            <a:r>
              <a:rPr lang="zh-CN" altLang="en-US" sz="1700" b="1">
                <a:solidFill>
                  <a:schemeClr val="tx1"/>
                </a:solidFill>
                <a:latin typeface="Times New Roman" panose="02020603050405020304" charset="0"/>
                <a:ea typeface="微软雅黑" panose="020B0503020204020204" pitchFamily="34" charset="-122"/>
                <a:cs typeface="Times New Roman" panose="02020603050405020304" charset="0"/>
              </a:rPr>
              <a:t>卷积核，</a:t>
            </a:r>
            <a:r>
              <a:rPr lang="zh-CN" altLang="en-US" sz="1700" b="1">
                <a:solidFill>
                  <a:srgbClr val="FF0000"/>
                </a:solidFill>
                <a:latin typeface="Times New Roman" panose="02020603050405020304" charset="0"/>
                <a:ea typeface="微软雅黑" panose="020B0503020204020204" pitchFamily="34" charset="-122"/>
                <a:cs typeface="Times New Roman" panose="02020603050405020304" charset="0"/>
              </a:rPr>
              <a:t>而G</a:t>
            </a:r>
            <a:r>
              <a:rPr lang="en-US" altLang="zh-CN" sz="1700" b="1">
                <a:solidFill>
                  <a:srgbClr val="FF0000"/>
                </a:solidFill>
                <a:latin typeface="Times New Roman" panose="02020603050405020304" charset="0"/>
                <a:ea typeface="微软雅黑" panose="020B0503020204020204" pitchFamily="34" charset="-122"/>
                <a:cs typeface="Times New Roman" panose="02020603050405020304" charset="0"/>
              </a:rPr>
              <a:t>C</a:t>
            </a:r>
            <a:r>
              <a:rPr lang="zh-CN" altLang="en-US" sz="1700" b="1">
                <a:solidFill>
                  <a:srgbClr val="FF0000"/>
                </a:solidFill>
                <a:latin typeface="Times New Roman" panose="02020603050405020304" charset="0"/>
                <a:ea typeface="微软雅黑" panose="020B0503020204020204" pitchFamily="34" charset="-122"/>
                <a:cs typeface="Times New Roman" panose="02020603050405020304" charset="0"/>
              </a:rPr>
              <a:t>N 可以很好地处理</a:t>
            </a:r>
            <a:r>
              <a:rPr lang="en-US" altLang="zh-CN" sz="17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非欧</a:t>
            </a:r>
            <a:r>
              <a:rPr lang="zh-CN" altLang="en-US" sz="17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式</a:t>
            </a:r>
            <a:r>
              <a:rPr lang="en-US" altLang="zh-CN" sz="17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数据</a:t>
            </a:r>
            <a:r>
              <a:rPr lang="zh-CN" altLang="en-US" sz="17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结构</a:t>
            </a:r>
            <a:r>
              <a:rPr lang="zh-CN" altLang="en-US" sz="1700" b="1">
                <a:solidFill>
                  <a:srgbClr val="FF0000"/>
                </a:solidFill>
                <a:latin typeface="Times New Roman" panose="02020603050405020304" charset="0"/>
                <a:ea typeface="微软雅黑" panose="020B0503020204020204" pitchFamily="34" charset="-122"/>
                <a:cs typeface="Times New Roman" panose="02020603050405020304" charset="0"/>
              </a:rPr>
              <a:t>。</a:t>
            </a:r>
            <a:endParaRPr lang="zh-CN" altLang="en-US" sz="1700" b="1">
              <a:solidFill>
                <a:srgbClr val="FF0000"/>
              </a:solidFill>
              <a:latin typeface="Times New Roman" panose="02020603050405020304" charset="0"/>
              <a:ea typeface="微软雅黑" panose="020B0503020204020204" pitchFamily="34" charset="-122"/>
              <a:cs typeface="Times New Roman" panose="02020603050405020304" charset="0"/>
            </a:endParaRPr>
          </a:p>
        </p:txBody>
      </p:sp>
    </p:spTree>
  </p:cSld>
  <p:clrMapOvr>
    <a:masterClrMapping/>
  </p:clrMapOvr>
  <p:transition>
    <p:comb/>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lstStyle/>
          <a:p>
            <a:r>
              <a:rPr lang="zh-CN" altLang="en-US" dirty="0"/>
              <a:t>课题主要研究、</a:t>
            </a:r>
            <a:r>
              <a:rPr lang="zh-CN" altLang="en-US" dirty="0"/>
              <a:t>工作内容</a:t>
            </a:r>
            <a:endParaRPr lang="zh-CN" altLang="en-US" dirty="0"/>
          </a:p>
        </p:txBody>
      </p:sp>
      <p:sp>
        <p:nvSpPr>
          <p:cNvPr id="3" name="灯片编号占位符 2"/>
          <p:cNvSpPr>
            <a:spLocks noGrp="1"/>
          </p:cNvSpPr>
          <p:nvPr>
            <p:ph type="sldNum" sz="quarter" idx="12"/>
          </p:nvPr>
        </p:nvSpPr>
        <p:spPr/>
        <p:txBody>
          <a:bodyPr/>
          <a:lstStyle/>
          <a:p>
            <a:r>
              <a:rPr lang="en-US" altLang="zh-CN" dirty="0"/>
              <a:t>26</a:t>
            </a:r>
            <a:endParaRPr lang="en-US" altLang="zh-CN" dirty="0"/>
          </a:p>
        </p:txBody>
      </p:sp>
      <p:sp>
        <p:nvSpPr>
          <p:cNvPr id="6" name="矩形: 圆角 5"/>
          <p:cNvSpPr/>
          <p:nvPr/>
        </p:nvSpPr>
        <p:spPr>
          <a:xfrm>
            <a:off x="741045" y="912495"/>
            <a:ext cx="722820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accent1"/>
                </a:solidFill>
                <a:latin typeface="微软雅黑" panose="020B0503020204020204" pitchFamily="34" charset="-122"/>
                <a:ea typeface="微软雅黑" panose="020B0503020204020204" pitchFamily="34" charset="-122"/>
                <a:sym typeface="+mn-ea"/>
              </a:rPr>
              <a:t>课题主要研究、工作内容</a:t>
            </a:r>
            <a:r>
              <a:rPr lang="zh-CN" altLang="en-US" sz="2400" dirty="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预备知识</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28" name="圆角矩形 27"/>
          <p:cNvSpPr/>
          <p:nvPr/>
        </p:nvSpPr>
        <p:spPr>
          <a:xfrm>
            <a:off x="6664960" y="949960"/>
            <a:ext cx="3834130" cy="573405"/>
          </a:xfrm>
          <a:prstGeom prst="roundRect">
            <a:avLst>
              <a:gd name="adj" fmla="val 6809"/>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b="1" dirty="0">
                <a:solidFill>
                  <a:srgbClr val="FF0000"/>
                </a:solidFill>
                <a:latin typeface="微软雅黑" panose="020B0503020204020204" pitchFamily="34" charset="-122"/>
                <a:ea typeface="微软雅黑" panose="020B0503020204020204" pitchFamily="34" charset="-122"/>
                <a:sym typeface="+mn-ea"/>
              </a:rPr>
              <a:t>图卷积神经网络</a:t>
            </a:r>
            <a:r>
              <a:rPr lang="en-US" altLang="zh-CN" sz="2400" b="1" dirty="0">
                <a:solidFill>
                  <a:srgbClr val="FF0000"/>
                </a:solidFill>
                <a:latin typeface="Times New Roman" panose="02020603050405020304" charset="0"/>
                <a:ea typeface="微软雅黑" panose="020B0503020204020204" pitchFamily="34" charset="-122"/>
                <a:cs typeface="Times New Roman" panose="02020603050405020304" charset="0"/>
                <a:sym typeface="+mn-ea"/>
              </a:rPr>
              <a:t>GCN</a:t>
            </a:r>
            <a:r>
              <a:rPr lang="zh-CN" altLang="en-US" sz="2400" b="1" dirty="0">
                <a:solidFill>
                  <a:srgbClr val="FF0000"/>
                </a:solidFill>
                <a:latin typeface="Times New Roman" panose="02020603050405020304" charset="0"/>
                <a:ea typeface="微软雅黑" panose="020B0503020204020204" pitchFamily="34" charset="-122"/>
                <a:cs typeface="Times New Roman" panose="02020603050405020304" charset="0"/>
                <a:sym typeface="+mn-ea"/>
              </a:rPr>
              <a:t>原理</a:t>
            </a:r>
            <a:endParaRPr lang="zh-CN" altLang="en-US" sz="2400" b="1" dirty="0">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9" name="文本框 8"/>
          <p:cNvSpPr txBox="1"/>
          <p:nvPr/>
        </p:nvSpPr>
        <p:spPr>
          <a:xfrm>
            <a:off x="7804150" y="6228080"/>
            <a:ext cx="3005455" cy="368300"/>
          </a:xfrm>
          <a:prstGeom prst="rect">
            <a:avLst/>
          </a:prstGeom>
          <a:noFill/>
        </p:spPr>
        <p:txBody>
          <a:bodyPr wrap="square" rtlCol="0" anchor="t">
            <a:spAutoFit/>
          </a:bodyPr>
          <a:p>
            <a:r>
              <a:rPr lang="zh-CN" altLang="en-US" b="1">
                <a:latin typeface="Times New Roman" panose="02020603050405020304" charset="0"/>
                <a:ea typeface="微软雅黑" panose="020B0503020204020204" pitchFamily="34" charset="-122"/>
              </a:rPr>
              <a:t>图卷积网络运算原理示意图</a:t>
            </a:r>
            <a:endParaRPr lang="zh-CN" altLang="en-US" b="1">
              <a:latin typeface="Times New Roman" panose="02020603050405020304" charset="0"/>
              <a:ea typeface="微软雅黑" panose="020B0503020204020204" pitchFamily="34" charset="-122"/>
            </a:endParaRPr>
          </a:p>
        </p:txBody>
      </p:sp>
      <p:pic>
        <p:nvPicPr>
          <p:cNvPr id="5" name="图片 4"/>
          <p:cNvPicPr>
            <a:picLocks noChangeAspect="1"/>
          </p:cNvPicPr>
          <p:nvPr/>
        </p:nvPicPr>
        <p:blipFill>
          <a:blip r:embed="rId2"/>
          <a:srcRect l="13245" t="8033" r="12934" b="1939"/>
          <a:stretch>
            <a:fillRect/>
          </a:stretch>
        </p:blipFill>
        <p:spPr>
          <a:xfrm>
            <a:off x="511810" y="1551305"/>
            <a:ext cx="6776085" cy="4629150"/>
          </a:xfrm>
          <a:prstGeom prst="rect">
            <a:avLst/>
          </a:prstGeom>
        </p:spPr>
      </p:pic>
      <p:sp>
        <p:nvSpPr>
          <p:cNvPr id="195" name="文本框 194"/>
          <p:cNvSpPr txBox="1"/>
          <p:nvPr/>
        </p:nvSpPr>
        <p:spPr>
          <a:xfrm>
            <a:off x="2860675" y="6228080"/>
            <a:ext cx="2078990" cy="368300"/>
          </a:xfrm>
          <a:prstGeom prst="rect">
            <a:avLst/>
          </a:prstGeom>
          <a:noFill/>
          <a:ln w="9525">
            <a:noFill/>
          </a:ln>
        </p:spPr>
        <p:txBody>
          <a:bodyPr wrap="square">
            <a:spAutoFit/>
          </a:bodyPr>
          <a:p>
            <a:pPr indent="0"/>
            <a:r>
              <a:rPr lang="zh-CN" b="1">
                <a:latin typeface="微软雅黑" panose="020B0503020204020204" pitchFamily="34" charset="-122"/>
                <a:ea typeface="微软雅黑" panose="020B0503020204020204" pitchFamily="34" charset="-122"/>
              </a:rPr>
              <a:t>图卷积网络结构图</a:t>
            </a:r>
            <a:endParaRPr lang="zh-CN" altLang="en-US" b="1">
              <a:latin typeface="微软雅黑" panose="020B0503020204020204" pitchFamily="34" charset="-122"/>
              <a:ea typeface="微软雅黑" panose="020B0503020204020204" pitchFamily="34" charset="-122"/>
            </a:endParaRPr>
          </a:p>
        </p:txBody>
      </p:sp>
      <p:pic>
        <p:nvPicPr>
          <p:cNvPr id="4" name="图片 3"/>
          <p:cNvPicPr>
            <a:picLocks noChangeAspect="1"/>
          </p:cNvPicPr>
          <p:nvPr>
            <p:custDataLst>
              <p:tags r:id="rId3"/>
            </p:custDataLst>
          </p:nvPr>
        </p:nvPicPr>
        <p:blipFill>
          <a:blip r:embed="rId4"/>
          <a:stretch>
            <a:fillRect/>
          </a:stretch>
        </p:blipFill>
        <p:spPr>
          <a:xfrm>
            <a:off x="7025005" y="1599565"/>
            <a:ext cx="4331970" cy="4552315"/>
          </a:xfrm>
          <a:prstGeom prst="rect">
            <a:avLst/>
          </a:prstGeom>
        </p:spPr>
      </p:pic>
      <p:graphicFrame>
        <p:nvGraphicFramePr>
          <p:cNvPr id="8" name="对象 7">
            <a:hlinkClick r:id="" action="ppaction://ole?verb="/>
          </p:cNvPr>
          <p:cNvGraphicFramePr>
            <a:graphicFrameLocks noChangeAspect="1"/>
          </p:cNvGraphicFramePr>
          <p:nvPr/>
        </p:nvGraphicFramePr>
        <p:xfrm>
          <a:off x="9848215" y="3644265"/>
          <a:ext cx="2142490" cy="714375"/>
        </p:xfrm>
        <a:graphic>
          <a:graphicData uri="http://schemas.openxmlformats.org/presentationml/2006/ole">
            <mc:AlternateContent xmlns:mc="http://schemas.openxmlformats.org/markup-compatibility/2006">
              <mc:Choice xmlns:v="urn:schemas-microsoft-com:vml" Requires="v">
                <p:oleObj spid="_x0000_s1025" name="" r:id="rId5" imgW="1333500" imgH="444500" progId="Equation.KSEE3">
                  <p:embed/>
                </p:oleObj>
              </mc:Choice>
              <mc:Fallback>
                <p:oleObj name="" r:id="rId5" imgW="1333500" imgH="444500" progId="Equation.KSEE3">
                  <p:embed/>
                  <p:pic>
                    <p:nvPicPr>
                      <p:cNvPr id="0" name="图片 1024"/>
                      <p:cNvPicPr/>
                      <p:nvPr/>
                    </p:nvPicPr>
                    <p:blipFill>
                      <a:blip r:embed="rId6"/>
                      <a:stretch>
                        <a:fillRect/>
                      </a:stretch>
                    </p:blipFill>
                    <p:spPr>
                      <a:xfrm>
                        <a:off x="9848215" y="3644265"/>
                        <a:ext cx="2142490" cy="714375"/>
                      </a:xfrm>
                      <a:prstGeom prst="rect">
                        <a:avLst/>
                      </a:prstGeom>
                    </p:spPr>
                  </p:pic>
                </p:oleObj>
              </mc:Fallback>
            </mc:AlternateContent>
          </a:graphicData>
        </a:graphic>
      </p:graphicFrame>
      <p:sp>
        <p:nvSpPr>
          <p:cNvPr id="197" name="圆角矩形 196"/>
          <p:cNvSpPr/>
          <p:nvPr/>
        </p:nvSpPr>
        <p:spPr>
          <a:xfrm>
            <a:off x="4939665" y="5728335"/>
            <a:ext cx="2165350" cy="1045210"/>
          </a:xfrm>
          <a:prstGeom prst="roundRect">
            <a:avLst>
              <a:gd name="adj" fmla="val 6809"/>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0000"/>
              </a:lnSpc>
            </a:pPr>
            <a:r>
              <a:rPr lang="zh-CN" altLang="en-US" sz="1700" b="1">
                <a:solidFill>
                  <a:srgbClr val="FF0000"/>
                </a:solidFill>
                <a:latin typeface="微软雅黑" panose="020B0503020204020204" pitchFamily="34" charset="-122"/>
                <a:ea typeface="微软雅黑" panose="020B0503020204020204" pitchFamily="34" charset="-122"/>
                <a:sym typeface="+mn-ea"/>
              </a:rPr>
              <a:t>思想：考虑其所有邻居以及自身所包含的特征信息</a:t>
            </a:r>
            <a:endParaRPr lang="zh-CN" altLang="en-US" sz="1700" b="1">
              <a:solidFill>
                <a:srgbClr val="FF0000"/>
              </a:solidFill>
              <a:latin typeface="Times New Roman" panose="02020603050405020304" charset="0"/>
              <a:ea typeface="微软雅黑" panose="020B0503020204020204" pitchFamily="34" charset="-122"/>
              <a:cs typeface="Times New Roman" panose="02020603050405020304" charset="0"/>
            </a:endParaRPr>
          </a:p>
        </p:txBody>
      </p:sp>
      <p:sp>
        <p:nvSpPr>
          <p:cNvPr id="200" name="圆角矩形 199"/>
          <p:cNvSpPr/>
          <p:nvPr/>
        </p:nvSpPr>
        <p:spPr>
          <a:xfrm>
            <a:off x="4695190" y="1704340"/>
            <a:ext cx="2746375" cy="1084580"/>
          </a:xfrm>
          <a:prstGeom prst="roundRect">
            <a:avLst>
              <a:gd name="adj" fmla="val 7537"/>
            </a:avLst>
          </a:prstGeom>
          <a:solidFill>
            <a:srgbClr val="FFD5D5"/>
          </a:solidFill>
          <a:ln w="19050">
            <a:solidFill>
              <a:srgbClr val="FF0000"/>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7" name="对象 -2147482589"/>
          <p:cNvGraphicFramePr>
            <a:graphicFrameLocks noChangeAspect="1"/>
          </p:cNvGraphicFramePr>
          <p:nvPr/>
        </p:nvGraphicFramePr>
        <p:xfrm>
          <a:off x="4771390" y="1704340"/>
          <a:ext cx="1416685" cy="646430"/>
        </p:xfrm>
        <a:graphic>
          <a:graphicData uri="http://schemas.openxmlformats.org/presentationml/2006/ole">
            <mc:AlternateContent xmlns:mc="http://schemas.openxmlformats.org/markup-compatibility/2006">
              <mc:Choice xmlns:v="urn:schemas-microsoft-com:vml" Requires="v">
                <p:oleObj spid="_x0000_s3076" name="" r:id="rId7" imgW="862965" imgH="393700" progId="Equation.DSMT4">
                  <p:embed/>
                </p:oleObj>
              </mc:Choice>
              <mc:Fallback>
                <p:oleObj name="" r:id="rId7" imgW="862965" imgH="393700" progId="Equation.DSMT4">
                  <p:embed/>
                  <p:pic>
                    <p:nvPicPr>
                      <p:cNvPr id="0" name="图片 3075"/>
                      <p:cNvPicPr/>
                      <p:nvPr/>
                    </p:nvPicPr>
                    <p:blipFill>
                      <a:blip r:embed="rId8"/>
                      <a:stretch>
                        <a:fillRect/>
                      </a:stretch>
                    </p:blipFill>
                    <p:spPr>
                      <a:xfrm>
                        <a:off x="4771390" y="1704340"/>
                        <a:ext cx="1416685" cy="646430"/>
                      </a:xfrm>
                      <a:prstGeom prst="rect">
                        <a:avLst/>
                      </a:prstGeom>
                      <a:noFill/>
                      <a:ln w="38100">
                        <a:noFill/>
                        <a:miter/>
                      </a:ln>
                    </p:spPr>
                  </p:pic>
                </p:oleObj>
              </mc:Fallback>
            </mc:AlternateContent>
          </a:graphicData>
        </a:graphic>
      </p:graphicFrame>
      <p:graphicFrame>
        <p:nvGraphicFramePr>
          <p:cNvPr id="10" name="对象 -2147482598"/>
          <p:cNvGraphicFramePr>
            <a:graphicFrameLocks noChangeAspect="1"/>
          </p:cNvGraphicFramePr>
          <p:nvPr/>
        </p:nvGraphicFramePr>
        <p:xfrm>
          <a:off x="4771390" y="2350770"/>
          <a:ext cx="2594610" cy="361950"/>
        </p:xfrm>
        <a:graphic>
          <a:graphicData uri="http://schemas.openxmlformats.org/presentationml/2006/ole">
            <mc:AlternateContent xmlns:mc="http://schemas.openxmlformats.org/markup-compatibility/2006">
              <mc:Choice xmlns:v="urn:schemas-microsoft-com:vml" Requires="v">
                <p:oleObj spid="_x0000_s198" name="" r:id="rId9" imgW="1548765" imgH="215900" progId="Equation.DSMT4">
                  <p:embed/>
                </p:oleObj>
              </mc:Choice>
              <mc:Fallback>
                <p:oleObj name="" r:id="rId9" imgW="1548765" imgH="215900" progId="Equation.DSMT4">
                  <p:embed/>
                  <p:pic>
                    <p:nvPicPr>
                      <p:cNvPr id="0" name="图片 197"/>
                      <p:cNvPicPr/>
                      <p:nvPr/>
                    </p:nvPicPr>
                    <p:blipFill>
                      <a:blip r:embed="rId10"/>
                      <a:stretch>
                        <a:fillRect/>
                      </a:stretch>
                    </p:blipFill>
                    <p:spPr>
                      <a:xfrm>
                        <a:off x="4771390" y="2350770"/>
                        <a:ext cx="2594610" cy="361950"/>
                      </a:xfrm>
                      <a:prstGeom prst="rect">
                        <a:avLst/>
                      </a:prstGeom>
                      <a:noFill/>
                      <a:ln w="38100">
                        <a:noFill/>
                        <a:miter/>
                      </a:ln>
                    </p:spPr>
                  </p:pic>
                </p:oleObj>
              </mc:Fallback>
            </mc:AlternateContent>
          </a:graphicData>
        </a:graphic>
      </p:graphicFrame>
      <p:pic>
        <p:nvPicPr>
          <p:cNvPr id="201" name="图片 200"/>
          <p:cNvPicPr>
            <a:picLocks noChangeAspect="1"/>
          </p:cNvPicPr>
          <p:nvPr/>
        </p:nvPicPr>
        <p:blipFill>
          <a:blip r:embed="rId11"/>
          <a:stretch>
            <a:fillRect/>
          </a:stretch>
        </p:blipFill>
        <p:spPr>
          <a:xfrm>
            <a:off x="187960" y="5009515"/>
            <a:ext cx="1462405" cy="1320165"/>
          </a:xfrm>
          <a:prstGeom prst="rect">
            <a:avLst/>
          </a:prstGeom>
        </p:spPr>
      </p:pic>
      <p:sp>
        <p:nvSpPr>
          <p:cNvPr id="202" name="文本框 201"/>
          <p:cNvSpPr txBox="1"/>
          <p:nvPr/>
        </p:nvSpPr>
        <p:spPr>
          <a:xfrm>
            <a:off x="1691005" y="4792980"/>
            <a:ext cx="410845" cy="1753235"/>
          </a:xfrm>
          <a:prstGeom prst="rect">
            <a:avLst/>
          </a:prstGeom>
          <a:noFill/>
          <a:ln w="9525">
            <a:noFill/>
          </a:ln>
        </p:spPr>
        <p:txBody>
          <a:bodyPr wrap="square">
            <a:spAutoFit/>
          </a:bodyPr>
          <a:p>
            <a:pPr indent="0"/>
            <a:r>
              <a:rPr lang="zh-CN" altLang="en-US" b="1">
                <a:solidFill>
                  <a:srgbClr val="FF0000"/>
                </a:solidFill>
                <a:latin typeface="微软雅黑" panose="020B0503020204020204" pitchFamily="34" charset="-122"/>
                <a:ea typeface="微软雅黑" panose="020B0503020204020204" pitchFamily="34" charset="-122"/>
              </a:rPr>
              <a:t>空间维度挖掘</a:t>
            </a:r>
            <a:endParaRPr lang="zh-CN" altLang="en-US" b="1">
              <a:solidFill>
                <a:srgbClr val="FF0000"/>
              </a:solidFill>
              <a:latin typeface="微软雅黑" panose="020B0503020204020204" pitchFamily="34" charset="-122"/>
              <a:ea typeface="微软雅黑" panose="020B0503020204020204" pitchFamily="34" charset="-122"/>
            </a:endParaRPr>
          </a:p>
        </p:txBody>
      </p:sp>
      <p:sp>
        <p:nvSpPr>
          <p:cNvPr id="203" name="圆角矩形 202"/>
          <p:cNvSpPr/>
          <p:nvPr/>
        </p:nvSpPr>
        <p:spPr>
          <a:xfrm>
            <a:off x="4939665" y="4606925"/>
            <a:ext cx="2164715" cy="1033145"/>
          </a:xfrm>
          <a:prstGeom prst="roundRect">
            <a:avLst>
              <a:gd name="adj" fmla="val 6809"/>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0000"/>
              </a:lnSpc>
            </a:pPr>
            <a:r>
              <a:rPr lang="zh-CN" altLang="en-US" sz="1700" b="1">
                <a:solidFill>
                  <a:srgbClr val="FF0000"/>
                </a:solidFill>
                <a:latin typeface="微软雅黑" panose="020B0503020204020204" pitchFamily="34" charset="-122"/>
                <a:ea typeface="微软雅黑" panose="020B0503020204020204" pitchFamily="34" charset="-122"/>
                <a:sym typeface="+mn-ea"/>
              </a:rPr>
              <a:t>对比</a:t>
            </a:r>
            <a:r>
              <a:rPr lang="en-US" altLang="zh-CN" sz="1700" b="1">
                <a:solidFill>
                  <a:srgbClr val="FF0000"/>
                </a:solidFill>
                <a:latin typeface="微软雅黑" panose="020B0503020204020204" pitchFamily="34" charset="-122"/>
                <a:ea typeface="微软雅黑" panose="020B0503020204020204" pitchFamily="34" charset="-122"/>
                <a:sym typeface="+mn-ea"/>
              </a:rPr>
              <a:t>CNN</a:t>
            </a:r>
            <a:r>
              <a:rPr lang="zh-CN" altLang="en-US" sz="1700" b="1">
                <a:solidFill>
                  <a:srgbClr val="FF0000"/>
                </a:solidFill>
                <a:latin typeface="微软雅黑" panose="020B0503020204020204" pitchFamily="34" charset="-122"/>
                <a:ea typeface="微软雅黑" panose="020B0503020204020204" pitchFamily="34" charset="-122"/>
                <a:sym typeface="+mn-ea"/>
              </a:rPr>
              <a:t>模型的优点：可以更好的处理非欧式数据</a:t>
            </a:r>
            <a:r>
              <a:rPr lang="zh-CN" altLang="en-US" sz="1700" b="1">
                <a:solidFill>
                  <a:srgbClr val="FF0000"/>
                </a:solidFill>
                <a:latin typeface="微软雅黑" panose="020B0503020204020204" pitchFamily="34" charset="-122"/>
                <a:ea typeface="微软雅黑" panose="020B0503020204020204" pitchFamily="34" charset="-122"/>
                <a:sym typeface="+mn-ea"/>
              </a:rPr>
              <a:t>结构</a:t>
            </a:r>
            <a:endParaRPr lang="zh-CN" altLang="en-US" sz="1700" b="1">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comb/>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nvSpPr>
        <p:spPr>
          <a:xfrm>
            <a:off x="807720" y="1609090"/>
            <a:ext cx="2936240" cy="1153160"/>
          </a:xfrm>
          <a:prstGeom prst="roundRect">
            <a:avLst>
              <a:gd name="adj" fmla="val 7537"/>
            </a:avLst>
          </a:prstGeom>
          <a:solidFill>
            <a:schemeClr val="accent5">
              <a:lumMod val="20000"/>
              <a:lumOff val="80000"/>
            </a:schemeClr>
          </a:solidFill>
          <a:ln w="19050">
            <a:solidFill>
              <a:srgbClr val="080EF6"/>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内容占位符 1"/>
          <p:cNvSpPr>
            <a:spLocks noGrp="1"/>
          </p:cNvSpPr>
          <p:nvPr>
            <p:ph sz="quarter" idx="13"/>
          </p:nvPr>
        </p:nvSpPr>
        <p:spPr/>
        <p:txBody>
          <a:bodyPr/>
          <a:lstStyle/>
          <a:p>
            <a:r>
              <a:rPr lang="zh-CN" altLang="en-US" dirty="0"/>
              <a:t>课题主要研究、</a:t>
            </a:r>
            <a:r>
              <a:rPr lang="zh-CN" altLang="en-US" dirty="0"/>
              <a:t>工作内容</a:t>
            </a:r>
            <a:endParaRPr lang="zh-CN" altLang="en-US" dirty="0"/>
          </a:p>
        </p:txBody>
      </p:sp>
      <p:sp>
        <p:nvSpPr>
          <p:cNvPr id="3" name="灯片编号占位符 2"/>
          <p:cNvSpPr>
            <a:spLocks noGrp="1"/>
          </p:cNvSpPr>
          <p:nvPr>
            <p:ph type="sldNum" sz="quarter" idx="12"/>
          </p:nvPr>
        </p:nvSpPr>
        <p:spPr/>
        <p:txBody>
          <a:bodyPr/>
          <a:lstStyle/>
          <a:p>
            <a:r>
              <a:rPr lang="en-US" altLang="zh-CN" dirty="0"/>
              <a:t>27</a:t>
            </a:r>
            <a:endParaRPr lang="en-US" altLang="zh-CN" dirty="0"/>
          </a:p>
        </p:txBody>
      </p:sp>
      <p:sp>
        <p:nvSpPr>
          <p:cNvPr id="6" name="矩形: 圆角 5"/>
          <p:cNvSpPr/>
          <p:nvPr/>
        </p:nvSpPr>
        <p:spPr>
          <a:xfrm>
            <a:off x="741045" y="912495"/>
            <a:ext cx="722820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accent1"/>
                </a:solidFill>
                <a:latin typeface="微软雅黑" panose="020B0503020204020204" pitchFamily="34" charset="-122"/>
                <a:ea typeface="微软雅黑" panose="020B0503020204020204" pitchFamily="34" charset="-122"/>
                <a:sym typeface="+mn-ea"/>
              </a:rPr>
              <a:t>课题主要研究、工作内容</a:t>
            </a:r>
            <a:r>
              <a:rPr lang="zh-CN" altLang="en-US" sz="2400" dirty="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预备知识</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28" name="圆角矩形 27"/>
          <p:cNvSpPr/>
          <p:nvPr/>
        </p:nvSpPr>
        <p:spPr>
          <a:xfrm>
            <a:off x="6664960" y="949960"/>
            <a:ext cx="3834130" cy="573405"/>
          </a:xfrm>
          <a:prstGeom prst="roundRect">
            <a:avLst>
              <a:gd name="adj" fmla="val 6809"/>
            </a:avLst>
          </a:prstGeom>
          <a:solidFill>
            <a:srgbClr val="FFFFC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b="1" dirty="0">
                <a:solidFill>
                  <a:srgbClr val="080EF6"/>
                </a:solidFill>
                <a:latin typeface="微软雅黑" panose="020B0503020204020204" pitchFamily="34" charset="-122"/>
                <a:ea typeface="微软雅黑" panose="020B0503020204020204" pitchFamily="34" charset="-122"/>
                <a:sym typeface="+mn-ea"/>
              </a:rPr>
              <a:t>时间卷积网络</a:t>
            </a:r>
            <a:r>
              <a:rPr lang="en-US" altLang="zh-CN" sz="2400" b="1" dirty="0">
                <a:solidFill>
                  <a:srgbClr val="080EF6"/>
                </a:solidFill>
                <a:latin typeface="Times New Roman" panose="02020603050405020304" charset="0"/>
                <a:ea typeface="微软雅黑" panose="020B0503020204020204" pitchFamily="34" charset="-122"/>
                <a:cs typeface="Times New Roman" panose="02020603050405020304" charset="0"/>
                <a:sym typeface="+mn-ea"/>
              </a:rPr>
              <a:t>TCN</a:t>
            </a:r>
            <a:r>
              <a:rPr lang="zh-CN" altLang="en-US" sz="2400" b="1" dirty="0">
                <a:solidFill>
                  <a:srgbClr val="080EF6"/>
                </a:solidFill>
                <a:latin typeface="Times New Roman" panose="02020603050405020304" charset="0"/>
                <a:ea typeface="微软雅黑" panose="020B0503020204020204" pitchFamily="34" charset="-122"/>
                <a:cs typeface="Times New Roman" panose="02020603050405020304" charset="0"/>
                <a:sym typeface="+mn-ea"/>
              </a:rPr>
              <a:t>原理</a:t>
            </a:r>
            <a:endParaRPr lang="zh-CN" altLang="en-US" sz="2400" b="1" dirty="0">
              <a:solidFill>
                <a:srgbClr val="080EF6"/>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9" name="文本框 8"/>
          <p:cNvSpPr txBox="1"/>
          <p:nvPr/>
        </p:nvSpPr>
        <p:spPr>
          <a:xfrm>
            <a:off x="6465570" y="6004560"/>
            <a:ext cx="3251200" cy="368300"/>
          </a:xfrm>
          <a:prstGeom prst="rect">
            <a:avLst/>
          </a:prstGeom>
          <a:noFill/>
        </p:spPr>
        <p:txBody>
          <a:bodyPr wrap="square" rtlCol="0" anchor="t">
            <a:spAutoFit/>
          </a:bodyPr>
          <a:p>
            <a:r>
              <a:rPr lang="zh-CN" altLang="en-US" b="1">
                <a:latin typeface="Times New Roman" panose="02020603050405020304" charset="0"/>
                <a:ea typeface="微软雅黑" panose="020B0503020204020204" pitchFamily="34" charset="-122"/>
              </a:rPr>
              <a:t>时间卷积网络运算原理示意图</a:t>
            </a:r>
            <a:endParaRPr lang="zh-CN" altLang="en-US" b="1">
              <a:latin typeface="Times New Roman" panose="02020603050405020304" charset="0"/>
              <a:ea typeface="微软雅黑" panose="020B0503020204020204" pitchFamily="34" charset="-122"/>
            </a:endParaRPr>
          </a:p>
        </p:txBody>
      </p:sp>
      <p:sp>
        <p:nvSpPr>
          <p:cNvPr id="197" name="圆角矩形 196"/>
          <p:cNvSpPr/>
          <p:nvPr/>
        </p:nvSpPr>
        <p:spPr>
          <a:xfrm>
            <a:off x="807085" y="2872105"/>
            <a:ext cx="2936240" cy="1005840"/>
          </a:xfrm>
          <a:prstGeom prst="roundRect">
            <a:avLst>
              <a:gd name="adj" fmla="val 6809"/>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71755" algn="ctr" fontAlgn="auto">
              <a:lnSpc>
                <a:spcPct val="120000"/>
              </a:lnSpc>
            </a:pPr>
            <a:r>
              <a:rPr lang="zh-CN" altLang="en-US" sz="1700" b="1">
                <a:solidFill>
                  <a:srgbClr val="FF0000"/>
                </a:solidFill>
                <a:latin typeface="微软雅黑" panose="020B0503020204020204" pitchFamily="34" charset="-122"/>
                <a:ea typeface="微软雅黑" panose="020B0503020204020204" pitchFamily="34" charset="-122"/>
                <a:sym typeface="+mn-ea"/>
              </a:rPr>
              <a:t>对比</a:t>
            </a:r>
            <a:r>
              <a:rPr lang="en-US" altLang="zh-CN" sz="17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RNN</a:t>
            </a:r>
            <a:r>
              <a:rPr lang="zh-CN" altLang="en-US" sz="17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模型</a:t>
            </a:r>
            <a:r>
              <a:rPr lang="zh-CN" altLang="en-US" sz="1700" b="1">
                <a:solidFill>
                  <a:srgbClr val="FF0000"/>
                </a:solidFill>
                <a:latin typeface="微软雅黑" panose="020B0503020204020204" pitchFamily="34" charset="-122"/>
                <a:ea typeface="微软雅黑" panose="020B0503020204020204" pitchFamily="34" charset="-122"/>
                <a:sym typeface="+mn-ea"/>
              </a:rPr>
              <a:t>的优点：可以并行处理时间序列，能够缓解梯度爆炸这一问题。</a:t>
            </a:r>
            <a:endParaRPr lang="zh-CN" altLang="en-US" sz="1700" b="1">
              <a:solidFill>
                <a:srgbClr val="FF0000"/>
              </a:solidFill>
              <a:latin typeface="微软雅黑" panose="020B0503020204020204" pitchFamily="34" charset="-122"/>
              <a:ea typeface="微软雅黑" panose="020B0503020204020204" pitchFamily="34" charset="-122"/>
              <a:sym typeface="+mn-ea"/>
            </a:endParaRPr>
          </a:p>
        </p:txBody>
      </p:sp>
      <p:sp>
        <p:nvSpPr>
          <p:cNvPr id="202" name="文本框 201"/>
          <p:cNvSpPr txBox="1"/>
          <p:nvPr/>
        </p:nvSpPr>
        <p:spPr>
          <a:xfrm>
            <a:off x="1701800" y="4808220"/>
            <a:ext cx="410845" cy="1753235"/>
          </a:xfrm>
          <a:prstGeom prst="rect">
            <a:avLst/>
          </a:prstGeom>
          <a:noFill/>
          <a:ln w="9525">
            <a:noFill/>
          </a:ln>
        </p:spPr>
        <p:txBody>
          <a:bodyPr wrap="square">
            <a:spAutoFit/>
          </a:bodyPr>
          <a:p>
            <a:pPr indent="0"/>
            <a:r>
              <a:rPr lang="zh-CN" altLang="en-US" b="1">
                <a:solidFill>
                  <a:srgbClr val="FF0000"/>
                </a:solidFill>
                <a:latin typeface="微软雅黑" panose="020B0503020204020204" pitchFamily="34" charset="-122"/>
                <a:ea typeface="微软雅黑" panose="020B0503020204020204" pitchFamily="34" charset="-122"/>
              </a:rPr>
              <a:t>时间维度挖掘</a:t>
            </a:r>
            <a:endParaRPr lang="zh-CN" altLang="en-US" b="1">
              <a:solidFill>
                <a:srgbClr val="FF0000"/>
              </a:solidFill>
              <a:latin typeface="微软雅黑" panose="020B0503020204020204" pitchFamily="34" charset="-122"/>
              <a:ea typeface="微软雅黑" panose="020B0503020204020204" pitchFamily="34" charset="-122"/>
            </a:endParaRPr>
          </a:p>
        </p:txBody>
      </p:sp>
      <p:pic>
        <p:nvPicPr>
          <p:cNvPr id="142" name="图片 141"/>
          <p:cNvPicPr>
            <a:picLocks noChangeAspect="1"/>
          </p:cNvPicPr>
          <p:nvPr/>
        </p:nvPicPr>
        <p:blipFill>
          <a:blip r:embed="rId2"/>
          <a:stretch>
            <a:fillRect/>
          </a:stretch>
        </p:blipFill>
        <p:spPr>
          <a:xfrm>
            <a:off x="15240" y="4996180"/>
            <a:ext cx="1757045" cy="1376680"/>
          </a:xfrm>
          <a:prstGeom prst="rect">
            <a:avLst/>
          </a:prstGeom>
        </p:spPr>
      </p:pic>
      <p:graphicFrame>
        <p:nvGraphicFramePr>
          <p:cNvPr id="4" name="对象 -2147482579"/>
          <p:cNvGraphicFramePr>
            <a:graphicFrameLocks noChangeAspect="1"/>
          </p:cNvGraphicFramePr>
          <p:nvPr/>
        </p:nvGraphicFramePr>
        <p:xfrm>
          <a:off x="974090" y="2063750"/>
          <a:ext cx="2679700" cy="639445"/>
        </p:xfrm>
        <a:graphic>
          <a:graphicData uri="http://schemas.openxmlformats.org/presentationml/2006/ole">
            <mc:AlternateContent xmlns:mc="http://schemas.openxmlformats.org/markup-compatibility/2006">
              <mc:Choice xmlns:v="urn:schemas-microsoft-com:vml" Requires="v">
                <p:oleObj spid="_x0000_s12" name="" r:id="rId3" imgW="1651000" imgH="393700" progId="Equation.DSMT4">
                  <p:embed/>
                </p:oleObj>
              </mc:Choice>
              <mc:Fallback>
                <p:oleObj name="" r:id="rId3" imgW="1651000" imgH="393700" progId="Equation.DSMT4">
                  <p:embed/>
                  <p:pic>
                    <p:nvPicPr>
                      <p:cNvPr id="0" name="图片 11"/>
                      <p:cNvPicPr/>
                      <p:nvPr/>
                    </p:nvPicPr>
                    <p:blipFill>
                      <a:blip r:embed="rId4"/>
                      <a:stretch>
                        <a:fillRect/>
                      </a:stretch>
                    </p:blipFill>
                    <p:spPr>
                      <a:xfrm>
                        <a:off x="974090" y="2063750"/>
                        <a:ext cx="2679700" cy="639445"/>
                      </a:xfrm>
                      <a:prstGeom prst="rect">
                        <a:avLst/>
                      </a:prstGeom>
                      <a:noFill/>
                      <a:ln w="38100">
                        <a:noFill/>
                        <a:miter/>
                      </a:ln>
                    </p:spPr>
                  </p:pic>
                </p:oleObj>
              </mc:Fallback>
            </mc:AlternateContent>
          </a:graphicData>
        </a:graphic>
      </p:graphicFrame>
      <p:sp>
        <p:nvSpPr>
          <p:cNvPr id="100" name="文本框 99"/>
          <p:cNvSpPr txBox="1"/>
          <p:nvPr/>
        </p:nvSpPr>
        <p:spPr>
          <a:xfrm>
            <a:off x="1182370" y="1667510"/>
            <a:ext cx="2099310" cy="368300"/>
          </a:xfrm>
          <a:prstGeom prst="rect">
            <a:avLst/>
          </a:prstGeom>
          <a:noFill/>
          <a:ln w="9525">
            <a:noFill/>
          </a:ln>
        </p:spPr>
        <p:txBody>
          <a:bodyPr wrap="square">
            <a:spAutoFit/>
          </a:bodyPr>
          <a:p>
            <a:pPr indent="0"/>
            <a:r>
              <a:rPr lang="zh-CN" b="1">
                <a:latin typeface="微软雅黑" panose="020B0503020204020204" pitchFamily="34" charset="-122"/>
                <a:ea typeface="微软雅黑" panose="020B0503020204020204" pitchFamily="34" charset="-122"/>
              </a:rPr>
              <a:t>膨胀因果卷积运算：</a:t>
            </a:r>
            <a:endParaRPr lang="zh-CN" altLang="en-US" b="1">
              <a:latin typeface="微软雅黑" panose="020B0503020204020204" pitchFamily="34" charset="-122"/>
              <a:ea typeface="微软雅黑" panose="020B0503020204020204" pitchFamily="34" charset="-122"/>
            </a:endParaRPr>
          </a:p>
        </p:txBody>
      </p:sp>
      <p:sp>
        <p:nvSpPr>
          <p:cNvPr id="14" name="圆角矩形 13"/>
          <p:cNvSpPr/>
          <p:nvPr/>
        </p:nvSpPr>
        <p:spPr>
          <a:xfrm>
            <a:off x="807085" y="3988435"/>
            <a:ext cx="2936875" cy="740410"/>
          </a:xfrm>
          <a:prstGeom prst="roundRect">
            <a:avLst>
              <a:gd name="adj" fmla="val 6809"/>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0000"/>
              </a:lnSpc>
            </a:pPr>
            <a:r>
              <a:rPr lang="zh-CN" altLang="en-US" sz="1700" b="1">
                <a:solidFill>
                  <a:srgbClr val="FF0000"/>
                </a:solidFill>
                <a:latin typeface="微软雅黑" panose="020B0503020204020204" pitchFamily="34" charset="-122"/>
                <a:ea typeface="微软雅黑" panose="020B0503020204020204" pitchFamily="34" charset="-122"/>
                <a:sym typeface="+mn-ea"/>
              </a:rPr>
              <a:t>思想：通过膨胀卷积达到抓取长时依赖信息的效果</a:t>
            </a:r>
            <a:endParaRPr lang="zh-CN" altLang="en-US" sz="1700" b="1">
              <a:solidFill>
                <a:srgbClr val="FF0000"/>
              </a:solidFill>
              <a:latin typeface="微软雅黑" panose="020B0503020204020204" pitchFamily="34" charset="-122"/>
              <a:ea typeface="微软雅黑" panose="020B0503020204020204" pitchFamily="34" charset="-122"/>
              <a:sym typeface="+mn-ea"/>
            </a:endParaRPr>
          </a:p>
        </p:txBody>
      </p:sp>
      <p:pic>
        <p:nvPicPr>
          <p:cNvPr id="11" name="图片 10"/>
          <p:cNvPicPr>
            <a:picLocks noChangeAspect="1"/>
          </p:cNvPicPr>
          <p:nvPr/>
        </p:nvPicPr>
        <p:blipFill>
          <a:blip r:embed="rId5"/>
          <a:srcRect l="13508" t="12515" r="9973" b="12778"/>
          <a:stretch>
            <a:fillRect/>
          </a:stretch>
        </p:blipFill>
        <p:spPr>
          <a:xfrm>
            <a:off x="4370705" y="1704340"/>
            <a:ext cx="7628255" cy="4253865"/>
          </a:xfrm>
          <a:prstGeom prst="rect">
            <a:avLst/>
          </a:prstGeom>
        </p:spPr>
      </p:pic>
      <p:pic>
        <p:nvPicPr>
          <p:cNvPr id="101" name="图片 100"/>
          <p:cNvPicPr/>
          <p:nvPr/>
        </p:nvPicPr>
        <p:blipFill>
          <a:blip r:embed="rId6"/>
          <a:stretch>
            <a:fillRect/>
          </a:stretch>
        </p:blipFill>
        <p:spPr>
          <a:xfrm>
            <a:off x="2068195" y="5063490"/>
            <a:ext cx="2303145" cy="1243330"/>
          </a:xfrm>
          <a:prstGeom prst="rect">
            <a:avLst/>
          </a:prstGeom>
          <a:noFill/>
          <a:ln w="9525">
            <a:noFill/>
          </a:ln>
        </p:spPr>
      </p:pic>
    </p:spTree>
  </p:cSld>
  <p:clrMapOvr>
    <a:masterClrMapping/>
  </p:clrMapOvr>
  <p:transition>
    <p:comb/>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rcRect l="2306" t="2551" r="2562" b="2041"/>
          <a:stretch>
            <a:fillRect/>
          </a:stretch>
        </p:blipFill>
        <p:spPr>
          <a:xfrm>
            <a:off x="3051175" y="1554480"/>
            <a:ext cx="8870950" cy="4467860"/>
          </a:xfrm>
          <a:prstGeom prst="rect">
            <a:avLst/>
          </a:prstGeom>
        </p:spPr>
      </p:pic>
      <p:sp>
        <p:nvSpPr>
          <p:cNvPr id="2" name="内容占位符 1"/>
          <p:cNvSpPr>
            <a:spLocks noGrp="1"/>
          </p:cNvSpPr>
          <p:nvPr>
            <p:ph sz="quarter" idx="13"/>
          </p:nvPr>
        </p:nvSpPr>
        <p:spPr/>
        <p:txBody>
          <a:bodyPr/>
          <a:lstStyle/>
          <a:p>
            <a:r>
              <a:rPr lang="zh-CN" altLang="en-US" dirty="0"/>
              <a:t>课题主要研究、</a:t>
            </a:r>
            <a:r>
              <a:rPr lang="zh-CN" altLang="en-US" dirty="0"/>
              <a:t>工作内容</a:t>
            </a:r>
            <a:endParaRPr lang="zh-CN" altLang="en-US" dirty="0"/>
          </a:p>
        </p:txBody>
      </p:sp>
      <p:sp>
        <p:nvSpPr>
          <p:cNvPr id="3" name="灯片编号占位符 2"/>
          <p:cNvSpPr>
            <a:spLocks noGrp="1"/>
          </p:cNvSpPr>
          <p:nvPr>
            <p:ph type="sldNum" sz="quarter" idx="12"/>
          </p:nvPr>
        </p:nvSpPr>
        <p:spPr/>
        <p:txBody>
          <a:bodyPr/>
          <a:lstStyle/>
          <a:p>
            <a:r>
              <a:rPr lang="en-US" altLang="zh-CN" dirty="0"/>
              <a:t>28</a:t>
            </a:r>
            <a:endParaRPr lang="en-US" altLang="zh-CN" dirty="0"/>
          </a:p>
        </p:txBody>
      </p:sp>
      <p:sp>
        <p:nvSpPr>
          <p:cNvPr id="6" name="矩形: 圆角 5"/>
          <p:cNvSpPr/>
          <p:nvPr/>
        </p:nvSpPr>
        <p:spPr>
          <a:xfrm>
            <a:off x="741045" y="912495"/>
            <a:ext cx="722820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accent1"/>
                </a:solidFill>
                <a:latin typeface="微软雅黑" panose="020B0503020204020204" pitchFamily="34" charset="-122"/>
                <a:ea typeface="微软雅黑" panose="020B0503020204020204" pitchFamily="34" charset="-122"/>
                <a:sym typeface="+mn-ea"/>
              </a:rPr>
              <a:t>课题主要研究、工作内容</a:t>
            </a:r>
            <a:r>
              <a:rPr lang="zh-CN" altLang="en-US" sz="2400" dirty="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2"/>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spc="100" dirty="0">
                <a:blipFill>
                  <a:blip r:embed="rId2"/>
                  <a:stretch>
                    <a:fillRect/>
                  </a:stretch>
                </a:blipFill>
                <a:latin typeface="微软雅黑" panose="020B0503020204020204" pitchFamily="34" charset="-122"/>
                <a:ea typeface="微软雅黑" panose="020B0503020204020204" pitchFamily="34" charset="-122"/>
                <a:sym typeface="Wingdings 3" panose="05040102010807070707" pitchFamily="18" charset="2"/>
              </a:rPr>
              <a:t>预备知识</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28" name="圆角矩形 27"/>
          <p:cNvSpPr/>
          <p:nvPr/>
        </p:nvSpPr>
        <p:spPr>
          <a:xfrm>
            <a:off x="7379970" y="949960"/>
            <a:ext cx="2794635" cy="573405"/>
          </a:xfrm>
          <a:prstGeom prst="roundRect">
            <a:avLst>
              <a:gd name="adj" fmla="val 6809"/>
            </a:avLst>
          </a:prstGeom>
          <a:solidFill>
            <a:srgbClr val="FFFFC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b="1" dirty="0">
                <a:solidFill>
                  <a:srgbClr val="080EF6"/>
                </a:solidFill>
                <a:latin typeface="Times New Roman" panose="02020603050405020304" charset="0"/>
                <a:ea typeface="微软雅黑" panose="020B0503020204020204" pitchFamily="34" charset="-122"/>
                <a:cs typeface="Times New Roman" panose="02020603050405020304" charset="0"/>
                <a:sym typeface="+mn-ea"/>
              </a:rPr>
              <a:t>I</a:t>
            </a:r>
            <a:r>
              <a:rPr lang="en-US" altLang="zh-CN" sz="2400" b="1" dirty="0">
                <a:solidFill>
                  <a:srgbClr val="080EF6"/>
                </a:solidFill>
                <a:latin typeface="Times New Roman" panose="02020603050405020304" charset="0"/>
                <a:ea typeface="微软雅黑" panose="020B0503020204020204" pitchFamily="34" charset="-122"/>
                <a:cs typeface="Times New Roman" panose="02020603050405020304" charset="0"/>
                <a:sym typeface="+mn-ea"/>
              </a:rPr>
              <a:t>nformer</a:t>
            </a:r>
            <a:r>
              <a:rPr lang="zh-CN" altLang="en-US" sz="2400" b="1" dirty="0">
                <a:solidFill>
                  <a:srgbClr val="080EF6"/>
                </a:solidFill>
                <a:latin typeface="Times New Roman" panose="02020603050405020304" charset="0"/>
                <a:ea typeface="微软雅黑" panose="020B0503020204020204" pitchFamily="34" charset="-122"/>
                <a:cs typeface="Times New Roman" panose="02020603050405020304" charset="0"/>
                <a:sym typeface="+mn-ea"/>
              </a:rPr>
              <a:t>原理</a:t>
            </a:r>
            <a:endParaRPr lang="zh-CN" altLang="en-US" sz="2400" b="1" dirty="0">
              <a:solidFill>
                <a:srgbClr val="080EF6"/>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9" name="文本框 8"/>
          <p:cNvSpPr txBox="1"/>
          <p:nvPr/>
        </p:nvSpPr>
        <p:spPr>
          <a:xfrm>
            <a:off x="6351905" y="5326380"/>
            <a:ext cx="2269490" cy="368300"/>
          </a:xfrm>
          <a:prstGeom prst="rect">
            <a:avLst/>
          </a:prstGeom>
          <a:noFill/>
        </p:spPr>
        <p:txBody>
          <a:bodyPr wrap="square" rtlCol="0" anchor="t">
            <a:spAutoFit/>
          </a:bodyPr>
          <a:p>
            <a:r>
              <a:rPr lang="en-US" altLang="zh-CN" b="1">
                <a:latin typeface="Times New Roman" panose="02020603050405020304" charset="0"/>
                <a:ea typeface="微软雅黑" panose="020B0503020204020204" pitchFamily="34" charset="-122"/>
              </a:rPr>
              <a:t>I</a:t>
            </a:r>
            <a:r>
              <a:rPr lang="en-US" altLang="zh-CN" b="1">
                <a:latin typeface="Times New Roman" panose="02020603050405020304" charset="0"/>
                <a:ea typeface="微软雅黑" panose="020B0503020204020204" pitchFamily="34" charset="-122"/>
              </a:rPr>
              <a:t>nformer</a:t>
            </a:r>
            <a:r>
              <a:rPr lang="zh-CN" altLang="en-US" b="1">
                <a:latin typeface="Times New Roman" panose="02020603050405020304" charset="0"/>
                <a:ea typeface="微软雅黑" panose="020B0503020204020204" pitchFamily="34" charset="-122"/>
              </a:rPr>
              <a:t>原理示意图</a:t>
            </a:r>
            <a:endParaRPr lang="zh-CN" altLang="en-US" b="1">
              <a:latin typeface="Times New Roman" panose="02020603050405020304" charset="0"/>
              <a:ea typeface="微软雅黑" panose="020B0503020204020204" pitchFamily="34" charset="-122"/>
            </a:endParaRPr>
          </a:p>
        </p:txBody>
      </p:sp>
      <p:sp>
        <p:nvSpPr>
          <p:cNvPr id="197" name="圆角矩形 196"/>
          <p:cNvSpPr/>
          <p:nvPr/>
        </p:nvSpPr>
        <p:spPr>
          <a:xfrm>
            <a:off x="5070475" y="5739130"/>
            <a:ext cx="3367405" cy="780415"/>
          </a:xfrm>
          <a:prstGeom prst="roundRect">
            <a:avLst>
              <a:gd name="adj" fmla="val 6809"/>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71755" algn="ctr" fontAlgn="auto">
              <a:lnSpc>
                <a:spcPct val="120000"/>
              </a:lnSpc>
            </a:pPr>
            <a:r>
              <a:rPr lang="zh-CN" altLang="en-US" sz="1700" b="1">
                <a:solidFill>
                  <a:srgbClr val="FF0000"/>
                </a:solidFill>
                <a:latin typeface="微软雅黑" panose="020B0503020204020204" pitchFamily="34" charset="-122"/>
                <a:ea typeface="微软雅黑" panose="020B0503020204020204" pitchFamily="34" charset="-122"/>
                <a:sym typeface="+mn-ea"/>
              </a:rPr>
              <a:t>对比以往深度学习</a:t>
            </a:r>
            <a:r>
              <a:rPr lang="zh-CN" altLang="en-US" sz="1700" b="1">
                <a:solidFill>
                  <a:srgbClr val="FF0000"/>
                </a:solidFill>
                <a:latin typeface="Times New Roman" panose="02020603050405020304" charset="0"/>
                <a:ea typeface="微软雅黑" panose="020B0503020204020204" pitchFamily="34" charset="-122"/>
                <a:cs typeface="Times New Roman" panose="02020603050405020304" charset="0"/>
                <a:sym typeface="+mn-ea"/>
              </a:rPr>
              <a:t>模型</a:t>
            </a:r>
            <a:r>
              <a:rPr lang="zh-CN" altLang="en-US" sz="1700" b="1">
                <a:solidFill>
                  <a:srgbClr val="FF0000"/>
                </a:solidFill>
                <a:latin typeface="微软雅黑" panose="020B0503020204020204" pitchFamily="34" charset="-122"/>
                <a:ea typeface="微软雅黑" panose="020B0503020204020204" pitchFamily="34" charset="-122"/>
                <a:sym typeface="+mn-ea"/>
              </a:rPr>
              <a:t>的优点：长时间序列预测</a:t>
            </a:r>
            <a:r>
              <a:rPr lang="zh-CN" altLang="en-US" sz="1700" b="1">
                <a:solidFill>
                  <a:srgbClr val="FF0000"/>
                </a:solidFill>
                <a:latin typeface="微软雅黑" panose="020B0503020204020204" pitchFamily="34" charset="-122"/>
                <a:ea typeface="微软雅黑" panose="020B0503020204020204" pitchFamily="34" charset="-122"/>
                <a:sym typeface="+mn-ea"/>
              </a:rPr>
              <a:t>时具有明显</a:t>
            </a:r>
            <a:r>
              <a:rPr lang="zh-CN" altLang="en-US" sz="1700" b="1">
                <a:solidFill>
                  <a:srgbClr val="FF0000"/>
                </a:solidFill>
                <a:latin typeface="微软雅黑" panose="020B0503020204020204" pitchFamily="34" charset="-122"/>
                <a:ea typeface="微软雅黑" panose="020B0503020204020204" pitchFamily="34" charset="-122"/>
                <a:sym typeface="+mn-ea"/>
              </a:rPr>
              <a:t>优势。</a:t>
            </a:r>
            <a:endParaRPr lang="zh-CN" altLang="en-US" sz="1700" b="1">
              <a:solidFill>
                <a:srgbClr val="FF0000"/>
              </a:solidFill>
              <a:latin typeface="微软雅黑" panose="020B0503020204020204" pitchFamily="34" charset="-122"/>
              <a:ea typeface="微软雅黑" panose="020B0503020204020204" pitchFamily="34" charset="-122"/>
              <a:sym typeface="+mn-ea"/>
            </a:endParaRPr>
          </a:p>
        </p:txBody>
      </p:sp>
      <p:sp>
        <p:nvSpPr>
          <p:cNvPr id="202" name="文本框 201"/>
          <p:cNvSpPr txBox="1"/>
          <p:nvPr/>
        </p:nvSpPr>
        <p:spPr>
          <a:xfrm>
            <a:off x="3148965" y="6120765"/>
            <a:ext cx="880110" cy="645160"/>
          </a:xfrm>
          <a:prstGeom prst="rect">
            <a:avLst/>
          </a:prstGeom>
          <a:noFill/>
          <a:ln w="9525">
            <a:noFill/>
          </a:ln>
        </p:spPr>
        <p:txBody>
          <a:bodyPr wrap="square">
            <a:spAutoFit/>
          </a:bodyPr>
          <a:p>
            <a:pPr indent="0"/>
            <a:r>
              <a:rPr lang="zh-CN" altLang="en-US" b="1">
                <a:solidFill>
                  <a:srgbClr val="FF0000"/>
                </a:solidFill>
                <a:latin typeface="微软雅黑" panose="020B0503020204020204" pitchFamily="34" charset="-122"/>
                <a:ea typeface="微软雅黑" panose="020B0503020204020204" pitchFamily="34" charset="-122"/>
              </a:rPr>
              <a:t>时间维度挖掘</a:t>
            </a:r>
            <a:endParaRPr lang="zh-CN" altLang="en-US" b="1">
              <a:solidFill>
                <a:srgbClr val="FF0000"/>
              </a:solidFill>
              <a:latin typeface="微软雅黑" panose="020B0503020204020204" pitchFamily="34" charset="-122"/>
              <a:ea typeface="微软雅黑" panose="020B0503020204020204" pitchFamily="34" charset="-122"/>
            </a:endParaRPr>
          </a:p>
        </p:txBody>
      </p:sp>
      <p:pic>
        <p:nvPicPr>
          <p:cNvPr id="142" name="图片 141"/>
          <p:cNvPicPr>
            <a:picLocks noChangeAspect="1"/>
          </p:cNvPicPr>
          <p:nvPr/>
        </p:nvPicPr>
        <p:blipFill>
          <a:blip r:embed="rId3"/>
          <a:stretch>
            <a:fillRect/>
          </a:stretch>
        </p:blipFill>
        <p:spPr>
          <a:xfrm>
            <a:off x="1715135" y="6053455"/>
            <a:ext cx="1341120" cy="745490"/>
          </a:xfrm>
          <a:prstGeom prst="rect">
            <a:avLst/>
          </a:prstGeom>
        </p:spPr>
      </p:pic>
      <p:sp>
        <p:nvSpPr>
          <p:cNvPr id="14" name="圆角矩形 13"/>
          <p:cNvSpPr/>
          <p:nvPr/>
        </p:nvSpPr>
        <p:spPr>
          <a:xfrm>
            <a:off x="8812530" y="5739130"/>
            <a:ext cx="2592070" cy="740410"/>
          </a:xfrm>
          <a:prstGeom prst="roundRect">
            <a:avLst>
              <a:gd name="adj" fmla="val 6809"/>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0000"/>
              </a:lnSpc>
            </a:pPr>
            <a:r>
              <a:rPr lang="zh-CN" altLang="en-US" sz="1700" b="1">
                <a:solidFill>
                  <a:srgbClr val="FF0000"/>
                </a:solidFill>
                <a:latin typeface="微软雅黑" panose="020B0503020204020204" pitchFamily="34" charset="-122"/>
                <a:ea typeface="微软雅黑" panose="020B0503020204020204" pitchFamily="34" charset="-122"/>
                <a:sym typeface="+mn-ea"/>
              </a:rPr>
              <a:t>思想：基于多头注意力机制</a:t>
            </a:r>
            <a:r>
              <a:rPr lang="zh-CN" altLang="en-US" sz="1700" b="1">
                <a:solidFill>
                  <a:srgbClr val="FF0000"/>
                </a:solidFill>
                <a:latin typeface="微软雅黑" panose="020B0503020204020204" pitchFamily="34" charset="-122"/>
                <a:ea typeface="微软雅黑" panose="020B0503020204020204" pitchFamily="34" charset="-122"/>
                <a:sym typeface="+mn-ea"/>
              </a:rPr>
              <a:t>的长时间序列预测</a:t>
            </a:r>
            <a:endParaRPr lang="zh-CN" altLang="en-US" sz="1700" b="1">
              <a:solidFill>
                <a:srgbClr val="FF0000"/>
              </a:solidFill>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4"/>
          <a:stretch>
            <a:fillRect/>
          </a:stretch>
        </p:blipFill>
        <p:spPr>
          <a:xfrm>
            <a:off x="283845" y="3790950"/>
            <a:ext cx="2941320" cy="2326640"/>
          </a:xfrm>
          <a:prstGeom prst="rect">
            <a:avLst/>
          </a:prstGeom>
        </p:spPr>
      </p:pic>
      <p:pic>
        <p:nvPicPr>
          <p:cNvPr id="8" name="图片 7"/>
          <p:cNvPicPr>
            <a:picLocks noChangeAspect="1"/>
          </p:cNvPicPr>
          <p:nvPr/>
        </p:nvPicPr>
        <p:blipFill>
          <a:blip r:embed="rId5"/>
          <a:stretch>
            <a:fillRect/>
          </a:stretch>
        </p:blipFill>
        <p:spPr>
          <a:xfrm>
            <a:off x="283845" y="1523365"/>
            <a:ext cx="2772410" cy="2200275"/>
          </a:xfrm>
          <a:prstGeom prst="rect">
            <a:avLst/>
          </a:prstGeom>
        </p:spPr>
      </p:pic>
    </p:spTree>
  </p:cSld>
  <p:clrMapOvr>
    <a:masterClrMapping/>
  </p:clrMapOvr>
  <p:transition>
    <p:comb/>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8089265" y="1520825"/>
            <a:ext cx="3724910" cy="2727325"/>
          </a:xfrm>
          <a:prstGeom prst="roundRect">
            <a:avLst>
              <a:gd name="adj" fmla="val 4634"/>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4" name="图片 3"/>
          <p:cNvPicPr>
            <a:picLocks noChangeAspect="1"/>
          </p:cNvPicPr>
          <p:nvPr/>
        </p:nvPicPr>
        <p:blipFill>
          <a:blip r:embed="rId1"/>
          <a:srcRect l="6814" t="7752" r="7989" b="575"/>
          <a:stretch>
            <a:fillRect/>
          </a:stretch>
        </p:blipFill>
        <p:spPr>
          <a:xfrm>
            <a:off x="303530" y="1599565"/>
            <a:ext cx="7524115" cy="4554220"/>
          </a:xfrm>
          <a:prstGeom prst="rect">
            <a:avLst/>
          </a:prstGeom>
        </p:spPr>
      </p:pic>
      <p:sp>
        <p:nvSpPr>
          <p:cNvPr id="2" name="内容占位符 1"/>
          <p:cNvSpPr>
            <a:spLocks noGrp="1"/>
          </p:cNvSpPr>
          <p:nvPr>
            <p:ph sz="quarter" idx="13"/>
          </p:nvPr>
        </p:nvSpPr>
        <p:spPr/>
        <p:txBody>
          <a:bodyPr/>
          <a:lstStyle/>
          <a:p>
            <a:r>
              <a:rPr lang="zh-CN" altLang="en-US" dirty="0"/>
              <a:t>课题主要研究、</a:t>
            </a:r>
            <a:r>
              <a:rPr lang="zh-CN" altLang="en-US" dirty="0"/>
              <a:t>工作内容</a:t>
            </a:r>
            <a:endParaRPr lang="zh-CN" altLang="en-US" dirty="0"/>
          </a:p>
        </p:txBody>
      </p:sp>
      <p:sp>
        <p:nvSpPr>
          <p:cNvPr id="3" name="灯片编号占位符 2"/>
          <p:cNvSpPr>
            <a:spLocks noGrp="1"/>
          </p:cNvSpPr>
          <p:nvPr>
            <p:ph type="sldNum" sz="quarter" idx="12"/>
          </p:nvPr>
        </p:nvSpPr>
        <p:spPr/>
        <p:txBody>
          <a:bodyPr/>
          <a:lstStyle/>
          <a:p>
            <a:r>
              <a:rPr lang="en-US" altLang="zh-CN" dirty="0"/>
              <a:t>29</a:t>
            </a:r>
            <a:endParaRPr lang="en-US" altLang="zh-CN" dirty="0"/>
          </a:p>
        </p:txBody>
      </p:sp>
      <p:sp>
        <p:nvSpPr>
          <p:cNvPr id="6" name="矩形: 圆角 5"/>
          <p:cNvSpPr/>
          <p:nvPr/>
        </p:nvSpPr>
        <p:spPr>
          <a:xfrm>
            <a:off x="741045" y="912495"/>
            <a:ext cx="722820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accent1"/>
                </a:solidFill>
                <a:latin typeface="微软雅黑" panose="020B0503020204020204" pitchFamily="34" charset="-122"/>
                <a:ea typeface="微软雅黑" panose="020B0503020204020204" pitchFamily="34" charset="-122"/>
                <a:sym typeface="+mn-ea"/>
              </a:rPr>
              <a:t>课题主要研究、工作内容</a:t>
            </a:r>
            <a:r>
              <a:rPr lang="zh-CN" altLang="en-US" sz="2400" dirty="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2"/>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zh-CN" altLang="en-US" sz="2400" spc="100" dirty="0">
                <a:blipFill>
                  <a:blip r:embed="rId2"/>
                  <a:stretch>
                    <a:fillRect/>
                  </a:stretch>
                </a:blipFill>
                <a:latin typeface="微软雅黑" panose="020B0503020204020204" pitchFamily="34" charset="-122"/>
                <a:ea typeface="微软雅黑" panose="020B0503020204020204" pitchFamily="34" charset="-122"/>
                <a:sym typeface="Wingdings 3" panose="05040102010807070707" pitchFamily="18" charset="2"/>
              </a:rPr>
              <a:t>预备知识</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28" name="圆角矩形 27"/>
          <p:cNvSpPr/>
          <p:nvPr/>
        </p:nvSpPr>
        <p:spPr>
          <a:xfrm>
            <a:off x="6351905" y="912495"/>
            <a:ext cx="5518785" cy="544195"/>
          </a:xfrm>
          <a:prstGeom prst="roundRect">
            <a:avLst>
              <a:gd name="adj" fmla="val 6809"/>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000" b="1" dirty="0">
                <a:solidFill>
                  <a:srgbClr val="FF0000"/>
                </a:solidFill>
                <a:latin typeface="Times New Roman" panose="02020603050405020304" charset="0"/>
                <a:ea typeface="微软雅黑" panose="020B0503020204020204" pitchFamily="34" charset="-122"/>
                <a:cs typeface="Times New Roman" panose="02020603050405020304" charset="0"/>
                <a:sym typeface="+mn-ea"/>
              </a:rPr>
              <a:t>spatial-temporal graph convolutional network</a:t>
            </a:r>
            <a:endParaRPr lang="zh-CN" altLang="en-US" sz="2000" b="1" dirty="0">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9" name="文本框 8"/>
          <p:cNvSpPr txBox="1"/>
          <p:nvPr/>
        </p:nvSpPr>
        <p:spPr>
          <a:xfrm>
            <a:off x="2806065" y="6111240"/>
            <a:ext cx="2518410" cy="368300"/>
          </a:xfrm>
          <a:prstGeom prst="rect">
            <a:avLst/>
          </a:prstGeom>
          <a:noFill/>
        </p:spPr>
        <p:txBody>
          <a:bodyPr wrap="square" rtlCol="0" anchor="t">
            <a:spAutoFit/>
          </a:bodyPr>
          <a:p>
            <a:r>
              <a:rPr lang="zh-CN" altLang="en-US" b="1">
                <a:latin typeface="Times New Roman" panose="02020603050405020304" charset="0"/>
                <a:ea typeface="微软雅黑" panose="020B0503020204020204" pitchFamily="34" charset="-122"/>
              </a:rPr>
              <a:t>时空图卷积网络示意图</a:t>
            </a:r>
            <a:endParaRPr lang="zh-CN" altLang="en-US" b="1">
              <a:latin typeface="Times New Roman" panose="02020603050405020304" charset="0"/>
              <a:ea typeface="微软雅黑" panose="020B0503020204020204" pitchFamily="34" charset="-122"/>
            </a:endParaRPr>
          </a:p>
        </p:txBody>
      </p:sp>
      <p:sp>
        <p:nvSpPr>
          <p:cNvPr id="10" name="圆角矩形 9"/>
          <p:cNvSpPr/>
          <p:nvPr/>
        </p:nvSpPr>
        <p:spPr>
          <a:xfrm>
            <a:off x="435610" y="5143500"/>
            <a:ext cx="1345565" cy="850265"/>
          </a:xfrm>
          <a:prstGeom prst="roundRect">
            <a:avLst>
              <a:gd name="adj" fmla="val 6809"/>
            </a:avLst>
          </a:prstGeom>
          <a:solidFill>
            <a:srgbClr val="FFFF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71755" algn="ctr" fontAlgn="auto">
              <a:lnSpc>
                <a:spcPct val="120000"/>
              </a:lnSpc>
            </a:pPr>
            <a:r>
              <a:rPr lang="zh-CN" altLang="en-US" sz="1700" b="1" spc="150">
                <a:solidFill>
                  <a:srgbClr val="080EF6"/>
                </a:solidFill>
                <a:uFillTx/>
                <a:latin typeface="微软雅黑" panose="020B0503020204020204" pitchFamily="34" charset="-122"/>
                <a:ea typeface="微软雅黑" panose="020B0503020204020204" pitchFamily="34" charset="-122"/>
                <a:sym typeface="+mn-ea"/>
              </a:rPr>
              <a:t>时空维度挖掘</a:t>
            </a:r>
            <a:endParaRPr lang="zh-CN" altLang="en-US" sz="1700" b="1" spc="150">
              <a:solidFill>
                <a:srgbClr val="080EF6"/>
              </a:solidFill>
              <a:uFillTx/>
              <a:latin typeface="微软雅黑" panose="020B0503020204020204" pitchFamily="34" charset="-122"/>
              <a:ea typeface="微软雅黑" panose="020B0503020204020204" pitchFamily="34" charset="-122"/>
              <a:sym typeface="+mn-ea"/>
            </a:endParaRPr>
          </a:p>
        </p:txBody>
      </p:sp>
      <p:pic>
        <p:nvPicPr>
          <p:cNvPr id="11" name="图片 10" descr="v2-86e2bd970d07f9d6e1d921b248e45a3a_b"/>
          <p:cNvPicPr>
            <a:picLocks noChangeAspect="1"/>
          </p:cNvPicPr>
          <p:nvPr/>
        </p:nvPicPr>
        <p:blipFill>
          <a:blip r:embed="rId3"/>
          <a:stretch>
            <a:fillRect/>
          </a:stretch>
        </p:blipFill>
        <p:spPr>
          <a:xfrm>
            <a:off x="8214360" y="4312285"/>
            <a:ext cx="2706370" cy="2422525"/>
          </a:xfrm>
          <a:prstGeom prst="rect">
            <a:avLst/>
          </a:prstGeom>
        </p:spPr>
      </p:pic>
      <p:sp>
        <p:nvSpPr>
          <p:cNvPr id="13" name="圆角矩形 12"/>
          <p:cNvSpPr/>
          <p:nvPr/>
        </p:nvSpPr>
        <p:spPr>
          <a:xfrm>
            <a:off x="304165" y="1520825"/>
            <a:ext cx="7665085" cy="4958715"/>
          </a:xfrm>
          <a:prstGeom prst="roundRect">
            <a:avLst>
              <a:gd name="adj" fmla="val 1520"/>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0" name="文本框 99"/>
          <p:cNvSpPr txBox="1"/>
          <p:nvPr/>
        </p:nvSpPr>
        <p:spPr>
          <a:xfrm>
            <a:off x="8180070" y="1600200"/>
            <a:ext cx="3690620" cy="706755"/>
          </a:xfrm>
          <a:prstGeom prst="rect">
            <a:avLst/>
          </a:prstGeom>
          <a:noFill/>
          <a:ln w="9525">
            <a:noFill/>
          </a:ln>
        </p:spPr>
        <p:txBody>
          <a:bodyPr wrap="square">
            <a:spAutoFit/>
          </a:bodyPr>
          <a:p>
            <a:pPr indent="0" fontAlgn="auto">
              <a:lnSpc>
                <a:spcPct val="125000"/>
              </a:lnSpc>
            </a:pPr>
            <a:r>
              <a:rPr lang="zh-CN" sz="1600" b="1">
                <a:latin typeface="Times New Roman" panose="02020603050405020304" charset="0"/>
                <a:ea typeface="微软雅黑" panose="020B0503020204020204" pitchFamily="34" charset="-122"/>
                <a:cs typeface="Times New Roman" panose="02020603050405020304" charset="0"/>
              </a:rPr>
              <a:t>时空预测模型可以表示为</a:t>
            </a:r>
            <a:r>
              <a:rPr lang="en-US" altLang="zh-CN" sz="1600" b="1" i="1">
                <a:latin typeface="Times New Roman" panose="02020603050405020304" charset="0"/>
                <a:ea typeface="微软雅黑" panose="020B0503020204020204" pitchFamily="34" charset="-122"/>
                <a:cs typeface="Times New Roman" panose="02020603050405020304" charset="0"/>
              </a:rPr>
              <a:t>H</a:t>
            </a:r>
            <a:r>
              <a:rPr lang="zh-CN" sz="1600" b="1">
                <a:latin typeface="Times New Roman" panose="02020603050405020304" charset="0"/>
                <a:ea typeface="微软雅黑" panose="020B0503020204020204" pitchFamily="34" charset="-122"/>
                <a:cs typeface="Times New Roman" panose="02020603050405020304" charset="0"/>
                <a:sym typeface="+mn-ea"/>
              </a:rPr>
              <a:t>步历史数</a:t>
            </a:r>
            <a:endParaRPr lang="zh-CN" sz="1600" b="1">
              <a:latin typeface="Times New Roman" panose="02020603050405020304" charset="0"/>
              <a:ea typeface="微软雅黑" panose="020B0503020204020204" pitchFamily="34" charset="-122"/>
              <a:cs typeface="Times New Roman" panose="02020603050405020304" charset="0"/>
              <a:sym typeface="+mn-ea"/>
            </a:endParaRPr>
          </a:p>
          <a:p>
            <a:pPr indent="0" fontAlgn="auto">
              <a:lnSpc>
                <a:spcPct val="125000"/>
              </a:lnSpc>
            </a:pPr>
            <a:r>
              <a:rPr lang="zh-CN" sz="1600" b="1">
                <a:latin typeface="Times New Roman" panose="02020603050405020304" charset="0"/>
                <a:ea typeface="微软雅黑" panose="020B0503020204020204" pitchFamily="34" charset="-122"/>
                <a:cs typeface="Times New Roman" panose="02020603050405020304" charset="0"/>
                <a:sym typeface="+mn-ea"/>
              </a:rPr>
              <a:t>据</a:t>
            </a:r>
            <a:endParaRPr lang="zh-CN" altLang="zh-CN" sz="1600" b="1">
              <a:latin typeface="Times New Roman" panose="02020603050405020304" charset="0"/>
              <a:ea typeface="微软雅黑" panose="020B0503020204020204" pitchFamily="34" charset="-122"/>
              <a:cs typeface="Times New Roman" panose="02020603050405020304" charset="0"/>
              <a:sym typeface="+mn-ea"/>
            </a:endParaRPr>
          </a:p>
        </p:txBody>
      </p:sp>
      <p:graphicFrame>
        <p:nvGraphicFramePr>
          <p:cNvPr id="5" name="对象 -2147482555"/>
          <p:cNvGraphicFramePr>
            <a:graphicFrameLocks noChangeAspect="1"/>
          </p:cNvGraphicFramePr>
          <p:nvPr/>
        </p:nvGraphicFramePr>
        <p:xfrm>
          <a:off x="8456295" y="1972310"/>
          <a:ext cx="1310005" cy="308610"/>
        </p:xfrm>
        <a:graphic>
          <a:graphicData uri="http://schemas.openxmlformats.org/presentationml/2006/ole">
            <mc:AlternateContent xmlns:mc="http://schemas.openxmlformats.org/markup-compatibility/2006">
              <mc:Choice xmlns:v="urn:schemas-microsoft-com:vml" Requires="v">
                <p:oleObj spid="_x0000_s3076" name="" r:id="rId4" imgW="862965" imgH="203200" progId="Equation.DSMT4">
                  <p:embed/>
                </p:oleObj>
              </mc:Choice>
              <mc:Fallback>
                <p:oleObj name="" r:id="rId4" imgW="862965" imgH="203200" progId="Equation.DSMT4">
                  <p:embed/>
                  <p:pic>
                    <p:nvPicPr>
                      <p:cNvPr id="0" name="图片 3075"/>
                      <p:cNvPicPr/>
                      <p:nvPr/>
                    </p:nvPicPr>
                    <p:blipFill>
                      <a:blip r:embed="rId5"/>
                      <a:stretch>
                        <a:fillRect/>
                      </a:stretch>
                    </p:blipFill>
                    <p:spPr>
                      <a:xfrm>
                        <a:off x="8456295" y="1972310"/>
                        <a:ext cx="1310005" cy="308610"/>
                      </a:xfrm>
                      <a:prstGeom prst="rect">
                        <a:avLst/>
                      </a:prstGeom>
                      <a:noFill/>
                      <a:ln w="38100">
                        <a:noFill/>
                        <a:miter/>
                      </a:ln>
                    </p:spPr>
                  </p:pic>
                </p:oleObj>
              </mc:Fallback>
            </mc:AlternateContent>
          </a:graphicData>
        </a:graphic>
      </p:graphicFrame>
      <p:sp>
        <p:nvSpPr>
          <p:cNvPr id="7" name="文本框 6"/>
          <p:cNvSpPr txBox="1"/>
          <p:nvPr/>
        </p:nvSpPr>
        <p:spPr>
          <a:xfrm>
            <a:off x="9641205" y="1958340"/>
            <a:ext cx="1955800" cy="337185"/>
          </a:xfrm>
          <a:prstGeom prst="rect">
            <a:avLst/>
          </a:prstGeom>
          <a:noFill/>
          <a:ln w="9525">
            <a:noFill/>
          </a:ln>
        </p:spPr>
        <p:txBody>
          <a:bodyPr wrap="square">
            <a:spAutoFit/>
          </a:bodyPr>
          <a:p>
            <a:pPr indent="0"/>
            <a:r>
              <a:rPr lang="zh-CN" sz="1600" b="1">
                <a:latin typeface="Times New Roman" panose="02020603050405020304" charset="0"/>
                <a:ea typeface="微软雅黑" panose="020B0503020204020204" pitchFamily="34" charset="-122"/>
                <a:cs typeface="Times New Roman" panose="02020603050405020304" charset="0"/>
              </a:rPr>
              <a:t>映射到</a:t>
            </a:r>
            <a:r>
              <a:rPr lang="zh-CN" sz="1600" b="1" i="1">
                <a:latin typeface="Times New Roman" panose="02020603050405020304" charset="0"/>
                <a:ea typeface="微软雅黑" panose="020B0503020204020204" pitchFamily="34" charset="-122"/>
                <a:cs typeface="Times New Roman" panose="02020603050405020304" charset="0"/>
              </a:rPr>
              <a:t>A</a:t>
            </a:r>
            <a:r>
              <a:rPr lang="zh-CN" sz="1600" b="1">
                <a:latin typeface="Times New Roman" panose="02020603050405020304" charset="0"/>
                <a:ea typeface="微软雅黑" panose="020B0503020204020204" pitchFamily="34" charset="-122"/>
                <a:cs typeface="Times New Roman" panose="02020603050405020304" charset="0"/>
              </a:rPr>
              <a:t>步历史数据</a:t>
            </a:r>
            <a:endParaRPr lang="en-US" altLang="zh-CN" sz="1050" b="1">
              <a:ea typeface="宋体" panose="02010600030101010101" pitchFamily="2" charset="-122"/>
            </a:endParaRPr>
          </a:p>
        </p:txBody>
      </p:sp>
      <p:graphicFrame>
        <p:nvGraphicFramePr>
          <p:cNvPr id="8" name="对象 -2147482553"/>
          <p:cNvGraphicFramePr>
            <a:graphicFrameLocks noChangeAspect="1"/>
          </p:cNvGraphicFramePr>
          <p:nvPr/>
        </p:nvGraphicFramePr>
        <p:xfrm>
          <a:off x="8246745" y="2295525"/>
          <a:ext cx="1263650" cy="306705"/>
        </p:xfrm>
        <a:graphic>
          <a:graphicData uri="http://schemas.openxmlformats.org/presentationml/2006/ole">
            <mc:AlternateContent xmlns:mc="http://schemas.openxmlformats.org/markup-compatibility/2006">
              <mc:Choice xmlns:v="urn:schemas-microsoft-com:vml" Requires="v">
                <p:oleObj spid="_x0000_s12" name="" r:id="rId6" imgW="838200" imgH="203200" progId="Equation.DSMT4">
                  <p:embed/>
                </p:oleObj>
              </mc:Choice>
              <mc:Fallback>
                <p:oleObj name="" r:id="rId6" imgW="838200" imgH="203200" progId="Equation.DSMT4">
                  <p:embed/>
                  <p:pic>
                    <p:nvPicPr>
                      <p:cNvPr id="0" name="图片 7"/>
                      <p:cNvPicPr/>
                      <p:nvPr/>
                    </p:nvPicPr>
                    <p:blipFill>
                      <a:blip r:embed="rId7"/>
                      <a:stretch>
                        <a:fillRect/>
                      </a:stretch>
                    </p:blipFill>
                    <p:spPr>
                      <a:xfrm>
                        <a:off x="8246745" y="2295525"/>
                        <a:ext cx="1263650" cy="306705"/>
                      </a:xfrm>
                      <a:prstGeom prst="rect">
                        <a:avLst/>
                      </a:prstGeom>
                      <a:noFill/>
                      <a:ln w="38100">
                        <a:noFill/>
                        <a:miter/>
                      </a:ln>
                    </p:spPr>
                  </p:pic>
                </p:oleObj>
              </mc:Fallback>
            </mc:AlternateContent>
          </a:graphicData>
        </a:graphic>
      </p:graphicFrame>
      <p:sp>
        <p:nvSpPr>
          <p:cNvPr id="14" name="文本框 13"/>
          <p:cNvSpPr txBox="1"/>
          <p:nvPr/>
        </p:nvSpPr>
        <p:spPr>
          <a:xfrm>
            <a:off x="9435465" y="2280285"/>
            <a:ext cx="1955800" cy="337185"/>
          </a:xfrm>
          <a:prstGeom prst="rect">
            <a:avLst/>
          </a:prstGeom>
          <a:noFill/>
          <a:ln w="9525">
            <a:noFill/>
          </a:ln>
        </p:spPr>
        <p:txBody>
          <a:bodyPr wrap="square">
            <a:spAutoFit/>
          </a:bodyPr>
          <a:p>
            <a:pPr indent="0"/>
            <a:r>
              <a:rPr lang="zh-CN" sz="1600" b="1">
                <a:latin typeface="Times New Roman" panose="02020603050405020304" charset="0"/>
                <a:ea typeface="微软雅黑" panose="020B0503020204020204" pitchFamily="34" charset="-122"/>
                <a:cs typeface="Times New Roman" panose="02020603050405020304" charset="0"/>
              </a:rPr>
              <a:t>的一个学习函数</a:t>
            </a:r>
            <a:r>
              <a:rPr lang="zh-CN" altLang="zh-CN" sz="1600" b="1">
                <a:latin typeface="Times New Roman" panose="02020603050405020304" charset="0"/>
                <a:ea typeface="微软雅黑" panose="020B0503020204020204" pitchFamily="34" charset="-122"/>
                <a:cs typeface="Times New Roman" panose="02020603050405020304" charset="0"/>
              </a:rPr>
              <a:t>：</a:t>
            </a:r>
            <a:endParaRPr lang="zh-CN" altLang="zh-CN" sz="1600" b="1">
              <a:latin typeface="Times New Roman" panose="02020603050405020304" charset="0"/>
              <a:ea typeface="微软雅黑" panose="020B0503020204020204" pitchFamily="34" charset="-122"/>
              <a:cs typeface="Times New Roman" panose="02020603050405020304" charset="0"/>
            </a:endParaRPr>
          </a:p>
        </p:txBody>
      </p:sp>
      <p:graphicFrame>
        <p:nvGraphicFramePr>
          <p:cNvPr id="15" name="对象 -2147482552"/>
          <p:cNvGraphicFramePr>
            <a:graphicFrameLocks noChangeAspect="1"/>
          </p:cNvGraphicFramePr>
          <p:nvPr/>
        </p:nvGraphicFramePr>
        <p:xfrm>
          <a:off x="8246745" y="2602230"/>
          <a:ext cx="1627505" cy="304165"/>
        </p:xfrm>
        <a:graphic>
          <a:graphicData uri="http://schemas.openxmlformats.org/presentationml/2006/ole">
            <mc:AlternateContent xmlns:mc="http://schemas.openxmlformats.org/markup-compatibility/2006">
              <mc:Choice xmlns:v="urn:schemas-microsoft-com:vml" Requires="v">
                <p:oleObj spid="_x0000_s16" name="" r:id="rId8" imgW="1155700" imgH="215900" progId="Equation.DSMT4">
                  <p:embed/>
                </p:oleObj>
              </mc:Choice>
              <mc:Fallback>
                <p:oleObj name="" r:id="rId8" imgW="1155700" imgH="215900" progId="Equation.DSMT4">
                  <p:embed/>
                  <p:pic>
                    <p:nvPicPr>
                      <p:cNvPr id="0" name="图片 13"/>
                      <p:cNvPicPr/>
                      <p:nvPr/>
                    </p:nvPicPr>
                    <p:blipFill>
                      <a:blip r:embed="rId9"/>
                      <a:stretch>
                        <a:fillRect/>
                      </a:stretch>
                    </p:blipFill>
                    <p:spPr>
                      <a:xfrm>
                        <a:off x="8246745" y="2602230"/>
                        <a:ext cx="1627505" cy="304165"/>
                      </a:xfrm>
                      <a:prstGeom prst="rect">
                        <a:avLst/>
                      </a:prstGeom>
                      <a:noFill/>
                      <a:ln w="38100">
                        <a:noFill/>
                        <a:miter/>
                      </a:ln>
                    </p:spPr>
                  </p:pic>
                </p:oleObj>
              </mc:Fallback>
            </mc:AlternateContent>
          </a:graphicData>
        </a:graphic>
      </p:graphicFrame>
      <p:graphicFrame>
        <p:nvGraphicFramePr>
          <p:cNvPr id="17" name="对象 -2147482551"/>
          <p:cNvGraphicFramePr>
            <a:graphicFrameLocks noChangeAspect="1"/>
          </p:cNvGraphicFramePr>
          <p:nvPr/>
        </p:nvGraphicFramePr>
        <p:xfrm>
          <a:off x="8261985" y="2906395"/>
          <a:ext cx="3335020" cy="322580"/>
        </p:xfrm>
        <a:graphic>
          <a:graphicData uri="http://schemas.openxmlformats.org/presentationml/2006/ole">
            <mc:AlternateContent xmlns:mc="http://schemas.openxmlformats.org/markup-compatibility/2006">
              <mc:Choice xmlns:v="urn:schemas-microsoft-com:vml" Requires="v">
                <p:oleObj spid="_x0000_s18" name="" r:id="rId10" imgW="2234565" imgH="215900" progId="Equation.DSMT4">
                  <p:embed/>
                </p:oleObj>
              </mc:Choice>
              <mc:Fallback>
                <p:oleObj name="" r:id="rId10" imgW="2234565" imgH="215900" progId="Equation.DSMT4">
                  <p:embed/>
                  <p:pic>
                    <p:nvPicPr>
                      <p:cNvPr id="0" name="图片 14"/>
                      <p:cNvPicPr/>
                      <p:nvPr/>
                    </p:nvPicPr>
                    <p:blipFill>
                      <a:blip r:embed="rId11"/>
                      <a:stretch>
                        <a:fillRect/>
                      </a:stretch>
                    </p:blipFill>
                    <p:spPr>
                      <a:xfrm>
                        <a:off x="8261985" y="2906395"/>
                        <a:ext cx="3335020" cy="322580"/>
                      </a:xfrm>
                      <a:prstGeom prst="rect">
                        <a:avLst/>
                      </a:prstGeom>
                      <a:noFill/>
                      <a:ln w="38100">
                        <a:noFill/>
                        <a:miter/>
                      </a:ln>
                    </p:spPr>
                  </p:pic>
                </p:oleObj>
              </mc:Fallback>
            </mc:AlternateContent>
          </a:graphicData>
        </a:graphic>
      </p:graphicFrame>
      <p:sp>
        <p:nvSpPr>
          <p:cNvPr id="19" name="文本框 18"/>
          <p:cNvSpPr txBox="1"/>
          <p:nvPr/>
        </p:nvSpPr>
        <p:spPr>
          <a:xfrm>
            <a:off x="9874250" y="2585720"/>
            <a:ext cx="792480" cy="337185"/>
          </a:xfrm>
          <a:prstGeom prst="rect">
            <a:avLst/>
          </a:prstGeom>
          <a:noFill/>
        </p:spPr>
        <p:txBody>
          <a:bodyPr wrap="none" rtlCol="0" anchor="t">
            <a:spAutoFit/>
          </a:bodyPr>
          <a:p>
            <a:pPr indent="0"/>
            <a:r>
              <a:rPr lang="zh-CN" sz="1600" b="1">
                <a:latin typeface="Times New Roman" panose="02020603050405020304" charset="0"/>
                <a:ea typeface="微软雅黑" panose="020B0503020204020204" pitchFamily="34" charset="-122"/>
                <a:cs typeface="Times New Roman" panose="02020603050405020304" charset="0"/>
                <a:sym typeface="+mn-ea"/>
              </a:rPr>
              <a:t>，即：</a:t>
            </a:r>
            <a:endParaRPr lang="zh-CN" altLang="en-US" sz="1600" b="1">
              <a:latin typeface="Times New Roman" panose="02020603050405020304" charset="0"/>
              <a:ea typeface="微软雅黑" panose="020B0503020204020204" pitchFamily="34" charset="-122"/>
              <a:cs typeface="Times New Roman" panose="02020603050405020304" charset="0"/>
              <a:sym typeface="+mn-ea"/>
            </a:endParaRPr>
          </a:p>
        </p:txBody>
      </p:sp>
      <p:graphicFrame>
        <p:nvGraphicFramePr>
          <p:cNvPr id="20" name="对象 -2147482548"/>
          <p:cNvGraphicFramePr>
            <a:graphicFrameLocks noChangeAspect="1"/>
          </p:cNvGraphicFramePr>
          <p:nvPr/>
        </p:nvGraphicFramePr>
        <p:xfrm>
          <a:off x="8261985" y="3263900"/>
          <a:ext cx="1439545" cy="273685"/>
        </p:xfrm>
        <a:graphic>
          <a:graphicData uri="http://schemas.openxmlformats.org/presentationml/2006/ole">
            <mc:AlternateContent xmlns:mc="http://schemas.openxmlformats.org/markup-compatibility/2006">
              <mc:Choice xmlns:v="urn:schemas-microsoft-com:vml" Requires="v">
                <p:oleObj spid="_x0000_s21" name="" r:id="rId12" imgW="1066800" imgH="203200" progId="Equation.DSMT4">
                  <p:embed/>
                </p:oleObj>
              </mc:Choice>
              <mc:Fallback>
                <p:oleObj name="" r:id="rId12" imgW="1066800" imgH="203200" progId="Equation.DSMT4">
                  <p:embed/>
                  <p:pic>
                    <p:nvPicPr>
                      <p:cNvPr id="0" name="图片 16"/>
                      <p:cNvPicPr/>
                      <p:nvPr/>
                    </p:nvPicPr>
                    <p:blipFill>
                      <a:blip r:embed="rId13"/>
                      <a:stretch>
                        <a:fillRect/>
                      </a:stretch>
                    </p:blipFill>
                    <p:spPr>
                      <a:xfrm>
                        <a:off x="8261985" y="3263900"/>
                        <a:ext cx="1439545" cy="273685"/>
                      </a:xfrm>
                      <a:prstGeom prst="rect">
                        <a:avLst/>
                      </a:prstGeom>
                      <a:noFill/>
                      <a:ln w="38100">
                        <a:noFill/>
                        <a:miter/>
                      </a:ln>
                    </p:spPr>
                  </p:pic>
                </p:oleObj>
              </mc:Fallback>
            </mc:AlternateContent>
          </a:graphicData>
        </a:graphic>
      </p:graphicFrame>
      <p:sp>
        <p:nvSpPr>
          <p:cNvPr id="22" name="文本框 21"/>
          <p:cNvSpPr txBox="1"/>
          <p:nvPr/>
        </p:nvSpPr>
        <p:spPr>
          <a:xfrm>
            <a:off x="9701530" y="3263900"/>
            <a:ext cx="2042795" cy="337185"/>
          </a:xfrm>
          <a:prstGeom prst="rect">
            <a:avLst/>
          </a:prstGeom>
          <a:noFill/>
          <a:ln w="9525">
            <a:noFill/>
          </a:ln>
        </p:spPr>
        <p:txBody>
          <a:bodyPr wrap="square">
            <a:spAutoFit/>
          </a:bodyPr>
          <a:p>
            <a:pPr indent="0"/>
            <a:r>
              <a:rPr lang="zh-CN" sz="1600" b="1">
                <a:latin typeface="Times New Roman" panose="02020603050405020304" charset="0"/>
                <a:ea typeface="微软雅黑" panose="020B0503020204020204" pitchFamily="34" charset="-122"/>
                <a:cs typeface="Times New Roman" panose="02020603050405020304" charset="0"/>
              </a:rPr>
              <a:t>表示</a:t>
            </a:r>
            <a:r>
              <a:rPr lang="zh-CN" sz="1600" b="1" i="1">
                <a:latin typeface="Times New Roman" panose="02020603050405020304" charset="0"/>
                <a:ea typeface="微软雅黑" panose="020B0503020204020204" pitchFamily="34" charset="-122"/>
                <a:cs typeface="Times New Roman" panose="02020603050405020304" charset="0"/>
              </a:rPr>
              <a:t>N</a:t>
            </a:r>
            <a:r>
              <a:rPr lang="zh-CN" sz="1600" b="1">
                <a:latin typeface="Times New Roman" panose="02020603050405020304" charset="0"/>
                <a:ea typeface="微软雅黑" panose="020B0503020204020204" pitchFamily="34" charset="-122"/>
                <a:cs typeface="Times New Roman" panose="02020603050405020304" charset="0"/>
              </a:rPr>
              <a:t>个节点在</a:t>
            </a:r>
            <a:r>
              <a:rPr lang="zh-CN" sz="1600" b="1" i="1">
                <a:latin typeface="Times New Roman" panose="02020603050405020304" charset="0"/>
                <a:ea typeface="微软雅黑" panose="020B0503020204020204" pitchFamily="34" charset="-122"/>
                <a:cs typeface="Times New Roman" panose="02020603050405020304" charset="0"/>
              </a:rPr>
              <a:t>t</a:t>
            </a:r>
            <a:r>
              <a:rPr lang="zh-CN" sz="1600" b="1">
                <a:latin typeface="Times New Roman" panose="02020603050405020304" charset="0"/>
                <a:ea typeface="微软雅黑" panose="020B0503020204020204" pitchFamily="34" charset="-122"/>
                <a:cs typeface="Times New Roman" panose="02020603050405020304" charset="0"/>
              </a:rPr>
              <a:t>时刻</a:t>
            </a:r>
            <a:endParaRPr lang="zh-CN" sz="1600" b="1">
              <a:latin typeface="Times New Roman" panose="02020603050405020304" charset="0"/>
              <a:ea typeface="微软雅黑" panose="020B0503020204020204" pitchFamily="34" charset="-122"/>
              <a:cs typeface="Times New Roman" panose="02020603050405020304" charset="0"/>
            </a:endParaRPr>
          </a:p>
        </p:txBody>
      </p:sp>
      <p:sp>
        <p:nvSpPr>
          <p:cNvPr id="24" name="文本框 23"/>
          <p:cNvSpPr txBox="1"/>
          <p:nvPr/>
        </p:nvSpPr>
        <p:spPr>
          <a:xfrm>
            <a:off x="8218805" y="3533140"/>
            <a:ext cx="995680" cy="337185"/>
          </a:xfrm>
          <a:prstGeom prst="rect">
            <a:avLst/>
          </a:prstGeom>
          <a:noFill/>
        </p:spPr>
        <p:txBody>
          <a:bodyPr wrap="none" rtlCol="0" anchor="t">
            <a:spAutoFit/>
          </a:bodyPr>
          <a:p>
            <a:pPr indent="0"/>
            <a:r>
              <a:rPr lang="zh-CN" sz="1600" b="1">
                <a:latin typeface="Times New Roman" panose="02020603050405020304" charset="0"/>
                <a:ea typeface="微软雅黑" panose="020B0503020204020204" pitchFamily="34" charset="-122"/>
                <a:cs typeface="Times New Roman" panose="02020603050405020304" charset="0"/>
                <a:sym typeface="+mn-ea"/>
              </a:rPr>
              <a:t>的数据，</a:t>
            </a:r>
            <a:endParaRPr lang="zh-CN" altLang="en-US" sz="1600" b="1">
              <a:latin typeface="Times New Roman" panose="02020603050405020304" charset="0"/>
              <a:ea typeface="微软雅黑" panose="020B0503020204020204" pitchFamily="34" charset="-122"/>
              <a:cs typeface="Times New Roman" panose="02020603050405020304" charset="0"/>
              <a:sym typeface="+mn-ea"/>
            </a:endParaRPr>
          </a:p>
        </p:txBody>
      </p:sp>
      <p:graphicFrame>
        <p:nvGraphicFramePr>
          <p:cNvPr id="25" name="对象 -2147482545"/>
          <p:cNvGraphicFramePr>
            <a:graphicFrameLocks noChangeAspect="1"/>
          </p:cNvGraphicFramePr>
          <p:nvPr/>
        </p:nvGraphicFramePr>
        <p:xfrm>
          <a:off x="8997315" y="3547110"/>
          <a:ext cx="2002155" cy="314325"/>
        </p:xfrm>
        <a:graphic>
          <a:graphicData uri="http://schemas.openxmlformats.org/presentationml/2006/ole">
            <mc:AlternateContent xmlns:mc="http://schemas.openxmlformats.org/markup-compatibility/2006">
              <mc:Choice xmlns:v="urn:schemas-microsoft-com:vml" Requires="v">
                <p:oleObj spid="_x0000_s26" name="" r:id="rId14" imgW="1206500" imgH="203200" progId="Equation.DSMT4">
                  <p:embed/>
                </p:oleObj>
              </mc:Choice>
              <mc:Fallback>
                <p:oleObj name="" r:id="rId14" imgW="1206500" imgH="203200" progId="Equation.DSMT4">
                  <p:embed/>
                  <p:pic>
                    <p:nvPicPr>
                      <p:cNvPr id="0" name="图片 19"/>
                      <p:cNvPicPr/>
                      <p:nvPr/>
                    </p:nvPicPr>
                    <p:blipFill>
                      <a:blip r:embed="rId15"/>
                      <a:stretch>
                        <a:fillRect/>
                      </a:stretch>
                    </p:blipFill>
                    <p:spPr>
                      <a:xfrm>
                        <a:off x="8997315" y="3547110"/>
                        <a:ext cx="2002155" cy="314325"/>
                      </a:xfrm>
                      <a:prstGeom prst="rect">
                        <a:avLst/>
                      </a:prstGeom>
                      <a:noFill/>
                      <a:ln w="38100">
                        <a:noFill/>
                        <a:miter/>
                      </a:ln>
                    </p:spPr>
                  </p:pic>
                </p:oleObj>
              </mc:Fallback>
            </mc:AlternateContent>
          </a:graphicData>
        </a:graphic>
      </p:graphicFrame>
      <p:sp>
        <p:nvSpPr>
          <p:cNvPr id="27" name="文本框 26"/>
          <p:cNvSpPr txBox="1"/>
          <p:nvPr/>
        </p:nvSpPr>
        <p:spPr>
          <a:xfrm>
            <a:off x="10917555" y="3533140"/>
            <a:ext cx="826135" cy="337185"/>
          </a:xfrm>
          <a:prstGeom prst="rect">
            <a:avLst/>
          </a:prstGeom>
          <a:noFill/>
          <a:ln w="9525">
            <a:noFill/>
          </a:ln>
        </p:spPr>
        <p:txBody>
          <a:bodyPr wrap="square">
            <a:spAutoFit/>
          </a:bodyPr>
          <a:p>
            <a:pPr indent="0"/>
            <a:r>
              <a:rPr lang="zh-CN" sz="1600" b="1">
                <a:latin typeface="Times New Roman" panose="02020603050405020304" charset="0"/>
                <a:ea typeface="微软雅黑" panose="020B0503020204020204" pitchFamily="34" charset="-122"/>
                <a:cs typeface="Times New Roman" panose="02020603050405020304" charset="0"/>
              </a:rPr>
              <a:t>表示第</a:t>
            </a:r>
            <a:endParaRPr lang="zh-CN" sz="1600" b="1">
              <a:latin typeface="Times New Roman" panose="02020603050405020304" charset="0"/>
              <a:ea typeface="微软雅黑" panose="020B0503020204020204" pitchFamily="34" charset="-122"/>
              <a:cs typeface="Times New Roman" panose="02020603050405020304" charset="0"/>
            </a:endParaRPr>
          </a:p>
        </p:txBody>
      </p:sp>
      <p:sp>
        <p:nvSpPr>
          <p:cNvPr id="29" name="文本框 28"/>
          <p:cNvSpPr txBox="1"/>
          <p:nvPr/>
        </p:nvSpPr>
        <p:spPr>
          <a:xfrm>
            <a:off x="8218805" y="3870960"/>
            <a:ext cx="2997200" cy="337185"/>
          </a:xfrm>
          <a:prstGeom prst="rect">
            <a:avLst/>
          </a:prstGeom>
          <a:noFill/>
          <a:ln w="9525">
            <a:noFill/>
          </a:ln>
        </p:spPr>
        <p:txBody>
          <a:bodyPr wrap="square">
            <a:spAutoFit/>
          </a:bodyPr>
          <a:p>
            <a:pPr indent="0"/>
            <a:r>
              <a:rPr lang="en-US" sz="1600" b="1" i="1">
                <a:latin typeface="Times New Roman" panose="02020603050405020304" charset="0"/>
                <a:ea typeface="微软雅黑" panose="020B0503020204020204" pitchFamily="34" charset="-122"/>
                <a:cs typeface="Times New Roman" panose="02020603050405020304" charset="0"/>
              </a:rPr>
              <a:t>i</a:t>
            </a:r>
            <a:r>
              <a:rPr lang="zh-CN" sz="1600" b="1">
                <a:latin typeface="Times New Roman" panose="02020603050405020304" charset="0"/>
                <a:ea typeface="微软雅黑" panose="020B0503020204020204" pitchFamily="34" charset="-122"/>
                <a:cs typeface="Times New Roman" panose="02020603050405020304" charset="0"/>
              </a:rPr>
              <a:t>个节点在</a:t>
            </a:r>
            <a:r>
              <a:rPr lang="en-US" altLang="zh-CN" sz="1600" b="1" i="1">
                <a:latin typeface="Times New Roman" panose="02020603050405020304" charset="0"/>
                <a:ea typeface="微软雅黑" panose="020B0503020204020204" pitchFamily="34" charset="-122"/>
                <a:cs typeface="Times New Roman" panose="02020603050405020304" charset="0"/>
              </a:rPr>
              <a:t>t</a:t>
            </a:r>
            <a:r>
              <a:rPr lang="zh-CN" altLang="zh-CN" sz="1600" b="1">
                <a:latin typeface="Times New Roman" panose="02020603050405020304" charset="0"/>
                <a:ea typeface="微软雅黑" panose="020B0503020204020204" pitchFamily="34" charset="-122"/>
                <a:cs typeface="Times New Roman" panose="02020603050405020304" charset="0"/>
              </a:rPr>
              <a:t>时刻的</a:t>
            </a:r>
            <a:r>
              <a:rPr lang="en-US" altLang="zh-CN" sz="1600" b="1" i="1">
                <a:latin typeface="Times New Roman" panose="02020603050405020304" charset="0"/>
                <a:ea typeface="微软雅黑" panose="020B0503020204020204" pitchFamily="34" charset="-122"/>
                <a:cs typeface="Times New Roman" panose="02020603050405020304" charset="0"/>
              </a:rPr>
              <a:t>D</a:t>
            </a:r>
            <a:r>
              <a:rPr lang="en-US" altLang="zh-CN" sz="1600" b="1">
                <a:latin typeface="Times New Roman" panose="02020603050405020304" charset="0"/>
                <a:ea typeface="微软雅黑" panose="020B0503020204020204" pitchFamily="34" charset="-122"/>
                <a:cs typeface="Times New Roman" panose="02020603050405020304" charset="0"/>
              </a:rPr>
              <a:t>个特征数据。</a:t>
            </a:r>
            <a:endParaRPr lang="en-US" altLang="zh-CN" sz="1600" b="1">
              <a:latin typeface="Times New Roman" panose="02020603050405020304" charset="0"/>
              <a:ea typeface="微软雅黑" panose="020B0503020204020204" pitchFamily="34" charset="-122"/>
              <a:cs typeface="Times New Roman" panose="02020603050405020304" charset="0"/>
            </a:endParaRPr>
          </a:p>
        </p:txBody>
      </p:sp>
      <p:sp>
        <p:nvSpPr>
          <p:cNvPr id="30" name="文本框 29"/>
          <p:cNvSpPr txBox="1"/>
          <p:nvPr/>
        </p:nvSpPr>
        <p:spPr>
          <a:xfrm>
            <a:off x="10917555" y="4785995"/>
            <a:ext cx="565150" cy="1476375"/>
          </a:xfrm>
          <a:prstGeom prst="rect">
            <a:avLst/>
          </a:prstGeom>
          <a:noFill/>
        </p:spPr>
        <p:txBody>
          <a:bodyPr wrap="square" rtlCol="0" anchor="t">
            <a:spAutoFit/>
          </a:bodyPr>
          <a:p>
            <a:pPr algn="ctr"/>
            <a:r>
              <a:rPr lang="zh-CN" altLang="en-US" b="1">
                <a:latin typeface="Times New Roman" panose="02020603050405020304" charset="0"/>
                <a:ea typeface="微软雅黑" panose="020B0503020204020204" pitchFamily="34" charset="-122"/>
              </a:rPr>
              <a:t>类比</a:t>
            </a:r>
            <a:r>
              <a:rPr lang="zh-CN" altLang="en-US" b="1">
                <a:latin typeface="Times New Roman" panose="02020603050405020304" charset="0"/>
                <a:ea typeface="微软雅黑" panose="020B0503020204020204" pitchFamily="34" charset="-122"/>
              </a:rPr>
              <a:t>示意图</a:t>
            </a:r>
            <a:endParaRPr lang="zh-CN" altLang="en-US" b="1">
              <a:latin typeface="Times New Roman" panose="02020603050405020304" charset="0"/>
              <a:ea typeface="微软雅黑" panose="020B0503020204020204" pitchFamily="34" charset="-122"/>
            </a:endParaRPr>
          </a:p>
        </p:txBody>
      </p:sp>
    </p:spTree>
  </p:cSld>
  <p:clrMapOvr>
    <a:masterClrMapping/>
  </p:clrMapOvr>
  <p:transition>
    <p:comb/>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0911840" y="1404620"/>
            <a:ext cx="1195070" cy="1747520"/>
          </a:xfrm>
          <a:prstGeom prst="rect">
            <a:avLst/>
          </a:prstGeom>
          <a:solidFill>
            <a:schemeClr val="accent2">
              <a:lumMod val="20000"/>
              <a:lumOff val="80000"/>
            </a:schemeClr>
          </a:solidFill>
        </p:spPr>
        <p:txBody>
          <a:bodyPr wrap="square" rtlCol="0">
            <a:spAutoFit/>
          </a:bodyPr>
          <a:p>
            <a:pPr marL="53975" algn="l" fontAlgn="auto">
              <a:lnSpc>
                <a:spcPct val="110000"/>
              </a:lnSpc>
            </a:pPr>
            <a:r>
              <a:rPr lang="zh-CN" altLang="zh-CN" sz="1400" b="1">
                <a:latin typeface="微软雅黑" panose="020B0503020204020204" pitchFamily="34" charset="-122"/>
                <a:ea typeface="微软雅黑" panose="020B0503020204020204" pitchFamily="34" charset="-122"/>
              </a:rPr>
              <a:t>该课题对电网安全运行、充电站精细化规划、用户满意度等方面具有重要意义。</a:t>
            </a:r>
            <a:endParaRPr lang="zh-CN" altLang="zh-CN" sz="1400" b="1">
              <a:latin typeface="微软雅黑" panose="020B0503020204020204" pitchFamily="34" charset="-122"/>
              <a:ea typeface="微软雅黑" panose="020B0503020204020204" pitchFamily="34" charset="-122"/>
            </a:endParaRPr>
          </a:p>
        </p:txBody>
      </p:sp>
      <p:pic>
        <p:nvPicPr>
          <p:cNvPr id="23" name="图片 23" descr="图A8"/>
          <p:cNvPicPr>
            <a:picLocks noChangeAspect="1"/>
          </p:cNvPicPr>
          <p:nvPr/>
        </p:nvPicPr>
        <p:blipFill>
          <a:blip r:embed="rId1"/>
          <a:srcRect t="5051" r="9156"/>
          <a:stretch>
            <a:fillRect/>
          </a:stretch>
        </p:blipFill>
        <p:spPr>
          <a:xfrm>
            <a:off x="5240020" y="3589655"/>
            <a:ext cx="2696845" cy="2116455"/>
          </a:xfrm>
          <a:prstGeom prst="rect">
            <a:avLst/>
          </a:prstGeom>
        </p:spPr>
      </p:pic>
      <p:sp>
        <p:nvSpPr>
          <p:cNvPr id="2" name="内容占位符 1"/>
          <p:cNvSpPr>
            <a:spLocks noGrp="1"/>
          </p:cNvSpPr>
          <p:nvPr>
            <p:ph sz="quarter" idx="13"/>
          </p:nvPr>
        </p:nvSpPr>
        <p:spPr/>
        <p:txBody>
          <a:bodyPr/>
          <a:lstStyle/>
          <a:p>
            <a:r>
              <a:rPr lang="zh-CN" altLang="en-US" dirty="0"/>
              <a:t>课题主要研究、</a:t>
            </a:r>
            <a:r>
              <a:rPr lang="zh-CN" altLang="en-US" dirty="0"/>
              <a:t>工作内容</a:t>
            </a:r>
            <a:endParaRPr lang="zh-CN" altLang="en-US" dirty="0"/>
          </a:p>
        </p:txBody>
      </p:sp>
      <p:sp>
        <p:nvSpPr>
          <p:cNvPr id="3" name="灯片编号占位符 2"/>
          <p:cNvSpPr>
            <a:spLocks noGrp="1"/>
          </p:cNvSpPr>
          <p:nvPr>
            <p:ph type="sldNum" sz="quarter" idx="12"/>
          </p:nvPr>
        </p:nvSpPr>
        <p:spPr/>
        <p:txBody>
          <a:bodyPr/>
          <a:lstStyle/>
          <a:p>
            <a:r>
              <a:rPr lang="en-US" altLang="zh-CN" dirty="0"/>
              <a:t>30</a:t>
            </a:r>
            <a:endParaRPr lang="en-US" altLang="zh-CN" dirty="0"/>
          </a:p>
        </p:txBody>
      </p:sp>
      <p:sp>
        <p:nvSpPr>
          <p:cNvPr id="6" name="矩形: 圆角 5"/>
          <p:cNvSpPr/>
          <p:nvPr/>
        </p:nvSpPr>
        <p:spPr>
          <a:xfrm>
            <a:off x="741045" y="912495"/>
            <a:ext cx="1017079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accent1"/>
                </a:solidFill>
                <a:latin typeface="微软雅黑" panose="020B0503020204020204" pitchFamily="34" charset="-122"/>
                <a:ea typeface="微软雅黑" panose="020B0503020204020204" pitchFamily="34" charset="-122"/>
                <a:sym typeface="+mn-ea"/>
              </a:rPr>
              <a:t>课题主要研究、工作内容</a:t>
            </a:r>
            <a:r>
              <a:rPr lang="zh-CN" altLang="en-US" sz="2400" dirty="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2"/>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en-US" altLang="zh-CN" sz="2400" spc="100" dirty="0">
                <a:blipFill>
                  <a:blip r:embed="rId2"/>
                  <a:stretch>
                    <a:fillRect/>
                  </a:stretch>
                </a:blipFill>
                <a:latin typeface="Times New Roman" panose="02020603050405020304" charset="0"/>
                <a:ea typeface="微软雅黑" panose="020B0503020204020204" pitchFamily="34" charset="-122"/>
                <a:cs typeface="Times New Roman" panose="02020603050405020304" charset="0"/>
                <a:sym typeface="Wingdings 3" panose="05040102010807070707" pitchFamily="18" charset="2"/>
              </a:rPr>
              <a:t>1.基于图WaveNet的电动汽车充电负荷预测</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pic>
        <p:nvPicPr>
          <p:cNvPr id="4" name="图片 3" descr="图2"/>
          <p:cNvPicPr>
            <a:picLocks noChangeAspect="1"/>
          </p:cNvPicPr>
          <p:nvPr/>
        </p:nvPicPr>
        <p:blipFill>
          <a:blip r:embed="rId3"/>
          <a:srcRect l="13570" r="10534"/>
          <a:stretch>
            <a:fillRect/>
          </a:stretch>
        </p:blipFill>
        <p:spPr>
          <a:xfrm>
            <a:off x="741045" y="1494790"/>
            <a:ext cx="3768725" cy="2793365"/>
          </a:xfrm>
          <a:prstGeom prst="rect">
            <a:avLst/>
          </a:prstGeom>
        </p:spPr>
      </p:pic>
      <p:sp>
        <p:nvSpPr>
          <p:cNvPr id="100" name="文本框 99"/>
          <p:cNvSpPr txBox="1"/>
          <p:nvPr/>
        </p:nvSpPr>
        <p:spPr>
          <a:xfrm>
            <a:off x="1895475" y="4288155"/>
            <a:ext cx="1638935" cy="306705"/>
          </a:xfrm>
          <a:prstGeom prst="rect">
            <a:avLst/>
          </a:prstGeom>
          <a:noFill/>
          <a:ln w="9525">
            <a:noFill/>
          </a:ln>
        </p:spPr>
        <p:txBody>
          <a:bodyPr wrap="square">
            <a:spAutoFit/>
          </a:bodyPr>
          <a:p>
            <a:pPr indent="0"/>
            <a:r>
              <a:rPr lang="zh-CN" sz="1400" b="1">
                <a:latin typeface="微软雅黑" panose="020B0503020204020204" pitchFamily="34" charset="-122"/>
                <a:ea typeface="微软雅黑" panose="020B0503020204020204" pitchFamily="34" charset="-122"/>
              </a:rPr>
              <a:t>充电负荷预测框架</a:t>
            </a:r>
            <a:endParaRPr lang="zh-CN" altLang="en-US" sz="1400" b="1">
              <a:latin typeface="微软雅黑" panose="020B0503020204020204" pitchFamily="34" charset="-122"/>
              <a:ea typeface="微软雅黑" panose="020B0503020204020204" pitchFamily="34" charset="-122"/>
            </a:endParaRPr>
          </a:p>
        </p:txBody>
      </p:sp>
      <p:graphicFrame>
        <p:nvGraphicFramePr>
          <p:cNvPr id="5" name="对象 -2147482580"/>
          <p:cNvGraphicFramePr>
            <a:graphicFrameLocks noChangeAspect="1"/>
          </p:cNvGraphicFramePr>
          <p:nvPr/>
        </p:nvGraphicFramePr>
        <p:xfrm>
          <a:off x="2306955" y="3787140"/>
          <a:ext cx="2334895" cy="324485"/>
        </p:xfrm>
        <a:graphic>
          <a:graphicData uri="http://schemas.openxmlformats.org/presentationml/2006/ole">
            <mc:AlternateContent xmlns:mc="http://schemas.openxmlformats.org/markup-compatibility/2006">
              <mc:Choice xmlns:v="urn:schemas-microsoft-com:vml" Requires="v">
                <p:oleObj spid="_x0000_s3076" name="" r:id="rId4" imgW="1663700" imgH="215900" progId="Equation.DSMT4">
                  <p:embed/>
                </p:oleObj>
              </mc:Choice>
              <mc:Fallback>
                <p:oleObj name="" r:id="rId4" imgW="1663700" imgH="215900" progId="Equation.DSMT4">
                  <p:embed/>
                  <p:pic>
                    <p:nvPicPr>
                      <p:cNvPr id="0" name="图片 3075"/>
                      <p:cNvPicPr/>
                      <p:nvPr/>
                    </p:nvPicPr>
                    <p:blipFill>
                      <a:blip r:embed="rId5"/>
                      <a:stretch>
                        <a:fillRect/>
                      </a:stretch>
                    </p:blipFill>
                    <p:spPr>
                      <a:xfrm>
                        <a:off x="2306955" y="3787140"/>
                        <a:ext cx="2334895" cy="324485"/>
                      </a:xfrm>
                      <a:prstGeom prst="rect">
                        <a:avLst/>
                      </a:prstGeom>
                      <a:solidFill>
                        <a:srgbClr val="FFD7D7"/>
                      </a:solidFill>
                      <a:ln w="38100">
                        <a:noFill/>
                        <a:miter/>
                      </a:ln>
                    </p:spPr>
                  </p:pic>
                </p:oleObj>
              </mc:Fallback>
            </mc:AlternateContent>
          </a:graphicData>
        </a:graphic>
      </p:graphicFrame>
      <p:sp>
        <p:nvSpPr>
          <p:cNvPr id="12" name="文本框 11"/>
          <p:cNvSpPr txBox="1"/>
          <p:nvPr/>
        </p:nvSpPr>
        <p:spPr>
          <a:xfrm>
            <a:off x="351790" y="4660900"/>
            <a:ext cx="4726940" cy="1787525"/>
          </a:xfrm>
          <a:prstGeom prst="rect">
            <a:avLst/>
          </a:prstGeom>
          <a:solidFill>
            <a:schemeClr val="accent2">
              <a:lumMod val="20000"/>
              <a:lumOff val="80000"/>
            </a:schemeClr>
          </a:solidFill>
          <a:ln w="9525">
            <a:noFill/>
          </a:ln>
          <a:effectLst>
            <a:outerShdw blurRad="50800" dist="38100" dir="2700000" algn="tl" rotWithShape="0">
              <a:prstClr val="black">
                <a:alpha val="40000"/>
              </a:prstClr>
            </a:outerShdw>
          </a:effectLst>
        </p:spPr>
        <p:txBody>
          <a:bodyPr wrap="square">
            <a:spAutoFit/>
          </a:bodyPr>
          <a:p>
            <a:pPr indent="0" fontAlgn="auto">
              <a:lnSpc>
                <a:spcPct val="115000"/>
              </a:lnSpc>
            </a:pPr>
            <a:r>
              <a:rPr lang="zh-CN" sz="1600" b="1">
                <a:latin typeface="微软雅黑" panose="020B0503020204020204" pitchFamily="34" charset="-122"/>
                <a:ea typeface="微软雅黑" panose="020B0503020204020204" pitchFamily="34" charset="-122"/>
                <a:cs typeface="Times New Roman" panose="02020603050405020304" charset="0"/>
              </a:rPr>
              <a:t>在电动汽车充电负荷预测中，</a:t>
            </a:r>
            <a:r>
              <a:rPr lang="zh-CN" sz="1600" b="1">
                <a:solidFill>
                  <a:srgbClr val="FF0000"/>
                </a:solidFill>
                <a:latin typeface="微软雅黑" panose="020B0503020204020204" pitchFamily="34" charset="-122"/>
                <a:ea typeface="微软雅黑" panose="020B0503020204020204" pitchFamily="34" charset="-122"/>
                <a:cs typeface="Times New Roman" panose="02020603050405020304" charset="0"/>
              </a:rPr>
              <a:t>很难定量地预先确定不同充电站之间的邻接信息关系</a:t>
            </a:r>
            <a:r>
              <a:rPr lang="zh-CN" sz="1600" b="1">
                <a:latin typeface="微软雅黑" panose="020B0503020204020204" pitchFamily="34" charset="-122"/>
                <a:ea typeface="微软雅黑" panose="020B0503020204020204" pitchFamily="34" charset="-122"/>
                <a:cs typeface="Times New Roman" panose="02020603050405020304" charset="0"/>
              </a:rPr>
              <a:t>，其邻接信息关系的数据获取难度大，且不能反映全部空间依赖关系。为了解决这一问题，提出在预测框架中</a:t>
            </a:r>
            <a:r>
              <a:rPr lang="zh-CN" sz="1600" b="1">
                <a:solidFill>
                  <a:srgbClr val="FF0000"/>
                </a:solidFill>
                <a:latin typeface="微软雅黑" panose="020B0503020204020204" pitchFamily="34" charset="-122"/>
                <a:ea typeface="微软雅黑" panose="020B0503020204020204" pitchFamily="34" charset="-122"/>
                <a:cs typeface="Times New Roman" panose="02020603050405020304" charset="0"/>
              </a:rPr>
              <a:t>采用一种具有可学习能力的自适应邻接矩阵，来学习和挖掘潜在的动态空间依赖关系以提高预测模型的精度。</a:t>
            </a:r>
            <a:endParaRPr lang="zh-CN" sz="1600" b="1">
              <a:solidFill>
                <a:srgbClr val="FF0000"/>
              </a:solidFill>
              <a:latin typeface="微软雅黑" panose="020B0503020204020204" pitchFamily="34" charset="-122"/>
              <a:ea typeface="微软雅黑" panose="020B0503020204020204" pitchFamily="34" charset="-122"/>
              <a:cs typeface="Times New Roman" panose="02020603050405020304" charset="0"/>
            </a:endParaRPr>
          </a:p>
        </p:txBody>
      </p:sp>
      <p:pic>
        <p:nvPicPr>
          <p:cNvPr id="13" name="图片 10" descr="图3"/>
          <p:cNvPicPr>
            <a:picLocks noChangeAspect="1"/>
          </p:cNvPicPr>
          <p:nvPr/>
        </p:nvPicPr>
        <p:blipFill>
          <a:blip r:embed="rId6"/>
          <a:stretch>
            <a:fillRect/>
          </a:stretch>
        </p:blipFill>
        <p:spPr>
          <a:xfrm>
            <a:off x="4935220" y="1233805"/>
            <a:ext cx="3139440" cy="2355850"/>
          </a:xfrm>
          <a:prstGeom prst="rect">
            <a:avLst/>
          </a:prstGeom>
        </p:spPr>
      </p:pic>
      <p:sp>
        <p:nvSpPr>
          <p:cNvPr id="15" name="文本框 14"/>
          <p:cNvSpPr txBox="1"/>
          <p:nvPr/>
        </p:nvSpPr>
        <p:spPr>
          <a:xfrm>
            <a:off x="5281295" y="3450590"/>
            <a:ext cx="2793365" cy="275590"/>
          </a:xfrm>
          <a:prstGeom prst="rect">
            <a:avLst/>
          </a:prstGeom>
          <a:noFill/>
          <a:ln w="9525">
            <a:noFill/>
          </a:ln>
        </p:spPr>
        <p:txBody>
          <a:bodyPr wrap="square">
            <a:spAutoFit/>
          </a:bodyPr>
          <a:p>
            <a:pPr indent="0"/>
            <a:r>
              <a:rPr lang="zh-CN" sz="1200" b="1">
                <a:latin typeface="Times New Roman" panose="02020603050405020304" charset="0"/>
                <a:ea typeface="微软雅黑" panose="020B0503020204020204" pitchFamily="34" charset="-122"/>
                <a:cs typeface="Times New Roman" panose="02020603050405020304" charset="0"/>
              </a:rPr>
              <a:t>预测模型的平均绝对百分比误差</a:t>
            </a:r>
            <a:r>
              <a:rPr lang="en-US" altLang="zh-CN" sz="1200" b="1">
                <a:latin typeface="Times New Roman" panose="02020603050405020304" charset="0"/>
                <a:ea typeface="微软雅黑" panose="020B0503020204020204" pitchFamily="34" charset="-122"/>
                <a:cs typeface="Times New Roman" panose="02020603050405020304" charset="0"/>
              </a:rPr>
              <a:t>MAPE</a:t>
            </a:r>
            <a:endParaRPr lang="en-US" altLang="zh-CN" sz="1200" b="1">
              <a:latin typeface="Times New Roman" panose="02020603050405020304" charset="0"/>
              <a:ea typeface="微软雅黑" panose="020B0503020204020204" pitchFamily="34" charset="-122"/>
              <a:cs typeface="Times New Roman" panose="02020603050405020304" charset="0"/>
            </a:endParaRPr>
          </a:p>
        </p:txBody>
      </p:sp>
      <p:pic>
        <p:nvPicPr>
          <p:cNvPr id="17" name="图片 14" descr="图4"/>
          <p:cNvPicPr>
            <a:picLocks noChangeAspect="1"/>
          </p:cNvPicPr>
          <p:nvPr/>
        </p:nvPicPr>
        <p:blipFill>
          <a:blip r:embed="rId7"/>
          <a:stretch>
            <a:fillRect/>
          </a:stretch>
        </p:blipFill>
        <p:spPr>
          <a:xfrm>
            <a:off x="8074660" y="1205865"/>
            <a:ext cx="3197225" cy="2373630"/>
          </a:xfrm>
          <a:prstGeom prst="rect">
            <a:avLst/>
          </a:prstGeom>
        </p:spPr>
      </p:pic>
      <p:sp>
        <p:nvSpPr>
          <p:cNvPr id="18" name="文本框 17"/>
          <p:cNvSpPr txBox="1"/>
          <p:nvPr/>
        </p:nvSpPr>
        <p:spPr>
          <a:xfrm>
            <a:off x="8667115" y="3450590"/>
            <a:ext cx="2257425" cy="275590"/>
          </a:xfrm>
          <a:prstGeom prst="rect">
            <a:avLst/>
          </a:prstGeom>
          <a:noFill/>
          <a:ln w="9525">
            <a:noFill/>
          </a:ln>
        </p:spPr>
        <p:txBody>
          <a:bodyPr wrap="square">
            <a:spAutoFit/>
          </a:bodyPr>
          <a:p>
            <a:pPr indent="0"/>
            <a:r>
              <a:rPr lang="zh-CN" sz="1200" b="1">
                <a:latin typeface="Times New Roman" panose="02020603050405020304" charset="0"/>
                <a:ea typeface="微软雅黑" panose="020B0503020204020204" pitchFamily="34" charset="-122"/>
                <a:cs typeface="Times New Roman" panose="02020603050405020304" charset="0"/>
              </a:rPr>
              <a:t>预测模型的平均绝对误差</a:t>
            </a:r>
            <a:r>
              <a:rPr lang="en-US" altLang="zh-CN" sz="1200" b="1">
                <a:latin typeface="Times New Roman" panose="02020603050405020304" charset="0"/>
                <a:ea typeface="微软雅黑" panose="020B0503020204020204" pitchFamily="34" charset="-122"/>
                <a:cs typeface="Times New Roman" panose="02020603050405020304" charset="0"/>
              </a:rPr>
              <a:t>MAE</a:t>
            </a:r>
            <a:endParaRPr lang="en-US" altLang="zh-CN" sz="1200" b="1">
              <a:latin typeface="Times New Roman" panose="02020603050405020304" charset="0"/>
              <a:ea typeface="微软雅黑" panose="020B0503020204020204" pitchFamily="34" charset="-122"/>
              <a:cs typeface="Times New Roman" panose="02020603050405020304" charset="0"/>
            </a:endParaRPr>
          </a:p>
        </p:txBody>
      </p:sp>
      <p:sp>
        <p:nvSpPr>
          <p:cNvPr id="19" name="文本框 18"/>
          <p:cNvSpPr txBox="1"/>
          <p:nvPr/>
        </p:nvSpPr>
        <p:spPr>
          <a:xfrm>
            <a:off x="6037580" y="5706110"/>
            <a:ext cx="1276350" cy="275590"/>
          </a:xfrm>
          <a:prstGeom prst="rect">
            <a:avLst/>
          </a:prstGeom>
          <a:noFill/>
          <a:ln w="9525">
            <a:noFill/>
          </a:ln>
        </p:spPr>
        <p:txBody>
          <a:bodyPr wrap="square">
            <a:spAutoFit/>
          </a:bodyPr>
          <a:p>
            <a:pPr indent="0"/>
            <a:r>
              <a:rPr lang="zh-CN" sz="1200" b="1">
                <a:latin typeface="微软雅黑" panose="020B0503020204020204" pitchFamily="34" charset="-122"/>
                <a:ea typeface="微软雅黑" panose="020B0503020204020204" pitchFamily="34" charset="-122"/>
              </a:rPr>
              <a:t>自适应邻接矩阵</a:t>
            </a:r>
            <a:endParaRPr lang="zh-CN" altLang="zh-CN" sz="1200" b="1">
              <a:latin typeface="微软雅黑" panose="020B0503020204020204" pitchFamily="34" charset="-122"/>
              <a:ea typeface="微软雅黑" panose="020B0503020204020204" pitchFamily="34" charset="-122"/>
            </a:endParaRPr>
          </a:p>
        </p:txBody>
      </p:sp>
      <p:pic>
        <p:nvPicPr>
          <p:cNvPr id="20" name="图片 2" descr="图A9"/>
          <p:cNvPicPr>
            <a:picLocks noChangeAspect="1"/>
          </p:cNvPicPr>
          <p:nvPr/>
        </p:nvPicPr>
        <p:blipFill>
          <a:blip r:embed="rId8"/>
          <a:stretch>
            <a:fillRect/>
          </a:stretch>
        </p:blipFill>
        <p:spPr>
          <a:xfrm>
            <a:off x="8272780" y="3545205"/>
            <a:ext cx="3046730" cy="2334895"/>
          </a:xfrm>
          <a:prstGeom prst="rect">
            <a:avLst/>
          </a:prstGeom>
        </p:spPr>
      </p:pic>
      <p:sp>
        <p:nvSpPr>
          <p:cNvPr id="21" name="圆角矩形 20"/>
          <p:cNvSpPr/>
          <p:nvPr/>
        </p:nvSpPr>
        <p:spPr>
          <a:xfrm>
            <a:off x="741045" y="1494790"/>
            <a:ext cx="3947795" cy="3099435"/>
          </a:xfrm>
          <a:prstGeom prst="roundRect">
            <a:avLst>
              <a:gd name="adj" fmla="val 4305"/>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 name="文本框 21"/>
          <p:cNvSpPr txBox="1"/>
          <p:nvPr/>
        </p:nvSpPr>
        <p:spPr>
          <a:xfrm>
            <a:off x="8987790" y="5705475"/>
            <a:ext cx="1616710" cy="275590"/>
          </a:xfrm>
          <a:prstGeom prst="rect">
            <a:avLst/>
          </a:prstGeom>
          <a:noFill/>
          <a:ln w="9525">
            <a:noFill/>
          </a:ln>
        </p:spPr>
        <p:txBody>
          <a:bodyPr wrap="square">
            <a:spAutoFit/>
          </a:bodyPr>
          <a:p>
            <a:pPr indent="0"/>
            <a:r>
              <a:rPr lang="zh-CN" sz="1200" b="1">
                <a:latin typeface="微软雅黑" panose="020B0503020204020204" pitchFamily="34" charset="-122"/>
                <a:ea typeface="微软雅黑" panose="020B0503020204020204" pitchFamily="34" charset="-122"/>
              </a:rPr>
              <a:t>充电负荷的时空预测</a:t>
            </a:r>
            <a:endParaRPr lang="zh-CN" altLang="en-US" sz="1200" b="1">
              <a:latin typeface="微软雅黑" panose="020B0503020204020204" pitchFamily="34" charset="-122"/>
              <a:ea typeface="微软雅黑" panose="020B0503020204020204" pitchFamily="34" charset="-122"/>
            </a:endParaRPr>
          </a:p>
        </p:txBody>
      </p:sp>
      <p:sp>
        <p:nvSpPr>
          <p:cNvPr id="24" name="文本框 23"/>
          <p:cNvSpPr txBox="1"/>
          <p:nvPr/>
        </p:nvSpPr>
        <p:spPr>
          <a:xfrm>
            <a:off x="5382260" y="5953125"/>
            <a:ext cx="5683250" cy="829945"/>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txBody>
          <a:bodyPr wrap="square" rtlCol="0">
            <a:spAutoFit/>
          </a:bodyPr>
          <a:p>
            <a:pPr algn="l"/>
            <a:r>
              <a:rPr lang="zh-CN" altLang="en-US" sz="1600" b="1">
                <a:latin typeface="Times New Roman" panose="02020603050405020304" charset="0"/>
                <a:ea typeface="微软雅黑" panose="020B0503020204020204" pitchFamily="34" charset="-122"/>
                <a:cs typeface="Times New Roman" panose="02020603050405020304" charset="0"/>
              </a:rPr>
              <a:t>结论：</a:t>
            </a:r>
            <a:r>
              <a:rPr lang="en-US" altLang="zh-CN" sz="1600" b="1">
                <a:solidFill>
                  <a:srgbClr val="080EF6"/>
                </a:solidFill>
                <a:highlight>
                  <a:srgbClr val="FFFF00"/>
                </a:highlight>
                <a:latin typeface="Times New Roman" panose="02020603050405020304" charset="0"/>
                <a:ea typeface="微软雅黑" panose="020B0503020204020204" pitchFamily="34" charset="-122"/>
                <a:cs typeface="Times New Roman" panose="02020603050405020304" charset="0"/>
              </a:rPr>
              <a:t>GCN</a:t>
            </a:r>
            <a:r>
              <a:rPr lang="zh-CN" altLang="en-US" sz="1600" b="1">
                <a:solidFill>
                  <a:srgbClr val="080EF6"/>
                </a:solidFill>
                <a:highlight>
                  <a:srgbClr val="FFFF00"/>
                </a:highlight>
                <a:latin typeface="Times New Roman" panose="02020603050405020304" charset="0"/>
                <a:ea typeface="微软雅黑" panose="020B0503020204020204" pitchFamily="34" charset="-122"/>
                <a:cs typeface="Times New Roman" panose="02020603050405020304" charset="0"/>
              </a:rPr>
              <a:t>在挖掘充电负荷的空间维特征中发挥了重要作用，可以提高充电负荷预测精度</a:t>
            </a:r>
            <a:r>
              <a:rPr lang="zh-CN" altLang="en-US" sz="1600" b="1">
                <a:latin typeface="Times New Roman" panose="02020603050405020304" charset="0"/>
                <a:ea typeface="微软雅黑" panose="020B0503020204020204" pitchFamily="34" charset="-122"/>
                <a:cs typeface="Times New Roman" panose="02020603050405020304" charset="0"/>
              </a:rPr>
              <a:t>；其次，</a:t>
            </a:r>
            <a:r>
              <a:rPr lang="zh-CN" altLang="en-US" sz="1600" b="1">
                <a:solidFill>
                  <a:srgbClr val="080EF6"/>
                </a:solidFill>
                <a:highlight>
                  <a:srgbClr val="FFFF00"/>
                </a:highlight>
                <a:latin typeface="Times New Roman" panose="02020603050405020304" charset="0"/>
                <a:ea typeface="微软雅黑" panose="020B0503020204020204" pitchFamily="34" charset="-122"/>
                <a:cs typeface="Times New Roman" panose="02020603050405020304" charset="0"/>
              </a:rPr>
              <a:t>自适应邻接矩阵可以使G</a:t>
            </a:r>
            <a:r>
              <a:rPr lang="en-US" altLang="zh-CN" sz="1600" b="1">
                <a:solidFill>
                  <a:srgbClr val="080EF6"/>
                </a:solidFill>
                <a:highlight>
                  <a:srgbClr val="FFFF00"/>
                </a:highlight>
                <a:latin typeface="Times New Roman" panose="02020603050405020304" charset="0"/>
                <a:ea typeface="微软雅黑" panose="020B0503020204020204" pitchFamily="34" charset="-122"/>
                <a:cs typeface="Times New Roman" panose="02020603050405020304" charset="0"/>
              </a:rPr>
              <a:t>C</a:t>
            </a:r>
            <a:r>
              <a:rPr lang="zh-CN" altLang="en-US" sz="1600" b="1">
                <a:solidFill>
                  <a:srgbClr val="080EF6"/>
                </a:solidFill>
                <a:highlight>
                  <a:srgbClr val="FFFF00"/>
                </a:highlight>
                <a:latin typeface="Times New Roman" panose="02020603050405020304" charset="0"/>
                <a:ea typeface="微软雅黑" panose="020B0503020204020204" pitchFamily="34" charset="-122"/>
                <a:cs typeface="Times New Roman" panose="02020603050405020304" charset="0"/>
              </a:rPr>
              <a:t>N在不需要边先验知识的前提下有效挖掘空间特征信息</a:t>
            </a:r>
            <a:r>
              <a:rPr lang="zh-CN" altLang="en-US" sz="1600" b="1">
                <a:latin typeface="Times New Roman" panose="02020603050405020304" charset="0"/>
                <a:ea typeface="微软雅黑" panose="020B0503020204020204" pitchFamily="34" charset="-122"/>
                <a:cs typeface="Times New Roman" panose="02020603050405020304" charset="0"/>
              </a:rPr>
              <a:t>。</a:t>
            </a:r>
            <a:endParaRPr lang="zh-CN" altLang="en-US" sz="1600" b="1">
              <a:latin typeface="Times New Roman" panose="02020603050405020304" charset="0"/>
              <a:ea typeface="微软雅黑" panose="020B0503020204020204" pitchFamily="34" charset="-122"/>
              <a:cs typeface="Times New Roman" panose="02020603050405020304" charset="0"/>
            </a:endParaRPr>
          </a:p>
        </p:txBody>
      </p:sp>
    </p:spTree>
  </p:cSld>
  <p:clrMapOvr>
    <a:masterClrMapping/>
  </p:clrMapOvr>
  <p:transition>
    <p:comb/>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5259705" y="6007100"/>
            <a:ext cx="6433185" cy="829945"/>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txBody>
          <a:bodyPr wrap="square" rtlCol="0">
            <a:spAutoFit/>
          </a:bodyPr>
          <a:p>
            <a:pPr algn="l"/>
            <a:r>
              <a:rPr lang="zh-CN" altLang="en-US" sz="1600" b="1">
                <a:latin typeface="Times New Roman" panose="02020603050405020304" charset="0"/>
                <a:ea typeface="微软雅黑" panose="020B0503020204020204" pitchFamily="34" charset="-122"/>
                <a:cs typeface="Times New Roman" panose="02020603050405020304" charset="0"/>
              </a:rPr>
              <a:t>结论：</a:t>
            </a:r>
            <a:r>
              <a:rPr lang="en-US" altLang="zh-CN" sz="1600" b="1">
                <a:solidFill>
                  <a:srgbClr val="080EF6"/>
                </a:solidFill>
                <a:highlight>
                  <a:srgbClr val="FFFF00"/>
                </a:highlight>
                <a:latin typeface="Times New Roman" panose="02020603050405020304" charset="0"/>
                <a:ea typeface="微软雅黑" panose="020B0503020204020204" pitchFamily="34" charset="-122"/>
                <a:cs typeface="Times New Roman" panose="02020603050405020304" charset="0"/>
              </a:rPr>
              <a:t>改善了现有预测方法难以处理非欧式结构的元胞负荷预测问题，能够更好的挖掘空间维特征。验证了GCN通过挖掘空间结构的依赖关系缓解了元胞负荷在空间上的不可区分性，从而提高预测精度。</a:t>
            </a:r>
            <a:endParaRPr lang="en-US" altLang="zh-CN" sz="1600" b="1">
              <a:solidFill>
                <a:srgbClr val="080EF6"/>
              </a:solidFill>
              <a:highlight>
                <a:srgbClr val="FFFF00"/>
              </a:highlight>
              <a:latin typeface="Times New Roman" panose="02020603050405020304" charset="0"/>
              <a:ea typeface="微软雅黑" panose="020B0503020204020204" pitchFamily="34" charset="-122"/>
              <a:cs typeface="Times New Roman" panose="02020603050405020304" charset="0"/>
            </a:endParaRPr>
          </a:p>
        </p:txBody>
      </p:sp>
      <p:sp>
        <p:nvSpPr>
          <p:cNvPr id="2" name="内容占位符 1"/>
          <p:cNvSpPr>
            <a:spLocks noGrp="1"/>
          </p:cNvSpPr>
          <p:nvPr>
            <p:ph sz="quarter" idx="13"/>
          </p:nvPr>
        </p:nvSpPr>
        <p:spPr/>
        <p:txBody>
          <a:bodyPr/>
          <a:lstStyle/>
          <a:p>
            <a:r>
              <a:rPr lang="zh-CN" altLang="en-US" dirty="0"/>
              <a:t>课题主要研究、</a:t>
            </a:r>
            <a:r>
              <a:rPr lang="zh-CN" altLang="en-US" dirty="0"/>
              <a:t>工作内容</a:t>
            </a:r>
            <a:endParaRPr lang="zh-CN" altLang="en-US" dirty="0"/>
          </a:p>
        </p:txBody>
      </p:sp>
      <p:sp>
        <p:nvSpPr>
          <p:cNvPr id="3" name="灯片编号占位符 2"/>
          <p:cNvSpPr>
            <a:spLocks noGrp="1"/>
          </p:cNvSpPr>
          <p:nvPr>
            <p:ph type="sldNum" sz="quarter" idx="12"/>
          </p:nvPr>
        </p:nvSpPr>
        <p:spPr/>
        <p:txBody>
          <a:bodyPr/>
          <a:lstStyle/>
          <a:p>
            <a:r>
              <a:rPr lang="en-US" altLang="zh-CN" dirty="0"/>
              <a:t>31</a:t>
            </a:r>
            <a:endParaRPr lang="en-US" altLang="zh-CN" dirty="0"/>
          </a:p>
        </p:txBody>
      </p:sp>
      <p:sp>
        <p:nvSpPr>
          <p:cNvPr id="6" name="矩形: 圆角 5"/>
          <p:cNvSpPr/>
          <p:nvPr/>
        </p:nvSpPr>
        <p:spPr>
          <a:xfrm>
            <a:off x="741045" y="912495"/>
            <a:ext cx="10438130"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accent1"/>
                </a:solidFill>
                <a:latin typeface="微软雅黑" panose="020B0503020204020204" pitchFamily="34" charset="-122"/>
                <a:ea typeface="微软雅黑" panose="020B0503020204020204" pitchFamily="34" charset="-122"/>
                <a:sym typeface="+mn-ea"/>
              </a:rPr>
              <a:t>课题主要研究、工作内容</a:t>
            </a:r>
            <a:r>
              <a:rPr lang="zh-CN" altLang="en-US" sz="2400" dirty="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en-US" altLang="zh-CN" sz="2400" spc="100" dirty="0">
                <a:blipFill>
                  <a:blip r:embed="rId1"/>
                  <a:stretch>
                    <a:fillRect/>
                  </a:stretch>
                </a:blipFill>
                <a:latin typeface="Times New Roman" panose="02020603050405020304" charset="0"/>
                <a:ea typeface="微软雅黑" panose="020B0503020204020204" pitchFamily="34" charset="-122"/>
                <a:cs typeface="Times New Roman" panose="02020603050405020304" charset="0"/>
                <a:sym typeface="Wingdings 3" panose="05040102010807070707" pitchFamily="18" charset="2"/>
              </a:rPr>
              <a:t>2.</a:t>
            </a:r>
            <a:r>
              <a:rPr lang="zh-CN" altLang="en-US" sz="2400" dirty="0">
                <a:solidFill>
                  <a:srgbClr val="F3AA00"/>
                </a:solidFill>
                <a:latin typeface="微软雅黑" panose="020B0503020204020204" pitchFamily="34" charset="-122"/>
                <a:ea typeface="微软雅黑" panose="020B0503020204020204" pitchFamily="34" charset="-122"/>
              </a:rPr>
              <a:t>基于时空图卷积网络的</a:t>
            </a:r>
            <a:r>
              <a:rPr lang="zh-CN" altLang="en-US" sz="2400" dirty="0">
                <a:solidFill>
                  <a:srgbClr val="F3AA00"/>
                </a:solidFill>
                <a:latin typeface="微软雅黑" panose="020B0503020204020204" pitchFamily="34" charset="-122"/>
                <a:ea typeface="微软雅黑" panose="020B0503020204020204" pitchFamily="34" charset="-122"/>
              </a:rPr>
              <a:t>短期空间负荷预测方法</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21" name="圆角矩形 20"/>
          <p:cNvSpPr/>
          <p:nvPr/>
        </p:nvSpPr>
        <p:spPr>
          <a:xfrm>
            <a:off x="699770" y="1456055"/>
            <a:ext cx="4485640" cy="3522980"/>
          </a:xfrm>
          <a:prstGeom prst="roundRect">
            <a:avLst>
              <a:gd name="adj" fmla="val 4305"/>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4" name="图片 3"/>
          <p:cNvPicPr>
            <a:picLocks noChangeAspect="1"/>
          </p:cNvPicPr>
          <p:nvPr/>
        </p:nvPicPr>
        <p:blipFill>
          <a:blip r:embed="rId2"/>
          <a:srcRect l="11450" t="1226" r="13658" b="1226"/>
          <a:stretch>
            <a:fillRect/>
          </a:stretch>
        </p:blipFill>
        <p:spPr>
          <a:xfrm>
            <a:off x="789940" y="1503680"/>
            <a:ext cx="4283075" cy="3138170"/>
          </a:xfrm>
          <a:prstGeom prst="rect">
            <a:avLst/>
          </a:prstGeom>
        </p:spPr>
      </p:pic>
      <p:sp>
        <p:nvSpPr>
          <p:cNvPr id="101" name="文本框 100"/>
          <p:cNvSpPr txBox="1"/>
          <p:nvPr/>
        </p:nvSpPr>
        <p:spPr>
          <a:xfrm>
            <a:off x="2193290" y="4641850"/>
            <a:ext cx="1476375" cy="337185"/>
          </a:xfrm>
          <a:prstGeom prst="rect">
            <a:avLst/>
          </a:prstGeom>
          <a:noFill/>
          <a:ln w="9525">
            <a:noFill/>
          </a:ln>
        </p:spPr>
        <p:txBody>
          <a:bodyPr wrap="square">
            <a:spAutoFit/>
          </a:bodyPr>
          <a:p>
            <a:pPr indent="0"/>
            <a:r>
              <a:rPr lang="zh-CN" sz="1600" b="1">
                <a:latin typeface="微软雅黑" panose="020B0503020204020204" pitchFamily="34" charset="-122"/>
                <a:ea typeface="微软雅黑" panose="020B0503020204020204" pitchFamily="34" charset="-122"/>
              </a:rPr>
              <a:t>空间负荷预测</a:t>
            </a:r>
            <a:endParaRPr lang="zh-CN" altLang="en-US" sz="1600" b="1">
              <a:latin typeface="微软雅黑" panose="020B0503020204020204" pitchFamily="34" charset="-122"/>
              <a:ea typeface="微软雅黑" panose="020B0503020204020204" pitchFamily="34" charset="-122"/>
            </a:endParaRPr>
          </a:p>
        </p:txBody>
      </p:sp>
      <p:sp>
        <p:nvSpPr>
          <p:cNvPr id="7" name="文本框 6"/>
          <p:cNvSpPr txBox="1"/>
          <p:nvPr/>
        </p:nvSpPr>
        <p:spPr>
          <a:xfrm>
            <a:off x="699770" y="5088255"/>
            <a:ext cx="4508500" cy="829945"/>
          </a:xfrm>
          <a:prstGeom prst="rect">
            <a:avLst/>
          </a:prstGeom>
          <a:solidFill>
            <a:schemeClr val="accent6">
              <a:lumMod val="20000"/>
              <a:lumOff val="80000"/>
            </a:schemeClr>
          </a:solidFill>
          <a:ln w="9525">
            <a:noFill/>
          </a:ln>
          <a:effectLst>
            <a:outerShdw blurRad="50800" dist="38100" dir="2700000" algn="tl" rotWithShape="0">
              <a:prstClr val="black">
                <a:alpha val="40000"/>
              </a:prstClr>
            </a:outerShdw>
          </a:effectLst>
        </p:spPr>
        <p:txBody>
          <a:bodyPr wrap="square">
            <a:spAutoFit/>
          </a:bodyPr>
          <a:p>
            <a:pPr indent="0"/>
            <a:r>
              <a:rPr lang="zh-CN" sz="1600" b="1">
                <a:latin typeface="微软雅黑" panose="020B0503020204020204" pitchFamily="34" charset="-122"/>
                <a:ea typeface="微软雅黑" panose="020B0503020204020204" pitchFamily="34" charset="-122"/>
              </a:rPr>
              <a:t>元胞负荷之间是由真实的电力线路相连接，所以，</a:t>
            </a:r>
            <a:r>
              <a:rPr lang="zh-CN" sz="1600" b="1">
                <a:solidFill>
                  <a:srgbClr val="FF0000"/>
                </a:solidFill>
                <a:latin typeface="微软雅黑" panose="020B0503020204020204" pitchFamily="34" charset="-122"/>
                <a:ea typeface="微软雅黑" panose="020B0503020204020204" pitchFamily="34" charset="-122"/>
              </a:rPr>
              <a:t>根据电网中的拓扑结构，采用阈值高斯核方法建立邻接矩阵</a:t>
            </a:r>
            <a:r>
              <a:rPr lang="zh-CN" sz="1600" b="1">
                <a:latin typeface="微软雅黑" panose="020B0503020204020204" pitchFamily="34" charset="-122"/>
                <a:ea typeface="微软雅黑" panose="020B0503020204020204" pitchFamily="34" charset="-122"/>
              </a:rPr>
              <a:t>，</a:t>
            </a:r>
            <a:r>
              <a:rPr lang="zh-CN" sz="1600" b="1">
                <a:latin typeface="微软雅黑" panose="020B0503020204020204" pitchFamily="34" charset="-122"/>
                <a:ea typeface="微软雅黑" panose="020B0503020204020204" pitchFamily="34" charset="-122"/>
              </a:rPr>
              <a:t>来描述各元胞</a:t>
            </a:r>
            <a:r>
              <a:rPr lang="zh-CN" sz="1600" b="1">
                <a:latin typeface="微软雅黑" panose="020B0503020204020204" pitchFamily="34" charset="-122"/>
                <a:ea typeface="微软雅黑" panose="020B0503020204020204" pitchFamily="34" charset="-122"/>
              </a:rPr>
              <a:t>负荷之间的相邻关系：</a:t>
            </a:r>
            <a:endParaRPr lang="zh-CN" sz="1600" b="1">
              <a:latin typeface="微软雅黑" panose="020B0503020204020204" pitchFamily="34" charset="-122"/>
              <a:ea typeface="微软雅黑" panose="020B0503020204020204" pitchFamily="34" charset="-122"/>
            </a:endParaRPr>
          </a:p>
        </p:txBody>
      </p:sp>
      <p:graphicFrame>
        <p:nvGraphicFramePr>
          <p:cNvPr id="5" name="对象 -2147482540"/>
          <p:cNvGraphicFramePr>
            <a:graphicFrameLocks noChangeAspect="1"/>
          </p:cNvGraphicFramePr>
          <p:nvPr/>
        </p:nvGraphicFramePr>
        <p:xfrm>
          <a:off x="1924685" y="5988050"/>
          <a:ext cx="3283585" cy="848995"/>
        </p:xfrm>
        <a:graphic>
          <a:graphicData uri="http://schemas.openxmlformats.org/presentationml/2006/ole">
            <mc:AlternateContent xmlns:mc="http://schemas.openxmlformats.org/markup-compatibility/2006">
              <mc:Choice xmlns:v="urn:schemas-microsoft-com:vml" Requires="v">
                <p:oleObj spid="_x0000_s3076" name="" r:id="rId3" imgW="2349500" imgH="596900" progId="Equation.DSMT4">
                  <p:embed/>
                </p:oleObj>
              </mc:Choice>
              <mc:Fallback>
                <p:oleObj name="" r:id="rId3" imgW="2349500" imgH="596900" progId="Equation.DSMT4">
                  <p:embed/>
                  <p:pic>
                    <p:nvPicPr>
                      <p:cNvPr id="0" name="图片 3075"/>
                      <p:cNvPicPr/>
                      <p:nvPr/>
                    </p:nvPicPr>
                    <p:blipFill>
                      <a:blip r:embed="rId4"/>
                      <a:stretch>
                        <a:fillRect/>
                      </a:stretch>
                    </p:blipFill>
                    <p:spPr>
                      <a:xfrm>
                        <a:off x="1924685" y="5988050"/>
                        <a:ext cx="3283585" cy="848995"/>
                      </a:xfrm>
                      <a:prstGeom prst="rect">
                        <a:avLst/>
                      </a:prstGeom>
                      <a:solidFill>
                        <a:srgbClr val="FFD5D5"/>
                      </a:solidFill>
                      <a:ln w="38100">
                        <a:noFill/>
                        <a:miter/>
                      </a:ln>
                    </p:spPr>
                  </p:pic>
                </p:oleObj>
              </mc:Fallback>
            </mc:AlternateContent>
          </a:graphicData>
        </a:graphic>
      </p:graphicFrame>
      <p:sp>
        <p:nvSpPr>
          <p:cNvPr id="18" name="文本框 17"/>
          <p:cNvSpPr txBox="1"/>
          <p:nvPr/>
        </p:nvSpPr>
        <p:spPr>
          <a:xfrm>
            <a:off x="5875655" y="3404235"/>
            <a:ext cx="2257425" cy="275590"/>
          </a:xfrm>
          <a:prstGeom prst="rect">
            <a:avLst/>
          </a:prstGeom>
          <a:noFill/>
          <a:ln w="9525">
            <a:noFill/>
          </a:ln>
        </p:spPr>
        <p:txBody>
          <a:bodyPr wrap="square">
            <a:spAutoFit/>
          </a:bodyPr>
          <a:p>
            <a:pPr indent="0"/>
            <a:r>
              <a:rPr lang="zh-CN" sz="1200" b="1">
                <a:latin typeface="Times New Roman" panose="02020603050405020304" charset="0"/>
                <a:ea typeface="微软雅黑" panose="020B0503020204020204" pitchFamily="34" charset="-122"/>
                <a:cs typeface="Times New Roman" panose="02020603050405020304" charset="0"/>
              </a:rPr>
              <a:t>预测模型的平均绝对误差</a:t>
            </a:r>
            <a:r>
              <a:rPr lang="en-US" altLang="zh-CN" sz="1200" b="1">
                <a:latin typeface="Times New Roman" panose="02020603050405020304" charset="0"/>
                <a:ea typeface="微软雅黑" panose="020B0503020204020204" pitchFamily="34" charset="-122"/>
                <a:cs typeface="Times New Roman" panose="02020603050405020304" charset="0"/>
              </a:rPr>
              <a:t>MAE</a:t>
            </a:r>
            <a:endParaRPr lang="en-US" altLang="zh-CN" sz="1200" b="1">
              <a:latin typeface="Times New Roman" panose="02020603050405020304" charset="0"/>
              <a:ea typeface="微软雅黑" panose="020B0503020204020204" pitchFamily="34" charset="-122"/>
              <a:cs typeface="Times New Roman" panose="02020603050405020304" charset="0"/>
            </a:endParaRPr>
          </a:p>
        </p:txBody>
      </p:sp>
      <p:sp>
        <p:nvSpPr>
          <p:cNvPr id="15" name="文本框 14"/>
          <p:cNvSpPr txBox="1"/>
          <p:nvPr/>
        </p:nvSpPr>
        <p:spPr>
          <a:xfrm>
            <a:off x="8491220" y="3404235"/>
            <a:ext cx="2793365" cy="275590"/>
          </a:xfrm>
          <a:prstGeom prst="rect">
            <a:avLst/>
          </a:prstGeom>
          <a:noFill/>
          <a:ln w="9525">
            <a:noFill/>
          </a:ln>
        </p:spPr>
        <p:txBody>
          <a:bodyPr wrap="square">
            <a:spAutoFit/>
          </a:bodyPr>
          <a:p>
            <a:pPr indent="0"/>
            <a:r>
              <a:rPr lang="zh-CN" sz="1200" b="1">
                <a:latin typeface="Times New Roman" panose="02020603050405020304" charset="0"/>
                <a:ea typeface="微软雅黑" panose="020B0503020204020204" pitchFamily="34" charset="-122"/>
                <a:cs typeface="Times New Roman" panose="02020603050405020304" charset="0"/>
              </a:rPr>
              <a:t>预测模型的平均绝对百分比误差</a:t>
            </a:r>
            <a:r>
              <a:rPr lang="en-US" altLang="zh-CN" sz="1200" b="1">
                <a:latin typeface="Times New Roman" panose="02020603050405020304" charset="0"/>
                <a:ea typeface="微软雅黑" panose="020B0503020204020204" pitchFamily="34" charset="-122"/>
                <a:cs typeface="Times New Roman" panose="02020603050405020304" charset="0"/>
              </a:rPr>
              <a:t>MAPE</a:t>
            </a:r>
            <a:endParaRPr lang="en-US" altLang="zh-CN" sz="1200" b="1">
              <a:latin typeface="Times New Roman" panose="02020603050405020304" charset="0"/>
              <a:ea typeface="微软雅黑" panose="020B0503020204020204" pitchFamily="34" charset="-122"/>
              <a:cs typeface="Times New Roman" panose="02020603050405020304" charset="0"/>
            </a:endParaRPr>
          </a:p>
        </p:txBody>
      </p:sp>
      <p:pic>
        <p:nvPicPr>
          <p:cNvPr id="28" name="图片 28" descr="邻接矩阵"/>
          <p:cNvPicPr>
            <a:picLocks noChangeAspect="1"/>
          </p:cNvPicPr>
          <p:nvPr/>
        </p:nvPicPr>
        <p:blipFill>
          <a:blip r:embed="rId5"/>
          <a:srcRect l="3006" t="5497" r="13586" b="4712"/>
          <a:stretch>
            <a:fillRect/>
          </a:stretch>
        </p:blipFill>
        <p:spPr>
          <a:xfrm>
            <a:off x="5569585" y="3535680"/>
            <a:ext cx="2726055" cy="2246630"/>
          </a:xfrm>
          <a:prstGeom prst="rect">
            <a:avLst/>
          </a:prstGeom>
        </p:spPr>
      </p:pic>
      <p:sp>
        <p:nvSpPr>
          <p:cNvPr id="8" name="文本框 7"/>
          <p:cNvSpPr txBox="1"/>
          <p:nvPr/>
        </p:nvSpPr>
        <p:spPr>
          <a:xfrm>
            <a:off x="6583045" y="5782310"/>
            <a:ext cx="842645" cy="275590"/>
          </a:xfrm>
          <a:prstGeom prst="rect">
            <a:avLst/>
          </a:prstGeom>
          <a:noFill/>
          <a:ln w="9525">
            <a:noFill/>
          </a:ln>
        </p:spPr>
        <p:txBody>
          <a:bodyPr wrap="square">
            <a:spAutoFit/>
          </a:bodyPr>
          <a:p>
            <a:pPr indent="0"/>
            <a:r>
              <a:rPr lang="zh-CN" sz="1200" b="1">
                <a:latin typeface="Times New Roman" panose="02020603050405020304" charset="0"/>
                <a:ea typeface="微软雅黑" panose="020B0503020204020204" pitchFamily="34" charset="-122"/>
                <a:cs typeface="Times New Roman" panose="02020603050405020304" charset="0"/>
              </a:rPr>
              <a:t>邻接矩阵</a:t>
            </a:r>
            <a:endParaRPr lang="zh-CN" altLang="en-US" sz="1200" b="1">
              <a:latin typeface="Times New Roman" panose="02020603050405020304" charset="0"/>
              <a:ea typeface="微软雅黑" panose="020B0503020204020204" pitchFamily="34" charset="-122"/>
              <a:cs typeface="Times New Roman" panose="02020603050405020304" charset="0"/>
            </a:endParaRPr>
          </a:p>
        </p:txBody>
      </p:sp>
      <p:pic>
        <p:nvPicPr>
          <p:cNvPr id="9" name="图片 6" descr="元胞1"/>
          <p:cNvPicPr>
            <a:picLocks noChangeAspect="1"/>
          </p:cNvPicPr>
          <p:nvPr/>
        </p:nvPicPr>
        <p:blipFill>
          <a:blip r:embed="rId6"/>
          <a:stretch>
            <a:fillRect/>
          </a:stretch>
        </p:blipFill>
        <p:spPr>
          <a:xfrm>
            <a:off x="8295640" y="3679825"/>
            <a:ext cx="1074420" cy="822325"/>
          </a:xfrm>
          <a:prstGeom prst="rect">
            <a:avLst/>
          </a:prstGeom>
        </p:spPr>
      </p:pic>
      <p:pic>
        <p:nvPicPr>
          <p:cNvPr id="10" name="图片 7" descr="元胞2"/>
          <p:cNvPicPr>
            <a:picLocks noChangeAspect="1"/>
          </p:cNvPicPr>
          <p:nvPr/>
        </p:nvPicPr>
        <p:blipFill>
          <a:blip r:embed="rId7"/>
          <a:stretch>
            <a:fillRect/>
          </a:stretch>
        </p:blipFill>
        <p:spPr>
          <a:xfrm>
            <a:off x="9274810" y="3657600"/>
            <a:ext cx="1056640" cy="822960"/>
          </a:xfrm>
          <a:prstGeom prst="rect">
            <a:avLst/>
          </a:prstGeom>
        </p:spPr>
      </p:pic>
      <p:pic>
        <p:nvPicPr>
          <p:cNvPr id="13" name="图片 13" descr="元胞3"/>
          <p:cNvPicPr>
            <a:picLocks noChangeAspect="1"/>
          </p:cNvPicPr>
          <p:nvPr/>
        </p:nvPicPr>
        <p:blipFill>
          <a:blip r:embed="rId8"/>
          <a:stretch>
            <a:fillRect/>
          </a:stretch>
        </p:blipFill>
        <p:spPr>
          <a:xfrm>
            <a:off x="10123170" y="3665220"/>
            <a:ext cx="1056005" cy="808355"/>
          </a:xfrm>
          <a:prstGeom prst="rect">
            <a:avLst/>
          </a:prstGeom>
        </p:spPr>
      </p:pic>
      <p:pic>
        <p:nvPicPr>
          <p:cNvPr id="17" name="图片 17" descr="元胞4"/>
          <p:cNvPicPr>
            <a:picLocks noChangeAspect="1"/>
          </p:cNvPicPr>
          <p:nvPr/>
        </p:nvPicPr>
        <p:blipFill>
          <a:blip r:embed="rId9"/>
          <a:stretch>
            <a:fillRect/>
          </a:stretch>
        </p:blipFill>
        <p:spPr>
          <a:xfrm>
            <a:off x="10929620" y="3651250"/>
            <a:ext cx="1073785" cy="822325"/>
          </a:xfrm>
          <a:prstGeom prst="rect">
            <a:avLst/>
          </a:prstGeom>
        </p:spPr>
      </p:pic>
      <p:pic>
        <p:nvPicPr>
          <p:cNvPr id="11" name="图片 18" descr="元胞5"/>
          <p:cNvPicPr>
            <a:picLocks noChangeAspect="1"/>
          </p:cNvPicPr>
          <p:nvPr/>
        </p:nvPicPr>
        <p:blipFill>
          <a:blip r:embed="rId10"/>
          <a:stretch>
            <a:fillRect/>
          </a:stretch>
        </p:blipFill>
        <p:spPr>
          <a:xfrm>
            <a:off x="8295640" y="4337685"/>
            <a:ext cx="1094740" cy="838835"/>
          </a:xfrm>
          <a:prstGeom prst="rect">
            <a:avLst/>
          </a:prstGeom>
        </p:spPr>
      </p:pic>
      <p:pic>
        <p:nvPicPr>
          <p:cNvPr id="19" name="图片 19" descr="元胞6"/>
          <p:cNvPicPr>
            <a:picLocks noChangeAspect="1"/>
          </p:cNvPicPr>
          <p:nvPr/>
        </p:nvPicPr>
        <p:blipFill>
          <a:blip r:embed="rId11"/>
          <a:stretch>
            <a:fillRect/>
          </a:stretch>
        </p:blipFill>
        <p:spPr>
          <a:xfrm>
            <a:off x="9274810" y="4380230"/>
            <a:ext cx="1077595" cy="796290"/>
          </a:xfrm>
          <a:prstGeom prst="rect">
            <a:avLst/>
          </a:prstGeom>
        </p:spPr>
      </p:pic>
      <p:pic>
        <p:nvPicPr>
          <p:cNvPr id="20" name="图片 20" descr="元胞7"/>
          <p:cNvPicPr>
            <a:picLocks noChangeAspect="1"/>
          </p:cNvPicPr>
          <p:nvPr/>
        </p:nvPicPr>
        <p:blipFill>
          <a:blip r:embed="rId12"/>
          <a:stretch>
            <a:fillRect/>
          </a:stretch>
        </p:blipFill>
        <p:spPr>
          <a:xfrm>
            <a:off x="10123170" y="4357370"/>
            <a:ext cx="1099820" cy="842645"/>
          </a:xfrm>
          <a:prstGeom prst="rect">
            <a:avLst/>
          </a:prstGeom>
        </p:spPr>
      </p:pic>
      <p:pic>
        <p:nvPicPr>
          <p:cNvPr id="12" name="图片 21" descr="元胞8"/>
          <p:cNvPicPr>
            <a:picLocks noChangeAspect="1"/>
          </p:cNvPicPr>
          <p:nvPr/>
        </p:nvPicPr>
        <p:blipFill>
          <a:blip r:embed="rId13"/>
          <a:stretch>
            <a:fillRect/>
          </a:stretch>
        </p:blipFill>
        <p:spPr>
          <a:xfrm>
            <a:off x="10929620" y="4357370"/>
            <a:ext cx="1121410" cy="858520"/>
          </a:xfrm>
          <a:prstGeom prst="rect">
            <a:avLst/>
          </a:prstGeom>
        </p:spPr>
      </p:pic>
      <p:pic>
        <p:nvPicPr>
          <p:cNvPr id="22" name="图片 22" descr="元胞9"/>
          <p:cNvPicPr>
            <a:picLocks noChangeAspect="1"/>
          </p:cNvPicPr>
          <p:nvPr/>
        </p:nvPicPr>
        <p:blipFill>
          <a:blip r:embed="rId14"/>
          <a:stretch>
            <a:fillRect/>
          </a:stretch>
        </p:blipFill>
        <p:spPr>
          <a:xfrm>
            <a:off x="8295640" y="5017770"/>
            <a:ext cx="1136650" cy="870585"/>
          </a:xfrm>
          <a:prstGeom prst="rect">
            <a:avLst/>
          </a:prstGeom>
        </p:spPr>
      </p:pic>
      <p:pic>
        <p:nvPicPr>
          <p:cNvPr id="30" name="图片 30" descr="元胞10"/>
          <p:cNvPicPr>
            <a:picLocks noChangeAspect="1"/>
          </p:cNvPicPr>
          <p:nvPr/>
        </p:nvPicPr>
        <p:blipFill>
          <a:blip r:embed="rId15"/>
          <a:stretch>
            <a:fillRect/>
          </a:stretch>
        </p:blipFill>
        <p:spPr>
          <a:xfrm>
            <a:off x="9269730" y="5054600"/>
            <a:ext cx="1088390" cy="833755"/>
          </a:xfrm>
          <a:prstGeom prst="rect">
            <a:avLst/>
          </a:prstGeom>
        </p:spPr>
      </p:pic>
      <p:sp>
        <p:nvSpPr>
          <p:cNvPr id="14" name="文本框 13"/>
          <p:cNvSpPr txBox="1"/>
          <p:nvPr/>
        </p:nvSpPr>
        <p:spPr>
          <a:xfrm>
            <a:off x="8957310" y="5782310"/>
            <a:ext cx="2661920" cy="275590"/>
          </a:xfrm>
          <a:prstGeom prst="rect">
            <a:avLst/>
          </a:prstGeom>
          <a:noFill/>
          <a:ln w="9525">
            <a:noFill/>
          </a:ln>
        </p:spPr>
        <p:txBody>
          <a:bodyPr wrap="square">
            <a:spAutoFit/>
          </a:bodyPr>
          <a:p>
            <a:pPr indent="0"/>
            <a:r>
              <a:rPr lang="zh-CN" sz="1200" b="1">
                <a:latin typeface="Times New Roman" panose="02020603050405020304" charset="0"/>
                <a:ea typeface="微软雅黑" panose="020B0503020204020204" pitchFamily="34" charset="-122"/>
                <a:cs typeface="Times New Roman" panose="02020603050405020304" charset="0"/>
              </a:rPr>
              <a:t>十个元胞的实际负荷和预测负荷曲线</a:t>
            </a:r>
            <a:endParaRPr lang="zh-CN" altLang="en-US" b="1"/>
          </a:p>
        </p:txBody>
      </p:sp>
      <p:sp>
        <p:nvSpPr>
          <p:cNvPr id="16" name="文本框 15"/>
          <p:cNvSpPr txBox="1"/>
          <p:nvPr/>
        </p:nvSpPr>
        <p:spPr>
          <a:xfrm>
            <a:off x="10979785" y="1414145"/>
            <a:ext cx="1172210" cy="1510665"/>
          </a:xfrm>
          <a:prstGeom prst="rect">
            <a:avLst/>
          </a:prstGeom>
          <a:solidFill>
            <a:schemeClr val="accent2">
              <a:lumMod val="20000"/>
              <a:lumOff val="80000"/>
            </a:schemeClr>
          </a:solidFill>
        </p:spPr>
        <p:txBody>
          <a:bodyPr wrap="square" rtlCol="0">
            <a:spAutoFit/>
          </a:bodyPr>
          <a:p>
            <a:pPr marL="53975" algn="l" fontAlgn="auto">
              <a:lnSpc>
                <a:spcPct val="110000"/>
              </a:lnSpc>
            </a:pPr>
            <a:r>
              <a:rPr lang="zh-CN" altLang="zh-CN" sz="1400" b="1">
                <a:latin typeface="微软雅黑" panose="020B0503020204020204" pitchFamily="34" charset="-122"/>
                <a:ea typeface="微软雅黑" panose="020B0503020204020204" pitchFamily="34" charset="-122"/>
              </a:rPr>
              <a:t>该课题对电网调度</a:t>
            </a:r>
            <a:r>
              <a:rPr lang="zh-CN" altLang="zh-CN" sz="1400" b="1">
                <a:latin typeface="微软雅黑" panose="020B0503020204020204" pitchFamily="34" charset="-122"/>
                <a:ea typeface="微软雅黑" panose="020B0503020204020204" pitchFamily="34" charset="-122"/>
              </a:rPr>
              <a:t>运行、</a:t>
            </a:r>
            <a:r>
              <a:rPr lang="zh-CN" altLang="zh-CN" sz="1400" b="1">
                <a:latin typeface="微软雅黑" panose="020B0503020204020204" pitchFamily="34" charset="-122"/>
                <a:ea typeface="微软雅黑" panose="020B0503020204020204" pitchFamily="34" charset="-122"/>
              </a:rPr>
              <a:t>配电网精细化规划等方面具有重要意义。</a:t>
            </a:r>
            <a:endParaRPr lang="zh-CN" altLang="zh-CN" sz="1400" b="1">
              <a:latin typeface="微软雅黑" panose="020B0503020204020204" pitchFamily="34" charset="-122"/>
              <a:ea typeface="微软雅黑" panose="020B0503020204020204" pitchFamily="34" charset="-122"/>
            </a:endParaRPr>
          </a:p>
        </p:txBody>
      </p:sp>
      <p:pic>
        <p:nvPicPr>
          <p:cNvPr id="23" name="图片 10" descr="3"/>
          <p:cNvPicPr>
            <a:picLocks noChangeAspect="1"/>
          </p:cNvPicPr>
          <p:nvPr/>
        </p:nvPicPr>
        <p:blipFill>
          <a:blip r:embed="rId16"/>
          <a:stretch>
            <a:fillRect/>
          </a:stretch>
        </p:blipFill>
        <p:spPr>
          <a:xfrm>
            <a:off x="5380990" y="1254125"/>
            <a:ext cx="2914650" cy="2231390"/>
          </a:xfrm>
          <a:prstGeom prst="rect">
            <a:avLst/>
          </a:prstGeom>
        </p:spPr>
      </p:pic>
      <p:pic>
        <p:nvPicPr>
          <p:cNvPr id="25" name="图片 14" descr="2"/>
          <p:cNvPicPr>
            <a:picLocks noChangeAspect="1"/>
          </p:cNvPicPr>
          <p:nvPr/>
        </p:nvPicPr>
        <p:blipFill>
          <a:blip r:embed="rId17"/>
          <a:stretch>
            <a:fillRect/>
          </a:stretch>
        </p:blipFill>
        <p:spPr>
          <a:xfrm>
            <a:off x="8184515" y="1254125"/>
            <a:ext cx="2914650" cy="2231390"/>
          </a:xfrm>
          <a:prstGeom prst="rect">
            <a:avLst/>
          </a:prstGeom>
        </p:spPr>
      </p:pic>
    </p:spTree>
  </p:cSld>
  <p:clrMapOvr>
    <a:masterClrMapping/>
  </p:clrMapOvr>
  <p:transition>
    <p:comb/>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新建 PPTX 演示文稿_01"/>
          <p:cNvPicPr>
            <a:picLocks noChangeAspect="1"/>
          </p:cNvPicPr>
          <p:nvPr/>
        </p:nvPicPr>
        <p:blipFill>
          <a:blip r:embed="rId1"/>
          <a:srcRect l="1598" t="18689" r="1180" b="9246"/>
          <a:stretch>
            <a:fillRect/>
          </a:stretch>
        </p:blipFill>
        <p:spPr>
          <a:xfrm>
            <a:off x="6161405" y="3618230"/>
            <a:ext cx="5749290" cy="2590800"/>
          </a:xfrm>
          <a:prstGeom prst="rect">
            <a:avLst/>
          </a:prstGeom>
        </p:spPr>
      </p:pic>
      <p:sp>
        <p:nvSpPr>
          <p:cNvPr id="12" name="圆角矩形 11"/>
          <p:cNvSpPr/>
          <p:nvPr>
            <p:custDataLst>
              <p:tags r:id="rId2"/>
            </p:custDataLst>
          </p:nvPr>
        </p:nvSpPr>
        <p:spPr>
          <a:xfrm>
            <a:off x="501650" y="3691255"/>
            <a:ext cx="5659755" cy="2545080"/>
          </a:xfrm>
          <a:prstGeom prst="roundRect">
            <a:avLst>
              <a:gd name="adj" fmla="val 0"/>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30" name="圆角矩形 29"/>
          <p:cNvSpPr/>
          <p:nvPr>
            <p:custDataLst>
              <p:tags r:id="rId3"/>
            </p:custDataLst>
          </p:nvPr>
        </p:nvSpPr>
        <p:spPr>
          <a:xfrm>
            <a:off x="502285" y="1686560"/>
            <a:ext cx="10768965" cy="1701165"/>
          </a:xfrm>
          <a:prstGeom prst="roundRect">
            <a:avLst>
              <a:gd name="adj" fmla="val 0"/>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endParaRPr lang="zh-CN" altLang="en-US" b="1">
              <a:solidFill>
                <a:srgbClr val="FF0000"/>
              </a:solidFill>
              <a:latin typeface="Times New Roman" panose="02020603050405020304" charset="0"/>
              <a:ea typeface="微软雅黑" panose="020B0503020204020204" pitchFamily="34" charset="-122"/>
              <a:cs typeface="Times New Roman" panose="02020603050405020304" charset="0"/>
              <a:sym typeface="+mn-ea"/>
            </a:endParaRPr>
          </a:p>
        </p:txBody>
      </p:sp>
      <p:sp>
        <p:nvSpPr>
          <p:cNvPr id="2" name="内容占位符 1"/>
          <p:cNvSpPr>
            <a:spLocks noGrp="1"/>
          </p:cNvSpPr>
          <p:nvPr>
            <p:ph sz="quarter" idx="13"/>
          </p:nvPr>
        </p:nvSpPr>
        <p:spPr/>
        <p:txBody>
          <a:bodyPr/>
          <a:lstStyle/>
          <a:p>
            <a:r>
              <a:rPr lang="zh-CN" altLang="en-US" dirty="0"/>
              <a:t>课题主要研究、</a:t>
            </a:r>
            <a:r>
              <a:rPr lang="zh-CN" altLang="en-US" dirty="0"/>
              <a:t>工作内容</a:t>
            </a:r>
            <a:endParaRPr lang="zh-CN" altLang="en-US" dirty="0"/>
          </a:p>
        </p:txBody>
      </p:sp>
      <p:sp>
        <p:nvSpPr>
          <p:cNvPr id="3" name="灯片编号占位符 2"/>
          <p:cNvSpPr>
            <a:spLocks noGrp="1"/>
          </p:cNvSpPr>
          <p:nvPr>
            <p:ph type="sldNum" sz="quarter" idx="12"/>
          </p:nvPr>
        </p:nvSpPr>
        <p:spPr/>
        <p:txBody>
          <a:bodyPr/>
          <a:lstStyle/>
          <a:p>
            <a:r>
              <a:rPr lang="en-US" altLang="zh-CN" dirty="0"/>
              <a:t>32</a:t>
            </a:r>
            <a:endParaRPr lang="en-US" altLang="zh-CN" dirty="0"/>
          </a:p>
        </p:txBody>
      </p:sp>
      <p:sp>
        <p:nvSpPr>
          <p:cNvPr id="6" name="矩形: 圆角 5"/>
          <p:cNvSpPr/>
          <p:nvPr/>
        </p:nvSpPr>
        <p:spPr>
          <a:xfrm>
            <a:off x="741045" y="912495"/>
            <a:ext cx="11450320"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accent1"/>
                </a:solidFill>
                <a:latin typeface="微软雅黑" panose="020B0503020204020204" pitchFamily="34" charset="-122"/>
                <a:ea typeface="微软雅黑" panose="020B0503020204020204" pitchFamily="34" charset="-122"/>
                <a:sym typeface="+mn-ea"/>
              </a:rPr>
              <a:t>课题主要研究、工作内容</a:t>
            </a:r>
            <a:r>
              <a:rPr lang="zh-CN" altLang="en-US" sz="2400" dirty="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4"/>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en-US" altLang="zh-CN" sz="2400" spc="100" dirty="0">
                <a:blipFill>
                  <a:blip r:embed="rId4"/>
                  <a:stretch>
                    <a:fillRect/>
                  </a:stretch>
                </a:blipFill>
                <a:latin typeface="Times New Roman" panose="02020603050405020304" charset="0"/>
                <a:ea typeface="微软雅黑" panose="020B0503020204020204" pitchFamily="34" charset="-122"/>
                <a:cs typeface="Times New Roman" panose="02020603050405020304" charset="0"/>
                <a:sym typeface="Wingdings 3" panose="05040102010807070707" pitchFamily="18" charset="2"/>
              </a:rPr>
              <a:t>3.</a:t>
            </a:r>
            <a:r>
              <a:rPr lang="en-US" altLang="zh-CN" sz="2400" spc="100" dirty="0">
                <a:blipFill>
                  <a:blip r:embed="rId4"/>
                  <a:stretch>
                    <a:fillRect/>
                  </a:stretch>
                </a:blipFill>
                <a:latin typeface="Times New Roman" panose="02020603050405020304" charset="0"/>
                <a:ea typeface="微软雅黑" panose="020B0503020204020204" pitchFamily="34" charset="-122"/>
                <a:cs typeface="Times New Roman" panose="02020603050405020304" charset="0"/>
                <a:sym typeface="Arial" panose="020B0604020202020204" pitchFamily="34" charset="0"/>
              </a:rPr>
              <a:t>基于图神经网络的综合能源系统多元负荷预测</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5"/>
            </p:custDataLst>
          </p:nvPr>
        </p:nvSpPr>
        <p:spPr>
          <a:xfrm>
            <a:off x="590550" y="3768725"/>
            <a:ext cx="5618480" cy="2309495"/>
          </a:xfrm>
          <a:prstGeom prst="rect">
            <a:avLst/>
          </a:prstGeom>
          <a:noFill/>
          <a:effectLst/>
          <a:extLst>
            <a:ext uri="{909E8E84-426E-40DD-AFC4-6F175D3DCCD1}">
              <a14:hiddenFill xmlns:a14="http://schemas.microsoft.com/office/drawing/2010/main">
                <a:solidFill>
                  <a:schemeClr val="accent6">
                    <a:lumMod val="20000"/>
                    <a:lumOff val="80000"/>
                  </a:schemeClr>
                </a:solidFill>
              </a14:hiddenFill>
            </a:ext>
          </a:extLst>
        </p:spPr>
        <p:txBody>
          <a:bodyPr wrap="square" rtlCol="0" anchor="t">
            <a:noAutofit/>
          </a:bodyPr>
          <a:p>
            <a:pPr indent="457200" fontAlgn="auto">
              <a:lnSpc>
                <a:spcPct val="130000"/>
              </a:lnSpc>
            </a:pPr>
            <a:r>
              <a:rPr lang="zh-CN" altLang="en-US" b="1">
                <a:latin typeface="Times New Roman" panose="02020603050405020304" charset="0"/>
                <a:ea typeface="微软雅黑" panose="020B0503020204020204" pitchFamily="34" charset="-122"/>
              </a:rPr>
              <a:t>基于图机器学习技术，</a:t>
            </a:r>
            <a:r>
              <a:rPr lang="zh-CN" altLang="en-US" b="1">
                <a:solidFill>
                  <a:srgbClr val="FF0000"/>
                </a:solidFill>
                <a:latin typeface="Times New Roman" panose="02020603050405020304" charset="0"/>
                <a:ea typeface="微软雅黑" panose="020B0503020204020204" pitchFamily="34" charset="-122"/>
              </a:rPr>
              <a:t>充分挖掘多种能源负荷之间的差异性与耦合性，</a:t>
            </a:r>
            <a:r>
              <a:rPr lang="zh-CN" altLang="en-US" b="1">
                <a:latin typeface="Times New Roman" panose="02020603050405020304" charset="0"/>
                <a:ea typeface="微软雅黑" panose="020B0503020204020204" pitchFamily="34" charset="-122"/>
              </a:rPr>
              <a:t>从而实现综合能源系统多元负荷联合预测。此外，可以</a:t>
            </a:r>
            <a:r>
              <a:rPr lang="zh-CN" altLang="en-US" b="1">
                <a:solidFill>
                  <a:srgbClr val="FF0000"/>
                </a:solidFill>
                <a:latin typeface="Times New Roman" panose="02020603050405020304" charset="0"/>
                <a:ea typeface="微软雅黑" panose="020B0503020204020204" pitchFamily="34" charset="-122"/>
              </a:rPr>
              <a:t>利用模型可解释性技术进一步探索图神经网络模型的可解释性含义，揭示基于图神经网络的综合能源系统负荷预测模型的内在机理与多元负荷之间的潜在关联关系。</a:t>
            </a:r>
            <a:endParaRPr lang="zh-CN" altLang="en-US" b="1">
              <a:solidFill>
                <a:srgbClr val="FF0000"/>
              </a:solidFill>
              <a:latin typeface="Times New Roman" panose="02020603050405020304" charset="0"/>
              <a:ea typeface="微软雅黑" panose="020B0503020204020204" pitchFamily="34" charset="-122"/>
            </a:endParaRPr>
          </a:p>
        </p:txBody>
      </p:sp>
      <p:sp>
        <p:nvSpPr>
          <p:cNvPr id="10" name="文本框 9"/>
          <p:cNvSpPr txBox="1"/>
          <p:nvPr>
            <p:custDataLst>
              <p:tags r:id="rId6"/>
            </p:custDataLst>
          </p:nvPr>
        </p:nvSpPr>
        <p:spPr>
          <a:xfrm>
            <a:off x="7113270" y="6139815"/>
            <a:ext cx="3845560" cy="583565"/>
          </a:xfrm>
          <a:prstGeom prst="rect">
            <a:avLst/>
          </a:prstGeom>
          <a:noFill/>
        </p:spPr>
        <p:txBody>
          <a:bodyPr wrap="square" rtlCol="0" anchor="t">
            <a:spAutoFit/>
          </a:bodyPr>
          <a:p>
            <a:pPr algn="ctr"/>
            <a:r>
              <a:rPr lang="zh-CN" altLang="en-US" sz="1600" b="1">
                <a:latin typeface="Times New Roman" panose="02020603050405020304" charset="0"/>
                <a:ea typeface="微软雅黑" panose="020B0503020204020204" pitchFamily="34" charset="-122"/>
              </a:rPr>
              <a:t>融合图神经网络与模型可解释性技术的综合能源系统负荷预测方法示意图</a:t>
            </a:r>
            <a:endParaRPr lang="zh-CN" altLang="en-US" sz="1600" b="1">
              <a:latin typeface="Times New Roman" panose="02020603050405020304" charset="0"/>
              <a:ea typeface="微软雅黑" panose="020B0503020204020204" pitchFamily="34" charset="-122"/>
            </a:endParaRPr>
          </a:p>
        </p:txBody>
      </p:sp>
      <p:sp>
        <p:nvSpPr>
          <p:cNvPr id="11" name="文本框 10"/>
          <p:cNvSpPr txBox="1"/>
          <p:nvPr>
            <p:custDataLst>
              <p:tags r:id="rId7"/>
            </p:custDataLst>
          </p:nvPr>
        </p:nvSpPr>
        <p:spPr>
          <a:xfrm>
            <a:off x="713105" y="1751330"/>
            <a:ext cx="10369550" cy="1529715"/>
          </a:xfrm>
          <a:prstGeom prst="rect">
            <a:avLst/>
          </a:prstGeom>
          <a:noFill/>
        </p:spPr>
        <p:txBody>
          <a:bodyPr wrap="square" rtlCol="0" anchor="t">
            <a:spAutoFit/>
          </a:bodyPr>
          <a:p>
            <a:pPr indent="457200" fontAlgn="auto">
              <a:lnSpc>
                <a:spcPct val="130000"/>
              </a:lnSpc>
            </a:pPr>
            <a:r>
              <a:rPr lang="zh-CN" altLang="en-US" b="1">
                <a:latin typeface="Times New Roman" panose="02020603050405020304" charset="0"/>
                <a:ea typeface="微软雅黑" panose="020B0503020204020204" pitchFamily="34" charset="-122"/>
              </a:rPr>
              <a:t>传统的单一负荷预测方法仅独立预测某种负荷，其难以充分兼顾各种能源需求之间的特性区别与耦合关系，无法确保多元负荷的预测精度。由于</a:t>
            </a:r>
            <a:r>
              <a:rPr lang="zh-CN" altLang="en-US" b="1">
                <a:solidFill>
                  <a:srgbClr val="FF0000"/>
                </a:solidFill>
                <a:latin typeface="Times New Roman" panose="02020603050405020304" charset="0"/>
                <a:ea typeface="微软雅黑" panose="020B0503020204020204" pitchFamily="34" charset="-122"/>
              </a:rPr>
              <a:t>综合能源系统中存在多种能源形式且不同能源之间具有一定程度的耦合性</a:t>
            </a:r>
            <a:r>
              <a:rPr lang="zh-CN" altLang="en-US" b="1">
                <a:latin typeface="Times New Roman" panose="02020603050405020304" charset="0"/>
                <a:ea typeface="微软雅黑" panose="020B0503020204020204" pitchFamily="34" charset="-122"/>
              </a:rPr>
              <a:t>，因此，可以</a:t>
            </a:r>
            <a:r>
              <a:rPr lang="zh-CN" altLang="en-US" b="1">
                <a:solidFill>
                  <a:srgbClr val="FF0000"/>
                </a:solidFill>
                <a:latin typeface="Times New Roman" panose="02020603050405020304" charset="0"/>
                <a:ea typeface="微软雅黑" panose="020B0503020204020204" pitchFamily="34" charset="-122"/>
              </a:rPr>
              <a:t>通过因果知识挖掘与相关性分析方法，深入分析电、气、冷、热等多元负荷的相关影响因素及其影响程度，</a:t>
            </a:r>
            <a:r>
              <a:rPr lang="zh-CN" altLang="en-US" b="1">
                <a:latin typeface="Times New Roman" panose="02020603050405020304" charset="0"/>
                <a:ea typeface="微软雅黑" panose="020B0503020204020204" pitchFamily="34" charset="-122"/>
              </a:rPr>
              <a:t>构建能够系统全面表征多元负荷内在模式的特征集合。</a:t>
            </a:r>
            <a:endParaRPr lang="zh-CN" altLang="en-US" b="1">
              <a:latin typeface="Times New Roman" panose="02020603050405020304" charset="0"/>
              <a:ea typeface="微软雅黑" panose="020B0503020204020204" pitchFamily="34" charset="-122"/>
            </a:endParaRPr>
          </a:p>
        </p:txBody>
      </p:sp>
    </p:spTree>
  </p:cSld>
  <p:clrMapOvr>
    <a:masterClrMapping/>
  </p:clrMapOvr>
  <p:transition>
    <p:comb/>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lstStyle/>
          <a:p>
            <a:r>
              <a:rPr lang="zh-CN" altLang="en-US" dirty="0"/>
              <a:t>课题主要研究、</a:t>
            </a:r>
            <a:r>
              <a:rPr lang="zh-CN" altLang="en-US" dirty="0"/>
              <a:t>工作内容</a:t>
            </a:r>
            <a:endParaRPr lang="zh-CN" altLang="en-US" dirty="0"/>
          </a:p>
        </p:txBody>
      </p:sp>
      <p:sp>
        <p:nvSpPr>
          <p:cNvPr id="3" name="灯片编号占位符 2"/>
          <p:cNvSpPr>
            <a:spLocks noGrp="1"/>
          </p:cNvSpPr>
          <p:nvPr>
            <p:ph type="sldNum" sz="quarter" idx="12"/>
          </p:nvPr>
        </p:nvSpPr>
        <p:spPr/>
        <p:txBody>
          <a:bodyPr/>
          <a:lstStyle/>
          <a:p>
            <a:r>
              <a:rPr lang="en-US" altLang="zh-CN" dirty="0"/>
              <a:t>33</a:t>
            </a:r>
            <a:endParaRPr lang="en-US" altLang="zh-CN" dirty="0"/>
          </a:p>
        </p:txBody>
      </p:sp>
      <p:sp>
        <p:nvSpPr>
          <p:cNvPr id="6" name="矩形: 圆角 5"/>
          <p:cNvSpPr/>
          <p:nvPr/>
        </p:nvSpPr>
        <p:spPr>
          <a:xfrm>
            <a:off x="741045" y="912495"/>
            <a:ext cx="11450320"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accent1"/>
                </a:solidFill>
                <a:latin typeface="微软雅黑" panose="020B0503020204020204" pitchFamily="34" charset="-122"/>
                <a:ea typeface="微软雅黑" panose="020B0503020204020204" pitchFamily="34" charset="-122"/>
                <a:sym typeface="+mn-ea"/>
              </a:rPr>
              <a:t>课题主要研究、工作内容</a:t>
            </a:r>
            <a:r>
              <a:rPr lang="zh-CN" altLang="en-US" sz="2400" dirty="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en-US" altLang="zh-CN" sz="2400" spc="100" dirty="0">
                <a:blipFill>
                  <a:blip r:embed="rId1"/>
                  <a:stretch>
                    <a:fillRect/>
                  </a:stretch>
                </a:blipFill>
                <a:latin typeface="Times New Roman" panose="02020603050405020304" charset="0"/>
                <a:ea typeface="微软雅黑" panose="020B0503020204020204" pitchFamily="34" charset="-122"/>
                <a:cs typeface="Times New Roman" panose="02020603050405020304" charset="0"/>
                <a:sym typeface="Wingdings 3" panose="05040102010807070707" pitchFamily="18" charset="2"/>
              </a:rPr>
              <a:t>3.</a:t>
            </a:r>
            <a:r>
              <a:rPr lang="en-US" altLang="zh-CN" sz="2400" spc="100" dirty="0">
                <a:blipFill>
                  <a:blip r:embed="rId1"/>
                  <a:stretch>
                    <a:fillRect/>
                  </a:stretch>
                </a:blipFill>
                <a:latin typeface="Times New Roman" panose="02020603050405020304" charset="0"/>
                <a:ea typeface="微软雅黑" panose="020B0503020204020204" pitchFamily="34" charset="-122"/>
                <a:cs typeface="Times New Roman" panose="02020603050405020304" charset="0"/>
                <a:sym typeface="Arial" panose="020B0604020202020204" pitchFamily="34" charset="0"/>
              </a:rPr>
              <a:t>基于图神经网络的综合能源系统多元负荷预测</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801370" y="1542415"/>
            <a:ext cx="3637280" cy="2193290"/>
          </a:xfrm>
          <a:prstGeom prst="rect">
            <a:avLst/>
          </a:prstGeom>
        </p:spPr>
      </p:pic>
      <p:pic>
        <p:nvPicPr>
          <p:cNvPr id="26" name="图片 25"/>
          <p:cNvPicPr>
            <a:picLocks noChangeAspect="1"/>
          </p:cNvPicPr>
          <p:nvPr/>
        </p:nvPicPr>
        <p:blipFill>
          <a:blip r:embed="rId3"/>
          <a:stretch>
            <a:fillRect/>
          </a:stretch>
        </p:blipFill>
        <p:spPr>
          <a:xfrm>
            <a:off x="4880610" y="1809115"/>
            <a:ext cx="6463665" cy="3388360"/>
          </a:xfrm>
          <a:prstGeom prst="rect">
            <a:avLst/>
          </a:prstGeom>
        </p:spPr>
      </p:pic>
      <p:sp>
        <p:nvSpPr>
          <p:cNvPr id="5" name="文本框 4"/>
          <p:cNvSpPr txBox="1"/>
          <p:nvPr/>
        </p:nvSpPr>
        <p:spPr>
          <a:xfrm>
            <a:off x="5728970" y="5340985"/>
            <a:ext cx="4767580" cy="368300"/>
          </a:xfrm>
          <a:prstGeom prst="rect">
            <a:avLst/>
          </a:prstGeom>
          <a:noFill/>
        </p:spPr>
        <p:txBody>
          <a:bodyPr wrap="none" rtlCol="0" anchor="t">
            <a:spAutoFit/>
          </a:bodyPr>
          <a:p>
            <a:r>
              <a:rPr lang="en-US" altLang="zh-CN" b="1" spc="100" dirty="0">
                <a:solidFill>
                  <a:schemeClr val="tx1"/>
                </a:solidFill>
                <a:latin typeface="微软雅黑" panose="020B0503020204020204" pitchFamily="34" charset="-122"/>
                <a:ea typeface="微软雅黑" panose="020B0503020204020204" pitchFamily="34" charset="-122"/>
                <a:cs typeface="Times New Roman" panose="02020603050405020304" charset="0"/>
                <a:sym typeface="Arial" panose="020B0604020202020204" pitchFamily="34" charset="0"/>
              </a:rPr>
              <a:t>综合能源系统</a:t>
            </a:r>
            <a:r>
              <a:rPr lang="zh-CN" altLang="en-US" b="1" spc="100" dirty="0">
                <a:solidFill>
                  <a:schemeClr val="tx1"/>
                </a:solidFill>
                <a:latin typeface="微软雅黑" panose="020B0503020204020204" pitchFamily="34" charset="-122"/>
                <a:ea typeface="微软雅黑" panose="020B0503020204020204" pitchFamily="34" charset="-122"/>
                <a:cs typeface="Times New Roman" panose="02020603050405020304" charset="0"/>
                <a:sym typeface="Arial" panose="020B0604020202020204" pitchFamily="34" charset="0"/>
              </a:rPr>
              <a:t>多能流动相互耦合、相互</a:t>
            </a:r>
            <a:r>
              <a:rPr lang="zh-CN" altLang="en-US" b="1" spc="100" dirty="0">
                <a:solidFill>
                  <a:schemeClr val="tx1"/>
                </a:solidFill>
                <a:latin typeface="微软雅黑" panose="020B0503020204020204" pitchFamily="34" charset="-122"/>
                <a:ea typeface="微软雅黑" panose="020B0503020204020204" pitchFamily="34" charset="-122"/>
                <a:cs typeface="Times New Roman" panose="02020603050405020304" charset="0"/>
                <a:sym typeface="Arial" panose="020B0604020202020204" pitchFamily="34" charset="0"/>
              </a:rPr>
              <a:t>影响</a:t>
            </a:r>
            <a:endParaRPr lang="zh-CN" altLang="en-US" b="1" spc="100" dirty="0">
              <a:solidFill>
                <a:schemeClr val="tx1"/>
              </a:solidFill>
              <a:latin typeface="微软雅黑" panose="020B0503020204020204" pitchFamily="34" charset="-122"/>
              <a:ea typeface="微软雅黑" panose="020B0503020204020204" pitchFamily="34" charset="-122"/>
              <a:cs typeface="Times New Roman" panose="02020603050405020304" charset="0"/>
              <a:sym typeface="Arial" panose="020B0604020202020204" pitchFamily="34" charset="0"/>
            </a:endParaRPr>
          </a:p>
        </p:txBody>
      </p:sp>
      <p:sp>
        <p:nvSpPr>
          <p:cNvPr id="27" name="文本框 26"/>
          <p:cNvSpPr txBox="1"/>
          <p:nvPr/>
        </p:nvSpPr>
        <p:spPr>
          <a:xfrm>
            <a:off x="483870" y="3709035"/>
            <a:ext cx="4202430" cy="2635885"/>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txBody>
          <a:bodyPr wrap="square" rtlCol="0" anchor="t">
            <a:spAutoFit/>
          </a:bodyPr>
          <a:p>
            <a:pPr indent="0" algn="l" fontAlgn="auto">
              <a:lnSpc>
                <a:spcPct val="115000"/>
              </a:lnSpc>
              <a:spcBef>
                <a:spcPts val="0"/>
              </a:spcBef>
              <a:spcAft>
                <a:spcPts val="0"/>
              </a:spcAft>
              <a:buFontTx/>
              <a:buNone/>
              <a:defRPr/>
            </a:pPr>
            <a:r>
              <a:rPr lang="zh-CN" altLang="en-US" sz="16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综合能源系统中的多种能源具有耦合性和互补性，因此，不同类型负荷之间存在着潜在的依赖关系，对单一负荷预测时忽略了其他类型能源与负荷的影响。因此，</a:t>
            </a:r>
            <a:r>
              <a:rPr lang="zh-CN" altLang="en-US"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提出通过图神经网络来挖掘电</a:t>
            </a:r>
            <a:r>
              <a:rPr lang="en-US" alt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热</a:t>
            </a:r>
            <a:r>
              <a:rPr lang="en-US" alt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冷</a:t>
            </a:r>
            <a:r>
              <a:rPr lang="en-US" alt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气负荷之间的多元时序特征关系。这些多元序列之间存在着明显的依赖关系，对第 </a:t>
            </a:r>
            <a:r>
              <a:rPr lang="zh-CN" altLang="en-US" sz="1600" b="1" i="1">
                <a:solidFill>
                  <a:srgbClr val="FF0000"/>
                </a:solidFill>
                <a:latin typeface="Times New Roman" panose="02020603050405020304" charset="0"/>
                <a:ea typeface="微软雅黑" panose="020B0503020204020204" pitchFamily="34" charset="-122"/>
                <a:cs typeface="Times New Roman" panose="02020603050405020304" charset="0"/>
                <a:sym typeface="+mn-ea"/>
              </a:rPr>
              <a:t>i </a:t>
            </a:r>
            <a:r>
              <a:rPr lang="zh-CN" altLang="en-US"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个时间序列进行预测的时候，不仅要考虑这第 </a:t>
            </a:r>
            <a:r>
              <a:rPr lang="zh-CN" altLang="en-US" sz="1600" b="1" i="1">
                <a:solidFill>
                  <a:srgbClr val="FF0000"/>
                </a:solidFill>
                <a:latin typeface="Times New Roman" panose="02020603050405020304" charset="0"/>
                <a:ea typeface="微软雅黑" panose="020B0503020204020204" pitchFamily="34" charset="-122"/>
                <a:cs typeface="Times New Roman" panose="02020603050405020304" charset="0"/>
                <a:sym typeface="+mn-ea"/>
              </a:rPr>
              <a:t>i</a:t>
            </a:r>
            <a:r>
              <a:rPr lang="zh-CN" altLang="en-US"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 条时间序列的历史信息，也要考虑其他时间序列的历史信息。</a:t>
            </a:r>
            <a:endParaRPr lang="zh-CN" altLang="en-US"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文本框 6"/>
          <p:cNvSpPr txBox="1"/>
          <p:nvPr/>
        </p:nvSpPr>
        <p:spPr>
          <a:xfrm>
            <a:off x="5031105" y="5774055"/>
            <a:ext cx="6163945" cy="570865"/>
          </a:xfrm>
          <a:prstGeom prst="rect">
            <a:avLst/>
          </a:prstGeom>
          <a:solidFill>
            <a:srgbClr val="FFFF00"/>
          </a:solidFill>
          <a:effectLst>
            <a:outerShdw blurRad="50800" dist="38100" dir="2700000" algn="tl" rotWithShape="0">
              <a:prstClr val="black">
                <a:alpha val="40000"/>
              </a:prstClr>
            </a:outerShdw>
          </a:effectLst>
        </p:spPr>
        <p:txBody>
          <a:bodyPr wrap="square" rtlCol="0" anchor="t">
            <a:spAutoFit/>
          </a:bodyPr>
          <a:p>
            <a:pPr indent="0" algn="ctr" fontAlgn="auto">
              <a:lnSpc>
                <a:spcPct val="130000"/>
              </a:lnSpc>
              <a:spcBef>
                <a:spcPts val="0"/>
              </a:spcBef>
              <a:spcAft>
                <a:spcPts val="0"/>
              </a:spcAft>
              <a:buFontTx/>
              <a:buNone/>
              <a:defRPr/>
            </a:pPr>
            <a:r>
              <a:rPr lang="zh-CN" altLang="en-US" sz="2400" b="1">
                <a:solidFill>
                  <a:srgbClr val="080EF6"/>
                </a:solidFill>
                <a:latin typeface="微软雅黑" panose="020B0503020204020204" pitchFamily="34" charset="-122"/>
                <a:ea typeface="微软雅黑" panose="020B0503020204020204" pitchFamily="34" charset="-122"/>
                <a:cs typeface="微软雅黑" panose="020B0503020204020204" pitchFamily="34" charset="-122"/>
                <a:sym typeface="+mn-ea"/>
              </a:rPr>
              <a:t>采用</a:t>
            </a:r>
            <a:r>
              <a:rPr lang="en-US" altLang="zh-CN" sz="2400" b="1">
                <a:solidFill>
                  <a:srgbClr val="080EF6"/>
                </a:solidFill>
                <a:latin typeface="微软雅黑" panose="020B0503020204020204" pitchFamily="34" charset="-122"/>
                <a:ea typeface="微软雅黑" panose="020B0503020204020204" pitchFamily="34" charset="-122"/>
                <a:cs typeface="微软雅黑" panose="020B0503020204020204" pitchFamily="34" charset="-122"/>
                <a:sym typeface="+mn-ea"/>
              </a:rPr>
              <a:t>MTGNN</a:t>
            </a:r>
            <a:r>
              <a:rPr lang="zh-CN" altLang="en-US" sz="2400" b="1">
                <a:solidFill>
                  <a:srgbClr val="080EF6"/>
                </a:solidFill>
                <a:latin typeface="微软雅黑" panose="020B0503020204020204" pitchFamily="34" charset="-122"/>
                <a:ea typeface="微软雅黑" panose="020B0503020204020204" pitchFamily="34" charset="-122"/>
                <a:cs typeface="微软雅黑" panose="020B0503020204020204" pitchFamily="34" charset="-122"/>
                <a:sym typeface="+mn-ea"/>
              </a:rPr>
              <a:t>多元</a:t>
            </a:r>
            <a:r>
              <a:rPr lang="zh-CN" altLang="en-US" sz="2400" b="1">
                <a:solidFill>
                  <a:srgbClr val="080EF6"/>
                </a:solidFill>
                <a:latin typeface="微软雅黑" panose="020B0503020204020204" pitchFamily="34" charset="-122"/>
                <a:ea typeface="微软雅黑" panose="020B0503020204020204" pitchFamily="34" charset="-122"/>
                <a:cs typeface="微软雅黑" panose="020B0503020204020204" pitchFamily="34" charset="-122"/>
                <a:sym typeface="+mn-ea"/>
              </a:rPr>
              <a:t>时序算法来研究该课题</a:t>
            </a:r>
            <a:endParaRPr lang="zh-CN" altLang="en-US" sz="2400" b="1">
              <a:solidFill>
                <a:srgbClr val="080EF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6" name="文本框 15"/>
          <p:cNvSpPr txBox="1"/>
          <p:nvPr/>
        </p:nvSpPr>
        <p:spPr>
          <a:xfrm>
            <a:off x="4880610" y="1398270"/>
            <a:ext cx="6463030" cy="306705"/>
          </a:xfrm>
          <a:prstGeom prst="rect">
            <a:avLst/>
          </a:prstGeom>
          <a:solidFill>
            <a:schemeClr val="accent2">
              <a:lumMod val="20000"/>
              <a:lumOff val="80000"/>
            </a:schemeClr>
          </a:solidFill>
        </p:spPr>
        <p:txBody>
          <a:bodyPr wrap="square" rtlCol="0">
            <a:spAutoFit/>
          </a:bodyPr>
          <a:p>
            <a:pPr algn="ctr"/>
            <a:r>
              <a:rPr lang="zh-CN" altLang="zh-CN" sz="1400" b="1">
                <a:latin typeface="微软雅黑" panose="020B0503020204020204" pitchFamily="34" charset="-122"/>
                <a:ea typeface="微软雅黑" panose="020B0503020204020204" pitchFamily="34" charset="-122"/>
              </a:rPr>
              <a:t>该课题对综合能源系统调度与</a:t>
            </a:r>
            <a:r>
              <a:rPr lang="zh-CN" altLang="zh-CN" sz="1400" b="1">
                <a:latin typeface="微软雅黑" panose="020B0503020204020204" pitchFamily="34" charset="-122"/>
                <a:ea typeface="微软雅黑" panose="020B0503020204020204" pitchFamily="34" charset="-122"/>
              </a:rPr>
              <a:t>规划等方面具有重要意义。</a:t>
            </a:r>
            <a:endParaRPr lang="zh-CN" altLang="zh-CN" sz="1400" b="1">
              <a:latin typeface="微软雅黑" panose="020B0503020204020204" pitchFamily="34" charset="-122"/>
              <a:ea typeface="微软雅黑" panose="020B0503020204020204" pitchFamily="34" charset="-122"/>
            </a:endParaRPr>
          </a:p>
        </p:txBody>
      </p:sp>
    </p:spTree>
  </p:cSld>
  <p:clrMapOvr>
    <a:masterClrMapping/>
  </p:clrMapOvr>
  <p:transition>
    <p:comb/>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descr="2"/>
          <p:cNvPicPr>
            <a:picLocks noChangeAspect="1"/>
          </p:cNvPicPr>
          <p:nvPr>
            <p:custDataLst>
              <p:tags r:id="rId1"/>
            </p:custDataLst>
          </p:nvPr>
        </p:nvPicPr>
        <p:blipFill>
          <a:blip r:embed="rId2"/>
          <a:stretch>
            <a:fillRect/>
          </a:stretch>
        </p:blipFill>
        <p:spPr>
          <a:xfrm>
            <a:off x="8759825" y="1110615"/>
            <a:ext cx="3782695" cy="2958465"/>
          </a:xfrm>
          <a:prstGeom prst="rect">
            <a:avLst/>
          </a:prstGeom>
        </p:spPr>
      </p:pic>
      <p:sp>
        <p:nvSpPr>
          <p:cNvPr id="2" name="内容占位符 1"/>
          <p:cNvSpPr>
            <a:spLocks noGrp="1"/>
          </p:cNvSpPr>
          <p:nvPr>
            <p:ph sz="quarter" idx="13"/>
          </p:nvPr>
        </p:nvSpPr>
        <p:spPr/>
        <p:txBody>
          <a:bodyPr/>
          <a:lstStyle/>
          <a:p>
            <a:r>
              <a:rPr lang="zh-CN" altLang="en-US" dirty="0"/>
              <a:t>课题主要研究、</a:t>
            </a:r>
            <a:r>
              <a:rPr lang="zh-CN" altLang="en-US" dirty="0"/>
              <a:t>工作内容</a:t>
            </a:r>
            <a:endParaRPr lang="zh-CN" altLang="en-US" dirty="0"/>
          </a:p>
        </p:txBody>
      </p:sp>
      <p:sp>
        <p:nvSpPr>
          <p:cNvPr id="3" name="灯片编号占位符 2"/>
          <p:cNvSpPr>
            <a:spLocks noGrp="1"/>
          </p:cNvSpPr>
          <p:nvPr>
            <p:ph type="sldNum" sz="quarter" idx="12"/>
          </p:nvPr>
        </p:nvSpPr>
        <p:spPr/>
        <p:txBody>
          <a:bodyPr/>
          <a:lstStyle/>
          <a:p>
            <a:r>
              <a:rPr lang="en-US" altLang="zh-CN" dirty="0"/>
              <a:t>34</a:t>
            </a:r>
            <a:endParaRPr lang="en-US" altLang="zh-CN" dirty="0"/>
          </a:p>
        </p:txBody>
      </p:sp>
      <p:sp>
        <p:nvSpPr>
          <p:cNvPr id="6" name="矩形: 圆角 5"/>
          <p:cNvSpPr/>
          <p:nvPr/>
        </p:nvSpPr>
        <p:spPr>
          <a:xfrm>
            <a:off x="626745" y="912495"/>
            <a:ext cx="1156525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accent1"/>
                </a:solidFill>
                <a:latin typeface="微软雅黑" panose="020B0503020204020204" pitchFamily="34" charset="-122"/>
                <a:ea typeface="微软雅黑" panose="020B0503020204020204" pitchFamily="34" charset="-122"/>
                <a:sym typeface="+mn-ea"/>
              </a:rPr>
              <a:t>课题主要研究、工作内容</a:t>
            </a:r>
            <a:r>
              <a:rPr lang="zh-CN" altLang="en-US" sz="2400" dirty="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3"/>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en-US" altLang="zh-CN" sz="2400" spc="100" dirty="0">
                <a:blipFill>
                  <a:blip r:embed="rId3"/>
                  <a:stretch>
                    <a:fillRect/>
                  </a:stretch>
                </a:blipFill>
                <a:latin typeface="Times New Roman" panose="02020603050405020304" charset="0"/>
                <a:ea typeface="微软雅黑" panose="020B0503020204020204" pitchFamily="34" charset="-122"/>
                <a:cs typeface="Times New Roman" panose="02020603050405020304" charset="0"/>
                <a:sym typeface="Wingdings 3" panose="05040102010807070707" pitchFamily="18" charset="2"/>
              </a:rPr>
              <a:t>4.</a:t>
            </a:r>
            <a:r>
              <a:rPr lang="en-US" altLang="zh-CN" sz="2400" spc="100" dirty="0">
                <a:blipFill>
                  <a:blip r:embed="rId3"/>
                  <a:stretch>
                    <a:fillRect/>
                  </a:stretch>
                </a:blipFill>
                <a:latin typeface="Times New Roman" panose="02020603050405020304" charset="0"/>
                <a:ea typeface="微软雅黑" panose="020B0503020204020204" pitchFamily="34" charset="-122"/>
                <a:cs typeface="Times New Roman" panose="02020603050405020304" charset="0"/>
                <a:sym typeface="Wingdings 3" panose="05040102010807070707" pitchFamily="18" charset="2"/>
              </a:rPr>
              <a:t>基于时空数据挖掘的现货电价预测</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custDataLst>
              <p:tags r:id="rId4"/>
            </p:custDataLst>
          </p:nvPr>
        </p:nvPicPr>
        <p:blipFill>
          <a:blip r:embed="rId5"/>
          <a:stretch>
            <a:fillRect/>
          </a:stretch>
        </p:blipFill>
        <p:spPr>
          <a:xfrm>
            <a:off x="0" y="1390650"/>
            <a:ext cx="9078595" cy="5088890"/>
          </a:xfrm>
          <a:prstGeom prst="rect">
            <a:avLst/>
          </a:prstGeom>
        </p:spPr>
      </p:pic>
      <p:sp>
        <p:nvSpPr>
          <p:cNvPr id="100" name="文本框 99"/>
          <p:cNvSpPr txBox="1"/>
          <p:nvPr/>
        </p:nvSpPr>
        <p:spPr>
          <a:xfrm>
            <a:off x="9164955" y="3926205"/>
            <a:ext cx="2971800" cy="2457450"/>
          </a:xfrm>
          <a:prstGeom prst="rect">
            <a:avLst/>
          </a:prstGeom>
          <a:solidFill>
            <a:schemeClr val="accent6">
              <a:lumMod val="20000"/>
              <a:lumOff val="80000"/>
            </a:schemeClr>
          </a:solidFill>
          <a:ln w="9525">
            <a:noFill/>
          </a:ln>
        </p:spPr>
        <p:txBody>
          <a:bodyPr wrap="square">
            <a:spAutoFit/>
          </a:bodyPr>
          <a:p>
            <a:pPr indent="457200" fontAlgn="auto">
              <a:lnSpc>
                <a:spcPct val="110000"/>
              </a:lnSpc>
            </a:pPr>
            <a:r>
              <a:rPr lang="zh-CN" sz="1400" b="1">
                <a:latin typeface="微软雅黑" panose="020B0503020204020204" pitchFamily="34" charset="-122"/>
                <a:ea typeface="微软雅黑" panose="020B0503020204020204" pitchFamily="34" charset="-122"/>
                <a:cs typeface="微软雅黑" panose="020B0503020204020204" pitchFamily="34" charset="-122"/>
              </a:rPr>
              <a:t>黑线左侧，</a:t>
            </a:r>
            <a:r>
              <a:rPr lang="en-US" sz="1400" b="1">
                <a:latin typeface="微软雅黑" panose="020B0503020204020204" pitchFamily="34" charset="-122"/>
                <a:ea typeface="微软雅黑" panose="020B0503020204020204" pitchFamily="34" charset="-122"/>
                <a:cs typeface="微软雅黑" panose="020B0503020204020204" pitchFamily="34" charset="-122"/>
              </a:rPr>
              <a:t>SA</a:t>
            </a:r>
            <a:r>
              <a:rPr lang="zh-CN" sz="1400" b="1">
                <a:latin typeface="微软雅黑" panose="020B0503020204020204" pitchFamily="34" charset="-122"/>
                <a:ea typeface="微软雅黑" panose="020B0503020204020204" pitchFamily="34" charset="-122"/>
                <a:cs typeface="微软雅黑" panose="020B0503020204020204" pitchFamily="34" charset="-122"/>
              </a:rPr>
              <a:t>和</a:t>
            </a:r>
            <a:r>
              <a:rPr lang="en-US" sz="1400" b="1">
                <a:latin typeface="微软雅黑" panose="020B0503020204020204" pitchFamily="34" charset="-122"/>
                <a:ea typeface="微软雅黑" panose="020B0503020204020204" pitchFamily="34" charset="-122"/>
                <a:cs typeface="微软雅黑" panose="020B0503020204020204" pitchFamily="34" charset="-122"/>
              </a:rPr>
              <a:t>VIC</a:t>
            </a:r>
            <a:r>
              <a:rPr lang="zh-CN" sz="1400" b="1">
                <a:latin typeface="微软雅黑" panose="020B0503020204020204" pitchFamily="34" charset="-122"/>
                <a:ea typeface="微软雅黑" panose="020B0503020204020204" pitchFamily="34" charset="-122"/>
                <a:cs typeface="微软雅黑" panose="020B0503020204020204" pitchFamily="34" charset="-122"/>
              </a:rPr>
              <a:t>的现货电价非常相似，但黑线右侧，</a:t>
            </a:r>
            <a:r>
              <a:rPr lang="en-US" sz="1400" b="1">
                <a:latin typeface="微软雅黑" panose="020B0503020204020204" pitchFamily="34" charset="-122"/>
                <a:ea typeface="微软雅黑" panose="020B0503020204020204" pitchFamily="34" charset="-122"/>
                <a:cs typeface="微软雅黑" panose="020B0503020204020204" pitchFamily="34" charset="-122"/>
              </a:rPr>
              <a:t>SA</a:t>
            </a:r>
            <a:r>
              <a:rPr lang="zh-CN" sz="1400" b="1">
                <a:latin typeface="微软雅黑" panose="020B0503020204020204" pitchFamily="34" charset="-122"/>
                <a:ea typeface="微软雅黑" panose="020B0503020204020204" pitchFamily="34" charset="-122"/>
                <a:cs typeface="微软雅黑" panose="020B0503020204020204" pitchFamily="34" charset="-122"/>
              </a:rPr>
              <a:t>和</a:t>
            </a:r>
            <a:r>
              <a:rPr lang="en-US" sz="1400" b="1">
                <a:latin typeface="微软雅黑" panose="020B0503020204020204" pitchFamily="34" charset="-122"/>
                <a:ea typeface="微软雅黑" panose="020B0503020204020204" pitchFamily="34" charset="-122"/>
                <a:cs typeface="微软雅黑" panose="020B0503020204020204" pitchFamily="34" charset="-122"/>
              </a:rPr>
              <a:t>VIC</a:t>
            </a:r>
            <a:r>
              <a:rPr lang="zh-CN" sz="1400" b="1">
                <a:latin typeface="微软雅黑" panose="020B0503020204020204" pitchFamily="34" charset="-122"/>
                <a:ea typeface="微软雅黑" panose="020B0503020204020204" pitchFamily="34" charset="-122"/>
                <a:cs typeface="微软雅黑" panose="020B0503020204020204" pitchFamily="34" charset="-122"/>
              </a:rPr>
              <a:t>的现货电价非常不同，如果仅考虑时序预测，采用</a:t>
            </a:r>
            <a:r>
              <a:rPr lang="en-US" sz="1400" b="1">
                <a:latin typeface="微软雅黑" panose="020B0503020204020204" pitchFamily="34" charset="-122"/>
                <a:ea typeface="微软雅黑" panose="020B0503020204020204" pitchFamily="34" charset="-122"/>
                <a:cs typeface="微软雅黑" panose="020B0503020204020204" pitchFamily="34" charset="-122"/>
              </a:rPr>
              <a:t>ARIMA</a:t>
            </a:r>
            <a:r>
              <a:rPr lang="zh-CN" sz="1400" b="1">
                <a:latin typeface="微软雅黑" panose="020B0503020204020204" pitchFamily="34" charset="-122"/>
                <a:ea typeface="微软雅黑" panose="020B0503020204020204" pitchFamily="34" charset="-122"/>
                <a:cs typeface="微软雅黑" panose="020B0503020204020204" pitchFamily="34" charset="-122"/>
              </a:rPr>
              <a:t>、</a:t>
            </a:r>
            <a:r>
              <a:rPr lang="en-US" sz="1400" b="1">
                <a:latin typeface="微软雅黑" panose="020B0503020204020204" pitchFamily="34" charset="-122"/>
                <a:ea typeface="微软雅黑" panose="020B0503020204020204" pitchFamily="34" charset="-122"/>
                <a:cs typeface="微软雅黑" panose="020B0503020204020204" pitchFamily="34" charset="-122"/>
              </a:rPr>
              <a:t>LSTM</a:t>
            </a:r>
            <a:r>
              <a:rPr lang="zh-CN" sz="1400" b="1">
                <a:latin typeface="微软雅黑" panose="020B0503020204020204" pitchFamily="34" charset="-122"/>
                <a:ea typeface="微软雅黑" panose="020B0503020204020204" pitchFamily="34" charset="-122"/>
                <a:cs typeface="微软雅黑" panose="020B0503020204020204" pitchFamily="34" charset="-122"/>
              </a:rPr>
              <a:t>等预测模型，那么很难对这两个来自同一时间但不同空间的现货电价产生不同的预测结果，</a:t>
            </a:r>
            <a:r>
              <a:rPr lang="zh-CN" sz="1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为此，</a:t>
            </a:r>
            <a:r>
              <a:rPr lang="zh-CN" sz="1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我们提出现货电价在空间上的不可区分性这一概念，用于描述时序模型在现货电价预测中的局限性。</a:t>
            </a:r>
            <a:endParaRPr lang="zh-CN" altLang="en-US" sz="1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comb/>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lstStyle/>
          <a:p>
            <a:r>
              <a:rPr lang="zh-CN" altLang="en-US" dirty="0"/>
              <a:t>课题主要研究、</a:t>
            </a:r>
            <a:r>
              <a:rPr lang="zh-CN" altLang="en-US" dirty="0"/>
              <a:t>工作内容</a:t>
            </a:r>
            <a:endParaRPr lang="zh-CN" altLang="en-US" dirty="0"/>
          </a:p>
        </p:txBody>
      </p:sp>
      <p:sp>
        <p:nvSpPr>
          <p:cNvPr id="3" name="灯片编号占位符 2"/>
          <p:cNvSpPr>
            <a:spLocks noGrp="1"/>
          </p:cNvSpPr>
          <p:nvPr>
            <p:ph type="sldNum" sz="quarter" idx="12"/>
          </p:nvPr>
        </p:nvSpPr>
        <p:spPr/>
        <p:txBody>
          <a:bodyPr/>
          <a:lstStyle/>
          <a:p>
            <a:r>
              <a:rPr lang="en-US" altLang="zh-CN" dirty="0"/>
              <a:t>35</a:t>
            </a:r>
            <a:endParaRPr lang="en-US" altLang="zh-CN" dirty="0"/>
          </a:p>
        </p:txBody>
      </p:sp>
      <p:sp>
        <p:nvSpPr>
          <p:cNvPr id="6" name="矩形: 圆角 5"/>
          <p:cNvSpPr/>
          <p:nvPr/>
        </p:nvSpPr>
        <p:spPr>
          <a:xfrm>
            <a:off x="626745" y="912495"/>
            <a:ext cx="1156525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sz="2400" dirty="0">
                <a:solidFill>
                  <a:schemeClr val="accent1"/>
                </a:solidFill>
                <a:latin typeface="微软雅黑" panose="020B0503020204020204" pitchFamily="34" charset="-122"/>
                <a:ea typeface="微软雅黑" panose="020B0503020204020204" pitchFamily="34" charset="-122"/>
                <a:sym typeface="+mn-ea"/>
              </a:rPr>
              <a:t>课题主要研究、工作内容</a:t>
            </a:r>
            <a:r>
              <a:rPr lang="zh-CN" altLang="en-US" sz="2400" dirty="0">
                <a:solidFill>
                  <a:schemeClr val="accent1"/>
                </a:solidFill>
                <a:latin typeface="微软雅黑" panose="020B0503020204020204" pitchFamily="34" charset="-122"/>
                <a:ea typeface="微软雅黑" panose="020B0503020204020204" pitchFamily="34" charset="-122"/>
              </a:rPr>
              <a:t>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a:t>
            </a:r>
            <a:r>
              <a:rPr lang="en-US" altLang="zh-CN" sz="2400" spc="100" dirty="0">
                <a:blipFill>
                  <a:blip r:embed="rId1"/>
                  <a:stretch>
                    <a:fillRect/>
                  </a:stretch>
                </a:blipFill>
                <a:latin typeface="Times New Roman" panose="02020603050405020304" charset="0"/>
                <a:ea typeface="微软雅黑" panose="020B0503020204020204" pitchFamily="34" charset="-122"/>
                <a:cs typeface="Times New Roman" panose="02020603050405020304" charset="0"/>
                <a:sym typeface="Wingdings 3" panose="05040102010807070707" pitchFamily="18" charset="2"/>
              </a:rPr>
              <a:t>4.基于时空数据挖掘的现货电价预测</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pic>
        <p:nvPicPr>
          <p:cNvPr id="4" name="图片 3" descr="微信截图_20220602172800"/>
          <p:cNvPicPr>
            <a:picLocks noChangeAspect="1"/>
          </p:cNvPicPr>
          <p:nvPr/>
        </p:nvPicPr>
        <p:blipFill>
          <a:blip r:embed="rId2"/>
          <a:srcRect l="20813" r="22485"/>
          <a:stretch>
            <a:fillRect/>
          </a:stretch>
        </p:blipFill>
        <p:spPr>
          <a:xfrm>
            <a:off x="539115" y="1894840"/>
            <a:ext cx="3522980" cy="3119755"/>
          </a:xfrm>
          <a:prstGeom prst="rect">
            <a:avLst/>
          </a:prstGeom>
        </p:spPr>
      </p:pic>
      <p:sp>
        <p:nvSpPr>
          <p:cNvPr id="5" name="文本框 4"/>
          <p:cNvSpPr txBox="1"/>
          <p:nvPr/>
        </p:nvSpPr>
        <p:spPr>
          <a:xfrm>
            <a:off x="464820" y="1456055"/>
            <a:ext cx="1452880" cy="398780"/>
          </a:xfrm>
          <a:prstGeom prst="rect">
            <a:avLst/>
          </a:prstGeom>
          <a:noFill/>
        </p:spPr>
        <p:txBody>
          <a:bodyPr wrap="none" rtlCol="0">
            <a:spAutoFit/>
          </a:bodyPr>
          <a:p>
            <a:r>
              <a:rPr lang="zh-CN" altLang="en-US" sz="2000" b="1">
                <a:latin typeface="微软雅黑" panose="020B0503020204020204" pitchFamily="34" charset="-122"/>
                <a:ea typeface="微软雅黑" panose="020B0503020204020204" pitchFamily="34" charset="-122"/>
              </a:rPr>
              <a:t>前期工作：</a:t>
            </a:r>
            <a:endParaRPr lang="zh-CN" altLang="en-US" sz="2000" b="1">
              <a:latin typeface="微软雅黑" panose="020B0503020204020204" pitchFamily="34" charset="-122"/>
              <a:ea typeface="微软雅黑" panose="020B0503020204020204" pitchFamily="34" charset="-122"/>
            </a:endParaRPr>
          </a:p>
        </p:txBody>
      </p:sp>
      <p:sp>
        <p:nvSpPr>
          <p:cNvPr id="7" name="文本框 6"/>
          <p:cNvSpPr txBox="1"/>
          <p:nvPr/>
        </p:nvSpPr>
        <p:spPr>
          <a:xfrm>
            <a:off x="481965" y="4999990"/>
            <a:ext cx="3637280" cy="337185"/>
          </a:xfrm>
          <a:prstGeom prst="rect">
            <a:avLst/>
          </a:prstGeom>
          <a:noFill/>
        </p:spPr>
        <p:txBody>
          <a:bodyPr wrap="none" rtlCol="0">
            <a:spAutoFit/>
          </a:bodyPr>
          <a:p>
            <a:r>
              <a:rPr lang="zh-CN" altLang="en-US" sz="1600" b="1">
                <a:latin typeface="微软雅黑" panose="020B0503020204020204" pitchFamily="34" charset="-122"/>
                <a:ea typeface="微软雅黑" panose="020B0503020204020204" pitchFamily="34" charset="-122"/>
              </a:rPr>
              <a:t>澳大利亚电力市场中电网潮流阻塞情况</a:t>
            </a:r>
            <a:endParaRPr lang="zh-CN" altLang="en-US" sz="1600" b="1">
              <a:latin typeface="微软雅黑" panose="020B0503020204020204" pitchFamily="34" charset="-122"/>
              <a:ea typeface="微软雅黑" panose="020B0503020204020204" pitchFamily="34" charset="-122"/>
            </a:endParaRPr>
          </a:p>
        </p:txBody>
      </p:sp>
      <p:sp>
        <p:nvSpPr>
          <p:cNvPr id="18" name="文本框 17"/>
          <p:cNvSpPr txBox="1"/>
          <p:nvPr/>
        </p:nvSpPr>
        <p:spPr>
          <a:xfrm>
            <a:off x="3996690" y="3423285"/>
            <a:ext cx="2257425" cy="275590"/>
          </a:xfrm>
          <a:prstGeom prst="rect">
            <a:avLst/>
          </a:prstGeom>
          <a:noFill/>
          <a:ln w="9525">
            <a:noFill/>
          </a:ln>
        </p:spPr>
        <p:txBody>
          <a:bodyPr wrap="square">
            <a:spAutoFit/>
          </a:bodyPr>
          <a:p>
            <a:pPr indent="0"/>
            <a:r>
              <a:rPr lang="zh-CN" sz="1200" b="1">
                <a:latin typeface="Times New Roman" panose="02020603050405020304" charset="0"/>
                <a:ea typeface="微软雅黑" panose="020B0503020204020204" pitchFamily="34" charset="-122"/>
                <a:cs typeface="Times New Roman" panose="02020603050405020304" charset="0"/>
              </a:rPr>
              <a:t>预测模型的平均绝对误差</a:t>
            </a:r>
            <a:r>
              <a:rPr lang="en-US" altLang="zh-CN" sz="1200" b="1">
                <a:latin typeface="Times New Roman" panose="02020603050405020304" charset="0"/>
                <a:ea typeface="微软雅黑" panose="020B0503020204020204" pitchFamily="34" charset="-122"/>
                <a:cs typeface="Times New Roman" panose="02020603050405020304" charset="0"/>
              </a:rPr>
              <a:t>MAE</a:t>
            </a:r>
            <a:endParaRPr lang="en-US" altLang="zh-CN" sz="1200" b="1">
              <a:latin typeface="Times New Roman" panose="02020603050405020304" charset="0"/>
              <a:ea typeface="微软雅黑" panose="020B0503020204020204" pitchFamily="34" charset="-122"/>
              <a:cs typeface="Times New Roman" panose="02020603050405020304" charset="0"/>
            </a:endParaRPr>
          </a:p>
        </p:txBody>
      </p:sp>
      <p:sp>
        <p:nvSpPr>
          <p:cNvPr id="10" name="文本框 9"/>
          <p:cNvSpPr txBox="1"/>
          <p:nvPr/>
        </p:nvSpPr>
        <p:spPr>
          <a:xfrm>
            <a:off x="6127750" y="3417570"/>
            <a:ext cx="2219960" cy="275590"/>
          </a:xfrm>
          <a:prstGeom prst="rect">
            <a:avLst/>
          </a:prstGeom>
          <a:noFill/>
          <a:ln w="9525">
            <a:noFill/>
          </a:ln>
        </p:spPr>
        <p:txBody>
          <a:bodyPr wrap="square">
            <a:spAutoFit/>
          </a:bodyPr>
          <a:p>
            <a:pPr indent="0"/>
            <a:r>
              <a:rPr lang="zh-CN" sz="1200" b="1">
                <a:latin typeface="Times New Roman" panose="02020603050405020304" charset="0"/>
                <a:ea typeface="微软雅黑" panose="020B0503020204020204" pitchFamily="34" charset="-122"/>
                <a:cs typeface="Times New Roman" panose="02020603050405020304" charset="0"/>
              </a:rPr>
              <a:t>预测模型的均方根误差</a:t>
            </a:r>
            <a:r>
              <a:rPr lang="en-US" altLang="zh-CN" sz="1200" b="1">
                <a:latin typeface="Times New Roman" panose="02020603050405020304" charset="0"/>
                <a:ea typeface="微软雅黑" panose="020B0503020204020204" pitchFamily="34" charset="-122"/>
                <a:cs typeface="Times New Roman" panose="02020603050405020304" charset="0"/>
              </a:rPr>
              <a:t>RMSE</a:t>
            </a:r>
            <a:endParaRPr lang="en-US" altLang="zh-CN" sz="1200" b="1">
              <a:latin typeface="Times New Roman" panose="02020603050405020304" charset="0"/>
              <a:ea typeface="微软雅黑" panose="020B0503020204020204" pitchFamily="34" charset="-122"/>
              <a:cs typeface="Times New Roman" panose="02020603050405020304" charset="0"/>
            </a:endParaRPr>
          </a:p>
        </p:txBody>
      </p:sp>
      <p:pic>
        <p:nvPicPr>
          <p:cNvPr id="13" name="图片 12"/>
          <p:cNvPicPr>
            <a:picLocks noChangeAspect="1"/>
          </p:cNvPicPr>
          <p:nvPr/>
        </p:nvPicPr>
        <p:blipFill>
          <a:blip r:embed="rId3"/>
          <a:srcRect l="1081" t="7206" r="6757"/>
          <a:stretch>
            <a:fillRect/>
          </a:stretch>
        </p:blipFill>
        <p:spPr>
          <a:xfrm>
            <a:off x="8070215" y="1605915"/>
            <a:ext cx="2198370" cy="1661795"/>
          </a:xfrm>
          <a:prstGeom prst="rect">
            <a:avLst/>
          </a:prstGeom>
        </p:spPr>
      </p:pic>
      <p:sp>
        <p:nvSpPr>
          <p:cNvPr id="101" name="文本框 100"/>
          <p:cNvSpPr txBox="1"/>
          <p:nvPr/>
        </p:nvSpPr>
        <p:spPr>
          <a:xfrm>
            <a:off x="8537575" y="3417570"/>
            <a:ext cx="1263650" cy="275590"/>
          </a:xfrm>
          <a:prstGeom prst="rect">
            <a:avLst/>
          </a:prstGeom>
          <a:noFill/>
          <a:ln w="9525">
            <a:noFill/>
          </a:ln>
        </p:spPr>
        <p:txBody>
          <a:bodyPr wrap="square">
            <a:spAutoFit/>
          </a:bodyPr>
          <a:p>
            <a:pPr indent="0"/>
            <a:r>
              <a:rPr lang="zh-CN" sz="1200" b="1">
                <a:latin typeface="Times New Roman" panose="02020603050405020304" charset="0"/>
                <a:ea typeface="微软雅黑" panose="020B0503020204020204" pitchFamily="34" charset="-122"/>
                <a:cs typeface="Times New Roman" panose="02020603050405020304" charset="0"/>
              </a:rPr>
              <a:t>自适应邻接矩阵</a:t>
            </a:r>
            <a:endParaRPr lang="zh-CN" altLang="en-US" sz="1200" b="1">
              <a:latin typeface="Times New Roman" panose="02020603050405020304" charset="0"/>
              <a:ea typeface="微软雅黑" panose="020B0503020204020204" pitchFamily="34" charset="-122"/>
              <a:cs typeface="Times New Roman" panose="02020603050405020304" charset="0"/>
            </a:endParaRPr>
          </a:p>
        </p:txBody>
      </p:sp>
      <p:sp>
        <p:nvSpPr>
          <p:cNvPr id="15" name="文本框 14"/>
          <p:cNvSpPr txBox="1"/>
          <p:nvPr/>
        </p:nvSpPr>
        <p:spPr>
          <a:xfrm>
            <a:off x="5702935" y="6309360"/>
            <a:ext cx="1412875" cy="275590"/>
          </a:xfrm>
          <a:prstGeom prst="rect">
            <a:avLst/>
          </a:prstGeom>
          <a:noFill/>
          <a:ln w="9525">
            <a:noFill/>
          </a:ln>
        </p:spPr>
        <p:txBody>
          <a:bodyPr wrap="square">
            <a:spAutoFit/>
          </a:bodyPr>
          <a:p>
            <a:pPr indent="0"/>
            <a:r>
              <a:rPr lang="zh-CN" sz="1200" b="1">
                <a:latin typeface="Times New Roman" panose="02020603050405020304" charset="0"/>
                <a:ea typeface="微软雅黑" panose="020B0503020204020204" pitchFamily="34" charset="-122"/>
                <a:cs typeface="Times New Roman" panose="02020603050405020304" charset="0"/>
              </a:rPr>
              <a:t>现货电价时空预测</a:t>
            </a:r>
            <a:endParaRPr lang="zh-CN" altLang="en-US" b="1"/>
          </a:p>
        </p:txBody>
      </p:sp>
      <p:sp>
        <p:nvSpPr>
          <p:cNvPr id="19" name="文本框 18"/>
          <p:cNvSpPr txBox="1"/>
          <p:nvPr/>
        </p:nvSpPr>
        <p:spPr>
          <a:xfrm>
            <a:off x="8868410" y="6309360"/>
            <a:ext cx="2081530" cy="275590"/>
          </a:xfrm>
          <a:prstGeom prst="rect">
            <a:avLst/>
          </a:prstGeom>
          <a:noFill/>
          <a:ln w="9525">
            <a:noFill/>
          </a:ln>
        </p:spPr>
        <p:txBody>
          <a:bodyPr wrap="square">
            <a:spAutoFit/>
          </a:bodyPr>
          <a:p>
            <a:pPr indent="0"/>
            <a:r>
              <a:rPr lang="zh-CN" sz="1200" b="1">
                <a:latin typeface="Times New Roman" panose="02020603050405020304" charset="0"/>
                <a:ea typeface="微软雅黑" panose="020B0503020204020204" pitchFamily="34" charset="-122"/>
                <a:cs typeface="Times New Roman" panose="02020603050405020304" charset="0"/>
              </a:rPr>
              <a:t>现货电价的预测值和真实值</a:t>
            </a:r>
            <a:endParaRPr lang="zh-CN" altLang="en-US" sz="1200" b="1">
              <a:latin typeface="Times New Roman" panose="02020603050405020304" charset="0"/>
              <a:ea typeface="微软雅黑" panose="020B0503020204020204" pitchFamily="34" charset="-122"/>
              <a:cs typeface="Times New Roman" panose="02020603050405020304" charset="0"/>
            </a:endParaRPr>
          </a:p>
        </p:txBody>
      </p:sp>
      <p:sp>
        <p:nvSpPr>
          <p:cNvPr id="21" name="文本框 20"/>
          <p:cNvSpPr txBox="1"/>
          <p:nvPr/>
        </p:nvSpPr>
        <p:spPr>
          <a:xfrm>
            <a:off x="245110" y="5337175"/>
            <a:ext cx="4682490" cy="1076325"/>
          </a:xfrm>
          <a:prstGeom prst="rect">
            <a:avLst/>
          </a:prstGeom>
          <a:solidFill>
            <a:schemeClr val="accent6">
              <a:lumMod val="20000"/>
              <a:lumOff val="80000"/>
            </a:schemeClr>
          </a:solidFill>
          <a:ln w="9525">
            <a:noFill/>
          </a:ln>
          <a:effectLst>
            <a:outerShdw blurRad="50800" dist="38100" dir="2700000" algn="tl" rotWithShape="0">
              <a:prstClr val="black">
                <a:alpha val="40000"/>
              </a:prstClr>
            </a:outerShdw>
          </a:effectLst>
        </p:spPr>
        <p:txBody>
          <a:bodyPr wrap="square">
            <a:spAutoFit/>
          </a:bodyPr>
          <a:p>
            <a:pPr indent="0"/>
            <a:r>
              <a:rPr lang="zh-CN" altLang="en-US" sz="1600" b="1">
                <a:latin typeface="微软雅黑" panose="020B0503020204020204" pitchFamily="34" charset="-122"/>
                <a:ea typeface="微软雅黑" panose="020B0503020204020204" pitchFamily="34" charset="-122"/>
              </a:rPr>
              <a:t>跨区电力市场交易的日渐频繁、远距离电力传输等会影响不同区域电价的波动，</a:t>
            </a:r>
            <a:r>
              <a:rPr lang="zh-CN" altLang="en-US" sz="1600" b="1">
                <a:solidFill>
                  <a:srgbClr val="FF0000"/>
                </a:solidFill>
                <a:latin typeface="微软雅黑" panose="020B0503020204020204" pitchFamily="34" charset="-122"/>
                <a:ea typeface="微软雅黑" panose="020B0503020204020204" pitchFamily="34" charset="-122"/>
              </a:rPr>
              <a:t>电力市场中不同区域之间的电网潮流流动存在着潜在的空间依赖关系，以往基于时间序列的预测算法难以对其描述。</a:t>
            </a:r>
            <a:endParaRPr lang="zh-CN" altLang="en-US" sz="1600" b="1">
              <a:solidFill>
                <a:srgbClr val="FF000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0646410" y="4945380"/>
            <a:ext cx="1450340" cy="1168400"/>
          </a:xfrm>
          <a:prstGeom prst="rect">
            <a:avLst/>
          </a:prstGeom>
          <a:solidFill>
            <a:schemeClr val="accent2">
              <a:lumMod val="20000"/>
              <a:lumOff val="80000"/>
            </a:schemeClr>
          </a:solidFill>
        </p:spPr>
        <p:txBody>
          <a:bodyPr wrap="square" rtlCol="0">
            <a:spAutoFit/>
          </a:bodyPr>
          <a:p>
            <a:r>
              <a:rPr lang="zh-CN" altLang="zh-CN" sz="1400" b="1">
                <a:latin typeface="微软雅黑" panose="020B0503020204020204" pitchFamily="34" charset="-122"/>
                <a:ea typeface="微软雅黑" panose="020B0503020204020204" pitchFamily="34" charset="-122"/>
              </a:rPr>
              <a:t>该课题对电网安全运行、电力市场最优交易策略指导等方面具有重要意义。</a:t>
            </a:r>
            <a:endParaRPr lang="zh-CN" altLang="zh-CN" sz="1400" b="1">
              <a:latin typeface="微软雅黑" panose="020B0503020204020204" pitchFamily="34" charset="-122"/>
              <a:ea typeface="微软雅黑" panose="020B0503020204020204" pitchFamily="34" charset="-122"/>
            </a:endParaRPr>
          </a:p>
        </p:txBody>
      </p:sp>
      <p:pic>
        <p:nvPicPr>
          <p:cNvPr id="8" name="图片 -2147482396" descr="11"/>
          <p:cNvPicPr>
            <a:picLocks noChangeAspect="1"/>
          </p:cNvPicPr>
          <p:nvPr/>
        </p:nvPicPr>
        <p:blipFill>
          <a:blip r:embed="rId4"/>
          <a:stretch>
            <a:fillRect/>
          </a:stretch>
        </p:blipFill>
        <p:spPr>
          <a:xfrm>
            <a:off x="3839210" y="1448435"/>
            <a:ext cx="2571750" cy="1969135"/>
          </a:xfrm>
          <a:prstGeom prst="rect">
            <a:avLst/>
          </a:prstGeom>
          <a:noFill/>
          <a:ln w="9525">
            <a:noFill/>
          </a:ln>
        </p:spPr>
      </p:pic>
      <p:pic>
        <p:nvPicPr>
          <p:cNvPr id="9" name="图片 -2147482387" descr="6"/>
          <p:cNvPicPr>
            <a:picLocks noChangeAspect="1"/>
          </p:cNvPicPr>
          <p:nvPr/>
        </p:nvPicPr>
        <p:blipFill>
          <a:blip r:embed="rId5"/>
          <a:stretch>
            <a:fillRect/>
          </a:stretch>
        </p:blipFill>
        <p:spPr>
          <a:xfrm>
            <a:off x="5866765" y="1448435"/>
            <a:ext cx="2570480" cy="1968500"/>
          </a:xfrm>
          <a:prstGeom prst="rect">
            <a:avLst/>
          </a:prstGeom>
          <a:noFill/>
          <a:ln w="9525">
            <a:noFill/>
          </a:ln>
        </p:spPr>
      </p:pic>
      <p:pic>
        <p:nvPicPr>
          <p:cNvPr id="11" name="图片 -2147482408" descr="3"/>
          <p:cNvPicPr>
            <a:picLocks noChangeAspect="1"/>
          </p:cNvPicPr>
          <p:nvPr/>
        </p:nvPicPr>
        <p:blipFill>
          <a:blip r:embed="rId6"/>
          <a:stretch>
            <a:fillRect/>
          </a:stretch>
        </p:blipFill>
        <p:spPr>
          <a:xfrm>
            <a:off x="4838065" y="3808730"/>
            <a:ext cx="3046095" cy="2331720"/>
          </a:xfrm>
          <a:prstGeom prst="rect">
            <a:avLst/>
          </a:prstGeom>
          <a:noFill/>
          <a:ln w="9525">
            <a:noFill/>
          </a:ln>
        </p:spPr>
      </p:pic>
      <p:pic>
        <p:nvPicPr>
          <p:cNvPr id="14" name="图片 13" descr="NSW"/>
          <p:cNvPicPr>
            <a:picLocks noChangeAspect="1"/>
          </p:cNvPicPr>
          <p:nvPr/>
        </p:nvPicPr>
        <p:blipFill>
          <a:blip r:embed="rId7"/>
          <a:stretch>
            <a:fillRect/>
          </a:stretch>
        </p:blipFill>
        <p:spPr>
          <a:xfrm>
            <a:off x="7775575" y="3736340"/>
            <a:ext cx="1574800" cy="1206500"/>
          </a:xfrm>
          <a:prstGeom prst="rect">
            <a:avLst/>
          </a:prstGeom>
          <a:noFill/>
          <a:ln w="9525">
            <a:noFill/>
          </a:ln>
        </p:spPr>
      </p:pic>
      <p:pic>
        <p:nvPicPr>
          <p:cNvPr id="16" name="图片 -2147482404" descr="QLD"/>
          <p:cNvPicPr>
            <a:picLocks noChangeAspect="1"/>
          </p:cNvPicPr>
          <p:nvPr/>
        </p:nvPicPr>
        <p:blipFill>
          <a:blip r:embed="rId8"/>
          <a:stretch>
            <a:fillRect/>
          </a:stretch>
        </p:blipFill>
        <p:spPr>
          <a:xfrm>
            <a:off x="9113520" y="3732530"/>
            <a:ext cx="1580515" cy="1210310"/>
          </a:xfrm>
          <a:prstGeom prst="rect">
            <a:avLst/>
          </a:prstGeom>
          <a:noFill/>
          <a:ln w="9525">
            <a:noFill/>
          </a:ln>
        </p:spPr>
      </p:pic>
      <p:pic>
        <p:nvPicPr>
          <p:cNvPr id="17" name="图片 -2147482403" descr="SA"/>
          <p:cNvPicPr>
            <a:picLocks noChangeAspect="1"/>
          </p:cNvPicPr>
          <p:nvPr/>
        </p:nvPicPr>
        <p:blipFill>
          <a:blip r:embed="rId9"/>
          <a:stretch>
            <a:fillRect/>
          </a:stretch>
        </p:blipFill>
        <p:spPr>
          <a:xfrm>
            <a:off x="10460355" y="3736340"/>
            <a:ext cx="1579245" cy="1209040"/>
          </a:xfrm>
          <a:prstGeom prst="rect">
            <a:avLst/>
          </a:prstGeom>
          <a:noFill/>
          <a:ln w="9525">
            <a:noFill/>
          </a:ln>
        </p:spPr>
      </p:pic>
      <p:pic>
        <p:nvPicPr>
          <p:cNvPr id="20" name="图片 -2147482402" descr="TAS"/>
          <p:cNvPicPr>
            <a:picLocks noChangeAspect="1"/>
          </p:cNvPicPr>
          <p:nvPr/>
        </p:nvPicPr>
        <p:blipFill>
          <a:blip r:embed="rId10"/>
          <a:stretch>
            <a:fillRect/>
          </a:stretch>
        </p:blipFill>
        <p:spPr>
          <a:xfrm>
            <a:off x="7778750" y="4840605"/>
            <a:ext cx="1571625" cy="1203960"/>
          </a:xfrm>
          <a:prstGeom prst="rect">
            <a:avLst/>
          </a:prstGeom>
          <a:noFill/>
          <a:ln w="9525">
            <a:noFill/>
          </a:ln>
        </p:spPr>
      </p:pic>
      <p:pic>
        <p:nvPicPr>
          <p:cNvPr id="22" name="图片 -2147482401" descr="VIC"/>
          <p:cNvPicPr>
            <a:picLocks noChangeAspect="1"/>
          </p:cNvPicPr>
          <p:nvPr/>
        </p:nvPicPr>
        <p:blipFill>
          <a:blip r:embed="rId11"/>
          <a:stretch>
            <a:fillRect/>
          </a:stretch>
        </p:blipFill>
        <p:spPr>
          <a:xfrm>
            <a:off x="9123680" y="4840605"/>
            <a:ext cx="1570355" cy="1203325"/>
          </a:xfrm>
          <a:prstGeom prst="rect">
            <a:avLst/>
          </a:prstGeom>
          <a:noFill/>
          <a:ln w="9525">
            <a:noFill/>
          </a:ln>
        </p:spPr>
      </p:pic>
      <p:pic>
        <p:nvPicPr>
          <p:cNvPr id="23" name="图片 -2147482410" descr="9"/>
          <p:cNvPicPr>
            <a:picLocks noChangeAspect="1"/>
          </p:cNvPicPr>
          <p:nvPr/>
        </p:nvPicPr>
        <p:blipFill>
          <a:blip r:embed="rId12"/>
          <a:stretch>
            <a:fillRect/>
          </a:stretch>
        </p:blipFill>
        <p:spPr>
          <a:xfrm>
            <a:off x="9968865" y="1465580"/>
            <a:ext cx="2360930" cy="1871345"/>
          </a:xfrm>
          <a:prstGeom prst="rect">
            <a:avLst/>
          </a:prstGeom>
          <a:noFill/>
          <a:ln w="9525">
            <a:noFill/>
          </a:ln>
        </p:spPr>
      </p:pic>
      <p:sp>
        <p:nvSpPr>
          <p:cNvPr id="24" name="文本框 23"/>
          <p:cNvSpPr txBox="1"/>
          <p:nvPr/>
        </p:nvSpPr>
        <p:spPr>
          <a:xfrm>
            <a:off x="10646410" y="3414395"/>
            <a:ext cx="801370" cy="275590"/>
          </a:xfrm>
          <a:prstGeom prst="rect">
            <a:avLst/>
          </a:prstGeom>
          <a:noFill/>
          <a:ln w="9525">
            <a:noFill/>
          </a:ln>
        </p:spPr>
        <p:txBody>
          <a:bodyPr wrap="square">
            <a:spAutoFit/>
          </a:bodyPr>
          <a:p>
            <a:pPr indent="0"/>
            <a:r>
              <a:rPr lang="zh-CN" sz="1200" b="1">
                <a:latin typeface="Times New Roman" panose="02020603050405020304" charset="0"/>
                <a:ea typeface="微软雅黑" panose="020B0503020204020204" pitchFamily="34" charset="-122"/>
                <a:cs typeface="Times New Roman" panose="02020603050405020304" charset="0"/>
              </a:rPr>
              <a:t>邻接矩阵</a:t>
            </a:r>
            <a:endParaRPr lang="zh-CN" altLang="en-US" b="1"/>
          </a:p>
        </p:txBody>
      </p:sp>
    </p:spTree>
  </p:cSld>
  <p:clrMapOvr>
    <a:masterClrMapping/>
  </p:clrMapOvr>
  <p:transition>
    <p:comb/>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p:cNvSpPr/>
          <p:nvPr/>
        </p:nvSpPr>
        <p:spPr>
          <a:xfrm>
            <a:off x="1909822" y="2246935"/>
            <a:ext cx="2592730" cy="2592730"/>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文本框 16"/>
          <p:cNvSpPr txBox="1"/>
          <p:nvPr/>
        </p:nvSpPr>
        <p:spPr>
          <a:xfrm>
            <a:off x="2543185" y="2730867"/>
            <a:ext cx="1313180" cy="1322070"/>
          </a:xfrm>
          <a:prstGeom prst="rect">
            <a:avLst/>
          </a:prstGeom>
          <a:noFill/>
        </p:spPr>
        <p:txBody>
          <a:bodyPr wrap="none" rtlCol="0">
            <a:spAutoFit/>
          </a:bodyPr>
          <a:lstStyle/>
          <a:p>
            <a:r>
              <a:rPr lang="en-US" altLang="zh-CN" sz="8000" b="1" dirty="0">
                <a:solidFill>
                  <a:srgbClr val="0081E2"/>
                </a:solidFill>
                <a:latin typeface="Arial" panose="020B0604020202020204" pitchFamily="34" charset="0"/>
                <a:ea typeface="微软雅黑" panose="020B0503020204020204" pitchFamily="34" charset="-122"/>
                <a:sym typeface="Arial" panose="020B0604020202020204" pitchFamily="34" charset="0"/>
              </a:rPr>
              <a:t>04</a:t>
            </a:r>
            <a:endParaRPr lang="zh-CN" altLang="en-US" sz="8000" b="1" dirty="0">
              <a:solidFill>
                <a:srgbClr val="0081E2"/>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文本框 17"/>
          <p:cNvSpPr txBox="1"/>
          <p:nvPr/>
        </p:nvSpPr>
        <p:spPr>
          <a:xfrm>
            <a:off x="2322163" y="3896993"/>
            <a:ext cx="1938020" cy="460375"/>
          </a:xfrm>
          <a:prstGeom prst="rect">
            <a:avLst/>
          </a:prstGeom>
          <a:noFill/>
        </p:spPr>
        <p:txBody>
          <a:bodyPr wrap="none" rtlCol="0">
            <a:spAutoFit/>
          </a:bodyPr>
          <a:lstStyle/>
          <a:p>
            <a:r>
              <a:rPr lang="en-US" altLang="zh-CN" sz="2400" b="1" dirty="0">
                <a:solidFill>
                  <a:srgbClr val="0081E2"/>
                </a:solidFill>
                <a:latin typeface="Arial" panose="020B0604020202020204" pitchFamily="34" charset="0"/>
                <a:ea typeface="微软雅黑" panose="020B0503020204020204" pitchFamily="34" charset="-122"/>
                <a:sym typeface="Arial" panose="020B0604020202020204" pitchFamily="34" charset="0"/>
              </a:rPr>
              <a:t>PART FOUR</a:t>
            </a:r>
            <a:endParaRPr lang="en-US" altLang="zh-CN" sz="2400" b="1" dirty="0">
              <a:solidFill>
                <a:srgbClr val="0081E2"/>
              </a:solidFill>
              <a:latin typeface="Arial" panose="020B0604020202020204" pitchFamily="34" charset="0"/>
              <a:ea typeface="微软雅黑" panose="020B0503020204020204" pitchFamily="34" charset="-122"/>
              <a:sym typeface="Arial" panose="020B0604020202020204" pitchFamily="34" charset="0"/>
            </a:endParaRPr>
          </a:p>
        </p:txBody>
      </p:sp>
      <p:sp>
        <p:nvSpPr>
          <p:cNvPr id="21" name="文本框 20"/>
          <p:cNvSpPr txBox="1"/>
          <p:nvPr/>
        </p:nvSpPr>
        <p:spPr>
          <a:xfrm>
            <a:off x="7856710" y="6285733"/>
            <a:ext cx="3907801" cy="307777"/>
          </a:xfrm>
          <a:prstGeom prst="rect">
            <a:avLst/>
          </a:prstGeom>
          <a:noFill/>
        </p:spPr>
        <p:txBody>
          <a:bodyPr wrap="none" rtlCol="0">
            <a:spAutoFit/>
          </a:bodyPr>
          <a:lstStyle/>
          <a:p>
            <a:r>
              <a:rPr lang="en-US" altLang="zh-CN" sz="1400" dirty="0">
                <a:solidFill>
                  <a:schemeClr val="bg1"/>
                </a:solidFill>
                <a:latin typeface="Arial" panose="020B0604020202020204" pitchFamily="34" charset="0"/>
                <a:ea typeface="微软雅黑" panose="020B0503020204020204" pitchFamily="34" charset="-122"/>
                <a:sym typeface="Arial" panose="020B0604020202020204" pitchFamily="34" charset="0"/>
              </a:rPr>
              <a:t>SHENYANG UNIVERSITY OF TECHNOLOGY</a:t>
            </a:r>
            <a:endParaRPr lang="zh-CN" altLang="en-US" sz="1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文本框 21"/>
          <p:cNvSpPr txBox="1"/>
          <p:nvPr/>
        </p:nvSpPr>
        <p:spPr>
          <a:xfrm>
            <a:off x="7851080" y="5617759"/>
            <a:ext cx="3888000" cy="738664"/>
          </a:xfrm>
          <a:prstGeom prst="rect">
            <a:avLst/>
          </a:prstGeom>
          <a:noFill/>
        </p:spPr>
        <p:txBody>
          <a:bodyPr wrap="square" rtlCol="0">
            <a:noAutofit/>
          </a:bodyPr>
          <a:lstStyle/>
          <a:p>
            <a:pPr algn="dist"/>
            <a:r>
              <a:rPr lang="zh-CN" altLang="en-US" sz="4200" dirty="0">
                <a:solidFill>
                  <a:schemeClr val="bg1"/>
                </a:solidFill>
                <a:latin typeface="Arial" panose="020B0604020202020204" pitchFamily="34" charset="0"/>
                <a:ea typeface="微软雅黑" panose="020B0503020204020204" pitchFamily="34" charset="-122"/>
                <a:sym typeface="Arial" panose="020B0604020202020204" pitchFamily="34" charset="0"/>
              </a:rPr>
              <a:t>沈阳工业大学</a:t>
            </a:r>
            <a:endParaRPr lang="zh-CN" altLang="en-US" sz="42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pic>
        <p:nvPicPr>
          <p:cNvPr id="24" name="图片 23"/>
          <p:cNvPicPr>
            <a:picLocks noChangeAspect="1"/>
          </p:cNvPicPr>
          <p:nvPr/>
        </p:nvPicPr>
        <p:blipFill>
          <a:blip r:embed="rId1" cstate="hqprint">
            <a:extLst>
              <a:ext uri="{28A0092B-C50C-407E-A947-70E740481C1C}">
                <a14:useLocalDpi xmlns:a14="http://schemas.microsoft.com/office/drawing/2010/main" val="0"/>
              </a:ext>
            </a:extLst>
          </a:blip>
          <a:stretch>
            <a:fillRect/>
          </a:stretch>
        </p:blipFill>
        <p:spPr>
          <a:xfrm>
            <a:off x="6763102" y="5628851"/>
            <a:ext cx="995436" cy="995436"/>
          </a:xfrm>
          <a:prstGeom prst="ellipse">
            <a:avLst/>
          </a:prstGeom>
        </p:spPr>
      </p:pic>
      <p:sp>
        <p:nvSpPr>
          <p:cNvPr id="13" name="文本框 12"/>
          <p:cNvSpPr txBox="1"/>
          <p:nvPr/>
        </p:nvSpPr>
        <p:spPr>
          <a:xfrm>
            <a:off x="5414006" y="2731268"/>
            <a:ext cx="5516880" cy="1753235"/>
          </a:xfrm>
          <a:prstGeom prst="rect">
            <a:avLst/>
          </a:prstGeom>
          <a:noFill/>
        </p:spPr>
        <p:txBody>
          <a:bodyPr wrap="none" rtlCol="0">
            <a:spAutoFit/>
          </a:bodyPr>
          <a:lstStyle/>
          <a:p>
            <a:pPr algn="l"/>
            <a:r>
              <a:rPr lang="zh-CN" altLang="en-US" sz="5400" b="1" spc="600" dirty="0">
                <a:latin typeface="Arial" panose="020B0604020202020204" pitchFamily="34" charset="0"/>
                <a:ea typeface="微软雅黑" panose="020B0503020204020204" pitchFamily="34" charset="-122"/>
                <a:sym typeface="Arial" panose="020B0604020202020204" pitchFamily="34" charset="0"/>
              </a:rPr>
              <a:t>预期目标、工作</a:t>
            </a:r>
            <a:endParaRPr lang="zh-CN" altLang="en-US" sz="5400" b="1" spc="600" dirty="0">
              <a:latin typeface="Arial" panose="020B0604020202020204" pitchFamily="34" charset="0"/>
              <a:ea typeface="微软雅黑" panose="020B0503020204020204" pitchFamily="34" charset="-122"/>
              <a:sym typeface="Arial" panose="020B0604020202020204" pitchFamily="34" charset="0"/>
            </a:endParaRPr>
          </a:p>
          <a:p>
            <a:pPr algn="l"/>
            <a:r>
              <a:rPr lang="zh-CN" altLang="en-US" sz="5400" b="1" spc="600" dirty="0">
                <a:latin typeface="Arial" panose="020B0604020202020204" pitchFamily="34" charset="0"/>
                <a:ea typeface="微软雅黑" panose="020B0503020204020204" pitchFamily="34" charset="-122"/>
                <a:sym typeface="Arial" panose="020B0604020202020204" pitchFamily="34" charset="0"/>
              </a:rPr>
              <a:t>计划、实验条件</a:t>
            </a:r>
            <a:endParaRPr lang="zh-CN" altLang="en-US" sz="5400" dirty="0">
              <a:solidFill>
                <a:srgbClr val="0081E2"/>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transition>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p:cNvPicPr>
            <a:picLocks noChangeAspect="1"/>
          </p:cNvPicPr>
          <p:nvPr>
            <p:custDataLst>
              <p:tags r:id="rId1"/>
            </p:custDataLst>
          </p:nvPr>
        </p:nvPicPr>
        <p:blipFill>
          <a:blip r:embed="rId2"/>
          <a:stretch>
            <a:fillRect/>
          </a:stretch>
        </p:blipFill>
        <p:spPr>
          <a:xfrm>
            <a:off x="9178290" y="3055620"/>
            <a:ext cx="1791970" cy="2476500"/>
          </a:xfrm>
          <a:prstGeom prst="rect">
            <a:avLst/>
          </a:prstGeom>
        </p:spPr>
      </p:pic>
      <p:pic>
        <p:nvPicPr>
          <p:cNvPr id="17" name="图片 16"/>
          <p:cNvPicPr>
            <a:picLocks noChangeAspect="1"/>
          </p:cNvPicPr>
          <p:nvPr>
            <p:custDataLst>
              <p:tags r:id="rId3"/>
            </p:custDataLst>
          </p:nvPr>
        </p:nvPicPr>
        <p:blipFill>
          <a:blip r:embed="rId4"/>
          <a:stretch>
            <a:fillRect/>
          </a:stretch>
        </p:blipFill>
        <p:spPr>
          <a:xfrm>
            <a:off x="962660" y="3048000"/>
            <a:ext cx="1852930" cy="2486660"/>
          </a:xfrm>
          <a:prstGeom prst="rect">
            <a:avLst/>
          </a:prstGeom>
        </p:spPr>
      </p:pic>
      <p:sp>
        <p:nvSpPr>
          <p:cNvPr id="29" name="圆角矩形 28"/>
          <p:cNvSpPr/>
          <p:nvPr/>
        </p:nvSpPr>
        <p:spPr>
          <a:xfrm>
            <a:off x="9026525" y="5586730"/>
            <a:ext cx="2094865" cy="971550"/>
          </a:xfrm>
          <a:prstGeom prst="roundRect">
            <a:avLst>
              <a:gd name="adj" fmla="val 935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课题四已完成，投稿</a:t>
            </a:r>
            <a:r>
              <a:rPr lang="en-US" altLang="zh-CN" sz="1600" b="1">
                <a:latin typeface="微软雅黑" panose="020B0503020204020204" pitchFamily="34" charset="-122"/>
                <a:ea typeface="微软雅黑" panose="020B0503020204020204" pitchFamily="34" charset="-122"/>
                <a:cs typeface="微软雅黑" panose="020B0503020204020204" pitchFamily="34" charset="-122"/>
                <a:sym typeface="+mn-ea"/>
              </a:rPr>
              <a:t>EI</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期刊《电网技术》投稿</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中。</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2" name="图片 31"/>
          <p:cNvPicPr>
            <a:picLocks noChangeAspect="1"/>
          </p:cNvPicPr>
          <p:nvPr/>
        </p:nvPicPr>
        <p:blipFill>
          <a:blip r:embed="rId5"/>
          <a:stretch>
            <a:fillRect/>
          </a:stretch>
        </p:blipFill>
        <p:spPr>
          <a:xfrm>
            <a:off x="6317615" y="3054985"/>
            <a:ext cx="1809750" cy="2476500"/>
          </a:xfrm>
          <a:prstGeom prst="rect">
            <a:avLst/>
          </a:prstGeom>
        </p:spPr>
      </p:pic>
      <p:pic>
        <p:nvPicPr>
          <p:cNvPr id="24" name="图片 23"/>
          <p:cNvPicPr>
            <a:picLocks noChangeAspect="1"/>
          </p:cNvPicPr>
          <p:nvPr/>
        </p:nvPicPr>
        <p:blipFill>
          <a:blip r:embed="rId4"/>
          <a:stretch>
            <a:fillRect/>
          </a:stretch>
        </p:blipFill>
        <p:spPr>
          <a:xfrm>
            <a:off x="3465830" y="3051810"/>
            <a:ext cx="1852930" cy="2486660"/>
          </a:xfrm>
          <a:prstGeom prst="rect">
            <a:avLst/>
          </a:prstGeom>
        </p:spPr>
      </p:pic>
      <p:sp>
        <p:nvSpPr>
          <p:cNvPr id="30" name="内容占位符 29"/>
          <p:cNvSpPr>
            <a:spLocks noGrp="1"/>
          </p:cNvSpPr>
          <p:nvPr>
            <p:ph sz="quarter" idx="14"/>
          </p:nvPr>
        </p:nvSpPr>
        <p:spPr/>
        <p:txBody>
          <a:bodyPr/>
          <a:lstStyle/>
          <a:p>
            <a:pPr algn="l"/>
            <a:r>
              <a:rPr lang="zh-CN" altLang="en-US" spc="600" dirty="0">
                <a:latin typeface="Arial" panose="020B0604020202020204" pitchFamily="34" charset="0"/>
                <a:sym typeface="Arial" panose="020B0604020202020204" pitchFamily="34" charset="0"/>
              </a:rPr>
              <a:t>预期目标、工作计划、实验条件</a:t>
            </a:r>
            <a:endParaRPr lang="zh-CN" altLang="en-US" dirty="0">
              <a:sym typeface="+mn-ea"/>
            </a:endParaRPr>
          </a:p>
        </p:txBody>
      </p:sp>
      <p:sp>
        <p:nvSpPr>
          <p:cNvPr id="31" name="灯片编号占位符 30"/>
          <p:cNvSpPr>
            <a:spLocks noGrp="1"/>
          </p:cNvSpPr>
          <p:nvPr>
            <p:ph type="sldNum" sz="quarter" idx="15"/>
          </p:nvPr>
        </p:nvSpPr>
        <p:spPr/>
        <p:txBody>
          <a:bodyPr/>
          <a:lstStyle/>
          <a:p>
            <a:r>
              <a:rPr lang="en-US" altLang="zh-CN" dirty="0"/>
              <a:t>37</a:t>
            </a:r>
            <a:endParaRPr lang="en-US" altLang="zh-CN" dirty="0"/>
          </a:p>
        </p:txBody>
      </p:sp>
      <p:sp>
        <p:nvSpPr>
          <p:cNvPr id="18" name="矩形: 圆角 5"/>
          <p:cNvSpPr/>
          <p:nvPr/>
        </p:nvSpPr>
        <p:spPr>
          <a:xfrm>
            <a:off x="741045" y="912495"/>
            <a:ext cx="795210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a:solidFill>
                  <a:schemeClr val="accent1"/>
                </a:solidFill>
                <a:latin typeface="微软雅黑" panose="020B0503020204020204" pitchFamily="34" charset="-122"/>
                <a:ea typeface="微软雅黑" panose="020B0503020204020204" pitchFamily="34" charset="-122"/>
              </a:rPr>
              <a:t>预期目标、工作计划、实验条件 </a:t>
            </a:r>
            <a:r>
              <a:rPr lang="zh-CN" altLang="en-US" sz="2400" spc="100" dirty="0">
                <a:blipFill>
                  <a:blip r:embed="rId6"/>
                  <a:stretch>
                    <a:fillRect/>
                  </a:stretch>
                </a:blipFill>
                <a:latin typeface="微软雅黑" panose="020B0503020204020204" pitchFamily="34" charset="-122"/>
                <a:ea typeface="微软雅黑" panose="020B0503020204020204" pitchFamily="34" charset="-122"/>
                <a:sym typeface="Wingdings 3" panose="05040102010807070707" pitchFamily="18" charset="2"/>
              </a:rPr>
              <a:t>预期目标</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 name="燕尾形 4"/>
          <p:cNvSpPr/>
          <p:nvPr/>
        </p:nvSpPr>
        <p:spPr>
          <a:xfrm>
            <a:off x="9845040" y="105092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8" name="燕尾形 7"/>
          <p:cNvSpPr/>
          <p:nvPr/>
        </p:nvSpPr>
        <p:spPr>
          <a:xfrm>
            <a:off x="10119995" y="105092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10" name="燕尾形 9"/>
          <p:cNvSpPr/>
          <p:nvPr/>
        </p:nvSpPr>
        <p:spPr>
          <a:xfrm>
            <a:off x="10375265" y="105092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2" name="燕尾形 1"/>
          <p:cNvSpPr/>
          <p:nvPr/>
        </p:nvSpPr>
        <p:spPr>
          <a:xfrm>
            <a:off x="10659110" y="105092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13" name="KSO_Shape"/>
          <p:cNvSpPr/>
          <p:nvPr/>
        </p:nvSpPr>
        <p:spPr bwMode="auto">
          <a:xfrm>
            <a:off x="10964545" y="103759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sp>
        <p:nvSpPr>
          <p:cNvPr id="4" name="矩形 3"/>
          <p:cNvSpPr/>
          <p:nvPr/>
        </p:nvSpPr>
        <p:spPr>
          <a:xfrm>
            <a:off x="554990" y="1599565"/>
            <a:ext cx="10939145" cy="1370330"/>
          </a:xfrm>
          <a:prstGeom prst="rect">
            <a:avLst/>
          </a:prstGeom>
          <a:solidFill>
            <a:schemeClr val="accent4">
              <a:lumMod val="20000"/>
              <a:lumOff val="80000"/>
            </a:schemeClr>
          </a:solidFill>
          <a:ln w="19050">
            <a:solidFill>
              <a:schemeClr val="accent4">
                <a:lumMod val="75000"/>
              </a:scheme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圆角矩形 6"/>
          <p:cNvSpPr/>
          <p:nvPr/>
        </p:nvSpPr>
        <p:spPr>
          <a:xfrm>
            <a:off x="840105" y="1713230"/>
            <a:ext cx="2055495" cy="1077595"/>
          </a:xfrm>
          <a:prstGeom prst="roundRect">
            <a:avLst>
              <a:gd name="adj" fmla="val 13477"/>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b="1" spc="150" dirty="0" smtClean="0">
                <a:solidFill>
                  <a:srgbClr val="00B050"/>
                </a:solidFill>
                <a:uFillTx/>
                <a:latin typeface="Arial" panose="020B0604020202020204" pitchFamily="34" charset="0"/>
                <a:ea typeface="微软雅黑" panose="020B0503020204020204" pitchFamily="34" charset="-122"/>
                <a:sym typeface="Arial" panose="020B0604020202020204" pitchFamily="34" charset="0"/>
              </a:rPr>
              <a:t>基于图</a:t>
            </a:r>
            <a:r>
              <a:rPr lang="zh-CN" altLang="en-US" b="1" spc="150" dirty="0" smtClean="0">
                <a:solidFill>
                  <a:srgbClr val="00B050"/>
                </a:solidFill>
                <a:uFillTx/>
                <a:latin typeface="Times New Roman" panose="02020603050405020304" charset="0"/>
                <a:ea typeface="微软雅黑" panose="020B0503020204020204" pitchFamily="34" charset="-122"/>
                <a:cs typeface="Times New Roman" panose="02020603050405020304" charset="0"/>
                <a:sym typeface="Arial" panose="020B0604020202020204" pitchFamily="34" charset="0"/>
              </a:rPr>
              <a:t>WaveNet</a:t>
            </a:r>
            <a:r>
              <a:rPr lang="zh-CN" altLang="en-US" b="1" spc="150" dirty="0" smtClean="0">
                <a:solidFill>
                  <a:srgbClr val="00B050"/>
                </a:solidFill>
                <a:uFillTx/>
                <a:latin typeface="Arial" panose="020B0604020202020204" pitchFamily="34" charset="0"/>
                <a:ea typeface="微软雅黑" panose="020B0503020204020204" pitchFamily="34" charset="-122"/>
                <a:sym typeface="Arial" panose="020B0604020202020204" pitchFamily="34" charset="0"/>
              </a:rPr>
              <a:t>的电动汽车充电负荷预测</a:t>
            </a:r>
            <a:endParaRPr lang="zh-CN" altLang="en-US" b="1" spc="150" dirty="0" smtClean="0">
              <a:solidFill>
                <a:srgbClr val="00B050"/>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6" name="圆角矩形 5"/>
          <p:cNvSpPr/>
          <p:nvPr/>
        </p:nvSpPr>
        <p:spPr>
          <a:xfrm>
            <a:off x="3335655" y="1713230"/>
            <a:ext cx="2042795" cy="1081405"/>
          </a:xfrm>
          <a:prstGeom prst="roundRect">
            <a:avLst>
              <a:gd name="adj" fmla="val 13477"/>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b="1" spc="150" dirty="0" smtClean="0">
                <a:solidFill>
                  <a:srgbClr val="00B050"/>
                </a:solidFill>
                <a:uFillTx/>
                <a:latin typeface="Arial" panose="020B0604020202020204" pitchFamily="34" charset="0"/>
                <a:ea typeface="微软雅黑" panose="020B0503020204020204" pitchFamily="34" charset="-122"/>
                <a:sym typeface="Arial" panose="020B0604020202020204" pitchFamily="34" charset="0"/>
              </a:rPr>
              <a:t>基于时空图卷积网络的空间</a:t>
            </a:r>
            <a:r>
              <a:rPr lang="zh-CN" altLang="en-US" b="1" spc="150" dirty="0" smtClean="0">
                <a:solidFill>
                  <a:srgbClr val="00B050"/>
                </a:solidFill>
                <a:uFillTx/>
                <a:latin typeface="Arial" panose="020B0604020202020204" pitchFamily="34" charset="0"/>
                <a:ea typeface="微软雅黑" panose="020B0503020204020204" pitchFamily="34" charset="-122"/>
                <a:sym typeface="Arial" panose="020B0604020202020204" pitchFamily="34" charset="0"/>
              </a:rPr>
              <a:t>短期负荷预测方法</a:t>
            </a:r>
            <a:endParaRPr lang="zh-CN" altLang="en-US" b="1" spc="150" dirty="0" smtClean="0">
              <a:solidFill>
                <a:srgbClr val="00B050"/>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9" name="圆角矩形 8"/>
          <p:cNvSpPr/>
          <p:nvPr/>
        </p:nvSpPr>
        <p:spPr>
          <a:xfrm>
            <a:off x="5869940" y="1716405"/>
            <a:ext cx="2257425" cy="1078230"/>
          </a:xfrm>
          <a:prstGeom prst="roundRect">
            <a:avLst>
              <a:gd name="adj" fmla="val 13477"/>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b="1" spc="150" dirty="0" smtClean="0">
                <a:solidFill>
                  <a:srgbClr val="7030A0"/>
                </a:solidFill>
                <a:uFillTx/>
                <a:latin typeface="Arial" panose="020B0604020202020204" pitchFamily="34" charset="0"/>
                <a:ea typeface="微软雅黑" panose="020B0503020204020204" pitchFamily="34" charset="-122"/>
                <a:sym typeface="Arial" panose="020B0604020202020204" pitchFamily="34" charset="0"/>
              </a:rPr>
              <a:t>基于图神经网络的综合能源系统多元负荷预测</a:t>
            </a:r>
            <a:endParaRPr lang="zh-CN" altLang="en-US" b="1" spc="150" dirty="0" smtClean="0">
              <a:solidFill>
                <a:srgbClr val="7030A0"/>
              </a:solidFill>
              <a:uFillTx/>
              <a:latin typeface="Arial" panose="020B0604020202020204" pitchFamily="34" charset="0"/>
              <a:ea typeface="微软雅黑" panose="020B0503020204020204" pitchFamily="34" charset="-122"/>
              <a:sym typeface="Arial" panose="020B0604020202020204" pitchFamily="34" charset="0"/>
            </a:endParaRPr>
          </a:p>
        </p:txBody>
      </p:sp>
      <p:sp>
        <p:nvSpPr>
          <p:cNvPr id="14" name="圆角矩形 13"/>
          <p:cNvSpPr/>
          <p:nvPr/>
        </p:nvSpPr>
        <p:spPr>
          <a:xfrm>
            <a:off x="8618855" y="1717040"/>
            <a:ext cx="2572385" cy="1077595"/>
          </a:xfrm>
          <a:prstGeom prst="roundRect">
            <a:avLst>
              <a:gd name="adj" fmla="val 13477"/>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00000"/>
              </a:lnSpc>
            </a:pPr>
            <a:r>
              <a:rPr lang="zh-CN" altLang="en-US" b="1" spc="150" dirty="0" smtClean="0">
                <a:solidFill>
                  <a:srgbClr val="7030A0"/>
                </a:solidFill>
                <a:uFillTx/>
                <a:latin typeface="Arial" panose="020B0604020202020204" pitchFamily="34" charset="0"/>
                <a:ea typeface="微软雅黑" panose="020B0503020204020204" pitchFamily="34" charset="-122"/>
                <a:sym typeface="Arial" panose="020B0604020202020204" pitchFamily="34" charset="0"/>
              </a:rPr>
              <a:t>基于时空数据挖掘的现货电价预测</a:t>
            </a:r>
            <a:endParaRPr lang="zh-CN" altLang="en-US" b="1" spc="150" dirty="0" smtClean="0">
              <a:solidFill>
                <a:srgbClr val="7030A0"/>
              </a:solidFill>
              <a:uFillTx/>
              <a:latin typeface="Arial" panose="020B0604020202020204" pitchFamily="34" charset="0"/>
              <a:ea typeface="微软雅黑" panose="020B0503020204020204" pitchFamily="34" charset="-122"/>
              <a:sym typeface="Arial" panose="020B0604020202020204" pitchFamily="34" charset="0"/>
            </a:endParaRPr>
          </a:p>
        </p:txBody>
      </p:sp>
      <p:pic>
        <p:nvPicPr>
          <p:cNvPr id="15" name="图片 14" descr="32313534353139323b32313534353234303bcafdd7d631"/>
          <p:cNvPicPr>
            <a:picLocks noChangeAspect="1"/>
          </p:cNvPicPr>
          <p:nvPr/>
        </p:nvPicPr>
        <p:blipFill>
          <a:blip r:embed="rId7"/>
          <a:stretch>
            <a:fillRect/>
          </a:stretch>
        </p:blipFill>
        <p:spPr>
          <a:xfrm>
            <a:off x="554990" y="1691640"/>
            <a:ext cx="450850" cy="450850"/>
          </a:xfrm>
          <a:prstGeom prst="rect">
            <a:avLst/>
          </a:prstGeom>
        </p:spPr>
      </p:pic>
      <p:pic>
        <p:nvPicPr>
          <p:cNvPr id="16" name="图片 15" descr="32313534353139323b32313534353234323bcafdd7d632"/>
          <p:cNvPicPr>
            <a:picLocks noChangeAspect="1"/>
          </p:cNvPicPr>
          <p:nvPr/>
        </p:nvPicPr>
        <p:blipFill>
          <a:blip r:embed="rId8"/>
          <a:stretch>
            <a:fillRect/>
          </a:stretch>
        </p:blipFill>
        <p:spPr>
          <a:xfrm>
            <a:off x="2963545" y="1680210"/>
            <a:ext cx="462280" cy="462280"/>
          </a:xfrm>
          <a:prstGeom prst="rect">
            <a:avLst/>
          </a:prstGeom>
        </p:spPr>
      </p:pic>
      <p:pic>
        <p:nvPicPr>
          <p:cNvPr id="20" name="图片 19" descr="32313534353139323b32313534353234343bcafdd7d633"/>
          <p:cNvPicPr>
            <a:picLocks noChangeAspect="1"/>
          </p:cNvPicPr>
          <p:nvPr/>
        </p:nvPicPr>
        <p:blipFill>
          <a:blip r:embed="rId9"/>
          <a:stretch>
            <a:fillRect/>
          </a:stretch>
        </p:blipFill>
        <p:spPr>
          <a:xfrm>
            <a:off x="5479415" y="1680210"/>
            <a:ext cx="450850" cy="450850"/>
          </a:xfrm>
          <a:prstGeom prst="rect">
            <a:avLst/>
          </a:prstGeom>
        </p:spPr>
      </p:pic>
      <p:pic>
        <p:nvPicPr>
          <p:cNvPr id="21" name="图片 20" descr="32313534353139323b32313534353234363bcafdd7d634"/>
          <p:cNvPicPr>
            <a:picLocks noChangeAspect="1"/>
          </p:cNvPicPr>
          <p:nvPr/>
        </p:nvPicPr>
        <p:blipFill>
          <a:blip r:embed="rId10"/>
          <a:stretch>
            <a:fillRect/>
          </a:stretch>
        </p:blipFill>
        <p:spPr>
          <a:xfrm>
            <a:off x="8289925" y="1699260"/>
            <a:ext cx="434975" cy="434975"/>
          </a:xfrm>
          <a:prstGeom prst="rect">
            <a:avLst/>
          </a:prstGeom>
        </p:spPr>
      </p:pic>
      <p:sp>
        <p:nvSpPr>
          <p:cNvPr id="19" name="矩形 18"/>
          <p:cNvSpPr/>
          <p:nvPr/>
        </p:nvSpPr>
        <p:spPr>
          <a:xfrm>
            <a:off x="1005840" y="3047365"/>
            <a:ext cx="1809750" cy="2487295"/>
          </a:xfrm>
          <a:prstGeom prst="rect">
            <a:avLst/>
          </a:prstGeom>
          <a:noFill/>
          <a:ln w="19050">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 name="圆角矩形 21"/>
          <p:cNvSpPr/>
          <p:nvPr/>
        </p:nvSpPr>
        <p:spPr>
          <a:xfrm>
            <a:off x="896620" y="5612130"/>
            <a:ext cx="2018030" cy="962025"/>
          </a:xfrm>
          <a:prstGeom prst="roundRect">
            <a:avLst>
              <a:gd name="adj" fmla="val 935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课题一已完成，</a:t>
            </a:r>
            <a:r>
              <a:rPr lang="en-US" altLang="zh-CN" sz="1600" b="1">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类期刊</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《电力系统自动化》已发表。</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3" name="矩形 22"/>
          <p:cNvSpPr/>
          <p:nvPr/>
        </p:nvSpPr>
        <p:spPr>
          <a:xfrm>
            <a:off x="3514090" y="3051810"/>
            <a:ext cx="1809750" cy="2487295"/>
          </a:xfrm>
          <a:prstGeom prst="rect">
            <a:avLst/>
          </a:prstGeom>
          <a:noFill/>
          <a:ln w="19050">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圆角矩形 24"/>
          <p:cNvSpPr/>
          <p:nvPr/>
        </p:nvSpPr>
        <p:spPr>
          <a:xfrm>
            <a:off x="3424555" y="5601970"/>
            <a:ext cx="2054860" cy="971550"/>
          </a:xfrm>
          <a:prstGeom prst="roundRect">
            <a:avLst>
              <a:gd name="adj" fmla="val 935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课题二已完成，</a:t>
            </a:r>
            <a:r>
              <a:rPr lang="en-US" altLang="zh-CN" sz="1600" b="1">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类期刊《电力系统自动化》已</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发表。</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6" name="矩形 25"/>
          <p:cNvSpPr/>
          <p:nvPr/>
        </p:nvSpPr>
        <p:spPr>
          <a:xfrm>
            <a:off x="6317615" y="3048635"/>
            <a:ext cx="1809750" cy="2487295"/>
          </a:xfrm>
          <a:prstGeom prst="rect">
            <a:avLst/>
          </a:prstGeom>
          <a:noFill/>
          <a:ln w="19050">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矩形 26"/>
          <p:cNvSpPr/>
          <p:nvPr/>
        </p:nvSpPr>
        <p:spPr>
          <a:xfrm>
            <a:off x="9169400" y="3049270"/>
            <a:ext cx="1795145" cy="2487295"/>
          </a:xfrm>
          <a:prstGeom prst="rect">
            <a:avLst/>
          </a:prstGeom>
          <a:noFill/>
          <a:ln w="19050">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圆角矩形 27"/>
          <p:cNvSpPr/>
          <p:nvPr/>
        </p:nvSpPr>
        <p:spPr>
          <a:xfrm>
            <a:off x="6051550" y="5586730"/>
            <a:ext cx="2403475" cy="971550"/>
          </a:xfrm>
          <a:prstGeom prst="roundRect">
            <a:avLst>
              <a:gd name="adj" fmla="val 935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课题三正在研究中，拟投《Applied energy》或《</a:t>
            </a:r>
            <a:r>
              <a:rPr lang="en-US" altLang="zh-CN" sz="1600" b="1">
                <a:latin typeface="微软雅黑" panose="020B0503020204020204" pitchFamily="34" charset="-122"/>
                <a:ea typeface="微软雅黑" panose="020B0503020204020204" pitchFamily="34" charset="-122"/>
                <a:cs typeface="微软雅黑" panose="020B0503020204020204" pitchFamily="34" charset="-122"/>
                <a:sym typeface="+mn-ea"/>
              </a:rPr>
              <a:t>Energy</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500"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4" presetClass="entr" presetSubtype="10" restart="never" repeatDur="0" fill="hold" grpId="0" nodeType="afterEffect">
                                  <p:stCondLst>
                                    <p:cond delay="0"/>
                                  </p:stCondLst>
                                  <p:childTnLst>
                                    <p:set>
                                      <p:cBhvr>
                                        <p:cTn id="10" dur="500"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par>
                          <p:cTn id="12" fill="hold">
                            <p:stCondLst>
                              <p:cond delay="1000"/>
                            </p:stCondLst>
                            <p:childTnLst>
                              <p:par>
                                <p:cTn id="13" presetID="14" presetClass="entr" presetSubtype="10" restart="never" repeatDur="0" fill="hold" grpId="0" nodeType="afterEffect">
                                  <p:stCondLst>
                                    <p:cond delay="0"/>
                                  </p:stCondLst>
                                  <p:childTnLst>
                                    <p:set>
                                      <p:cBhvr>
                                        <p:cTn id="14" dur="500" fill="hold">
                                          <p:stCondLst>
                                            <p:cond delay="0"/>
                                          </p:stCondLst>
                                        </p:cTn>
                                        <p:tgtEl>
                                          <p:spTgt spid="10"/>
                                        </p:tgtEl>
                                        <p:attrNameLst>
                                          <p:attrName>style.visibility</p:attrName>
                                        </p:attrNameLst>
                                      </p:cBhvr>
                                      <p:to>
                                        <p:strVal val="visible"/>
                                      </p:to>
                                    </p:set>
                                    <p:animEffect transition="in" filter="randombar(horizontal)">
                                      <p:cBhvr>
                                        <p:cTn id="15" dur="500"/>
                                        <p:tgtEl>
                                          <p:spTgt spid="10"/>
                                        </p:tgtEl>
                                      </p:cBhvr>
                                    </p:animEffect>
                                  </p:childTnLst>
                                </p:cTn>
                              </p:par>
                            </p:childTnLst>
                          </p:cTn>
                        </p:par>
                        <p:par>
                          <p:cTn id="16" fill="hold">
                            <p:stCondLst>
                              <p:cond delay="1500"/>
                            </p:stCondLst>
                            <p:childTnLst>
                              <p:par>
                                <p:cTn id="17" presetID="14" presetClass="entr" presetSubtype="10" restart="never" repeatDur="0" fill="hold" grpId="0" nodeType="afterEffect">
                                  <p:stCondLst>
                                    <p:cond delay="0"/>
                                  </p:stCondLst>
                                  <p:childTnLst>
                                    <p:set>
                                      <p:cBhvr>
                                        <p:cTn id="18" dur="500" fill="hold">
                                          <p:stCondLst>
                                            <p:cond delay="0"/>
                                          </p:stCondLst>
                                        </p:cTn>
                                        <p:tgtEl>
                                          <p:spTgt spid="2"/>
                                        </p:tgtEl>
                                        <p:attrNameLst>
                                          <p:attrName>style.visibility</p:attrName>
                                        </p:attrNameLst>
                                      </p:cBhvr>
                                      <p:to>
                                        <p:strVal val="visible"/>
                                      </p:to>
                                    </p:set>
                                    <p:animEffect transition="in" filter="randombar(horizontal)">
                                      <p:cBhvr>
                                        <p:cTn id="19" dur="500"/>
                                        <p:tgtEl>
                                          <p:spTgt spid="2"/>
                                        </p:tgtEl>
                                      </p:cBhvr>
                                    </p:animEffect>
                                  </p:childTnLst>
                                </p:cTn>
                              </p:par>
                            </p:childTnLst>
                          </p:cTn>
                        </p:par>
                        <p:par>
                          <p:cTn id="20" fill="hold">
                            <p:stCondLst>
                              <p:cond delay="2000"/>
                            </p:stCondLst>
                            <p:childTnLst>
                              <p:par>
                                <p:cTn id="21" presetID="2" presetClass="entr" presetSubtype="8" fill="hold" grpId="0" nodeType="afterEffect">
                                  <p:stCondLst>
                                    <p:cond delay="0"/>
                                  </p:stCondLst>
                                  <p:childTnLst>
                                    <p:set>
                                      <p:cBhvr>
                                        <p:cTn id="22" dur="500"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8" grpId="0" bldLvl="0" animBg="1"/>
      <p:bldP spid="10" grpId="0" bldLvl="0" animBg="1"/>
      <p:bldP spid="2" grpId="0" bldLvl="0" animBg="1"/>
      <p:bldP spid="13"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内容占位符 29"/>
          <p:cNvSpPr>
            <a:spLocks noGrp="1"/>
          </p:cNvSpPr>
          <p:nvPr>
            <p:ph sz="quarter" idx="14"/>
          </p:nvPr>
        </p:nvSpPr>
        <p:spPr/>
        <p:txBody>
          <a:bodyPr/>
          <a:lstStyle/>
          <a:p>
            <a:pPr algn="l"/>
            <a:r>
              <a:rPr lang="zh-CN" altLang="en-US" spc="600" dirty="0">
                <a:latin typeface="Arial" panose="020B0604020202020204" pitchFamily="34" charset="0"/>
                <a:sym typeface="Arial" panose="020B0604020202020204" pitchFamily="34" charset="0"/>
              </a:rPr>
              <a:t>预期目标、工作计划、实验条件</a:t>
            </a:r>
            <a:endParaRPr lang="zh-CN" altLang="en-US" dirty="0">
              <a:sym typeface="+mn-ea"/>
            </a:endParaRPr>
          </a:p>
        </p:txBody>
      </p:sp>
      <p:sp>
        <p:nvSpPr>
          <p:cNvPr id="31" name="灯片编号占位符 30"/>
          <p:cNvSpPr>
            <a:spLocks noGrp="1"/>
          </p:cNvSpPr>
          <p:nvPr>
            <p:ph type="sldNum" sz="quarter" idx="15"/>
          </p:nvPr>
        </p:nvSpPr>
        <p:spPr/>
        <p:txBody>
          <a:bodyPr/>
          <a:lstStyle/>
          <a:p>
            <a:r>
              <a:rPr lang="en-US" altLang="zh-CN" dirty="0"/>
              <a:t>38</a:t>
            </a:r>
            <a:endParaRPr lang="en-US" altLang="zh-CN" dirty="0"/>
          </a:p>
        </p:txBody>
      </p:sp>
      <p:sp>
        <p:nvSpPr>
          <p:cNvPr id="18" name="矩形: 圆角 5"/>
          <p:cNvSpPr/>
          <p:nvPr/>
        </p:nvSpPr>
        <p:spPr>
          <a:xfrm>
            <a:off x="741045" y="912495"/>
            <a:ext cx="795210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a:solidFill>
                  <a:schemeClr val="accent1"/>
                </a:solidFill>
                <a:latin typeface="微软雅黑" panose="020B0503020204020204" pitchFamily="34" charset="-122"/>
                <a:ea typeface="微软雅黑" panose="020B0503020204020204" pitchFamily="34" charset="-122"/>
              </a:rPr>
              <a:t>预期目标、工作计划、实验条件 </a:t>
            </a:r>
            <a:r>
              <a:rPr lang="zh-CN" altLang="en-US" sz="2400" spc="100" dirty="0">
                <a:blipFill>
                  <a:blip r:embed="rId1"/>
                  <a:stretch>
                    <a:fillRect/>
                  </a:stretch>
                </a:blipFill>
                <a:latin typeface="微软雅黑" panose="020B0503020204020204" pitchFamily="34" charset="-122"/>
                <a:ea typeface="微软雅黑" panose="020B0503020204020204" pitchFamily="34" charset="-122"/>
                <a:sym typeface="Wingdings 3" panose="05040102010807070707" pitchFamily="18" charset="2"/>
              </a:rPr>
              <a:t>工作计划</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 name="燕尾形 4"/>
          <p:cNvSpPr/>
          <p:nvPr/>
        </p:nvSpPr>
        <p:spPr>
          <a:xfrm>
            <a:off x="9845040" y="105092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8" name="燕尾形 7"/>
          <p:cNvSpPr/>
          <p:nvPr/>
        </p:nvSpPr>
        <p:spPr>
          <a:xfrm>
            <a:off x="10119995" y="105092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10" name="燕尾形 9"/>
          <p:cNvSpPr/>
          <p:nvPr/>
        </p:nvSpPr>
        <p:spPr>
          <a:xfrm>
            <a:off x="10375265" y="105092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2" name="燕尾形 1"/>
          <p:cNvSpPr/>
          <p:nvPr/>
        </p:nvSpPr>
        <p:spPr>
          <a:xfrm>
            <a:off x="10659110" y="105092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13" name="KSO_Shape"/>
          <p:cNvSpPr/>
          <p:nvPr/>
        </p:nvSpPr>
        <p:spPr bwMode="auto">
          <a:xfrm>
            <a:off x="10964545" y="103759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graphicFrame>
        <p:nvGraphicFramePr>
          <p:cNvPr id="12" name="表格 11"/>
          <p:cNvGraphicFramePr/>
          <p:nvPr>
            <p:custDataLst>
              <p:tags r:id="rId2"/>
            </p:custDataLst>
          </p:nvPr>
        </p:nvGraphicFramePr>
        <p:xfrm>
          <a:off x="1572895" y="1497965"/>
          <a:ext cx="9046210" cy="5156200"/>
        </p:xfrm>
        <a:graphic>
          <a:graphicData uri="http://schemas.openxmlformats.org/drawingml/2006/table">
            <a:tbl>
              <a:tblPr firstRow="1" bandRow="1">
                <a:tableStyleId>{5C22544A-7EE6-4342-B048-85BDC9FD1C3A}</a:tableStyleId>
              </a:tblPr>
              <a:tblGrid>
                <a:gridCol w="2167890"/>
                <a:gridCol w="3932555"/>
                <a:gridCol w="2945765"/>
              </a:tblGrid>
              <a:tr h="365760">
                <a:tc>
                  <a:txBody>
                    <a:bodyPr/>
                    <a:p>
                      <a:pPr algn="ctr">
                        <a:buNone/>
                      </a:pPr>
                      <a:r>
                        <a:rPr lang="zh-CN" altLang="en-US">
                          <a:latin typeface="微软雅黑" panose="020B0503020204020204" pitchFamily="34" charset="-122"/>
                          <a:ea typeface="微软雅黑" panose="020B0503020204020204" pitchFamily="34" charset="-122"/>
                        </a:rPr>
                        <a:t>日期</a:t>
                      </a:r>
                      <a:endParaRPr lang="zh-CN" altLang="en-US">
                        <a:latin typeface="微软雅黑" panose="020B0503020204020204" pitchFamily="34" charset="-122"/>
                        <a:ea typeface="微软雅黑" panose="020B0503020204020204" pitchFamily="34" charset="-122"/>
                      </a:endParaRPr>
                    </a:p>
                  </a:txBody>
                  <a:tcPr/>
                </a:tc>
                <a:tc>
                  <a:txBody>
                    <a:bodyPr/>
                    <a:p>
                      <a:pPr algn="ctr">
                        <a:buNone/>
                      </a:pPr>
                      <a:r>
                        <a:rPr lang="zh-CN" altLang="en-US"/>
                        <a:t>预期</a:t>
                      </a:r>
                      <a:r>
                        <a:rPr lang="zh-CN" altLang="en-US"/>
                        <a:t>成果</a:t>
                      </a:r>
                      <a:endParaRPr lang="zh-CN" altLang="en-US"/>
                    </a:p>
                  </a:txBody>
                  <a:tcPr/>
                </a:tc>
                <a:tc>
                  <a:txBody>
                    <a:bodyPr/>
                    <a:p>
                      <a:pPr algn="ctr">
                        <a:buNone/>
                      </a:pPr>
                      <a:r>
                        <a:rPr lang="zh-CN" altLang="en-US"/>
                        <a:t>考核</a:t>
                      </a:r>
                      <a:r>
                        <a:rPr lang="zh-CN" altLang="en-US"/>
                        <a:t>指标</a:t>
                      </a:r>
                      <a:endParaRPr lang="zh-CN" altLang="en-US"/>
                    </a:p>
                  </a:txBody>
                  <a:tcPr/>
                </a:tc>
              </a:tr>
              <a:tr h="319405">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2021.09-2021.11</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marB="46990"/>
                </a:tc>
                <a:tc>
                  <a:txBody>
                    <a:bodyPr/>
                    <a:p>
                      <a:pPr algn="ctr">
                        <a:buNone/>
                      </a:pPr>
                      <a:r>
                        <a:rPr lang="zh-CN" altLang="en-US" sz="1400" b="1">
                          <a:latin typeface="Times New Roman" panose="02020603050405020304" charset="0"/>
                          <a:ea typeface="微软雅黑" panose="020B0503020204020204" pitchFamily="34" charset="-122"/>
                        </a:rPr>
                        <a:t>课题一研究阶段</a:t>
                      </a:r>
                      <a:endParaRPr lang="zh-CN" altLang="en-US" sz="1400" b="1">
                        <a:latin typeface="Times New Roman" panose="02020603050405020304" charset="0"/>
                        <a:ea typeface="微软雅黑" panose="020B0503020204020204" pitchFamily="34" charset="-122"/>
                      </a:endParaRPr>
                    </a:p>
                  </a:txBody>
                  <a:tcPr marB="46990"/>
                </a:tc>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PPT汇报</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marB="46990"/>
                </a:tc>
              </a:tr>
              <a:tr h="319405">
                <a:tc>
                  <a:txBody>
                    <a:bodyPr/>
                    <a:p>
                      <a:pPr algn="ctr">
                        <a:buNone/>
                      </a:pPr>
                      <a:r>
                        <a:rPr lang="en-US" altLang="zh-CN" sz="1400" b="1">
                          <a:latin typeface="Times New Roman" panose="02020603050405020304" charset="0"/>
                          <a:ea typeface="微软雅黑" panose="020B0503020204020204" pitchFamily="34" charset="-122"/>
                          <a:cs typeface="Times New Roman" panose="02020603050405020304" charset="0"/>
                        </a:rPr>
                        <a:t>2021.12-2022.01</a:t>
                      </a:r>
                      <a:endParaRPr lang="en-US" altLang="zh-CN" sz="1400" b="1">
                        <a:latin typeface="Times New Roman" panose="02020603050405020304" charset="0"/>
                        <a:ea typeface="微软雅黑" panose="020B0503020204020204" pitchFamily="34" charset="-122"/>
                        <a:cs typeface="Times New Roman" panose="02020603050405020304" charset="0"/>
                      </a:endParaRPr>
                    </a:p>
                  </a:txBody>
                  <a:tcPr/>
                </a:tc>
                <a:tc>
                  <a:txBody>
                    <a:bodyPr/>
                    <a:p>
                      <a:pPr algn="ctr">
                        <a:buNone/>
                      </a:pPr>
                      <a:r>
                        <a:rPr lang="zh-CN" altLang="en-US" sz="1400" b="1">
                          <a:latin typeface="Times New Roman" panose="02020603050405020304" charset="0"/>
                          <a:ea typeface="微软雅黑" panose="020B0503020204020204" pitchFamily="34" charset="-122"/>
                        </a:rPr>
                        <a:t>课题一撰写阶段</a:t>
                      </a:r>
                      <a:endParaRPr lang="zh-CN" altLang="en-US" sz="1400" b="1">
                        <a:latin typeface="Times New Roman" panose="02020603050405020304" charset="0"/>
                        <a:ea typeface="微软雅黑" panose="020B0503020204020204" pitchFamily="34" charset="-122"/>
                      </a:endParaRPr>
                    </a:p>
                  </a:txBody>
                  <a:tcPr/>
                </a:tc>
                <a:tc>
                  <a:txBody>
                    <a:bodyPr/>
                    <a:p>
                      <a:pPr algn="ctr">
                        <a:buNone/>
                      </a:pPr>
                      <a:r>
                        <a:rPr lang="zh-CN" altLang="en-US" sz="1400" b="1">
                          <a:latin typeface="Times New Roman" panose="02020603050405020304" charset="0"/>
                          <a:ea typeface="微软雅黑" panose="020B0503020204020204" pitchFamily="34" charset="-122"/>
                          <a:cs typeface="微软雅黑" panose="020B0503020204020204" pitchFamily="34" charset="-122"/>
                        </a:rPr>
                        <a:t>论文初稿</a:t>
                      </a:r>
                      <a:endParaRPr lang="zh-CN" altLang="en-US" sz="1400" b="1">
                        <a:latin typeface="Times New Roman" panose="02020603050405020304" charset="0"/>
                        <a:ea typeface="微软雅黑" panose="020B0503020204020204" pitchFamily="34" charset="-122"/>
                        <a:cs typeface="微软雅黑" panose="020B0503020204020204" pitchFamily="34" charset="-122"/>
                      </a:endParaRPr>
                    </a:p>
                  </a:txBody>
                  <a:tcPr/>
                </a:tc>
              </a:tr>
              <a:tr h="319405">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2022.02-2022.04</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a:tc>
                <a:tc>
                  <a:txBody>
                    <a:bodyPr/>
                    <a:p>
                      <a:pPr algn="ctr">
                        <a:buNone/>
                      </a:pPr>
                      <a:r>
                        <a:rPr lang="zh-CN" altLang="en-US" sz="1400" b="1">
                          <a:latin typeface="Times New Roman" panose="02020603050405020304" charset="0"/>
                          <a:ea typeface="微软雅黑" panose="020B0503020204020204" pitchFamily="34" charset="-122"/>
                        </a:rPr>
                        <a:t>课题一投稿阶段</a:t>
                      </a:r>
                      <a:endParaRPr lang="zh-CN" altLang="en-US" sz="1400" b="1">
                        <a:latin typeface="Times New Roman" panose="02020603050405020304" charset="0"/>
                        <a:ea typeface="微软雅黑" panose="020B0503020204020204" pitchFamily="34" charset="-122"/>
                      </a:endParaRPr>
                    </a:p>
                  </a:txBody>
                  <a:tcPr/>
                </a:tc>
                <a:tc>
                  <a:txBody>
                    <a:bodyPr/>
                    <a:p>
                      <a:pPr algn="ctr">
                        <a:buNone/>
                      </a:pPr>
                      <a:r>
                        <a:rPr lang="zh-CN" altLang="en-US" sz="1400" b="1">
                          <a:latin typeface="Times New Roman" panose="02020603050405020304" charset="0"/>
                          <a:ea typeface="微软雅黑" panose="020B0503020204020204" pitchFamily="34" charset="-122"/>
                        </a:rPr>
                        <a:t>论文录用</a:t>
                      </a:r>
                      <a:endParaRPr lang="zh-CN" altLang="en-US" sz="1400" b="1">
                        <a:latin typeface="Times New Roman" panose="02020603050405020304" charset="0"/>
                        <a:ea typeface="微软雅黑" panose="020B0503020204020204" pitchFamily="34" charset="-122"/>
                      </a:endParaRPr>
                    </a:p>
                  </a:txBody>
                  <a:tcPr/>
                </a:tc>
              </a:tr>
              <a:tr h="319405">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2022.05-2022.07</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a:tc>
                <a:tc>
                  <a:txBody>
                    <a:bodyPr/>
                    <a:p>
                      <a:pPr algn="ctr">
                        <a:buNone/>
                      </a:pPr>
                      <a:r>
                        <a:rPr lang="zh-CN" altLang="en-US" sz="1400" b="1">
                          <a:latin typeface="Times New Roman" panose="02020603050405020304" charset="0"/>
                          <a:ea typeface="微软雅黑" panose="020B0503020204020204" pitchFamily="34" charset="-122"/>
                        </a:rPr>
                        <a:t>课题二研究阶段</a:t>
                      </a:r>
                      <a:endParaRPr lang="zh-CN" altLang="en-US" sz="1400" b="1">
                        <a:latin typeface="Times New Roman" panose="02020603050405020304" charset="0"/>
                        <a:ea typeface="微软雅黑" panose="020B0503020204020204" pitchFamily="34" charset="-122"/>
                      </a:endParaRPr>
                    </a:p>
                  </a:txBody>
                  <a:tcPr/>
                </a:tc>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PPT汇报</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a:tc>
              </a:tr>
              <a:tr h="319405">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2022.08-2022.09</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a:tc>
                <a:tc>
                  <a:txBody>
                    <a:bodyPr/>
                    <a:p>
                      <a:pPr algn="ctr">
                        <a:buNone/>
                      </a:pPr>
                      <a:r>
                        <a:rPr lang="zh-CN" altLang="en-US" sz="1400" b="1">
                          <a:latin typeface="Times New Roman" panose="02020603050405020304" charset="0"/>
                          <a:ea typeface="微软雅黑" panose="020B0503020204020204" pitchFamily="34" charset="-122"/>
                        </a:rPr>
                        <a:t>课题二撰写阶段</a:t>
                      </a:r>
                      <a:endParaRPr lang="zh-CN" altLang="en-US" sz="1400" b="1">
                        <a:latin typeface="Times New Roman" panose="02020603050405020304" charset="0"/>
                        <a:ea typeface="微软雅黑" panose="020B0503020204020204" pitchFamily="34" charset="-122"/>
                      </a:endParaRPr>
                    </a:p>
                  </a:txBody>
                  <a:tcPr/>
                </a:tc>
                <a:tc>
                  <a:txBody>
                    <a:bodyPr/>
                    <a:p>
                      <a:pPr algn="ctr">
                        <a:buNone/>
                      </a:pPr>
                      <a:r>
                        <a:rPr lang="zh-CN" altLang="en-US" sz="1400" b="1">
                          <a:latin typeface="Times New Roman" panose="02020603050405020304" charset="0"/>
                          <a:ea typeface="微软雅黑" panose="020B0503020204020204" pitchFamily="34" charset="-122"/>
                        </a:rPr>
                        <a:t>论文初稿</a:t>
                      </a:r>
                      <a:endParaRPr lang="zh-CN" altLang="en-US" sz="1400" b="1">
                        <a:latin typeface="Times New Roman" panose="02020603050405020304" charset="0"/>
                        <a:ea typeface="微软雅黑" panose="020B0503020204020204" pitchFamily="34" charset="-122"/>
                      </a:endParaRPr>
                    </a:p>
                  </a:txBody>
                  <a:tcPr/>
                </a:tc>
              </a:tr>
              <a:tr h="319405">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2022.10-202</a:t>
                      </a:r>
                      <a:r>
                        <a:rPr lang="en-US" altLang="zh-CN" sz="1400" b="1">
                          <a:latin typeface="Times New Roman" panose="02020603050405020304" charset="0"/>
                          <a:ea typeface="微软雅黑" panose="020B0503020204020204" pitchFamily="34" charset="-122"/>
                          <a:cs typeface="Times New Roman" panose="02020603050405020304" charset="0"/>
                        </a:rPr>
                        <a:t>3</a:t>
                      </a:r>
                      <a:r>
                        <a:rPr lang="zh-CN" altLang="en-US" sz="1400" b="1">
                          <a:latin typeface="Times New Roman" panose="02020603050405020304" charset="0"/>
                          <a:ea typeface="微软雅黑" panose="020B0503020204020204" pitchFamily="34" charset="-122"/>
                          <a:cs typeface="Times New Roman" panose="02020603050405020304" charset="0"/>
                        </a:rPr>
                        <a:t>.</a:t>
                      </a:r>
                      <a:r>
                        <a:rPr lang="en-US" altLang="zh-CN" sz="1400" b="1">
                          <a:latin typeface="Times New Roman" panose="02020603050405020304" charset="0"/>
                          <a:ea typeface="微软雅黑" panose="020B0503020204020204" pitchFamily="34" charset="-122"/>
                          <a:cs typeface="Times New Roman" panose="02020603050405020304" charset="0"/>
                        </a:rPr>
                        <a:t>02</a:t>
                      </a:r>
                      <a:endParaRPr lang="en-US" altLang="zh-CN" sz="1400" b="1">
                        <a:latin typeface="Times New Roman" panose="02020603050405020304" charset="0"/>
                        <a:ea typeface="微软雅黑" panose="020B0503020204020204" pitchFamily="34" charset="-122"/>
                        <a:cs typeface="Times New Roman" panose="02020603050405020304" charset="0"/>
                      </a:endParaRPr>
                    </a:p>
                  </a:txBody>
                  <a:tcPr/>
                </a:tc>
                <a:tc>
                  <a:txBody>
                    <a:bodyPr/>
                    <a:p>
                      <a:pPr algn="ctr">
                        <a:buNone/>
                      </a:pPr>
                      <a:r>
                        <a:rPr lang="zh-CN" altLang="en-US" sz="1400" b="1">
                          <a:latin typeface="Times New Roman" panose="02020603050405020304" charset="0"/>
                          <a:ea typeface="微软雅黑" panose="020B0503020204020204" pitchFamily="34" charset="-122"/>
                        </a:rPr>
                        <a:t>课题二投稿阶段</a:t>
                      </a:r>
                      <a:endParaRPr lang="zh-CN" altLang="en-US" sz="1400" b="1">
                        <a:latin typeface="Times New Roman" panose="02020603050405020304" charset="0"/>
                        <a:ea typeface="微软雅黑" panose="020B0503020204020204" pitchFamily="34" charset="-122"/>
                      </a:endParaRPr>
                    </a:p>
                  </a:txBody>
                  <a:tcPr/>
                </a:tc>
                <a:tc>
                  <a:txBody>
                    <a:bodyPr/>
                    <a:p>
                      <a:pPr algn="ctr">
                        <a:buNone/>
                      </a:pPr>
                      <a:r>
                        <a:rPr lang="zh-CN" altLang="en-US" sz="1400" b="1">
                          <a:latin typeface="Times New Roman" panose="02020603050405020304" charset="0"/>
                          <a:ea typeface="微软雅黑" panose="020B0503020204020204" pitchFamily="34" charset="-122"/>
                        </a:rPr>
                        <a:t>论文录用</a:t>
                      </a:r>
                      <a:endParaRPr lang="zh-CN" altLang="en-US" sz="1400" b="1">
                        <a:latin typeface="Times New Roman" panose="02020603050405020304" charset="0"/>
                        <a:ea typeface="微软雅黑" panose="020B0503020204020204" pitchFamily="34" charset="-122"/>
                      </a:endParaRPr>
                    </a:p>
                  </a:txBody>
                  <a:tcPr/>
                </a:tc>
              </a:tr>
              <a:tr h="319405">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2023.02-2023.05</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a:tc>
                <a:tc>
                  <a:txBody>
                    <a:bodyPr/>
                    <a:p>
                      <a:pPr algn="ctr">
                        <a:buNone/>
                      </a:pPr>
                      <a:r>
                        <a:rPr lang="zh-CN" altLang="en-US" sz="1400" b="1">
                          <a:latin typeface="Times New Roman" panose="02020603050405020304" charset="0"/>
                          <a:ea typeface="微软雅黑" panose="020B0503020204020204" pitchFamily="34" charset="-122"/>
                        </a:rPr>
                        <a:t>课题三研究阶段</a:t>
                      </a:r>
                      <a:endParaRPr lang="zh-CN" altLang="en-US" sz="1400" b="1">
                        <a:latin typeface="Times New Roman" panose="02020603050405020304" charset="0"/>
                        <a:ea typeface="微软雅黑" panose="020B0503020204020204" pitchFamily="34" charset="-122"/>
                      </a:endParaRPr>
                    </a:p>
                  </a:txBody>
                  <a:tcPr/>
                </a:tc>
                <a:tc>
                  <a:txBody>
                    <a:bodyPr/>
                    <a:p>
                      <a:pPr algn="ctr">
                        <a:buNone/>
                      </a:pPr>
                      <a:r>
                        <a:rPr lang="zh-CN" altLang="en-US" sz="1400" b="1">
                          <a:latin typeface="Times New Roman" panose="02020603050405020304" charset="0"/>
                          <a:ea typeface="微软雅黑" panose="020B0503020204020204" pitchFamily="34" charset="-122"/>
                        </a:rPr>
                        <a:t>PPT汇报</a:t>
                      </a:r>
                      <a:endParaRPr lang="zh-CN" altLang="en-US" sz="1400" b="1">
                        <a:latin typeface="Times New Roman" panose="02020603050405020304" charset="0"/>
                        <a:ea typeface="微软雅黑" panose="020B0503020204020204" pitchFamily="34" charset="-122"/>
                      </a:endParaRPr>
                    </a:p>
                  </a:txBody>
                  <a:tcPr/>
                </a:tc>
              </a:tr>
              <a:tr h="318770">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2023.06-2023.07</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a:tc>
                <a:tc>
                  <a:txBody>
                    <a:bodyPr/>
                    <a:p>
                      <a:pPr algn="ctr">
                        <a:buNone/>
                      </a:pPr>
                      <a:r>
                        <a:rPr lang="zh-CN" altLang="en-US" sz="1400" b="1">
                          <a:latin typeface="Times New Roman" panose="02020603050405020304" charset="0"/>
                          <a:ea typeface="微软雅黑" panose="020B0503020204020204" pitchFamily="34" charset="-122"/>
                        </a:rPr>
                        <a:t>课题三撰写阶段</a:t>
                      </a:r>
                      <a:endParaRPr lang="zh-CN" altLang="en-US" sz="1400" b="1">
                        <a:latin typeface="Times New Roman" panose="02020603050405020304" charset="0"/>
                        <a:ea typeface="微软雅黑" panose="020B0503020204020204" pitchFamily="34" charset="-122"/>
                      </a:endParaRPr>
                    </a:p>
                  </a:txBody>
                  <a:tcPr/>
                </a:tc>
                <a:tc>
                  <a:txBody>
                    <a:bodyPr/>
                    <a:p>
                      <a:pPr algn="ctr">
                        <a:buNone/>
                      </a:pPr>
                      <a:r>
                        <a:rPr lang="zh-CN" altLang="en-US" sz="1400" b="1">
                          <a:latin typeface="Times New Roman" panose="02020603050405020304" charset="0"/>
                          <a:ea typeface="微软雅黑" panose="020B0503020204020204" pitchFamily="34" charset="-122"/>
                        </a:rPr>
                        <a:t>论文初稿</a:t>
                      </a:r>
                      <a:endParaRPr lang="zh-CN" altLang="en-US" sz="1400" b="1">
                        <a:latin typeface="Times New Roman" panose="02020603050405020304" charset="0"/>
                        <a:ea typeface="微软雅黑" panose="020B0503020204020204" pitchFamily="34" charset="-122"/>
                      </a:endParaRPr>
                    </a:p>
                  </a:txBody>
                  <a:tcPr/>
                </a:tc>
              </a:tr>
              <a:tr h="319405">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2023.08-2023.10</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a:tc>
                <a:tc>
                  <a:txBody>
                    <a:bodyPr/>
                    <a:p>
                      <a:pPr algn="ctr">
                        <a:buNone/>
                      </a:pPr>
                      <a:r>
                        <a:rPr lang="zh-CN" altLang="en-US" sz="1400" b="1">
                          <a:latin typeface="Times New Roman" panose="02020603050405020304" charset="0"/>
                          <a:ea typeface="微软雅黑" panose="020B0503020204020204" pitchFamily="34" charset="-122"/>
                        </a:rPr>
                        <a:t>课题三投稿阶段</a:t>
                      </a:r>
                      <a:endParaRPr lang="zh-CN" altLang="en-US" sz="1400" b="1">
                        <a:latin typeface="Times New Roman" panose="02020603050405020304" charset="0"/>
                        <a:ea typeface="微软雅黑" panose="020B0503020204020204" pitchFamily="34" charset="-122"/>
                      </a:endParaRPr>
                    </a:p>
                  </a:txBody>
                  <a:tcPr/>
                </a:tc>
                <a:tc>
                  <a:txBody>
                    <a:bodyPr/>
                    <a:p>
                      <a:pPr algn="ctr">
                        <a:buNone/>
                      </a:pPr>
                      <a:r>
                        <a:rPr lang="zh-CN" altLang="en-US" sz="1400" b="1">
                          <a:latin typeface="Times New Roman" panose="02020603050405020304" charset="0"/>
                          <a:ea typeface="微软雅黑" panose="020B0503020204020204" pitchFamily="34" charset="-122"/>
                        </a:rPr>
                        <a:t>论文录用</a:t>
                      </a:r>
                      <a:endParaRPr lang="zh-CN" altLang="en-US" sz="1400" b="1">
                        <a:latin typeface="Times New Roman" panose="02020603050405020304" charset="0"/>
                        <a:ea typeface="微软雅黑" panose="020B0503020204020204" pitchFamily="34" charset="-122"/>
                      </a:endParaRPr>
                    </a:p>
                  </a:txBody>
                  <a:tcPr/>
                </a:tc>
              </a:tr>
              <a:tr h="319405">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2022.05-2022.07</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a:tc>
                <a:tc>
                  <a:txBody>
                    <a:bodyPr/>
                    <a:p>
                      <a:pPr algn="ctr">
                        <a:buNone/>
                      </a:pPr>
                      <a:r>
                        <a:rPr lang="zh-CN" altLang="en-US" sz="1400" b="1">
                          <a:latin typeface="Times New Roman" panose="02020603050405020304" charset="0"/>
                          <a:ea typeface="微软雅黑" panose="020B0503020204020204" pitchFamily="34" charset="-122"/>
                        </a:rPr>
                        <a:t>课题四研究阶段</a:t>
                      </a:r>
                      <a:endParaRPr lang="zh-CN" altLang="en-US" sz="1400" b="1">
                        <a:latin typeface="Times New Roman" panose="02020603050405020304" charset="0"/>
                        <a:ea typeface="微软雅黑" panose="020B0503020204020204" pitchFamily="34" charset="-122"/>
                      </a:endParaRPr>
                    </a:p>
                  </a:txBody>
                  <a:tcPr/>
                </a:tc>
                <a:tc>
                  <a:txBody>
                    <a:bodyPr/>
                    <a:p>
                      <a:pPr algn="ctr">
                        <a:buNone/>
                      </a:pPr>
                      <a:r>
                        <a:rPr lang="zh-CN" altLang="en-US" sz="1400" b="1">
                          <a:latin typeface="Times New Roman" panose="02020603050405020304" charset="0"/>
                          <a:ea typeface="微软雅黑" panose="020B0503020204020204" pitchFamily="34" charset="-122"/>
                        </a:rPr>
                        <a:t>PPT汇报</a:t>
                      </a:r>
                      <a:endParaRPr lang="zh-CN" altLang="en-US" sz="1400" b="1">
                        <a:latin typeface="Times New Roman" panose="02020603050405020304" charset="0"/>
                        <a:ea typeface="微软雅黑" panose="020B0503020204020204" pitchFamily="34" charset="-122"/>
                      </a:endParaRPr>
                    </a:p>
                  </a:txBody>
                  <a:tcPr/>
                </a:tc>
              </a:tr>
              <a:tr h="319405">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2022.08-2022.09</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a:tc>
                <a:tc>
                  <a:txBody>
                    <a:bodyPr/>
                    <a:p>
                      <a:pPr algn="ctr">
                        <a:buNone/>
                      </a:pPr>
                      <a:r>
                        <a:rPr lang="zh-CN" altLang="en-US" sz="1400" b="1">
                          <a:latin typeface="Times New Roman" panose="02020603050405020304" charset="0"/>
                          <a:ea typeface="微软雅黑" panose="020B0503020204020204" pitchFamily="34" charset="-122"/>
                        </a:rPr>
                        <a:t>课题四撰写阶段</a:t>
                      </a:r>
                      <a:endParaRPr lang="zh-CN" altLang="en-US" sz="1400" b="1">
                        <a:latin typeface="Times New Roman" panose="02020603050405020304" charset="0"/>
                        <a:ea typeface="微软雅黑" panose="020B0503020204020204" pitchFamily="34" charset="-122"/>
                      </a:endParaRPr>
                    </a:p>
                  </a:txBody>
                  <a:tcPr/>
                </a:tc>
                <a:tc>
                  <a:txBody>
                    <a:bodyPr/>
                    <a:p>
                      <a:pPr algn="ctr">
                        <a:buNone/>
                      </a:pPr>
                      <a:r>
                        <a:rPr lang="zh-CN" altLang="en-US" sz="1400" b="1">
                          <a:latin typeface="Times New Roman" panose="02020603050405020304" charset="0"/>
                          <a:ea typeface="微软雅黑" panose="020B0503020204020204" pitchFamily="34" charset="-122"/>
                        </a:rPr>
                        <a:t>论文初稿</a:t>
                      </a:r>
                      <a:endParaRPr lang="zh-CN" altLang="en-US" sz="1400" b="1">
                        <a:latin typeface="Times New Roman" panose="02020603050405020304" charset="0"/>
                        <a:ea typeface="微软雅黑" panose="020B0503020204020204" pitchFamily="34" charset="-122"/>
                      </a:endParaRPr>
                    </a:p>
                  </a:txBody>
                  <a:tcPr/>
                </a:tc>
              </a:tr>
              <a:tr h="319405">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2022.10-2022.12</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a:tc>
                <a:tc>
                  <a:txBody>
                    <a:bodyPr/>
                    <a:p>
                      <a:pPr algn="ctr">
                        <a:buNone/>
                      </a:pPr>
                      <a:r>
                        <a:rPr lang="zh-CN" altLang="en-US" sz="1400" b="1">
                          <a:latin typeface="Times New Roman" panose="02020603050405020304" charset="0"/>
                          <a:ea typeface="微软雅黑" panose="020B0503020204020204" pitchFamily="34" charset="-122"/>
                        </a:rPr>
                        <a:t>课题四投稿阶段</a:t>
                      </a:r>
                      <a:endParaRPr lang="zh-CN" altLang="en-US" sz="1400" b="1">
                        <a:latin typeface="Times New Roman" panose="02020603050405020304" charset="0"/>
                        <a:ea typeface="微软雅黑" panose="020B0503020204020204" pitchFamily="34" charset="-122"/>
                      </a:endParaRPr>
                    </a:p>
                  </a:txBody>
                  <a:tcPr/>
                </a:tc>
                <a:tc>
                  <a:txBody>
                    <a:bodyPr/>
                    <a:p>
                      <a:pPr algn="ctr">
                        <a:buNone/>
                      </a:pPr>
                      <a:r>
                        <a:rPr lang="zh-CN" altLang="en-US" sz="1400" b="1">
                          <a:latin typeface="Times New Roman" panose="02020603050405020304" charset="0"/>
                          <a:ea typeface="微软雅黑" panose="020B0503020204020204" pitchFamily="34" charset="-122"/>
                        </a:rPr>
                        <a:t>论文录用</a:t>
                      </a:r>
                      <a:endParaRPr lang="zh-CN" altLang="en-US" sz="1400" b="1">
                        <a:latin typeface="Times New Roman" panose="02020603050405020304" charset="0"/>
                        <a:ea typeface="微软雅黑" panose="020B0503020204020204" pitchFamily="34" charset="-122"/>
                      </a:endParaRPr>
                    </a:p>
                  </a:txBody>
                  <a:tcPr/>
                </a:tc>
              </a:tr>
              <a:tr h="319405">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2023.11-2023.12</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a:tc>
                <a:tc>
                  <a:txBody>
                    <a:bodyPr/>
                    <a:p>
                      <a:pPr algn="ctr">
                        <a:buNone/>
                      </a:pPr>
                      <a:r>
                        <a:rPr lang="zh-CN" altLang="en-US" sz="1400" b="1">
                          <a:latin typeface="Times New Roman" panose="02020603050405020304" charset="0"/>
                          <a:ea typeface="微软雅黑" panose="020B0503020204020204" pitchFamily="34" charset="-122"/>
                        </a:rPr>
                        <a:t>课题总结</a:t>
                      </a:r>
                      <a:endParaRPr lang="zh-CN" altLang="en-US" sz="1400" b="1">
                        <a:latin typeface="Times New Roman" panose="02020603050405020304" charset="0"/>
                        <a:ea typeface="微软雅黑" panose="020B0503020204020204" pitchFamily="34" charset="-122"/>
                      </a:endParaRPr>
                    </a:p>
                  </a:txBody>
                  <a:tcPr/>
                </a:tc>
                <a:tc>
                  <a:txBody>
                    <a:bodyPr/>
                    <a:p>
                      <a:pPr algn="ctr">
                        <a:buNone/>
                      </a:pPr>
                      <a:r>
                        <a:rPr lang="zh-CN" altLang="en-US" sz="1400" b="1">
                          <a:latin typeface="Times New Roman" panose="02020603050405020304" charset="0"/>
                          <a:ea typeface="微软雅黑" panose="020B0503020204020204" pitchFamily="34" charset="-122"/>
                        </a:rPr>
                        <a:t>PPT汇报</a:t>
                      </a:r>
                      <a:endParaRPr lang="zh-CN" altLang="en-US" sz="1400" b="1">
                        <a:latin typeface="Times New Roman" panose="02020603050405020304" charset="0"/>
                        <a:ea typeface="微软雅黑" panose="020B0503020204020204" pitchFamily="34" charset="-122"/>
                      </a:endParaRPr>
                    </a:p>
                  </a:txBody>
                  <a:tcPr/>
                </a:tc>
              </a:tr>
              <a:tr h="319405">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2024.01-2024.03</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a:tc>
                <a:tc>
                  <a:txBody>
                    <a:bodyPr/>
                    <a:p>
                      <a:pPr algn="ctr">
                        <a:buNone/>
                      </a:pPr>
                      <a:r>
                        <a:rPr lang="zh-CN" altLang="en-US" sz="1400" b="1">
                          <a:latin typeface="Times New Roman" panose="02020603050405020304" charset="0"/>
                          <a:ea typeface="微软雅黑" panose="020B0503020204020204" pitchFamily="34" charset="-122"/>
                        </a:rPr>
                        <a:t>撰写大论文</a:t>
                      </a:r>
                      <a:endParaRPr lang="zh-CN" altLang="en-US" sz="1400" b="1">
                        <a:latin typeface="Times New Roman" panose="02020603050405020304" charset="0"/>
                        <a:ea typeface="微软雅黑" panose="020B0503020204020204" pitchFamily="34" charset="-122"/>
                      </a:endParaRPr>
                    </a:p>
                  </a:txBody>
                  <a:tcPr/>
                </a:tc>
                <a:tc>
                  <a:txBody>
                    <a:bodyPr/>
                    <a:p>
                      <a:pPr algn="ctr">
                        <a:buNone/>
                      </a:pPr>
                      <a:r>
                        <a:rPr lang="zh-CN" altLang="en-US" sz="1400" b="1">
                          <a:latin typeface="Times New Roman" panose="02020603050405020304" charset="0"/>
                          <a:ea typeface="微软雅黑" panose="020B0503020204020204" pitchFamily="34" charset="-122"/>
                        </a:rPr>
                        <a:t>论文初稿</a:t>
                      </a:r>
                      <a:endParaRPr lang="zh-CN" altLang="en-US" sz="1400" b="1">
                        <a:latin typeface="Times New Roman" panose="02020603050405020304" charset="0"/>
                        <a:ea typeface="微软雅黑" panose="020B0503020204020204" pitchFamily="34" charset="-122"/>
                      </a:endParaRPr>
                    </a:p>
                  </a:txBody>
                  <a:tcPr/>
                </a:tc>
              </a:tr>
              <a:tr h="319405">
                <a:tc>
                  <a:txBody>
                    <a:bodyPr/>
                    <a:p>
                      <a:pPr algn="ctr">
                        <a:buNone/>
                      </a:pPr>
                      <a:r>
                        <a:rPr lang="zh-CN" altLang="en-US" sz="1400" b="1">
                          <a:latin typeface="Times New Roman" panose="02020603050405020304" charset="0"/>
                          <a:ea typeface="微软雅黑" panose="020B0503020204020204" pitchFamily="34" charset="-122"/>
                          <a:cs typeface="Times New Roman" panose="02020603050405020304" charset="0"/>
                        </a:rPr>
                        <a:t>2024.03-2024.04</a:t>
                      </a:r>
                      <a:endParaRPr lang="zh-CN" altLang="en-US" sz="1400" b="1">
                        <a:latin typeface="Times New Roman" panose="02020603050405020304" charset="0"/>
                        <a:ea typeface="微软雅黑" panose="020B0503020204020204" pitchFamily="34" charset="-122"/>
                        <a:cs typeface="Times New Roman" panose="02020603050405020304" charset="0"/>
                      </a:endParaRPr>
                    </a:p>
                  </a:txBody>
                  <a:tcPr/>
                </a:tc>
                <a:tc>
                  <a:txBody>
                    <a:bodyPr/>
                    <a:p>
                      <a:pPr algn="ctr">
                        <a:buNone/>
                      </a:pPr>
                      <a:r>
                        <a:rPr lang="zh-CN" altLang="en-US" sz="1400" b="1">
                          <a:latin typeface="Times New Roman" panose="02020603050405020304" charset="0"/>
                          <a:ea typeface="微软雅黑" panose="020B0503020204020204" pitchFamily="34" charset="-122"/>
                        </a:rPr>
                        <a:t>完成大论文</a:t>
                      </a:r>
                      <a:endParaRPr lang="zh-CN" altLang="en-US" sz="1400" b="1">
                        <a:latin typeface="Times New Roman" panose="02020603050405020304" charset="0"/>
                        <a:ea typeface="微软雅黑" panose="020B0503020204020204" pitchFamily="34" charset="-122"/>
                      </a:endParaRPr>
                    </a:p>
                  </a:txBody>
                  <a:tcPr/>
                </a:tc>
                <a:tc>
                  <a:txBody>
                    <a:bodyPr/>
                    <a:p>
                      <a:pPr algn="ctr">
                        <a:buNone/>
                      </a:pPr>
                      <a:r>
                        <a:rPr lang="zh-CN" altLang="en-US" sz="1400" b="1">
                          <a:latin typeface="Times New Roman" panose="02020603050405020304" charset="0"/>
                          <a:ea typeface="微软雅黑" panose="020B0503020204020204" pitchFamily="34" charset="-122"/>
                        </a:rPr>
                        <a:t>完成大论文</a:t>
                      </a:r>
                      <a:endParaRPr lang="zh-CN" altLang="en-US" sz="1400" b="1">
                        <a:latin typeface="Times New Roman" panose="02020603050405020304" charset="0"/>
                        <a:ea typeface="微软雅黑" panose="020B0503020204020204" pitchFamily="34" charset="-122"/>
                      </a:endParaRPr>
                    </a:p>
                  </a:txBody>
                  <a:tcPr/>
                </a:tc>
              </a:tr>
            </a:tbl>
          </a:graphicData>
        </a:graphic>
      </p:graphicFrame>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500"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4" presetClass="entr" presetSubtype="10" restart="never" repeatDur="0" fill="hold" grpId="0" nodeType="afterEffect">
                                  <p:stCondLst>
                                    <p:cond delay="0"/>
                                  </p:stCondLst>
                                  <p:childTnLst>
                                    <p:set>
                                      <p:cBhvr>
                                        <p:cTn id="10" dur="500"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par>
                          <p:cTn id="12" fill="hold">
                            <p:stCondLst>
                              <p:cond delay="1000"/>
                            </p:stCondLst>
                            <p:childTnLst>
                              <p:par>
                                <p:cTn id="13" presetID="14" presetClass="entr" presetSubtype="10" restart="never" repeatDur="0" fill="hold" grpId="0" nodeType="afterEffect">
                                  <p:stCondLst>
                                    <p:cond delay="0"/>
                                  </p:stCondLst>
                                  <p:childTnLst>
                                    <p:set>
                                      <p:cBhvr>
                                        <p:cTn id="14" dur="500" fill="hold">
                                          <p:stCondLst>
                                            <p:cond delay="0"/>
                                          </p:stCondLst>
                                        </p:cTn>
                                        <p:tgtEl>
                                          <p:spTgt spid="10"/>
                                        </p:tgtEl>
                                        <p:attrNameLst>
                                          <p:attrName>style.visibility</p:attrName>
                                        </p:attrNameLst>
                                      </p:cBhvr>
                                      <p:to>
                                        <p:strVal val="visible"/>
                                      </p:to>
                                    </p:set>
                                    <p:animEffect transition="in" filter="randombar(horizontal)">
                                      <p:cBhvr>
                                        <p:cTn id="15" dur="500"/>
                                        <p:tgtEl>
                                          <p:spTgt spid="10"/>
                                        </p:tgtEl>
                                      </p:cBhvr>
                                    </p:animEffect>
                                  </p:childTnLst>
                                </p:cTn>
                              </p:par>
                            </p:childTnLst>
                          </p:cTn>
                        </p:par>
                        <p:par>
                          <p:cTn id="16" fill="hold">
                            <p:stCondLst>
                              <p:cond delay="1500"/>
                            </p:stCondLst>
                            <p:childTnLst>
                              <p:par>
                                <p:cTn id="17" presetID="14" presetClass="entr" presetSubtype="10" restart="never" repeatDur="0" fill="hold" grpId="0" nodeType="afterEffect">
                                  <p:stCondLst>
                                    <p:cond delay="0"/>
                                  </p:stCondLst>
                                  <p:childTnLst>
                                    <p:set>
                                      <p:cBhvr>
                                        <p:cTn id="18" dur="500" fill="hold">
                                          <p:stCondLst>
                                            <p:cond delay="0"/>
                                          </p:stCondLst>
                                        </p:cTn>
                                        <p:tgtEl>
                                          <p:spTgt spid="2"/>
                                        </p:tgtEl>
                                        <p:attrNameLst>
                                          <p:attrName>style.visibility</p:attrName>
                                        </p:attrNameLst>
                                      </p:cBhvr>
                                      <p:to>
                                        <p:strVal val="visible"/>
                                      </p:to>
                                    </p:set>
                                    <p:animEffect transition="in" filter="randombar(horizontal)">
                                      <p:cBhvr>
                                        <p:cTn id="19" dur="500"/>
                                        <p:tgtEl>
                                          <p:spTgt spid="2"/>
                                        </p:tgtEl>
                                      </p:cBhvr>
                                    </p:animEffect>
                                  </p:childTnLst>
                                </p:cTn>
                              </p:par>
                            </p:childTnLst>
                          </p:cTn>
                        </p:par>
                        <p:par>
                          <p:cTn id="20" fill="hold">
                            <p:stCondLst>
                              <p:cond delay="2000"/>
                            </p:stCondLst>
                            <p:childTnLst>
                              <p:par>
                                <p:cTn id="21" presetID="2" presetClass="entr" presetSubtype="8" fill="hold" grpId="0" nodeType="afterEffect">
                                  <p:stCondLst>
                                    <p:cond delay="0"/>
                                  </p:stCondLst>
                                  <p:childTnLst>
                                    <p:set>
                                      <p:cBhvr>
                                        <p:cTn id="22" dur="500"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8" grpId="0" bldLvl="0" animBg="1"/>
      <p:bldP spid="10" grpId="0" bldLvl="0" animBg="1"/>
      <p:bldP spid="2" grpId="0" bldLvl="0" animBg="1"/>
      <p:bldP spid="13"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图片 44"/>
          <p:cNvPicPr>
            <a:picLocks noChangeAspect="1"/>
          </p:cNvPicPr>
          <p:nvPr/>
        </p:nvPicPr>
        <p:blipFill>
          <a:blip r:embed="rId1"/>
          <a:stretch>
            <a:fillRect/>
          </a:stretch>
        </p:blipFill>
        <p:spPr>
          <a:xfrm>
            <a:off x="7206615" y="4083685"/>
            <a:ext cx="2555240" cy="665480"/>
          </a:xfrm>
          <a:prstGeom prst="rect">
            <a:avLst/>
          </a:prstGeom>
        </p:spPr>
      </p:pic>
      <p:pic>
        <p:nvPicPr>
          <p:cNvPr id="3" name="图片 1" descr="微信图片_20220929215611"/>
          <p:cNvPicPr>
            <a:picLocks noChangeAspect="1"/>
          </p:cNvPicPr>
          <p:nvPr>
            <p:custDataLst>
              <p:tags r:id="rId2"/>
            </p:custDataLst>
          </p:nvPr>
        </p:nvPicPr>
        <p:blipFill>
          <a:blip r:embed="rId3"/>
          <a:stretch>
            <a:fillRect/>
          </a:stretch>
        </p:blipFill>
        <p:spPr>
          <a:xfrm>
            <a:off x="10578465" y="4650740"/>
            <a:ext cx="1457960" cy="1884680"/>
          </a:xfrm>
          <a:prstGeom prst="rect">
            <a:avLst/>
          </a:prstGeom>
        </p:spPr>
      </p:pic>
      <p:sp>
        <p:nvSpPr>
          <p:cNvPr id="30" name="内容占位符 29"/>
          <p:cNvSpPr>
            <a:spLocks noGrp="1"/>
          </p:cNvSpPr>
          <p:nvPr>
            <p:ph sz="quarter" idx="14"/>
          </p:nvPr>
        </p:nvSpPr>
        <p:spPr/>
        <p:txBody>
          <a:bodyPr/>
          <a:lstStyle/>
          <a:p>
            <a:pPr algn="l"/>
            <a:r>
              <a:rPr lang="zh-CN" altLang="en-US" spc="600" dirty="0">
                <a:latin typeface="Arial" panose="020B0604020202020204" pitchFamily="34" charset="0"/>
                <a:sym typeface="Arial" panose="020B0604020202020204" pitchFamily="34" charset="0"/>
              </a:rPr>
              <a:t>预期目标、工作计划、实验条件</a:t>
            </a:r>
            <a:endParaRPr lang="zh-CN" altLang="en-US" dirty="0">
              <a:sym typeface="+mn-ea"/>
            </a:endParaRPr>
          </a:p>
        </p:txBody>
      </p:sp>
      <p:sp>
        <p:nvSpPr>
          <p:cNvPr id="31" name="灯片编号占位符 30"/>
          <p:cNvSpPr>
            <a:spLocks noGrp="1"/>
          </p:cNvSpPr>
          <p:nvPr>
            <p:ph type="sldNum" sz="quarter" idx="15"/>
          </p:nvPr>
        </p:nvSpPr>
        <p:spPr/>
        <p:txBody>
          <a:bodyPr/>
          <a:lstStyle/>
          <a:p>
            <a:r>
              <a:rPr lang="en-US" altLang="zh-CN" dirty="0"/>
              <a:t>39</a:t>
            </a:r>
            <a:endParaRPr lang="en-US" altLang="zh-CN" dirty="0"/>
          </a:p>
        </p:txBody>
      </p:sp>
      <p:sp>
        <p:nvSpPr>
          <p:cNvPr id="18" name="矩形: 圆角 5"/>
          <p:cNvSpPr/>
          <p:nvPr/>
        </p:nvSpPr>
        <p:spPr>
          <a:xfrm>
            <a:off x="741045" y="912495"/>
            <a:ext cx="7952105"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r>
              <a:rPr lang="zh-CN" altLang="en-US" sz="2400" dirty="0">
                <a:solidFill>
                  <a:schemeClr val="accent1"/>
                </a:solidFill>
                <a:latin typeface="微软雅黑" panose="020B0503020204020204" pitchFamily="34" charset="-122"/>
                <a:ea typeface="微软雅黑" panose="020B0503020204020204" pitchFamily="34" charset="-122"/>
              </a:rPr>
              <a:t>预期目标、工作计划、实验条件 </a:t>
            </a:r>
            <a:r>
              <a:rPr lang="zh-CN" altLang="en-US" sz="2400" spc="100" dirty="0">
                <a:blipFill>
                  <a:blip r:embed="rId4"/>
                  <a:stretch>
                    <a:fillRect/>
                  </a:stretch>
                </a:blipFill>
                <a:latin typeface="微软雅黑" panose="020B0503020204020204" pitchFamily="34" charset="-122"/>
                <a:ea typeface="微软雅黑" panose="020B0503020204020204" pitchFamily="34" charset="-122"/>
                <a:sym typeface="Wingdings 3" panose="05040102010807070707" pitchFamily="18" charset="2"/>
              </a:rPr>
              <a:t>实验条件</a:t>
            </a:r>
            <a:r>
              <a:rPr lang="zh-CN" altLang="en-US"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 name="燕尾形 4"/>
          <p:cNvSpPr/>
          <p:nvPr/>
        </p:nvSpPr>
        <p:spPr>
          <a:xfrm>
            <a:off x="9845040" y="105092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8" name="燕尾形 7"/>
          <p:cNvSpPr/>
          <p:nvPr/>
        </p:nvSpPr>
        <p:spPr>
          <a:xfrm>
            <a:off x="10119995" y="105092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10" name="燕尾形 9"/>
          <p:cNvSpPr/>
          <p:nvPr/>
        </p:nvSpPr>
        <p:spPr>
          <a:xfrm>
            <a:off x="10375265" y="105092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2" name="燕尾形 1"/>
          <p:cNvSpPr/>
          <p:nvPr/>
        </p:nvSpPr>
        <p:spPr>
          <a:xfrm>
            <a:off x="10659110" y="105092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13" name="KSO_Shape"/>
          <p:cNvSpPr/>
          <p:nvPr/>
        </p:nvSpPr>
        <p:spPr bwMode="auto">
          <a:xfrm>
            <a:off x="10964545" y="103759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pic>
        <p:nvPicPr>
          <p:cNvPr id="11" name="图片 10" descr="108824604&amp;pky93108824604&amp;"/>
          <p:cNvPicPr>
            <a:picLocks noChangeAspect="1"/>
          </p:cNvPicPr>
          <p:nvPr/>
        </p:nvPicPr>
        <p:blipFill>
          <a:blip r:embed="rId5"/>
          <a:srcRect l="10948" t="22335" r="10689" b="22082"/>
          <a:stretch>
            <a:fillRect/>
          </a:stretch>
        </p:blipFill>
        <p:spPr>
          <a:xfrm>
            <a:off x="6842760" y="912495"/>
            <a:ext cx="710565" cy="518160"/>
          </a:xfrm>
          <a:prstGeom prst="rect">
            <a:avLst/>
          </a:prstGeom>
          <a:noFill/>
        </p:spPr>
      </p:pic>
      <p:pic>
        <p:nvPicPr>
          <p:cNvPr id="100" name="图片 99"/>
          <p:cNvPicPr/>
          <p:nvPr>
            <p:custDataLst>
              <p:tags r:id="rId6"/>
            </p:custDataLst>
          </p:nvPr>
        </p:nvPicPr>
        <p:blipFill>
          <a:blip r:embed="rId7"/>
          <a:stretch>
            <a:fillRect/>
          </a:stretch>
        </p:blipFill>
        <p:spPr>
          <a:xfrm>
            <a:off x="2830195" y="2388235"/>
            <a:ext cx="1494790" cy="1379855"/>
          </a:xfrm>
          <a:prstGeom prst="rect">
            <a:avLst/>
          </a:prstGeom>
          <a:noFill/>
          <a:ln w="9525">
            <a:noFill/>
          </a:ln>
        </p:spPr>
      </p:pic>
      <p:pic>
        <p:nvPicPr>
          <p:cNvPr id="102" name="图片 101"/>
          <p:cNvPicPr/>
          <p:nvPr>
            <p:custDataLst>
              <p:tags r:id="rId8"/>
            </p:custDataLst>
          </p:nvPr>
        </p:nvPicPr>
        <p:blipFill>
          <a:blip r:embed="rId9"/>
          <a:stretch>
            <a:fillRect/>
          </a:stretch>
        </p:blipFill>
        <p:spPr>
          <a:xfrm>
            <a:off x="4915535" y="2520950"/>
            <a:ext cx="1701165" cy="1115060"/>
          </a:xfrm>
          <a:prstGeom prst="rect">
            <a:avLst/>
          </a:prstGeom>
          <a:noFill/>
          <a:ln w="9525">
            <a:noFill/>
          </a:ln>
        </p:spPr>
      </p:pic>
      <p:pic>
        <p:nvPicPr>
          <p:cNvPr id="12" name="图片 11" descr="129529249&amp;pky93129529249&amp;"/>
          <p:cNvPicPr>
            <a:picLocks noChangeAspect="1"/>
          </p:cNvPicPr>
          <p:nvPr/>
        </p:nvPicPr>
        <p:blipFill>
          <a:blip r:embed="rId10"/>
          <a:stretch>
            <a:fillRect/>
          </a:stretch>
        </p:blipFill>
        <p:spPr>
          <a:xfrm>
            <a:off x="821690" y="2495550"/>
            <a:ext cx="1171575" cy="1166495"/>
          </a:xfrm>
          <a:prstGeom prst="rect">
            <a:avLst/>
          </a:prstGeom>
        </p:spPr>
      </p:pic>
      <p:sp>
        <p:nvSpPr>
          <p:cNvPr id="17" name="文本框 16"/>
          <p:cNvSpPr txBox="1"/>
          <p:nvPr/>
        </p:nvSpPr>
        <p:spPr>
          <a:xfrm>
            <a:off x="859155" y="3788410"/>
            <a:ext cx="1096645" cy="398780"/>
          </a:xfrm>
          <a:prstGeom prst="rect">
            <a:avLst/>
          </a:prstGeom>
          <a:noFill/>
        </p:spPr>
        <p:txBody>
          <a:bodyPr wrap="none" rtlCol="0" anchor="t">
            <a:spAutoFit/>
          </a:bodyPr>
          <a:p>
            <a:r>
              <a:rPr lang="en-US" altLang="zh-CN" sz="2000" b="1">
                <a:latin typeface="微软雅黑" panose="020B0503020204020204" pitchFamily="34" charset="-122"/>
                <a:ea typeface="微软雅黑" panose="020B0503020204020204" pitchFamily="34" charset="-122"/>
                <a:cs typeface="微软雅黑" panose="020B0503020204020204" pitchFamily="34" charset="-122"/>
                <a:sym typeface="+mn-ea"/>
              </a:rPr>
              <a:t>Python</a:t>
            </a:r>
            <a:endParaRPr lang="en-US" altLang="zh-CN" sz="20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4" name="文本框 33"/>
          <p:cNvSpPr txBox="1"/>
          <p:nvPr/>
        </p:nvSpPr>
        <p:spPr>
          <a:xfrm>
            <a:off x="2943225" y="3797935"/>
            <a:ext cx="1334770" cy="398780"/>
          </a:xfrm>
          <a:prstGeom prst="rect">
            <a:avLst/>
          </a:prstGeom>
          <a:noFill/>
        </p:spPr>
        <p:txBody>
          <a:bodyPr wrap="none" rtlCol="0" anchor="t">
            <a:spAutoFit/>
          </a:bodyPr>
          <a:p>
            <a:r>
              <a:rPr lang="zh-CN"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PyCharm</a:t>
            </a:r>
            <a:endParaRPr lang="zh-CN" altLang="en-US" sz="20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5" name="文本框 34"/>
          <p:cNvSpPr txBox="1"/>
          <p:nvPr/>
        </p:nvSpPr>
        <p:spPr>
          <a:xfrm>
            <a:off x="5166995" y="3788410"/>
            <a:ext cx="1198245" cy="398780"/>
          </a:xfrm>
          <a:prstGeom prst="rect">
            <a:avLst/>
          </a:prstGeom>
          <a:noFill/>
        </p:spPr>
        <p:txBody>
          <a:bodyPr wrap="none" rtlCol="0" anchor="t">
            <a:spAutoFit/>
          </a:bodyPr>
          <a:p>
            <a:r>
              <a:rPr lang="zh-CN" altLang="en-US" sz="2000" b="1">
                <a:latin typeface="微软雅黑" panose="020B0503020204020204" pitchFamily="34" charset="-122"/>
                <a:ea typeface="微软雅黑" panose="020B0503020204020204" pitchFamily="34" charset="-122"/>
                <a:cs typeface="微软雅黑" panose="020B0503020204020204" pitchFamily="34" charset="-122"/>
                <a:sym typeface="+mn-ea"/>
              </a:rPr>
              <a:t>PyTorch</a:t>
            </a:r>
            <a:endParaRPr lang="zh-CN" altLang="en-US" sz="2000" b="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8" name="圆角矩形 37"/>
          <p:cNvSpPr/>
          <p:nvPr/>
        </p:nvSpPr>
        <p:spPr>
          <a:xfrm>
            <a:off x="497840" y="1478280"/>
            <a:ext cx="6318250" cy="942340"/>
          </a:xfrm>
          <a:prstGeom prst="roundRect">
            <a:avLst>
              <a:gd name="adj" fmla="val 6192"/>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30000"/>
              </a:lnSpc>
            </a:pP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使用Python的集成开发环境</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PyCharm</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软件与</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PyTorch</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深度学习框架包，进行图神经网络等代码</a:t>
            </a:r>
            <a:r>
              <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的编写、调试、运行等。</a:t>
            </a:r>
            <a:endParaRPr lang="zh-CN" altLang="en-US"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9" name="图片 38"/>
          <p:cNvPicPr>
            <a:picLocks noChangeAspect="1"/>
          </p:cNvPicPr>
          <p:nvPr/>
        </p:nvPicPr>
        <p:blipFill>
          <a:blip r:embed="rId11"/>
          <a:stretch>
            <a:fillRect/>
          </a:stretch>
        </p:blipFill>
        <p:spPr>
          <a:xfrm>
            <a:off x="497840" y="4399280"/>
            <a:ext cx="3129915" cy="2018030"/>
          </a:xfrm>
          <a:prstGeom prst="rect">
            <a:avLst/>
          </a:prstGeom>
        </p:spPr>
      </p:pic>
      <p:pic>
        <p:nvPicPr>
          <p:cNvPr id="40" name="图片 39"/>
          <p:cNvPicPr>
            <a:picLocks noChangeAspect="1"/>
          </p:cNvPicPr>
          <p:nvPr/>
        </p:nvPicPr>
        <p:blipFill>
          <a:blip r:embed="rId12"/>
          <a:stretch>
            <a:fillRect/>
          </a:stretch>
        </p:blipFill>
        <p:spPr>
          <a:xfrm>
            <a:off x="3679825" y="4399915"/>
            <a:ext cx="3129915" cy="2017395"/>
          </a:xfrm>
          <a:prstGeom prst="rect">
            <a:avLst/>
          </a:prstGeom>
        </p:spPr>
      </p:pic>
      <p:sp>
        <p:nvSpPr>
          <p:cNvPr id="41" name="文本框 40"/>
          <p:cNvSpPr txBox="1"/>
          <p:nvPr/>
        </p:nvSpPr>
        <p:spPr>
          <a:xfrm>
            <a:off x="7114540" y="1478280"/>
            <a:ext cx="1452880" cy="398780"/>
          </a:xfrm>
          <a:prstGeom prst="rect">
            <a:avLst/>
          </a:prstGeom>
          <a:noFill/>
        </p:spPr>
        <p:txBody>
          <a:bodyPr wrap="none" rtlCol="0">
            <a:spAutoFit/>
          </a:bodyPr>
          <a:p>
            <a:r>
              <a:rPr lang="zh-CN" altLang="en-US" sz="2000" b="1">
                <a:solidFill>
                  <a:srgbClr val="080EF6"/>
                </a:solidFill>
                <a:latin typeface="微软雅黑" panose="020B0503020204020204" pitchFamily="34" charset="-122"/>
                <a:ea typeface="微软雅黑" panose="020B0503020204020204" pitchFamily="34" charset="-122"/>
              </a:rPr>
              <a:t>数据集来源</a:t>
            </a:r>
            <a:endParaRPr lang="zh-CN" altLang="en-US" sz="2000" b="1">
              <a:solidFill>
                <a:srgbClr val="080EF6"/>
              </a:solidFill>
              <a:latin typeface="微软雅黑" panose="020B0503020204020204" pitchFamily="34" charset="-122"/>
              <a:ea typeface="微软雅黑" panose="020B0503020204020204" pitchFamily="34" charset="-122"/>
            </a:endParaRPr>
          </a:p>
        </p:txBody>
      </p:sp>
      <p:pic>
        <p:nvPicPr>
          <p:cNvPr id="42" name="图片 41"/>
          <p:cNvPicPr>
            <a:picLocks noChangeAspect="1"/>
          </p:cNvPicPr>
          <p:nvPr/>
        </p:nvPicPr>
        <p:blipFill>
          <a:blip r:embed="rId13"/>
          <a:stretch>
            <a:fillRect/>
          </a:stretch>
        </p:blipFill>
        <p:spPr>
          <a:xfrm>
            <a:off x="7207250" y="2772410"/>
            <a:ext cx="2162810" cy="768350"/>
          </a:xfrm>
          <a:prstGeom prst="rect">
            <a:avLst/>
          </a:prstGeom>
        </p:spPr>
      </p:pic>
      <p:pic>
        <p:nvPicPr>
          <p:cNvPr id="43" name="图片 42"/>
          <p:cNvPicPr>
            <a:picLocks noChangeAspect="1"/>
          </p:cNvPicPr>
          <p:nvPr/>
        </p:nvPicPr>
        <p:blipFill>
          <a:blip r:embed="rId14"/>
          <a:stretch>
            <a:fillRect/>
          </a:stretch>
        </p:blipFill>
        <p:spPr>
          <a:xfrm>
            <a:off x="9761220" y="2711450"/>
            <a:ext cx="1990725" cy="884555"/>
          </a:xfrm>
          <a:prstGeom prst="rect">
            <a:avLst/>
          </a:prstGeom>
        </p:spPr>
      </p:pic>
      <p:pic>
        <p:nvPicPr>
          <p:cNvPr id="44" name="图片 43"/>
          <p:cNvPicPr>
            <a:picLocks noChangeAspect="1"/>
          </p:cNvPicPr>
          <p:nvPr/>
        </p:nvPicPr>
        <p:blipFill>
          <a:blip r:embed="rId15"/>
          <a:stretch>
            <a:fillRect/>
          </a:stretch>
        </p:blipFill>
        <p:spPr>
          <a:xfrm>
            <a:off x="7788275" y="3590290"/>
            <a:ext cx="1146810" cy="546735"/>
          </a:xfrm>
          <a:prstGeom prst="rect">
            <a:avLst/>
          </a:prstGeom>
        </p:spPr>
      </p:pic>
      <p:pic>
        <p:nvPicPr>
          <p:cNvPr id="101" name="图片 100"/>
          <p:cNvPicPr/>
          <p:nvPr/>
        </p:nvPicPr>
        <p:blipFill>
          <a:blip r:embed="rId16"/>
          <a:srcRect l="12746" t="24869" r="19023" b="25653"/>
          <a:stretch>
            <a:fillRect/>
          </a:stretch>
        </p:blipFill>
        <p:spPr>
          <a:xfrm>
            <a:off x="9791065" y="3516630"/>
            <a:ext cx="1952625" cy="679450"/>
          </a:xfrm>
          <a:prstGeom prst="rect">
            <a:avLst/>
          </a:prstGeom>
          <a:noFill/>
          <a:ln w="9525">
            <a:noFill/>
          </a:ln>
        </p:spPr>
      </p:pic>
      <p:sp>
        <p:nvSpPr>
          <p:cNvPr id="46" name="文本框 45"/>
          <p:cNvSpPr txBox="1"/>
          <p:nvPr/>
        </p:nvSpPr>
        <p:spPr>
          <a:xfrm>
            <a:off x="7207250" y="1893570"/>
            <a:ext cx="4653915" cy="810260"/>
          </a:xfrm>
          <a:prstGeom prst="rect">
            <a:avLst/>
          </a:prstGeom>
          <a:solidFill>
            <a:schemeClr val="accent6">
              <a:lumMod val="20000"/>
              <a:lumOff val="80000"/>
            </a:schemeClr>
          </a:solidFill>
        </p:spPr>
        <p:txBody>
          <a:bodyPr wrap="square" rtlCol="0">
            <a:spAutoFit/>
          </a:bodyPr>
          <a:p>
            <a:pPr fontAlgn="auto">
              <a:lnSpc>
                <a:spcPct val="130000"/>
              </a:lnSpc>
            </a:pPr>
            <a:r>
              <a:rPr lang="zh-CN" altLang="zh-CN" b="1">
                <a:latin typeface="微软雅黑" panose="020B0503020204020204" pitchFamily="34" charset="-122"/>
                <a:ea typeface="微软雅黑" panose="020B0503020204020204" pitchFamily="34" charset="-122"/>
                <a:cs typeface="微软雅黑" panose="020B0503020204020204" pitchFamily="34" charset="-122"/>
              </a:rPr>
              <a:t>数据来源于国家电网、澳大利亚电力市场、美国电力市场、</a:t>
            </a:r>
            <a:r>
              <a:rPr lang="en-US" altLang="zh-CN" b="1">
                <a:latin typeface="微软雅黑" panose="020B0503020204020204" pitchFamily="34" charset="-122"/>
                <a:ea typeface="微软雅黑" panose="020B0503020204020204" pitchFamily="34" charset="-122"/>
                <a:cs typeface="微软雅黑" panose="020B0503020204020204" pitchFamily="34" charset="-122"/>
              </a:rPr>
              <a:t>paper with code</a:t>
            </a:r>
            <a:r>
              <a:rPr lang="zh-CN" altLang="en-US"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b="1">
                <a:latin typeface="微软雅黑" panose="020B0503020204020204" pitchFamily="34" charset="-122"/>
                <a:ea typeface="微软雅黑" panose="020B0503020204020204" pitchFamily="34" charset="-122"/>
                <a:cs typeface="微软雅黑" panose="020B0503020204020204" pitchFamily="34" charset="-122"/>
              </a:rPr>
              <a:t>kaggle</a:t>
            </a:r>
            <a:endParaRPr lang="en-US" altLang="zh-CN"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7134225" y="4758055"/>
            <a:ext cx="1706880" cy="398780"/>
          </a:xfrm>
          <a:prstGeom prst="rect">
            <a:avLst/>
          </a:prstGeom>
          <a:noFill/>
        </p:spPr>
        <p:txBody>
          <a:bodyPr wrap="none" rtlCol="0">
            <a:spAutoFit/>
          </a:bodyPr>
          <a:p>
            <a:r>
              <a:rPr lang="zh-CN" altLang="zh-CN" sz="2000" b="1">
                <a:solidFill>
                  <a:srgbClr val="080EF6"/>
                </a:solidFill>
                <a:latin typeface="微软雅黑" panose="020B0503020204020204" pitchFamily="34" charset="-122"/>
                <a:ea typeface="微软雅黑" panose="020B0503020204020204" pitchFamily="34" charset="-122"/>
              </a:rPr>
              <a:t>项目基金支持</a:t>
            </a:r>
            <a:endParaRPr lang="zh-CN" altLang="zh-CN" sz="2000" b="1">
              <a:solidFill>
                <a:srgbClr val="080EF6"/>
              </a:solidFill>
              <a:latin typeface="微软雅黑" panose="020B0503020204020204" pitchFamily="34" charset="-122"/>
              <a:ea typeface="微软雅黑" panose="020B0503020204020204" pitchFamily="34" charset="-122"/>
            </a:endParaRPr>
          </a:p>
        </p:txBody>
      </p:sp>
      <p:sp>
        <p:nvSpPr>
          <p:cNvPr id="19" name="矩形 18"/>
          <p:cNvSpPr/>
          <p:nvPr/>
        </p:nvSpPr>
        <p:spPr>
          <a:xfrm>
            <a:off x="10593070" y="4752340"/>
            <a:ext cx="1348105" cy="1745615"/>
          </a:xfrm>
          <a:prstGeom prst="rect">
            <a:avLst/>
          </a:prstGeom>
          <a:noFill/>
          <a:ln w="19050">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7152640" y="5794375"/>
            <a:ext cx="1712595" cy="737235"/>
          </a:xfrm>
          <a:prstGeom prst="rect">
            <a:avLst/>
          </a:prstGeom>
          <a:solidFill>
            <a:schemeClr val="accent6">
              <a:lumMod val="20000"/>
              <a:lumOff val="80000"/>
            </a:schemeClr>
          </a:solidFill>
          <a:ln w="9525">
            <a:noFill/>
          </a:ln>
        </p:spPr>
        <p:txBody>
          <a:bodyPr wrap="square">
            <a:spAutoFit/>
          </a:bodyPr>
          <a:p>
            <a:pPr indent="0"/>
            <a:r>
              <a:rPr lang="zh-CN" sz="1400" b="1">
                <a:solidFill>
                  <a:srgbClr val="FF0000"/>
                </a:solidFill>
                <a:latin typeface="Times New Roman" panose="02020603050405020304" charset="0"/>
                <a:ea typeface="微软雅黑" panose="020B0503020204020204" pitchFamily="34" charset="-122"/>
                <a:cs typeface="Times New Roman" panose="02020603050405020304" charset="0"/>
              </a:rPr>
              <a:t>辽宁省“兴辽英才计划”基金资助项目</a:t>
            </a:r>
            <a:r>
              <a:rPr lang="en-US" sz="1400" b="1">
                <a:solidFill>
                  <a:srgbClr val="FF0000"/>
                </a:solidFill>
                <a:latin typeface="Times New Roman" panose="02020603050405020304" charset="0"/>
                <a:ea typeface="微软雅黑" panose="020B0503020204020204" pitchFamily="34" charset="-122"/>
                <a:cs typeface="Times New Roman" panose="02020603050405020304" charset="0"/>
              </a:rPr>
              <a:t>(XLYC1902090)</a:t>
            </a:r>
            <a:endParaRPr lang="en-US" altLang="en-US" sz="1400" b="1">
              <a:solidFill>
                <a:srgbClr val="FF0000"/>
              </a:solidFill>
              <a:latin typeface="Times New Roman" panose="02020603050405020304" charset="0"/>
              <a:ea typeface="微软雅黑" panose="020B0503020204020204" pitchFamily="34" charset="-122"/>
              <a:cs typeface="Times New Roman" panose="02020603050405020304" charset="0"/>
            </a:endParaRPr>
          </a:p>
        </p:txBody>
      </p:sp>
      <p:pic>
        <p:nvPicPr>
          <p:cNvPr id="7" name="图片 6"/>
          <p:cNvPicPr>
            <a:picLocks noChangeAspect="1"/>
          </p:cNvPicPr>
          <p:nvPr/>
        </p:nvPicPr>
        <p:blipFill>
          <a:blip r:embed="rId17"/>
          <a:stretch>
            <a:fillRect/>
          </a:stretch>
        </p:blipFill>
        <p:spPr>
          <a:xfrm>
            <a:off x="9144635" y="4758055"/>
            <a:ext cx="1363980" cy="1659255"/>
          </a:xfrm>
          <a:prstGeom prst="rect">
            <a:avLst/>
          </a:prstGeom>
        </p:spPr>
      </p:pic>
      <p:sp>
        <p:nvSpPr>
          <p:cNvPr id="9" name="矩形 8"/>
          <p:cNvSpPr/>
          <p:nvPr>
            <p:custDataLst>
              <p:tags r:id="rId18"/>
            </p:custDataLst>
          </p:nvPr>
        </p:nvSpPr>
        <p:spPr>
          <a:xfrm>
            <a:off x="9144635" y="4758055"/>
            <a:ext cx="1348105" cy="1745615"/>
          </a:xfrm>
          <a:prstGeom prst="rect">
            <a:avLst/>
          </a:prstGeom>
          <a:noFill/>
          <a:ln w="19050">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文本框 13"/>
          <p:cNvSpPr txBox="1"/>
          <p:nvPr>
            <p:custDataLst>
              <p:tags r:id="rId19"/>
            </p:custDataLst>
          </p:nvPr>
        </p:nvSpPr>
        <p:spPr>
          <a:xfrm>
            <a:off x="7151370" y="5165725"/>
            <a:ext cx="1712595" cy="521970"/>
          </a:xfrm>
          <a:prstGeom prst="rect">
            <a:avLst/>
          </a:prstGeom>
          <a:solidFill>
            <a:schemeClr val="accent6">
              <a:lumMod val="20000"/>
              <a:lumOff val="80000"/>
            </a:schemeClr>
          </a:solidFill>
          <a:ln w="9525">
            <a:noFill/>
          </a:ln>
        </p:spPr>
        <p:txBody>
          <a:bodyPr wrap="square">
            <a:spAutoFit/>
          </a:bodyPr>
          <a:p>
            <a:pPr indent="0"/>
            <a:r>
              <a:rPr lang="zh-CN" sz="1400" b="1">
                <a:solidFill>
                  <a:srgbClr val="FF0000"/>
                </a:solidFill>
                <a:latin typeface="Times New Roman" panose="02020603050405020304" charset="0"/>
                <a:ea typeface="微软雅黑" panose="020B0503020204020204" pitchFamily="34" charset="-122"/>
                <a:cs typeface="Times New Roman" panose="02020603050405020304" charset="0"/>
              </a:rPr>
              <a:t>国家重点研发</a:t>
            </a:r>
            <a:r>
              <a:rPr lang="zh-CN" sz="1400" b="1">
                <a:solidFill>
                  <a:srgbClr val="FF0000"/>
                </a:solidFill>
                <a:latin typeface="Times New Roman" panose="02020603050405020304" charset="0"/>
                <a:ea typeface="微软雅黑" panose="020B0503020204020204" pitchFamily="34" charset="-122"/>
                <a:cs typeface="Times New Roman" panose="02020603050405020304" charset="0"/>
              </a:rPr>
              <a:t>计划</a:t>
            </a:r>
            <a:r>
              <a:rPr lang="en-US" sz="1400" b="1">
                <a:solidFill>
                  <a:srgbClr val="FF0000"/>
                </a:solidFill>
                <a:latin typeface="Times New Roman" panose="02020603050405020304" charset="0"/>
                <a:ea typeface="微软雅黑" panose="020B0503020204020204" pitchFamily="34" charset="-122"/>
                <a:cs typeface="Times New Roman" panose="02020603050405020304" charset="0"/>
              </a:rPr>
              <a:t>(2022YFB4100802)</a:t>
            </a:r>
            <a:endParaRPr lang="en-US" altLang="en-US" sz="1400" b="1">
              <a:solidFill>
                <a:srgbClr val="FF0000"/>
              </a:solidFill>
              <a:latin typeface="Times New Roman" panose="02020603050405020304" charset="0"/>
              <a:ea typeface="微软雅黑" panose="020B0503020204020204" pitchFamily="34" charset="-122"/>
              <a:cs typeface="Times New Roman" panose="02020603050405020304" charset="0"/>
            </a:endParaRPr>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500"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4" presetClass="entr" presetSubtype="10" restart="never" repeatDur="0" fill="hold" grpId="0" nodeType="afterEffect">
                                  <p:stCondLst>
                                    <p:cond delay="0"/>
                                  </p:stCondLst>
                                  <p:childTnLst>
                                    <p:set>
                                      <p:cBhvr>
                                        <p:cTn id="10" dur="500"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par>
                          <p:cTn id="12" fill="hold">
                            <p:stCondLst>
                              <p:cond delay="1000"/>
                            </p:stCondLst>
                            <p:childTnLst>
                              <p:par>
                                <p:cTn id="13" presetID="14" presetClass="entr" presetSubtype="10" restart="never" repeatDur="0" fill="hold" grpId="0" nodeType="afterEffect">
                                  <p:stCondLst>
                                    <p:cond delay="0"/>
                                  </p:stCondLst>
                                  <p:childTnLst>
                                    <p:set>
                                      <p:cBhvr>
                                        <p:cTn id="14" dur="500" fill="hold">
                                          <p:stCondLst>
                                            <p:cond delay="0"/>
                                          </p:stCondLst>
                                        </p:cTn>
                                        <p:tgtEl>
                                          <p:spTgt spid="10"/>
                                        </p:tgtEl>
                                        <p:attrNameLst>
                                          <p:attrName>style.visibility</p:attrName>
                                        </p:attrNameLst>
                                      </p:cBhvr>
                                      <p:to>
                                        <p:strVal val="visible"/>
                                      </p:to>
                                    </p:set>
                                    <p:animEffect transition="in" filter="randombar(horizontal)">
                                      <p:cBhvr>
                                        <p:cTn id="15" dur="500"/>
                                        <p:tgtEl>
                                          <p:spTgt spid="10"/>
                                        </p:tgtEl>
                                      </p:cBhvr>
                                    </p:animEffect>
                                  </p:childTnLst>
                                </p:cTn>
                              </p:par>
                            </p:childTnLst>
                          </p:cTn>
                        </p:par>
                        <p:par>
                          <p:cTn id="16" fill="hold">
                            <p:stCondLst>
                              <p:cond delay="1500"/>
                            </p:stCondLst>
                            <p:childTnLst>
                              <p:par>
                                <p:cTn id="17" presetID="14" presetClass="entr" presetSubtype="10" restart="never" repeatDur="0" fill="hold" grpId="0" nodeType="afterEffect">
                                  <p:stCondLst>
                                    <p:cond delay="0"/>
                                  </p:stCondLst>
                                  <p:childTnLst>
                                    <p:set>
                                      <p:cBhvr>
                                        <p:cTn id="18" dur="500" fill="hold">
                                          <p:stCondLst>
                                            <p:cond delay="0"/>
                                          </p:stCondLst>
                                        </p:cTn>
                                        <p:tgtEl>
                                          <p:spTgt spid="2"/>
                                        </p:tgtEl>
                                        <p:attrNameLst>
                                          <p:attrName>style.visibility</p:attrName>
                                        </p:attrNameLst>
                                      </p:cBhvr>
                                      <p:to>
                                        <p:strVal val="visible"/>
                                      </p:to>
                                    </p:set>
                                    <p:animEffect transition="in" filter="randombar(horizontal)">
                                      <p:cBhvr>
                                        <p:cTn id="19" dur="500"/>
                                        <p:tgtEl>
                                          <p:spTgt spid="2"/>
                                        </p:tgtEl>
                                      </p:cBhvr>
                                    </p:animEffect>
                                  </p:childTnLst>
                                </p:cTn>
                              </p:par>
                            </p:childTnLst>
                          </p:cTn>
                        </p:par>
                        <p:par>
                          <p:cTn id="20" fill="hold">
                            <p:stCondLst>
                              <p:cond delay="2000"/>
                            </p:stCondLst>
                            <p:childTnLst>
                              <p:par>
                                <p:cTn id="21" presetID="2" presetClass="entr" presetSubtype="8" fill="hold" grpId="0" nodeType="afterEffect">
                                  <p:stCondLst>
                                    <p:cond delay="0"/>
                                  </p:stCondLst>
                                  <p:childTnLst>
                                    <p:set>
                                      <p:cBhvr>
                                        <p:cTn id="22" dur="500"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8" grpId="0" bldLvl="0" animBg="1"/>
      <p:bldP spid="10" grpId="0" bldLvl="0" animBg="1"/>
      <p:bldP spid="2" grpId="0" bldLvl="0" animBg="1"/>
      <p:bldP spid="13"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690918"/>
            <a:ext cx="12192000" cy="5476164"/>
          </a:xfrm>
          <a:prstGeom prst="rect">
            <a:avLst/>
          </a:prstGeom>
        </p:spPr>
      </p:pic>
      <p:sp>
        <p:nvSpPr>
          <p:cNvPr id="4" name="矩形 3"/>
          <p:cNvSpPr/>
          <p:nvPr/>
        </p:nvSpPr>
        <p:spPr>
          <a:xfrm>
            <a:off x="0" y="0"/>
            <a:ext cx="12192000" cy="6909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6167082"/>
            <a:ext cx="12192000" cy="6909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a:off x="0" y="690918"/>
            <a:ext cx="12192000" cy="5476164"/>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576564" y="1659784"/>
            <a:ext cx="9033242" cy="2215991"/>
          </a:xfrm>
          <a:prstGeom prst="rect">
            <a:avLst/>
          </a:prstGeom>
          <a:noFill/>
        </p:spPr>
        <p:txBody>
          <a:bodyPr wrap="none" rtlCol="0">
            <a:spAutoFit/>
          </a:bodyPr>
          <a:lstStyle/>
          <a:p>
            <a:r>
              <a:rPr lang="zh-CN" altLang="en-US" sz="13800" dirty="0">
                <a:solidFill>
                  <a:srgbClr val="1779B2"/>
                </a:solidFill>
                <a:latin typeface="华文行楷" panose="02010800040101010101" pitchFamily="2" charset="-122"/>
                <a:ea typeface="华文行楷" panose="02010800040101010101" pitchFamily="2" charset="-122"/>
              </a:rPr>
              <a:t>自强</a:t>
            </a:r>
            <a:r>
              <a:rPr lang="en-US" altLang="zh-CN" sz="13800" dirty="0">
                <a:solidFill>
                  <a:srgbClr val="1779B2"/>
                </a:solidFill>
                <a:latin typeface="华文行楷" panose="02010800040101010101" pitchFamily="2" charset="-122"/>
                <a:ea typeface="华文行楷" panose="02010800040101010101" pitchFamily="2" charset="-122"/>
              </a:rPr>
              <a:t>·</a:t>
            </a:r>
            <a:r>
              <a:rPr lang="zh-CN" altLang="en-US" sz="13800" dirty="0">
                <a:solidFill>
                  <a:srgbClr val="1779B2"/>
                </a:solidFill>
                <a:latin typeface="华文行楷" panose="02010800040101010101" pitchFamily="2" charset="-122"/>
                <a:ea typeface="华文行楷" panose="02010800040101010101" pitchFamily="2" charset="-122"/>
              </a:rPr>
              <a:t>笃行</a:t>
            </a:r>
            <a:endParaRPr lang="zh-CN" altLang="en-US" sz="13800" dirty="0">
              <a:solidFill>
                <a:srgbClr val="1779B2"/>
              </a:solidFill>
              <a:latin typeface="华文行楷" panose="02010800040101010101" pitchFamily="2" charset="-122"/>
              <a:ea typeface="华文行楷" panose="02010800040101010101" pitchFamily="2" charset="-122"/>
            </a:endParaRPr>
          </a:p>
        </p:txBody>
      </p:sp>
      <p:pic>
        <p:nvPicPr>
          <p:cNvPr id="159" name="图片 15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8370" y="1975556"/>
            <a:ext cx="1529630" cy="1529630"/>
          </a:xfrm>
          <a:prstGeom prst="ellipse">
            <a:avLst/>
          </a:prstGeom>
        </p:spPr>
      </p:pic>
      <p:sp>
        <p:nvSpPr>
          <p:cNvPr id="161" name="文本框 160"/>
          <p:cNvSpPr txBox="1"/>
          <p:nvPr/>
        </p:nvSpPr>
        <p:spPr>
          <a:xfrm>
            <a:off x="2519540" y="4841756"/>
            <a:ext cx="7152920" cy="461665"/>
          </a:xfrm>
          <a:prstGeom prst="rect">
            <a:avLst/>
          </a:prstGeom>
          <a:noFill/>
        </p:spPr>
        <p:txBody>
          <a:bodyPr wrap="square" rtlCol="0">
            <a:spAutoFit/>
          </a:bodyPr>
          <a:lstStyle/>
          <a:p>
            <a:r>
              <a:rPr lang="en-US" altLang="zh-CN" sz="2400" spc="300" dirty="0">
                <a:solidFill>
                  <a:srgbClr val="1779B2"/>
                </a:solidFill>
              </a:rPr>
              <a:t>SHENYANG UNIVERSITY OF TECHNOLOGY</a:t>
            </a:r>
            <a:endParaRPr lang="zh-CN" altLang="en-US" sz="2400" spc="300" dirty="0">
              <a:solidFill>
                <a:srgbClr val="1779B2"/>
              </a:solidFill>
            </a:endParaRPr>
          </a:p>
        </p:txBody>
      </p:sp>
      <p:sp>
        <p:nvSpPr>
          <p:cNvPr id="162" name="文本框 161"/>
          <p:cNvSpPr txBox="1"/>
          <p:nvPr/>
        </p:nvSpPr>
        <p:spPr>
          <a:xfrm>
            <a:off x="2610911" y="3917135"/>
            <a:ext cx="7588885" cy="829945"/>
          </a:xfrm>
          <a:prstGeom prst="rect">
            <a:avLst/>
          </a:prstGeom>
          <a:noFill/>
        </p:spPr>
        <p:txBody>
          <a:bodyPr wrap="none" rtlCol="0">
            <a:spAutoFit/>
          </a:bodyPr>
          <a:lstStyle/>
          <a:p>
            <a:r>
              <a:rPr lang="en-US" altLang="zh-CN" sz="4800" dirty="0">
                <a:solidFill>
                  <a:srgbClr val="1779B2"/>
                </a:solidFill>
              </a:rPr>
              <a:t>—— </a:t>
            </a:r>
            <a:r>
              <a:rPr lang="zh-CN" altLang="en-US" sz="4800" spc="600" dirty="0">
                <a:solidFill>
                  <a:srgbClr val="1779B2"/>
                </a:solidFill>
              </a:rPr>
              <a:t>请老师指正批评</a:t>
            </a:r>
            <a:r>
              <a:rPr lang="en-US" altLang="zh-CN" sz="4800" dirty="0">
                <a:solidFill>
                  <a:srgbClr val="1779B2"/>
                </a:solidFill>
              </a:rPr>
              <a:t>——</a:t>
            </a:r>
            <a:endParaRPr lang="zh-CN" altLang="en-US" sz="4800" dirty="0">
              <a:solidFill>
                <a:srgbClr val="1779B2"/>
              </a:solidFill>
            </a:endParaRPr>
          </a:p>
        </p:txBody>
      </p:sp>
    </p:spTree>
  </p:cSld>
  <p:clrMapOvr>
    <a:masterClrMapping/>
  </p:clrMapOvr>
  <p:transition>
    <p:dissolve/>
  </p:transition>
</p:sld>
</file>

<file path=ppt/tags/tag1.xml><?xml version="1.0" encoding="utf-8"?>
<p:tagLst xmlns:p="http://schemas.openxmlformats.org/presentationml/2006/main">
  <p:tag name="KSO_WM_UNIT_PLACING_PICTURE_USER_VIEWPORT" val="{&quot;height&quot;:2923,&quot;width&quot;:4494}"/>
</p:tagLst>
</file>

<file path=ppt/tags/tag2.xml><?xml version="1.0" encoding="utf-8"?>
<p:tagLst xmlns:p="http://schemas.openxmlformats.org/presentationml/2006/main">
  <p:tag name="KSO_WM_UNIT_PLACING_PICTURE_USER_VIEWPORT" val="{&quot;height&quot;:3105,&quot;width&quot;:4613}"/>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TAG_VERSION" val="1.0"/>
  <p:tag name="KSO_WM_BEAUTIFY_FLAG" val="#wm#"/>
  <p:tag name="KSO_WM_TEMPLATE_CATEGORY" val="diagram"/>
  <p:tag name="KSO_WM_TEMPLATE_INDEX" val="160354"/>
  <p:tag name="KSO_WM_UNIT_TYPE" val="m_i"/>
  <p:tag name="KSO_WM_UNIT_INDEX" val="1_1"/>
  <p:tag name="KSO_WM_UNIT_ID" val="diagram160354_6*m_i*1_1"/>
  <p:tag name="KSO_WM_UNIT_LAYERLEVEL" val="1_1"/>
  <p:tag name="KSO_WM_DIAGRAM_GROUP_CODE" val="m1-1"/>
  <p:tag name="KSO_WM_UNIT_LINE_FORE_SCHEMECOLOR_INDEX" val="8"/>
  <p:tag name="KSO_WM_UNIT_LINE_FILL_TYPE" val="2"/>
</p:tagLst>
</file>

<file path=ppt/tags/tag11.xml><?xml version="1.0" encoding="utf-8"?>
<p:tagLst xmlns:p="http://schemas.openxmlformats.org/presentationml/2006/main">
  <p:tag name="KSO_WM_TAG_VERSION" val="1.0"/>
  <p:tag name="KSO_WM_BEAUTIFY_FLAG" val="#wm#"/>
  <p:tag name="KSO_WM_TEMPLATE_CATEGORY" val="diagram"/>
  <p:tag name="KSO_WM_TEMPLATE_INDEX" val="160354"/>
  <p:tag name="KSO_WM_UNIT_TYPE" val="m_i"/>
  <p:tag name="KSO_WM_UNIT_INDEX" val="1_1"/>
  <p:tag name="KSO_WM_UNIT_ID" val="diagram160354_6*m_i*1_1"/>
  <p:tag name="KSO_WM_UNIT_LAYERLEVEL" val="1_1"/>
  <p:tag name="KSO_WM_DIAGRAM_GROUP_CODE" val="m1-1"/>
  <p:tag name="KSO_WM_UNIT_LINE_FORE_SCHEMECOLOR_INDEX" val="8"/>
  <p:tag name="KSO_WM_UNIT_LINE_FILL_TYPE" val="2"/>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UNIT_PLACING_PICTURE_USER_VIEWPORT" val="{&quot;height&quot;:2621,&quot;width&quot;:5986}"/>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 name="KSO_WM_UNIT_PLACING_PICTURE_USER_VIEWPORT" val="{&quot;height&quot;:6015,&quot;width&quot;:10440}"/>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UNIT_PLACING_PICTURE_USER_VIEWPORT" val="{&quot;height&quot;:15165,&quot;width&quot;:26040}"/>
</p:tagLst>
</file>

<file path=ppt/tags/tag261.xml><?xml version="1.0" encoding="utf-8"?>
<p:tagLst xmlns:p="http://schemas.openxmlformats.org/presentationml/2006/main">
  <p:tag name="KSO_WM_UNIT_PLACING_PICTURE_USER_VIEWPORT" val="{&quot;height&quot;:2621,&quot;width&quot;:5986}"/>
</p:tagLst>
</file>

<file path=ppt/tags/tag262.xml><?xml version="1.0" encoding="utf-8"?>
<p:tagLst xmlns:p="http://schemas.openxmlformats.org/presentationml/2006/main">
  <p:tag name="KSO_WM_UNIT_PLACING_PICTURE_USER_VIEWPORT" val="{&quot;height&quot;:11190,&quot;width&quot;:10650}"/>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UNIT_PLACING_PICTURE_USER_VIEWPORT" val="{&quot;height&quot;:10800,&quot;width&quot;:14106}"/>
</p:tagLst>
</file>

<file path=ppt/tags/tag269.xml><?xml version="1.0" encoding="utf-8"?>
<p:tagLst xmlns:p="http://schemas.openxmlformats.org/presentationml/2006/main">
  <p:tag name="KSO_WM_UNIT_PLACING_PICTURE_USER_VIEWPORT" val="{&quot;height&quot;:8014,&quot;width&quot;:14297}"/>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UNIT_TABLE_BEAUTIFY" val="smartTable{1c7c40fe-1e70-4e03-a8f8-4aba799c64f8}"/>
  <p:tag name="TABLE_ENDDRAG_ORIGIN_RECT" val="480*328"/>
  <p:tag name="TABLE_ENDDRAG_RECT" val="65*110*480*328"/>
</p:tagLst>
</file>

<file path=ppt/tags/tag273.xml><?xml version="1.0" encoding="utf-8"?>
<p:tagLst xmlns:p="http://schemas.openxmlformats.org/presentationml/2006/main">
  <p:tag name="KSO_WM_UNIT_PLACING_PICTURE_USER_VIEWPORT" val="{&quot;height&quot;:3281,&quot;width&quot;:2825}"/>
</p:tagLst>
</file>

<file path=ppt/tags/tag274.xml><?xml version="1.0" encoding="utf-8"?>
<p:tagLst xmlns:p="http://schemas.openxmlformats.org/presentationml/2006/main">
  <p:tag name="KSO_WM_UNIT_PLACING_PICTURE_USER_VIEWPORT" val="{&quot;height&quot;:2173,&quot;width&quot;:2426}"/>
</p:tagLst>
</file>

<file path=ppt/tags/tag275.xml><?xml version="1.0" encoding="utf-8"?>
<p:tagLst xmlns:p="http://schemas.openxmlformats.org/presentationml/2006/main">
  <p:tag name="KSO_WM_UNIT_PLACING_PICTURE_USER_VIEWPORT" val="{&quot;height&quot;:1756,&quot;width&quot;:2679}"/>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ISLIDE.GUIDESSETTING" val="{&quot;Id&quot;:null,&quot;Name&quot;:&quot;窄&quot;,&quot;HeaderHeight&quot;:10.0,&quot;FooterHeight&quot;:5.0,&quot;SideMargin&quot;:2.5,&quot;TopMargin&quot;:0.0,&quot;BottomMargin&quot;:0.0,&quot;IntervalMargin&quot;:1.0,&quot;SettingType&quot;:&quot;System&quot;}"/>
  <p:tag name="COMMONDATA" val="eyJoZGlkIjoiNDNiODgyMTgyM2M1YTdiYTQ5ODY0MDhjYzNmN2M5OGIifQ=="/>
  <p:tag name="KSO_WPP_MARK_KEY" val="25889f53-14ed-423a-8e01-7a252b0c742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11491</Words>
  <Application>WPS 演示</Application>
  <PresentationFormat>宽屏</PresentationFormat>
  <Paragraphs>1252</Paragraphs>
  <Slides>44</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12</vt:i4>
      </vt:variant>
      <vt:variant>
        <vt:lpstr>幻灯片标题</vt:lpstr>
      </vt:variant>
      <vt:variant>
        <vt:i4>44</vt:i4>
      </vt:variant>
    </vt:vector>
  </HeadingPairs>
  <TitlesOfParts>
    <vt:vector size="71" baseType="lpstr">
      <vt:lpstr>Arial</vt:lpstr>
      <vt:lpstr>宋体</vt:lpstr>
      <vt:lpstr>Wingdings</vt:lpstr>
      <vt:lpstr>微软雅黑</vt:lpstr>
      <vt:lpstr>方正大标宋简体</vt:lpstr>
      <vt:lpstr>Wingdings 3</vt:lpstr>
      <vt:lpstr>华文行楷</vt:lpstr>
      <vt:lpstr>楷体</vt:lpstr>
      <vt:lpstr>Times New Roman</vt:lpstr>
      <vt:lpstr>等线</vt:lpstr>
      <vt:lpstr>Arial Unicode MS</vt:lpstr>
      <vt:lpstr>幼圆</vt:lpstr>
      <vt:lpstr>Calibri</vt:lpstr>
      <vt:lpstr>等线 Light</vt:lpstr>
      <vt:lpstr>Office 主题​​</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东方海恒</dc:creator>
  <cp:lastModifiedBy>Mask</cp:lastModifiedBy>
  <cp:revision>1324</cp:revision>
  <dcterms:created xsi:type="dcterms:W3CDTF">2018-12-09T03:44:00Z</dcterms:created>
  <dcterms:modified xsi:type="dcterms:W3CDTF">2023-06-05T06:03:15Z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F09101BAE0F24608A9602DAE8F4E16DE</vt:lpwstr>
  </property>
</Properties>
</file>