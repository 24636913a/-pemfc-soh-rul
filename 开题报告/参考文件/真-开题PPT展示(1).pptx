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1.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2.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notesSlides/notesSlide8.xml" ContentType="application/vnd.openxmlformats-officedocument.presentationml.notesSlide+xml"/>
  <Override PartName="/ppt/tags/tag193.xml" ContentType="application/vnd.openxmlformats-officedocument.presentationml.tags+xml"/>
  <Override PartName="/ppt/notesSlides/notesSlide9.xml" ContentType="application/vnd.openxmlformats-officedocument.presentationml.notesSlide+xml"/>
  <Override PartName="/ppt/tags/tag194.xml" ContentType="application/vnd.openxmlformats-officedocument.presentationml.tags+xml"/>
  <Override PartName="/ppt/tags/tag195.xml" ContentType="application/vnd.openxmlformats-officedocument.presentationml.tags+xml"/>
  <Override PartName="/ppt/notesSlides/notesSlide10.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notesSlides/notesSlide11.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12.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notesSlides/notesSlide13.xml" ContentType="application/vnd.openxmlformats-officedocument.presentationml.notesSlide+xml"/>
  <Override PartName="/ppt/tags/tag213.xml" ContentType="application/vnd.openxmlformats-officedocument.presentationml.tags+xml"/>
  <Override PartName="/ppt/tags/tag214.xml" ContentType="application/vnd.openxmlformats-officedocument.presentationml.tags+xml"/>
  <Override PartName="/ppt/notesSlides/notesSlide14.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notesMasterIdLst>
    <p:notesMasterId r:id="rId34"/>
  </p:notesMasterIdLst>
  <p:handoutMasterIdLst>
    <p:handoutMasterId r:id="rId35"/>
  </p:handoutMasterIdLst>
  <p:sldIdLst>
    <p:sldId id="370" r:id="rId3"/>
    <p:sldId id="608" r:id="rId4"/>
    <p:sldId id="517" r:id="rId5"/>
    <p:sldId id="286" r:id="rId6"/>
    <p:sldId id="415" r:id="rId7"/>
    <p:sldId id="418" r:id="rId8"/>
    <p:sldId id="419" r:id="rId9"/>
    <p:sldId id="420" r:id="rId10"/>
    <p:sldId id="421" r:id="rId11"/>
    <p:sldId id="423" r:id="rId12"/>
    <p:sldId id="518" r:id="rId13"/>
    <p:sldId id="463" r:id="rId14"/>
    <p:sldId id="589" r:id="rId15"/>
    <p:sldId id="464" r:id="rId16"/>
    <p:sldId id="468" r:id="rId17"/>
    <p:sldId id="590" r:id="rId18"/>
    <p:sldId id="469" r:id="rId19"/>
    <p:sldId id="508" r:id="rId20"/>
    <p:sldId id="509" r:id="rId21"/>
    <p:sldId id="519" r:id="rId22"/>
    <p:sldId id="512" r:id="rId23"/>
    <p:sldId id="410" r:id="rId24"/>
    <p:sldId id="514" r:id="rId25"/>
    <p:sldId id="516" r:id="rId26"/>
    <p:sldId id="580" r:id="rId27"/>
    <p:sldId id="581" r:id="rId28"/>
    <p:sldId id="582" r:id="rId29"/>
    <p:sldId id="585" r:id="rId30"/>
    <p:sldId id="586" r:id="rId31"/>
    <p:sldId id="587" r:id="rId32"/>
    <p:sldId id="280" r:id="rId33"/>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1"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定康" initials="定康"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2A2D5"/>
    <a:srgbClr val="35772E"/>
    <a:srgbClr val="4D7630"/>
    <a:srgbClr val="FFFFFF"/>
    <a:srgbClr val="A75450"/>
    <a:srgbClr val="A9CD39"/>
    <a:srgbClr val="016533"/>
    <a:srgbClr val="006835"/>
    <a:srgbClr val="35C9B1"/>
    <a:srgbClr val="3679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62" autoAdjust="0"/>
    <p:restoredTop sz="94660"/>
  </p:normalViewPr>
  <p:slideViewPr>
    <p:cSldViewPr snapToGrid="0" showGuides="1">
      <p:cViewPr varScale="1">
        <p:scale>
          <a:sx n="79" d="100"/>
          <a:sy n="79" d="100"/>
        </p:scale>
        <p:origin x="778" y="67"/>
      </p:cViewPr>
      <p:guideLst>
        <p:guide orient="horz" pos="223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2024/9/12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2024/9/12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9" name="任意多边形: 形状 8"/>
          <p:cNvSpPr/>
          <p:nvPr/>
        </p:nvSpPr>
        <p:spPr>
          <a:xfrm rot="19380000">
            <a:off x="-37060" y="1213099"/>
            <a:ext cx="7346057" cy="8733485"/>
          </a:xfrm>
          <a:custGeom>
            <a:avLst/>
            <a:gdLst>
              <a:gd name="connsiteX0" fmla="*/ 6795648 w 7346057"/>
              <a:gd name="connsiteY0" fmla="*/ 226803 h 8733485"/>
              <a:gd name="connsiteX1" fmla="*/ 6881284 w 7346057"/>
              <a:gd name="connsiteY1" fmla="*/ 291645 h 8733485"/>
              <a:gd name="connsiteX2" fmla="*/ 7346057 w 7346057"/>
              <a:gd name="connsiteY2" fmla="*/ 1277175 h 8733485"/>
              <a:gd name="connsiteX3" fmla="*/ 7346057 w 7346057"/>
              <a:gd name="connsiteY3" fmla="*/ 8693743 h 8733485"/>
              <a:gd name="connsiteX4" fmla="*/ 7344050 w 7346057"/>
              <a:gd name="connsiteY4" fmla="*/ 8733485 h 8733485"/>
              <a:gd name="connsiteX5" fmla="*/ 0 w 7346057"/>
              <a:gd name="connsiteY5" fmla="*/ 3199346 h 8733485"/>
              <a:gd name="connsiteX6" fmla="*/ 2410880 w 7346057"/>
              <a:gd name="connsiteY6" fmla="*/ 0 h 8733485"/>
              <a:gd name="connsiteX7" fmla="*/ 6068882 w 7346057"/>
              <a:gd name="connsiteY7" fmla="*/ 0 h 8733485"/>
              <a:gd name="connsiteX8" fmla="*/ 6795648 w 7346057"/>
              <a:gd name="connsiteY8" fmla="*/ 226803 h 873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46057" h="8733485">
                <a:moveTo>
                  <a:pt x="6795648" y="226803"/>
                </a:moveTo>
                <a:cubicBezTo>
                  <a:pt x="6825118" y="247233"/>
                  <a:pt x="6853688" y="268871"/>
                  <a:pt x="6881284" y="291645"/>
                </a:cubicBezTo>
                <a:cubicBezTo>
                  <a:pt x="7165132" y="525898"/>
                  <a:pt x="7346057" y="880408"/>
                  <a:pt x="7346057" y="1277175"/>
                </a:cubicBezTo>
                <a:lnTo>
                  <a:pt x="7346057" y="8693743"/>
                </a:lnTo>
                <a:lnTo>
                  <a:pt x="7344050" y="8733485"/>
                </a:lnTo>
                <a:lnTo>
                  <a:pt x="0" y="3199346"/>
                </a:lnTo>
                <a:lnTo>
                  <a:pt x="2410880" y="0"/>
                </a:lnTo>
                <a:lnTo>
                  <a:pt x="6068882" y="0"/>
                </a:lnTo>
                <a:cubicBezTo>
                  <a:pt x="6338905" y="0"/>
                  <a:pt x="6589354" y="83796"/>
                  <a:pt x="6795648" y="226803"/>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3" name="任意多边形: 形状 32"/>
          <p:cNvSpPr/>
          <p:nvPr userDrawn="1"/>
        </p:nvSpPr>
        <p:spPr>
          <a:xfrm rot="19380000">
            <a:off x="5637282" y="-2426972"/>
            <a:ext cx="6085662" cy="5576710"/>
          </a:xfrm>
          <a:custGeom>
            <a:avLst/>
            <a:gdLst>
              <a:gd name="connsiteX0" fmla="*/ 6085662 w 6085662"/>
              <a:gd name="connsiteY0" fmla="*/ 4585875 h 5576710"/>
              <a:gd name="connsiteX1" fmla="*/ 5339013 w 6085662"/>
              <a:gd name="connsiteY1" fmla="*/ 5576710 h 5576710"/>
              <a:gd name="connsiteX2" fmla="*/ 1180875 w 6085662"/>
              <a:gd name="connsiteY2" fmla="*/ 5576710 h 5576710"/>
              <a:gd name="connsiteX3" fmla="*/ 0 w 6085662"/>
              <a:gd name="connsiteY3" fmla="*/ 4395835 h 5576710"/>
              <a:gd name="connsiteX4" fmla="*/ 0 w 6085662"/>
              <a:gd name="connsiteY4" fmla="*/ 0 h 5576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5662" h="5576710">
                <a:moveTo>
                  <a:pt x="6085662" y="4585875"/>
                </a:moveTo>
                <a:lnTo>
                  <a:pt x="5339013" y="5576710"/>
                </a:lnTo>
                <a:lnTo>
                  <a:pt x="1180875" y="5576710"/>
                </a:lnTo>
                <a:cubicBezTo>
                  <a:pt x="528696" y="5576710"/>
                  <a:pt x="0" y="5048014"/>
                  <a:pt x="0" y="4395835"/>
                </a:cubicBezTo>
                <a:lnTo>
                  <a:pt x="0" y="0"/>
                </a:lnTo>
                <a:close/>
              </a:path>
            </a:pathLst>
          </a:custGeom>
          <a:solidFill>
            <a:srgbClr val="00683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4" name="任意多边形: 形状 33"/>
          <p:cNvSpPr/>
          <p:nvPr userDrawn="1"/>
        </p:nvSpPr>
        <p:spPr>
          <a:xfrm rot="19400633">
            <a:off x="8319887" y="3074465"/>
            <a:ext cx="4984161" cy="2074322"/>
          </a:xfrm>
          <a:custGeom>
            <a:avLst/>
            <a:gdLst>
              <a:gd name="connsiteX0" fmla="*/ 4984161 w 4984161"/>
              <a:gd name="connsiteY0" fmla="*/ 0 h 2074322"/>
              <a:gd name="connsiteX1" fmla="*/ 3440479 w 4984161"/>
              <a:gd name="connsiteY1" fmla="*/ 2074322 h 2074322"/>
              <a:gd name="connsiteX2" fmla="*/ 1037161 w 4984161"/>
              <a:gd name="connsiteY2" fmla="*/ 2074322 h 2074322"/>
              <a:gd name="connsiteX3" fmla="*/ 0 w 4984161"/>
              <a:gd name="connsiteY3" fmla="*/ 1037161 h 2074322"/>
              <a:gd name="connsiteX4" fmla="*/ 1037161 w 4984161"/>
              <a:gd name="connsiteY4" fmla="*/ 0 h 20743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4161" h="2074322">
                <a:moveTo>
                  <a:pt x="4984161" y="0"/>
                </a:moveTo>
                <a:lnTo>
                  <a:pt x="3440479" y="2074322"/>
                </a:lnTo>
                <a:lnTo>
                  <a:pt x="1037161" y="2074322"/>
                </a:lnTo>
                <a:cubicBezTo>
                  <a:pt x="464353" y="2074322"/>
                  <a:pt x="0" y="1609969"/>
                  <a:pt x="0" y="1037161"/>
                </a:cubicBezTo>
                <a:cubicBezTo>
                  <a:pt x="0" y="464353"/>
                  <a:pt x="464353" y="0"/>
                  <a:pt x="1037161" y="0"/>
                </a:cubicBezTo>
                <a:close/>
              </a:path>
            </a:pathLst>
          </a:cu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5" name="任意多边形: 形状 34"/>
          <p:cNvSpPr/>
          <p:nvPr userDrawn="1"/>
        </p:nvSpPr>
        <p:spPr>
          <a:xfrm rot="19380000">
            <a:off x="669076" y="-781273"/>
            <a:ext cx="2049812" cy="1633543"/>
          </a:xfrm>
          <a:custGeom>
            <a:avLst/>
            <a:gdLst>
              <a:gd name="connsiteX0" fmla="*/ 0 w 2049812"/>
              <a:gd name="connsiteY0" fmla="*/ 0 h 1633543"/>
              <a:gd name="connsiteX1" fmla="*/ 2049812 w 2049812"/>
              <a:gd name="connsiteY1" fmla="*/ 1544644 h 1633543"/>
              <a:gd name="connsiteX2" fmla="*/ 1995891 w 2049812"/>
              <a:gd name="connsiteY2" fmla="*/ 1564379 h 1633543"/>
              <a:gd name="connsiteX3" fmla="*/ 1538414 w 2049812"/>
              <a:gd name="connsiteY3" fmla="*/ 1633543 h 1633543"/>
              <a:gd name="connsiteX4" fmla="*/ 0 w 2049812"/>
              <a:gd name="connsiteY4" fmla="*/ 95129 h 1633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9812" h="1633543">
                <a:moveTo>
                  <a:pt x="0" y="0"/>
                </a:moveTo>
                <a:lnTo>
                  <a:pt x="2049812" y="1544644"/>
                </a:lnTo>
                <a:lnTo>
                  <a:pt x="1995891" y="1564379"/>
                </a:lnTo>
                <a:cubicBezTo>
                  <a:pt x="1851374" y="1609328"/>
                  <a:pt x="1697722" y="1633543"/>
                  <a:pt x="1538414" y="1633543"/>
                </a:cubicBezTo>
                <a:cubicBezTo>
                  <a:pt x="688771" y="1633543"/>
                  <a:pt x="0" y="944772"/>
                  <a:pt x="0" y="95129"/>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7" name="图片 3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775" y="117470"/>
            <a:ext cx="1809345" cy="55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0-#ppt_h/2"/>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1+#ppt_w/2"/>
                                          </p:val>
                                        </p:tav>
                                        <p:tav tm="100000">
                                          <p:val>
                                            <p:strVal val="#ppt_x"/>
                                          </p:val>
                                        </p:tav>
                                      </p:tavLst>
                                    </p:anim>
                                    <p:anim calcmode="lin" valueType="num">
                                      <p:cBhvr additive="base">
                                        <p:cTn id="12" dur="500" fill="hold"/>
                                        <p:tgtEl>
                                          <p:spTgt spid="34"/>
                                        </p:tgtEl>
                                        <p:attrNameLst>
                                          <p:attrName>ppt_y</p:attrName>
                                        </p:attrNameLst>
                                      </p:cBhvr>
                                      <p:tavLst>
                                        <p:tav tm="0">
                                          <p:val>
                                            <p:strVal val="#ppt_y"/>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任意多边形: 形状 7"/>
          <p:cNvSpPr/>
          <p:nvPr userDrawn="1"/>
        </p:nvSpPr>
        <p:spPr>
          <a:xfrm rot="3106583" flipV="1">
            <a:off x="1828635" y="-4682214"/>
            <a:ext cx="8259245" cy="10492375"/>
          </a:xfrm>
          <a:custGeom>
            <a:avLst/>
            <a:gdLst>
              <a:gd name="connsiteX0" fmla="*/ 0 w 8259245"/>
              <a:gd name="connsiteY0" fmla="*/ 914317 h 10492375"/>
              <a:gd name="connsiteX1" fmla="*/ 7543584 w 8259245"/>
              <a:gd name="connsiteY1" fmla="*/ 10492375 h 10492375"/>
              <a:gd name="connsiteX2" fmla="*/ 8259245 w 8259245"/>
              <a:gd name="connsiteY2" fmla="*/ 9928727 h 10492375"/>
              <a:gd name="connsiteX3" fmla="*/ 8259245 w 8259245"/>
              <a:gd name="connsiteY3" fmla="*/ 1293517 h 10492375"/>
              <a:gd name="connsiteX4" fmla="*/ 6965729 w 8259245"/>
              <a:gd name="connsiteY4" fmla="*/ 0 h 10492375"/>
              <a:gd name="connsiteX5" fmla="*/ 1160905 w 8259245"/>
              <a:gd name="connsiteY5" fmla="*/ 0 h 10492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9245" h="10492375">
                <a:moveTo>
                  <a:pt x="0" y="914317"/>
                </a:moveTo>
                <a:lnTo>
                  <a:pt x="7543584" y="10492375"/>
                </a:lnTo>
                <a:lnTo>
                  <a:pt x="8259245" y="9928727"/>
                </a:lnTo>
                <a:lnTo>
                  <a:pt x="8259245" y="1293517"/>
                </a:lnTo>
                <a:cubicBezTo>
                  <a:pt x="8259245" y="579128"/>
                  <a:pt x="7680118" y="0"/>
                  <a:pt x="6965729" y="0"/>
                </a:cubicBezTo>
                <a:lnTo>
                  <a:pt x="116090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3106583" flipV="1">
            <a:off x="698809" y="5334413"/>
            <a:ext cx="2210547" cy="2915842"/>
          </a:xfrm>
          <a:custGeom>
            <a:avLst/>
            <a:gdLst>
              <a:gd name="connsiteX0" fmla="*/ 351299 w 2210547"/>
              <a:gd name="connsiteY0" fmla="*/ 2356003 h 2915842"/>
              <a:gd name="connsiteX1" fmla="*/ 1538414 w 2210547"/>
              <a:gd name="connsiteY1" fmla="*/ 2915842 h 2915842"/>
              <a:gd name="connsiteX2" fmla="*/ 2137234 w 2210547"/>
              <a:gd name="connsiteY2" fmla="*/ 2794946 h 2915842"/>
              <a:gd name="connsiteX3" fmla="*/ 2210547 w 2210547"/>
              <a:gd name="connsiteY3" fmla="*/ 2755153 h 2915842"/>
              <a:gd name="connsiteX4" fmla="*/ 40616 w 2210547"/>
              <a:gd name="connsiteY4" fmla="*/ 0 h 2915842"/>
              <a:gd name="connsiteX5" fmla="*/ 0 w 2210547"/>
              <a:gd name="connsiteY5" fmla="*/ 31989 h 2915842"/>
              <a:gd name="connsiteX6" fmla="*/ 0 w 2210547"/>
              <a:gd name="connsiteY6" fmla="*/ 1377428 h 2915842"/>
              <a:gd name="connsiteX7" fmla="*/ 351299 w 2210547"/>
              <a:gd name="connsiteY7" fmla="*/ 2356003 h 2915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0547" h="2915842">
                <a:moveTo>
                  <a:pt x="351299" y="2356003"/>
                </a:moveTo>
                <a:cubicBezTo>
                  <a:pt x="633467" y="2697911"/>
                  <a:pt x="1060490" y="2915842"/>
                  <a:pt x="1538414" y="2915842"/>
                </a:cubicBezTo>
                <a:cubicBezTo>
                  <a:pt x="1750825" y="2915842"/>
                  <a:pt x="1953181" y="2872794"/>
                  <a:pt x="2137234" y="2794946"/>
                </a:cubicBezTo>
                <a:lnTo>
                  <a:pt x="2210547" y="2755153"/>
                </a:lnTo>
                <a:lnTo>
                  <a:pt x="40616" y="0"/>
                </a:lnTo>
                <a:lnTo>
                  <a:pt x="0" y="31989"/>
                </a:lnTo>
                <a:lnTo>
                  <a:pt x="0" y="1377428"/>
                </a:lnTo>
                <a:cubicBezTo>
                  <a:pt x="0" y="1749147"/>
                  <a:pt x="131835" y="2090074"/>
                  <a:pt x="351299" y="2356003"/>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rot="3106583" flipV="1">
            <a:off x="6618425" y="4292661"/>
            <a:ext cx="4040872" cy="5130679"/>
          </a:xfrm>
          <a:custGeom>
            <a:avLst/>
            <a:gdLst>
              <a:gd name="connsiteX0" fmla="*/ 269655 w 4040872"/>
              <a:gd name="connsiteY0" fmla="*/ 4700950 h 5130679"/>
              <a:gd name="connsiteX1" fmla="*/ 1180875 w 4040872"/>
              <a:gd name="connsiteY1" fmla="*/ 5130679 h 5130679"/>
              <a:gd name="connsiteX2" fmla="*/ 4040872 w 4040872"/>
              <a:gd name="connsiteY2" fmla="*/ 5130678 h 5130679"/>
              <a:gd name="connsiteX3" fmla="*/ 1 w 4040872"/>
              <a:gd name="connsiteY3" fmla="*/ 0 h 5130679"/>
              <a:gd name="connsiteX4" fmla="*/ 0 w 4040872"/>
              <a:gd name="connsiteY4" fmla="*/ 3949804 h 5130679"/>
              <a:gd name="connsiteX5" fmla="*/ 269655 w 4040872"/>
              <a:gd name="connsiteY5" fmla="*/ 4700950 h 5130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0872" h="5130679">
                <a:moveTo>
                  <a:pt x="269655" y="4700950"/>
                </a:moveTo>
                <a:cubicBezTo>
                  <a:pt x="486244" y="4963396"/>
                  <a:pt x="814025" y="5130679"/>
                  <a:pt x="1180875" y="5130679"/>
                </a:cubicBezTo>
                <a:lnTo>
                  <a:pt x="4040872" y="5130678"/>
                </a:lnTo>
                <a:lnTo>
                  <a:pt x="1" y="0"/>
                </a:lnTo>
                <a:lnTo>
                  <a:pt x="0" y="3949804"/>
                </a:lnTo>
                <a:cubicBezTo>
                  <a:pt x="0" y="4235132"/>
                  <a:pt x="101196" y="4496825"/>
                  <a:pt x="269655" y="4700950"/>
                </a:cubicBezTo>
                <a:close/>
              </a:path>
            </a:pathLst>
          </a:custGeom>
          <a:solidFill>
            <a:srgbClr val="00683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p:cNvSpPr/>
          <p:nvPr userDrawn="1"/>
        </p:nvSpPr>
        <p:spPr>
          <a:xfrm rot="3085950" flipV="1">
            <a:off x="9822786" y="3262646"/>
            <a:ext cx="3917792" cy="2074322"/>
          </a:xfrm>
          <a:custGeom>
            <a:avLst/>
            <a:gdLst>
              <a:gd name="connsiteX0" fmla="*/ 236837 w 3917792"/>
              <a:gd name="connsiteY0" fmla="*/ 1696891 h 2074322"/>
              <a:gd name="connsiteX1" fmla="*/ 1037161 w 3917792"/>
              <a:gd name="connsiteY1" fmla="*/ 2074322 h 2074322"/>
              <a:gd name="connsiteX2" fmla="*/ 1316309 w 3917792"/>
              <a:gd name="connsiteY2" fmla="*/ 2074322 h 2074322"/>
              <a:gd name="connsiteX3" fmla="*/ 3917792 w 3917792"/>
              <a:gd name="connsiteY3" fmla="*/ 0 h 2074322"/>
              <a:gd name="connsiteX4" fmla="*/ 1037161 w 3917792"/>
              <a:gd name="connsiteY4" fmla="*/ 0 h 2074322"/>
              <a:gd name="connsiteX5" fmla="*/ 0 w 3917792"/>
              <a:gd name="connsiteY5" fmla="*/ 1037161 h 2074322"/>
              <a:gd name="connsiteX6" fmla="*/ 236837 w 3917792"/>
              <a:gd name="connsiteY6" fmla="*/ 1696891 h 207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7792" h="2074322">
                <a:moveTo>
                  <a:pt x="236837" y="1696891"/>
                </a:moveTo>
                <a:cubicBezTo>
                  <a:pt x="427068" y="1927398"/>
                  <a:pt x="714956" y="2074322"/>
                  <a:pt x="1037161" y="2074322"/>
                </a:cubicBezTo>
                <a:lnTo>
                  <a:pt x="1316309" y="2074322"/>
                </a:lnTo>
                <a:lnTo>
                  <a:pt x="3917792" y="0"/>
                </a:lnTo>
                <a:lnTo>
                  <a:pt x="1037161" y="0"/>
                </a:lnTo>
                <a:cubicBezTo>
                  <a:pt x="464353" y="0"/>
                  <a:pt x="0" y="464353"/>
                  <a:pt x="0" y="1037161"/>
                </a:cubicBezTo>
                <a:cubicBezTo>
                  <a:pt x="0" y="1287765"/>
                  <a:pt x="88880" y="1517609"/>
                  <a:pt x="236837" y="1696891"/>
                </a:cubicBezTo>
                <a:close/>
              </a:path>
            </a:pathLst>
          </a:cu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椭圆 11"/>
          <p:cNvSpPr/>
          <p:nvPr/>
        </p:nvSpPr>
        <p:spPr>
          <a:xfrm>
            <a:off x="7091574" y="1409545"/>
            <a:ext cx="933367" cy="933367"/>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latin typeface="Noto Sans S Chinese Bold" panose="020B0800000000000000" charset="-122"/>
              <a:ea typeface="Noto Sans S Chinese Bold" panose="020B0800000000000000" charset="-122"/>
            </a:endParaRPr>
          </a:p>
        </p:txBody>
      </p:sp>
      <p:sp>
        <p:nvSpPr>
          <p:cNvPr id="13" name="文本框 12"/>
          <p:cNvSpPr txBox="1"/>
          <p:nvPr/>
        </p:nvSpPr>
        <p:spPr>
          <a:xfrm>
            <a:off x="7091574" y="1496909"/>
            <a:ext cx="933367" cy="656030"/>
          </a:xfrm>
          <a:prstGeom prst="rect">
            <a:avLst/>
          </a:prstGeom>
          <a:noFill/>
        </p:spPr>
        <p:txBody>
          <a:bodyPr wrap="square" rtlCol="0">
            <a:spAutoFit/>
          </a:bodyPr>
          <a:lstStyle/>
          <a:p>
            <a:pPr algn="ctr"/>
            <a:r>
              <a:rPr lang="zh-CN" altLang="en-US" sz="4400" b="1" dirty="0">
                <a:solidFill>
                  <a:schemeClr val="bg1"/>
                </a:solidFill>
                <a:latin typeface="Noto Sans S Chinese Bold" panose="020B0800000000000000" charset="-122"/>
                <a:ea typeface="Noto Sans S Chinese Bold" panose="020B0800000000000000" charset="-122"/>
              </a:rPr>
              <a:t>目</a:t>
            </a:r>
          </a:p>
        </p:txBody>
      </p:sp>
      <p:sp>
        <p:nvSpPr>
          <p:cNvPr id="15" name="椭圆 14"/>
          <p:cNvSpPr/>
          <p:nvPr/>
        </p:nvSpPr>
        <p:spPr>
          <a:xfrm>
            <a:off x="7872280" y="1409545"/>
            <a:ext cx="933367" cy="933367"/>
          </a:xfrm>
          <a:prstGeom prst="ellipse">
            <a:avLst/>
          </a:prstGeom>
          <a:solidFill>
            <a:srgbClr val="016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016533"/>
              </a:solidFill>
              <a:latin typeface="Noto Sans S Chinese Bold" panose="020B0800000000000000" charset="-122"/>
              <a:ea typeface="Noto Sans S Chinese Bold" panose="020B0800000000000000" charset="-122"/>
            </a:endParaRPr>
          </a:p>
        </p:txBody>
      </p:sp>
      <p:sp>
        <p:nvSpPr>
          <p:cNvPr id="16" name="文本框 15"/>
          <p:cNvSpPr txBox="1"/>
          <p:nvPr/>
        </p:nvSpPr>
        <p:spPr>
          <a:xfrm>
            <a:off x="7872280" y="1496909"/>
            <a:ext cx="933367" cy="656030"/>
          </a:xfrm>
          <a:prstGeom prst="rect">
            <a:avLst/>
          </a:prstGeom>
          <a:noFill/>
        </p:spPr>
        <p:txBody>
          <a:bodyPr wrap="square" rtlCol="0">
            <a:spAutoFit/>
          </a:bodyPr>
          <a:lstStyle/>
          <a:p>
            <a:pPr algn="ctr"/>
            <a:r>
              <a:rPr lang="zh-CN" altLang="en-US" sz="4400" b="1" dirty="0">
                <a:solidFill>
                  <a:schemeClr val="bg1"/>
                </a:solidFill>
                <a:latin typeface="Noto Sans S Chinese Bold" panose="020B0800000000000000" charset="-122"/>
                <a:ea typeface="Noto Sans S Chinese Bold" panose="020B0800000000000000" charset="-122"/>
              </a:rPr>
              <a:t>录</a:t>
            </a:r>
          </a:p>
        </p:txBody>
      </p:sp>
      <p:sp>
        <p:nvSpPr>
          <p:cNvPr id="19" name="文本框 18"/>
          <p:cNvSpPr txBox="1"/>
          <p:nvPr userDrawn="1"/>
        </p:nvSpPr>
        <p:spPr>
          <a:xfrm>
            <a:off x="1636200" y="1323481"/>
            <a:ext cx="806776" cy="707886"/>
          </a:xfrm>
          <a:prstGeom prst="rect">
            <a:avLst/>
          </a:prstGeom>
          <a:noFill/>
        </p:spPr>
        <p:txBody>
          <a:bodyPr wrap="square" rtlCol="0">
            <a:spAutoFit/>
          </a:bodyPr>
          <a:lstStyle/>
          <a:p>
            <a:pPr algn="just"/>
            <a:r>
              <a:rPr lang="en-US" altLang="zh-CN" sz="40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01</a:t>
            </a:r>
            <a:endParaRPr lang="zh-CN" altLang="en-US" sz="40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endParaRPr>
          </a:p>
        </p:txBody>
      </p:sp>
      <p:sp>
        <p:nvSpPr>
          <p:cNvPr id="22" name="文本框 21"/>
          <p:cNvSpPr txBox="1"/>
          <p:nvPr userDrawn="1"/>
        </p:nvSpPr>
        <p:spPr>
          <a:xfrm>
            <a:off x="1636200" y="4293677"/>
            <a:ext cx="806776" cy="707886"/>
          </a:xfrm>
          <a:prstGeom prst="rect">
            <a:avLst/>
          </a:prstGeom>
          <a:noFill/>
        </p:spPr>
        <p:txBody>
          <a:bodyPr wrap="square" rtlCol="0">
            <a:spAutoFit/>
          </a:bodyPr>
          <a:lstStyle/>
          <a:p>
            <a:pPr algn="just"/>
            <a:r>
              <a:rPr lang="en-US" altLang="zh-CN" sz="4000" i="1" dirty="0">
                <a:solidFill>
                  <a:srgbClr val="A9CD39"/>
                </a:solidFill>
                <a:latin typeface="Noto Sans S Chinese Bold" panose="020B0800000000000000" charset="-122"/>
                <a:ea typeface="Noto Sans S Chinese Bold" panose="020B0800000000000000" charset="-122"/>
                <a:cs typeface="米开爱的省略号" panose="03000600000000000000" charset="-122"/>
              </a:rPr>
              <a:t>04</a:t>
            </a:r>
            <a:endParaRPr lang="zh-CN" altLang="en-US" sz="4000" i="1" dirty="0">
              <a:solidFill>
                <a:srgbClr val="A9CD39"/>
              </a:solidFill>
              <a:latin typeface="Noto Sans S Chinese Bold" panose="020B0800000000000000" charset="-122"/>
              <a:ea typeface="Noto Sans S Chinese Bold" panose="020B0800000000000000" charset="-122"/>
              <a:cs typeface="米开爱的省略号" panose="03000600000000000000" charset="-122"/>
            </a:endParaRPr>
          </a:p>
        </p:txBody>
      </p:sp>
      <p:sp>
        <p:nvSpPr>
          <p:cNvPr id="25" name="文本框 24"/>
          <p:cNvSpPr txBox="1"/>
          <p:nvPr userDrawn="1"/>
        </p:nvSpPr>
        <p:spPr>
          <a:xfrm>
            <a:off x="1636200" y="2315938"/>
            <a:ext cx="806776" cy="707886"/>
          </a:xfrm>
          <a:prstGeom prst="rect">
            <a:avLst/>
          </a:prstGeom>
          <a:noFill/>
        </p:spPr>
        <p:txBody>
          <a:bodyPr wrap="square" rtlCol="0">
            <a:spAutoFit/>
          </a:bodyPr>
          <a:lstStyle/>
          <a:p>
            <a:pPr algn="just"/>
            <a:r>
              <a:rPr lang="en-US" altLang="zh-CN" sz="4000" i="1" dirty="0">
                <a:solidFill>
                  <a:srgbClr val="A9CD39"/>
                </a:solidFill>
                <a:latin typeface="Noto Sans S Chinese Bold" panose="020B0800000000000000" charset="-122"/>
                <a:ea typeface="Noto Sans S Chinese Bold" panose="020B0800000000000000" charset="-122"/>
                <a:cs typeface="米开爱的省略号" panose="03000600000000000000" charset="-122"/>
              </a:rPr>
              <a:t>02</a:t>
            </a:r>
            <a:endParaRPr lang="zh-CN" altLang="en-US" sz="4000" i="1" dirty="0">
              <a:solidFill>
                <a:srgbClr val="A9CD39"/>
              </a:solidFill>
              <a:latin typeface="Noto Sans S Chinese Bold" panose="020B0800000000000000" charset="-122"/>
              <a:ea typeface="Noto Sans S Chinese Bold" panose="020B0800000000000000" charset="-122"/>
              <a:cs typeface="米开爱的省略号" panose="03000600000000000000" charset="-122"/>
            </a:endParaRPr>
          </a:p>
        </p:txBody>
      </p:sp>
      <p:sp>
        <p:nvSpPr>
          <p:cNvPr id="28" name="文本框 27"/>
          <p:cNvSpPr txBox="1"/>
          <p:nvPr userDrawn="1"/>
        </p:nvSpPr>
        <p:spPr>
          <a:xfrm>
            <a:off x="1636200" y="3320614"/>
            <a:ext cx="806776" cy="707886"/>
          </a:xfrm>
          <a:prstGeom prst="rect">
            <a:avLst/>
          </a:prstGeom>
          <a:noFill/>
        </p:spPr>
        <p:txBody>
          <a:bodyPr wrap="square" rtlCol="0">
            <a:spAutoFit/>
          </a:bodyPr>
          <a:lstStyle/>
          <a:p>
            <a:pPr algn="just"/>
            <a:r>
              <a:rPr lang="en-US" altLang="zh-CN" sz="40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03</a:t>
            </a:r>
            <a:endParaRPr lang="zh-CN" altLang="en-US" sz="40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endParaRPr>
          </a:p>
        </p:txBody>
      </p:sp>
      <p:sp>
        <p:nvSpPr>
          <p:cNvPr id="43" name="文本框 42"/>
          <p:cNvSpPr txBox="1"/>
          <p:nvPr userDrawn="1"/>
        </p:nvSpPr>
        <p:spPr>
          <a:xfrm>
            <a:off x="2616740" y="1374369"/>
            <a:ext cx="3436152" cy="461665"/>
          </a:xfrm>
          <a:prstGeom prst="rect">
            <a:avLst/>
          </a:prstGeom>
          <a:noFill/>
        </p:spPr>
        <p:txBody>
          <a:bodyPr wrap="square" rtlCol="0">
            <a:spAutoFit/>
          </a:bodyPr>
          <a:lstStyle/>
          <a:p>
            <a:pPr algn="dist"/>
            <a:r>
              <a:rPr lang="zh-CN" altLang="en-US" sz="24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研究概述</a:t>
            </a:r>
          </a:p>
        </p:txBody>
      </p:sp>
      <p:sp>
        <p:nvSpPr>
          <p:cNvPr id="44" name="文本框 43"/>
          <p:cNvSpPr txBox="1"/>
          <p:nvPr userDrawn="1"/>
        </p:nvSpPr>
        <p:spPr>
          <a:xfrm>
            <a:off x="2635734" y="1681294"/>
            <a:ext cx="3436152" cy="299184"/>
          </a:xfrm>
          <a:prstGeom prst="rect">
            <a:avLst/>
          </a:prstGeom>
          <a:noFill/>
        </p:spPr>
        <p:txBody>
          <a:bodyPr wrap="square" rtlCol="0">
            <a:spAutoFit/>
          </a:bodyPr>
          <a:lstStyle/>
          <a:p>
            <a:pPr algn="dist">
              <a:lnSpc>
                <a:spcPct val="150000"/>
              </a:lnSpc>
            </a:pPr>
            <a:r>
              <a:rPr lang="en-US" altLang="zh-CN" sz="10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Overview of the study</a:t>
            </a:r>
          </a:p>
        </p:txBody>
      </p:sp>
      <p:sp>
        <p:nvSpPr>
          <p:cNvPr id="45" name="文本框 44"/>
          <p:cNvSpPr txBox="1"/>
          <p:nvPr userDrawn="1"/>
        </p:nvSpPr>
        <p:spPr>
          <a:xfrm>
            <a:off x="2616740" y="4344565"/>
            <a:ext cx="3436152" cy="461665"/>
          </a:xfrm>
          <a:prstGeom prst="rect">
            <a:avLst/>
          </a:prstGeom>
          <a:noFill/>
        </p:spPr>
        <p:txBody>
          <a:bodyPr wrap="square" rtlCol="0">
            <a:spAutoFit/>
          </a:bodyPr>
          <a:lstStyle/>
          <a:p>
            <a:pPr algn="dist"/>
            <a:r>
              <a:rPr lang="zh-CN" altLang="en-US" sz="24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研究结果</a:t>
            </a:r>
          </a:p>
        </p:txBody>
      </p:sp>
      <p:sp>
        <p:nvSpPr>
          <p:cNvPr id="46" name="文本框 45"/>
          <p:cNvSpPr txBox="1"/>
          <p:nvPr userDrawn="1"/>
        </p:nvSpPr>
        <p:spPr>
          <a:xfrm>
            <a:off x="2635734" y="4651490"/>
            <a:ext cx="3436152" cy="299184"/>
          </a:xfrm>
          <a:prstGeom prst="rect">
            <a:avLst/>
          </a:prstGeom>
          <a:noFill/>
        </p:spPr>
        <p:txBody>
          <a:bodyPr wrap="square" rtlCol="0">
            <a:spAutoFit/>
          </a:bodyPr>
          <a:lstStyle/>
          <a:p>
            <a:pPr algn="dist">
              <a:lnSpc>
                <a:spcPct val="150000"/>
              </a:lnSpc>
            </a:pPr>
            <a:r>
              <a:rPr lang="en-US" altLang="zh-CN" sz="10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Research results</a:t>
            </a:r>
          </a:p>
        </p:txBody>
      </p:sp>
      <p:sp>
        <p:nvSpPr>
          <p:cNvPr id="47" name="文本框 46"/>
          <p:cNvSpPr txBox="1"/>
          <p:nvPr userDrawn="1"/>
        </p:nvSpPr>
        <p:spPr>
          <a:xfrm>
            <a:off x="2616740" y="2366826"/>
            <a:ext cx="3436152" cy="461665"/>
          </a:xfrm>
          <a:prstGeom prst="rect">
            <a:avLst/>
          </a:prstGeom>
          <a:noFill/>
        </p:spPr>
        <p:txBody>
          <a:bodyPr wrap="square" rtlCol="0">
            <a:spAutoFit/>
          </a:bodyPr>
          <a:lstStyle/>
          <a:p>
            <a:pPr algn="dist"/>
            <a:r>
              <a:rPr lang="zh-CN" altLang="en-US" sz="24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研究内容</a:t>
            </a:r>
          </a:p>
        </p:txBody>
      </p:sp>
      <p:sp>
        <p:nvSpPr>
          <p:cNvPr id="48" name="文本框 47"/>
          <p:cNvSpPr txBox="1"/>
          <p:nvPr userDrawn="1"/>
        </p:nvSpPr>
        <p:spPr>
          <a:xfrm>
            <a:off x="2635734" y="2673751"/>
            <a:ext cx="3436152" cy="299184"/>
          </a:xfrm>
          <a:prstGeom prst="rect">
            <a:avLst/>
          </a:prstGeom>
          <a:noFill/>
        </p:spPr>
        <p:txBody>
          <a:bodyPr wrap="square" rtlCol="0">
            <a:spAutoFit/>
          </a:bodyPr>
          <a:lstStyle/>
          <a:p>
            <a:pPr algn="dist">
              <a:lnSpc>
                <a:spcPct val="150000"/>
              </a:lnSpc>
            </a:pPr>
            <a:r>
              <a:rPr lang="en-US" altLang="zh-CN" sz="10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Research Topics</a:t>
            </a:r>
          </a:p>
        </p:txBody>
      </p:sp>
      <p:sp>
        <p:nvSpPr>
          <p:cNvPr id="49" name="文本框 48"/>
          <p:cNvSpPr txBox="1"/>
          <p:nvPr userDrawn="1"/>
        </p:nvSpPr>
        <p:spPr>
          <a:xfrm>
            <a:off x="2616740" y="3371502"/>
            <a:ext cx="3436152" cy="461665"/>
          </a:xfrm>
          <a:prstGeom prst="rect">
            <a:avLst/>
          </a:prstGeom>
          <a:noFill/>
        </p:spPr>
        <p:txBody>
          <a:bodyPr wrap="square" rtlCol="0">
            <a:spAutoFit/>
          </a:bodyPr>
          <a:lstStyle/>
          <a:p>
            <a:pPr algn="dist"/>
            <a:r>
              <a:rPr lang="zh-CN" altLang="en-US" sz="24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研究方法</a:t>
            </a:r>
          </a:p>
        </p:txBody>
      </p:sp>
      <p:sp>
        <p:nvSpPr>
          <p:cNvPr id="50" name="文本框 49"/>
          <p:cNvSpPr txBox="1"/>
          <p:nvPr userDrawn="1"/>
        </p:nvSpPr>
        <p:spPr>
          <a:xfrm>
            <a:off x="2635734" y="3678427"/>
            <a:ext cx="3436152" cy="299184"/>
          </a:xfrm>
          <a:prstGeom prst="rect">
            <a:avLst/>
          </a:prstGeom>
          <a:noFill/>
        </p:spPr>
        <p:txBody>
          <a:bodyPr wrap="square" rtlCol="0">
            <a:spAutoFit/>
          </a:bodyPr>
          <a:lstStyle/>
          <a:p>
            <a:pPr algn="dist">
              <a:lnSpc>
                <a:spcPct val="150000"/>
              </a:lnSpc>
            </a:pPr>
            <a:r>
              <a:rPr lang="en-US" altLang="zh-CN" sz="10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Research methodology</a:t>
            </a:r>
          </a:p>
        </p:txBody>
      </p:sp>
      <p:pic>
        <p:nvPicPr>
          <p:cNvPr id="52" name="图片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775" y="117470"/>
            <a:ext cx="1809345" cy="55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0-#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 calcmode="lin" valueType="num">
                                      <p:cBhvr additive="base">
                                        <p:cTn id="35" dur="500" fill="hold"/>
                                        <p:tgtEl>
                                          <p:spTgt spid="28"/>
                                        </p:tgtEl>
                                        <p:attrNameLst>
                                          <p:attrName>ppt_x</p:attrName>
                                        </p:attrNameLst>
                                      </p:cBhvr>
                                      <p:tavLst>
                                        <p:tav tm="0">
                                          <p:val>
                                            <p:strVal val="#ppt_x"/>
                                          </p:val>
                                        </p:tav>
                                        <p:tav tm="100000">
                                          <p:val>
                                            <p:strVal val="#ppt_x"/>
                                          </p:val>
                                        </p:tav>
                                      </p:tavLst>
                                    </p:anim>
                                    <p:anim calcmode="lin" valueType="num">
                                      <p:cBhvr additive="base">
                                        <p:cTn id="36" dur="500" fill="hold"/>
                                        <p:tgtEl>
                                          <p:spTgt spid="28"/>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anim calcmode="lin" valueType="num">
                                      <p:cBhvr additive="base">
                                        <p:cTn id="39" dur="500" fill="hold"/>
                                        <p:tgtEl>
                                          <p:spTgt spid="43"/>
                                        </p:tgtEl>
                                        <p:attrNameLst>
                                          <p:attrName>ppt_x</p:attrName>
                                        </p:attrNameLst>
                                      </p:cBhvr>
                                      <p:tavLst>
                                        <p:tav tm="0">
                                          <p:val>
                                            <p:strVal val="#ppt_x"/>
                                          </p:val>
                                        </p:tav>
                                        <p:tav tm="100000">
                                          <p:val>
                                            <p:strVal val="#ppt_x"/>
                                          </p:val>
                                        </p:tav>
                                      </p:tavLst>
                                    </p:anim>
                                    <p:anim calcmode="lin" valueType="num">
                                      <p:cBhvr additive="base">
                                        <p:cTn id="40" dur="500" fill="hold"/>
                                        <p:tgtEl>
                                          <p:spTgt spid="4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 calcmode="lin" valueType="num">
                                      <p:cBhvr additive="base">
                                        <p:cTn id="43" dur="500" fill="hold"/>
                                        <p:tgtEl>
                                          <p:spTgt spid="44"/>
                                        </p:tgtEl>
                                        <p:attrNameLst>
                                          <p:attrName>ppt_x</p:attrName>
                                        </p:attrNameLst>
                                      </p:cBhvr>
                                      <p:tavLst>
                                        <p:tav tm="0">
                                          <p:val>
                                            <p:strVal val="#ppt_x"/>
                                          </p:val>
                                        </p:tav>
                                        <p:tav tm="100000">
                                          <p:val>
                                            <p:strVal val="#ppt_x"/>
                                          </p:val>
                                        </p:tav>
                                      </p:tavLst>
                                    </p:anim>
                                    <p:anim calcmode="lin" valueType="num">
                                      <p:cBhvr additive="base">
                                        <p:cTn id="44" dur="500" fill="hold"/>
                                        <p:tgtEl>
                                          <p:spTgt spid="4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additive="base">
                                        <p:cTn id="47" dur="500" fill="hold"/>
                                        <p:tgtEl>
                                          <p:spTgt spid="45"/>
                                        </p:tgtEl>
                                        <p:attrNameLst>
                                          <p:attrName>ppt_x</p:attrName>
                                        </p:attrNameLst>
                                      </p:cBhvr>
                                      <p:tavLst>
                                        <p:tav tm="0">
                                          <p:val>
                                            <p:strVal val="#ppt_x"/>
                                          </p:val>
                                        </p:tav>
                                        <p:tav tm="100000">
                                          <p:val>
                                            <p:strVal val="#ppt_x"/>
                                          </p:val>
                                        </p:tav>
                                      </p:tavLst>
                                    </p:anim>
                                    <p:anim calcmode="lin" valueType="num">
                                      <p:cBhvr additive="base">
                                        <p:cTn id="48" dur="500" fill="hold"/>
                                        <p:tgtEl>
                                          <p:spTgt spid="45"/>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anim calcmode="lin" valueType="num">
                                      <p:cBhvr additive="base">
                                        <p:cTn id="51" dur="500" fill="hold"/>
                                        <p:tgtEl>
                                          <p:spTgt spid="46"/>
                                        </p:tgtEl>
                                        <p:attrNameLst>
                                          <p:attrName>ppt_x</p:attrName>
                                        </p:attrNameLst>
                                      </p:cBhvr>
                                      <p:tavLst>
                                        <p:tav tm="0">
                                          <p:val>
                                            <p:strVal val="#ppt_x"/>
                                          </p:val>
                                        </p:tav>
                                        <p:tav tm="100000">
                                          <p:val>
                                            <p:strVal val="#ppt_x"/>
                                          </p:val>
                                        </p:tav>
                                      </p:tavLst>
                                    </p:anim>
                                    <p:anim calcmode="lin" valueType="num">
                                      <p:cBhvr additive="base">
                                        <p:cTn id="52" dur="500" fill="hold"/>
                                        <p:tgtEl>
                                          <p:spTgt spid="46"/>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anim calcmode="lin" valueType="num">
                                      <p:cBhvr additive="base">
                                        <p:cTn id="55" dur="500" fill="hold"/>
                                        <p:tgtEl>
                                          <p:spTgt spid="47"/>
                                        </p:tgtEl>
                                        <p:attrNameLst>
                                          <p:attrName>ppt_x</p:attrName>
                                        </p:attrNameLst>
                                      </p:cBhvr>
                                      <p:tavLst>
                                        <p:tav tm="0">
                                          <p:val>
                                            <p:strVal val="#ppt_x"/>
                                          </p:val>
                                        </p:tav>
                                        <p:tav tm="100000">
                                          <p:val>
                                            <p:strVal val="#ppt_x"/>
                                          </p:val>
                                        </p:tav>
                                      </p:tavLst>
                                    </p:anim>
                                    <p:anim calcmode="lin" valueType="num">
                                      <p:cBhvr additive="base">
                                        <p:cTn id="56" dur="500" fill="hold"/>
                                        <p:tgtEl>
                                          <p:spTgt spid="47"/>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anim calcmode="lin" valueType="num">
                                      <p:cBhvr additive="base">
                                        <p:cTn id="59" dur="500" fill="hold"/>
                                        <p:tgtEl>
                                          <p:spTgt spid="48"/>
                                        </p:tgtEl>
                                        <p:attrNameLst>
                                          <p:attrName>ppt_x</p:attrName>
                                        </p:attrNameLst>
                                      </p:cBhvr>
                                      <p:tavLst>
                                        <p:tav tm="0">
                                          <p:val>
                                            <p:strVal val="#ppt_x"/>
                                          </p:val>
                                        </p:tav>
                                        <p:tav tm="100000">
                                          <p:val>
                                            <p:strVal val="#ppt_x"/>
                                          </p:val>
                                        </p:tav>
                                      </p:tavLst>
                                    </p:anim>
                                    <p:anim calcmode="lin" valueType="num">
                                      <p:cBhvr additive="base">
                                        <p:cTn id="60" dur="500" fill="hold"/>
                                        <p:tgtEl>
                                          <p:spTgt spid="48"/>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anim calcmode="lin" valueType="num">
                                      <p:cBhvr additive="base">
                                        <p:cTn id="63" dur="500" fill="hold"/>
                                        <p:tgtEl>
                                          <p:spTgt spid="49"/>
                                        </p:tgtEl>
                                        <p:attrNameLst>
                                          <p:attrName>ppt_x</p:attrName>
                                        </p:attrNameLst>
                                      </p:cBhvr>
                                      <p:tavLst>
                                        <p:tav tm="0">
                                          <p:val>
                                            <p:strVal val="#ppt_x"/>
                                          </p:val>
                                        </p:tav>
                                        <p:tav tm="100000">
                                          <p:val>
                                            <p:strVal val="#ppt_x"/>
                                          </p:val>
                                        </p:tav>
                                      </p:tavLst>
                                    </p:anim>
                                    <p:anim calcmode="lin" valueType="num">
                                      <p:cBhvr additive="base">
                                        <p:cTn id="64" dur="500" fill="hold"/>
                                        <p:tgtEl>
                                          <p:spTgt spid="49"/>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anim calcmode="lin" valueType="num">
                                      <p:cBhvr additive="base">
                                        <p:cTn id="67" dur="500" fill="hold"/>
                                        <p:tgtEl>
                                          <p:spTgt spid="50"/>
                                        </p:tgtEl>
                                        <p:attrNameLst>
                                          <p:attrName>ppt_x</p:attrName>
                                        </p:attrNameLst>
                                      </p:cBhvr>
                                      <p:tavLst>
                                        <p:tav tm="0">
                                          <p:val>
                                            <p:strVal val="#ppt_x"/>
                                          </p:val>
                                        </p:tav>
                                        <p:tav tm="100000">
                                          <p:val>
                                            <p:strVal val="#ppt_x"/>
                                          </p:val>
                                        </p:tav>
                                      </p:tavLst>
                                    </p:anim>
                                    <p:anim calcmode="lin" valueType="num">
                                      <p:cBhvr additive="base">
                                        <p:cTn id="68"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9" grpId="0" animBg="1"/>
      <p:bldP spid="10" grpId="0" animBg="1"/>
      <p:bldP spid="19" grpId="0" animBg="1"/>
      <p:bldP spid="22" grpId="0"/>
      <p:bldP spid="25" grpId="0"/>
      <p:bldP spid="28" grpId="0"/>
      <p:bldP spid="43" grpId="0"/>
      <p:bldP spid="44" grpId="0"/>
      <p:bldP spid="45" grpId="0"/>
      <p:bldP spid="46" grpId="0"/>
      <p:bldP spid="47" grpId="0"/>
      <p:bldP spid="48" grpId="0"/>
      <p:bldP spid="49" grpId="0"/>
      <p:bldP spid="50"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第一部分">
    <p:spTree>
      <p:nvGrpSpPr>
        <p:cNvPr id="1" name=""/>
        <p:cNvGrpSpPr/>
        <p:nvPr/>
      </p:nvGrpSpPr>
      <p:grpSpPr>
        <a:xfrm>
          <a:off x="0" y="0"/>
          <a:ext cx="0" cy="0"/>
          <a:chOff x="0" y="0"/>
          <a:chExt cx="0" cy="0"/>
        </a:xfrm>
      </p:grpSpPr>
      <p:sp>
        <p:nvSpPr>
          <p:cNvPr id="11" name="任意多边形: 形状 10"/>
          <p:cNvSpPr/>
          <p:nvPr/>
        </p:nvSpPr>
        <p:spPr>
          <a:xfrm rot="8506583" flipV="1">
            <a:off x="5518935" y="-486819"/>
            <a:ext cx="8418578" cy="8194015"/>
          </a:xfrm>
          <a:custGeom>
            <a:avLst/>
            <a:gdLst>
              <a:gd name="connsiteX0" fmla="*/ 3563219 w 8418578"/>
              <a:gd name="connsiteY0" fmla="*/ 1 h 8194015"/>
              <a:gd name="connsiteX1" fmla="*/ 0 w 8418578"/>
              <a:gd name="connsiteY1" fmla="*/ 2806356 h 8194015"/>
              <a:gd name="connsiteX2" fmla="*/ 4243266 w 8418578"/>
              <a:gd name="connsiteY2" fmla="*/ 8194015 h 8194015"/>
              <a:gd name="connsiteX3" fmla="*/ 8418578 w 8418578"/>
              <a:gd name="connsiteY3" fmla="*/ 4905580 h 8194015"/>
              <a:gd name="connsiteX4" fmla="*/ 8418578 w 8418578"/>
              <a:gd name="connsiteY4" fmla="*/ 1277175 h 8194015"/>
              <a:gd name="connsiteX5" fmla="*/ 7141403 w 8418578"/>
              <a:gd name="connsiteY5" fmla="*/ 0 h 8194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8578" h="8194015">
                <a:moveTo>
                  <a:pt x="3563219" y="1"/>
                </a:moveTo>
                <a:lnTo>
                  <a:pt x="0" y="2806356"/>
                </a:lnTo>
                <a:lnTo>
                  <a:pt x="4243266" y="8194015"/>
                </a:lnTo>
                <a:lnTo>
                  <a:pt x="8418578" y="4905580"/>
                </a:lnTo>
                <a:lnTo>
                  <a:pt x="8418578" y="1277175"/>
                </a:lnTo>
                <a:cubicBezTo>
                  <a:pt x="8418578" y="571812"/>
                  <a:pt x="7846767" y="1"/>
                  <a:pt x="7141403"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13845381" flipV="1">
            <a:off x="2935866" y="-1799920"/>
            <a:ext cx="2757548" cy="3985575"/>
          </a:xfrm>
          <a:custGeom>
            <a:avLst/>
            <a:gdLst>
              <a:gd name="connsiteX0" fmla="*/ 2757548 w 2757548"/>
              <a:gd name="connsiteY0" fmla="*/ 3375833 h 3985575"/>
              <a:gd name="connsiteX1" fmla="*/ 0 w 2757548"/>
              <a:gd name="connsiteY1" fmla="*/ 0 h 3985575"/>
              <a:gd name="connsiteX2" fmla="*/ 0 w 2757548"/>
              <a:gd name="connsiteY2" fmla="*/ 2447161 h 3985575"/>
              <a:gd name="connsiteX3" fmla="*/ 1538414 w 2757548"/>
              <a:gd name="connsiteY3" fmla="*/ 3985575 h 3985575"/>
              <a:gd name="connsiteX4" fmla="*/ 2626237 w 2757548"/>
              <a:gd name="connsiteY4" fmla="*/ 3534984 h 398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7548" h="3985575">
                <a:moveTo>
                  <a:pt x="2757548" y="3375833"/>
                </a:moveTo>
                <a:lnTo>
                  <a:pt x="0" y="0"/>
                </a:lnTo>
                <a:lnTo>
                  <a:pt x="0" y="2447161"/>
                </a:lnTo>
                <a:cubicBezTo>
                  <a:pt x="0" y="3296804"/>
                  <a:pt x="688771" y="3985575"/>
                  <a:pt x="1538414" y="3985575"/>
                </a:cubicBezTo>
                <a:cubicBezTo>
                  <a:pt x="1963235" y="3985575"/>
                  <a:pt x="2347839" y="3813382"/>
                  <a:pt x="2626237" y="3534984"/>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8506583" flipV="1">
            <a:off x="-1838500" y="395382"/>
            <a:ext cx="4224918" cy="4478797"/>
          </a:xfrm>
          <a:custGeom>
            <a:avLst/>
            <a:gdLst>
              <a:gd name="connsiteX0" fmla="*/ 0 w 4224918"/>
              <a:gd name="connsiteY0" fmla="*/ 549314 h 4478797"/>
              <a:gd name="connsiteX1" fmla="*/ 0 w 4224918"/>
              <a:gd name="connsiteY1" fmla="*/ 3297922 h 4478797"/>
              <a:gd name="connsiteX2" fmla="*/ 1180875 w 4224918"/>
              <a:gd name="connsiteY2" fmla="*/ 4478797 h 4478797"/>
              <a:gd name="connsiteX3" fmla="*/ 4224918 w 4224918"/>
              <a:gd name="connsiteY3" fmla="*/ 4478797 h 4478797"/>
              <a:gd name="connsiteX4" fmla="*/ 697462 w 4224918"/>
              <a:gd name="connsiteY4" fmla="*/ 0 h 4478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4918" h="4478797">
                <a:moveTo>
                  <a:pt x="0" y="549314"/>
                </a:moveTo>
                <a:lnTo>
                  <a:pt x="0" y="3297922"/>
                </a:lnTo>
                <a:cubicBezTo>
                  <a:pt x="0" y="3950101"/>
                  <a:pt x="528696" y="4478797"/>
                  <a:pt x="1180875" y="4478797"/>
                </a:cubicBezTo>
                <a:lnTo>
                  <a:pt x="4224918" y="4478797"/>
                </a:lnTo>
                <a:lnTo>
                  <a:pt x="697462" y="0"/>
                </a:lnTo>
                <a:close/>
              </a:path>
            </a:pathLst>
          </a:custGeom>
          <a:solidFill>
            <a:srgbClr val="00683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rot="8443360" flipV="1">
            <a:off x="180244" y="4610022"/>
            <a:ext cx="4872287" cy="3198101"/>
          </a:xfrm>
          <a:custGeom>
            <a:avLst/>
            <a:gdLst>
              <a:gd name="connsiteX0" fmla="*/ 582784 w 4872287"/>
              <a:gd name="connsiteY0" fmla="*/ 365697 h 3198101"/>
              <a:gd name="connsiteX1" fmla="*/ 0 w 4872287"/>
              <a:gd name="connsiteY1" fmla="*/ 1601462 h 3198101"/>
              <a:gd name="connsiteX2" fmla="*/ 1437721 w 4872287"/>
              <a:gd name="connsiteY2" fmla="*/ 3194656 h 3198101"/>
              <a:gd name="connsiteX3" fmla="*/ 1505950 w 4872287"/>
              <a:gd name="connsiteY3" fmla="*/ 3198101 h 3198101"/>
              <a:gd name="connsiteX4" fmla="*/ 4872287 w 4872287"/>
              <a:gd name="connsiteY4" fmla="*/ 445009 h 3198101"/>
              <a:gd name="connsiteX5" fmla="*/ 4508346 w 4872287"/>
              <a:gd name="connsiteY5" fmla="*/ 0 h 3198101"/>
              <a:gd name="connsiteX6" fmla="*/ 1601462 w 4872287"/>
              <a:gd name="connsiteY6" fmla="*/ 0 h 3198101"/>
              <a:gd name="connsiteX7" fmla="*/ 582784 w 4872287"/>
              <a:gd name="connsiteY7" fmla="*/ 365697 h 319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2287" h="3198101">
                <a:moveTo>
                  <a:pt x="582784" y="365697"/>
                </a:moveTo>
                <a:cubicBezTo>
                  <a:pt x="226863" y="659428"/>
                  <a:pt x="0" y="1103951"/>
                  <a:pt x="0" y="1601462"/>
                </a:cubicBezTo>
                <a:cubicBezTo>
                  <a:pt x="0" y="2430646"/>
                  <a:pt x="630175" y="3112645"/>
                  <a:pt x="1437721" y="3194656"/>
                </a:cubicBezTo>
                <a:lnTo>
                  <a:pt x="1505950" y="3198101"/>
                </a:lnTo>
                <a:lnTo>
                  <a:pt x="4872287" y="445009"/>
                </a:lnTo>
                <a:lnTo>
                  <a:pt x="4508346" y="0"/>
                </a:lnTo>
                <a:lnTo>
                  <a:pt x="1601462" y="0"/>
                </a:lnTo>
                <a:cubicBezTo>
                  <a:pt x="1214509" y="0"/>
                  <a:pt x="859611" y="137238"/>
                  <a:pt x="582784" y="365697"/>
                </a:cubicBezTo>
                <a:close/>
              </a:path>
            </a:pathLst>
          </a:cu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文本框 46"/>
          <p:cNvSpPr txBox="1"/>
          <p:nvPr userDrawn="1"/>
        </p:nvSpPr>
        <p:spPr>
          <a:xfrm>
            <a:off x="5514502" y="3572088"/>
            <a:ext cx="5467630" cy="707886"/>
          </a:xfrm>
          <a:prstGeom prst="rect">
            <a:avLst/>
          </a:prstGeom>
          <a:noFill/>
        </p:spPr>
        <p:txBody>
          <a:bodyPr wrap="square" rtlCol="0">
            <a:spAutoFit/>
          </a:bodyPr>
          <a:lstStyle/>
          <a:p>
            <a:pPr algn="dist"/>
            <a:r>
              <a:rPr lang="zh-CN" altLang="en-US" sz="40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研究概述</a:t>
            </a:r>
          </a:p>
        </p:txBody>
      </p:sp>
      <p:sp>
        <p:nvSpPr>
          <p:cNvPr id="48" name="文本框 47"/>
          <p:cNvSpPr txBox="1"/>
          <p:nvPr userDrawn="1"/>
        </p:nvSpPr>
        <p:spPr>
          <a:xfrm>
            <a:off x="5467072" y="4166345"/>
            <a:ext cx="5515060" cy="340606"/>
          </a:xfrm>
          <a:prstGeom prst="rect">
            <a:avLst/>
          </a:prstGeom>
          <a:noFill/>
        </p:spPr>
        <p:txBody>
          <a:bodyPr wrap="square" rtlCol="0">
            <a:spAutoFit/>
          </a:bodyPr>
          <a:lstStyle/>
          <a:p>
            <a:pPr algn="dist">
              <a:lnSpc>
                <a:spcPct val="150000"/>
              </a:lnSpc>
            </a:pPr>
            <a:r>
              <a:rPr lang="en-US" altLang="zh-CN" sz="12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Overview of the study</a:t>
            </a:r>
          </a:p>
        </p:txBody>
      </p:sp>
      <p:sp>
        <p:nvSpPr>
          <p:cNvPr id="49" name="文本框 48"/>
          <p:cNvSpPr txBox="1"/>
          <p:nvPr userDrawn="1"/>
        </p:nvSpPr>
        <p:spPr>
          <a:xfrm>
            <a:off x="5448078" y="2377452"/>
            <a:ext cx="3766587" cy="1107996"/>
          </a:xfrm>
          <a:prstGeom prst="rect">
            <a:avLst/>
          </a:prstGeom>
          <a:noFill/>
        </p:spPr>
        <p:txBody>
          <a:bodyPr wrap="square" rtlCol="0">
            <a:spAutoFit/>
          </a:bodyPr>
          <a:lstStyle/>
          <a:p>
            <a:pPr algn="dist"/>
            <a:r>
              <a:rPr lang="zh-CN" altLang="en-US" sz="66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第一部分</a:t>
            </a:r>
          </a:p>
        </p:txBody>
      </p:sp>
      <p:sp>
        <p:nvSpPr>
          <p:cNvPr id="50" name="文本框 49"/>
          <p:cNvSpPr txBox="1"/>
          <p:nvPr userDrawn="1"/>
        </p:nvSpPr>
        <p:spPr>
          <a:xfrm>
            <a:off x="9098554" y="2850739"/>
            <a:ext cx="1883578" cy="584775"/>
          </a:xfrm>
          <a:prstGeom prst="rect">
            <a:avLst/>
          </a:prstGeom>
          <a:noFill/>
        </p:spPr>
        <p:txBody>
          <a:bodyPr wrap="square" rtlCol="0">
            <a:spAutoFit/>
          </a:bodyPr>
          <a:lstStyle/>
          <a:p>
            <a:pPr algn="just"/>
            <a:r>
              <a:rPr lang="en-US" altLang="zh-CN"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Part one</a:t>
            </a:r>
            <a:endParaRPr lang="zh-CN" altLang="en-US"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endParaRPr>
          </a:p>
        </p:txBody>
      </p:sp>
      <p:pic>
        <p:nvPicPr>
          <p:cNvPr id="52" name="图片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77459" y="117469"/>
            <a:ext cx="1809345" cy="55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0-#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第二部分">
    <p:spTree>
      <p:nvGrpSpPr>
        <p:cNvPr id="1" name=""/>
        <p:cNvGrpSpPr/>
        <p:nvPr/>
      </p:nvGrpSpPr>
      <p:grpSpPr>
        <a:xfrm>
          <a:off x="0" y="0"/>
          <a:ext cx="0" cy="0"/>
          <a:chOff x="0" y="0"/>
          <a:chExt cx="0" cy="0"/>
        </a:xfrm>
      </p:grpSpPr>
      <p:sp>
        <p:nvSpPr>
          <p:cNvPr id="11" name="任意多边形: 形状 10"/>
          <p:cNvSpPr/>
          <p:nvPr/>
        </p:nvSpPr>
        <p:spPr>
          <a:xfrm rot="8506583" flipV="1">
            <a:off x="5518935" y="-486819"/>
            <a:ext cx="8418578" cy="8194015"/>
          </a:xfrm>
          <a:custGeom>
            <a:avLst/>
            <a:gdLst>
              <a:gd name="connsiteX0" fmla="*/ 3563219 w 8418578"/>
              <a:gd name="connsiteY0" fmla="*/ 1 h 8194015"/>
              <a:gd name="connsiteX1" fmla="*/ 0 w 8418578"/>
              <a:gd name="connsiteY1" fmla="*/ 2806356 h 8194015"/>
              <a:gd name="connsiteX2" fmla="*/ 4243266 w 8418578"/>
              <a:gd name="connsiteY2" fmla="*/ 8194015 h 8194015"/>
              <a:gd name="connsiteX3" fmla="*/ 8418578 w 8418578"/>
              <a:gd name="connsiteY3" fmla="*/ 4905580 h 8194015"/>
              <a:gd name="connsiteX4" fmla="*/ 8418578 w 8418578"/>
              <a:gd name="connsiteY4" fmla="*/ 1277175 h 8194015"/>
              <a:gd name="connsiteX5" fmla="*/ 7141403 w 8418578"/>
              <a:gd name="connsiteY5" fmla="*/ 0 h 8194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8578" h="8194015">
                <a:moveTo>
                  <a:pt x="3563219" y="1"/>
                </a:moveTo>
                <a:lnTo>
                  <a:pt x="0" y="2806356"/>
                </a:lnTo>
                <a:lnTo>
                  <a:pt x="4243266" y="8194015"/>
                </a:lnTo>
                <a:lnTo>
                  <a:pt x="8418578" y="4905580"/>
                </a:lnTo>
                <a:lnTo>
                  <a:pt x="8418578" y="1277175"/>
                </a:lnTo>
                <a:cubicBezTo>
                  <a:pt x="8418578" y="571812"/>
                  <a:pt x="7846767" y="1"/>
                  <a:pt x="7141403"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13845381" flipV="1">
            <a:off x="2935866" y="-1799920"/>
            <a:ext cx="2757548" cy="3985575"/>
          </a:xfrm>
          <a:custGeom>
            <a:avLst/>
            <a:gdLst>
              <a:gd name="connsiteX0" fmla="*/ 2757548 w 2757548"/>
              <a:gd name="connsiteY0" fmla="*/ 3375833 h 3985575"/>
              <a:gd name="connsiteX1" fmla="*/ 0 w 2757548"/>
              <a:gd name="connsiteY1" fmla="*/ 0 h 3985575"/>
              <a:gd name="connsiteX2" fmla="*/ 0 w 2757548"/>
              <a:gd name="connsiteY2" fmla="*/ 2447161 h 3985575"/>
              <a:gd name="connsiteX3" fmla="*/ 1538414 w 2757548"/>
              <a:gd name="connsiteY3" fmla="*/ 3985575 h 3985575"/>
              <a:gd name="connsiteX4" fmla="*/ 2626237 w 2757548"/>
              <a:gd name="connsiteY4" fmla="*/ 3534984 h 398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7548" h="3985575">
                <a:moveTo>
                  <a:pt x="2757548" y="3375833"/>
                </a:moveTo>
                <a:lnTo>
                  <a:pt x="0" y="0"/>
                </a:lnTo>
                <a:lnTo>
                  <a:pt x="0" y="2447161"/>
                </a:lnTo>
                <a:cubicBezTo>
                  <a:pt x="0" y="3296804"/>
                  <a:pt x="688771" y="3985575"/>
                  <a:pt x="1538414" y="3985575"/>
                </a:cubicBezTo>
                <a:cubicBezTo>
                  <a:pt x="1963235" y="3985575"/>
                  <a:pt x="2347839" y="3813382"/>
                  <a:pt x="2626237" y="3534984"/>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8506583" flipV="1">
            <a:off x="-1838500" y="395382"/>
            <a:ext cx="4224918" cy="4478797"/>
          </a:xfrm>
          <a:custGeom>
            <a:avLst/>
            <a:gdLst>
              <a:gd name="connsiteX0" fmla="*/ 0 w 4224918"/>
              <a:gd name="connsiteY0" fmla="*/ 549314 h 4478797"/>
              <a:gd name="connsiteX1" fmla="*/ 0 w 4224918"/>
              <a:gd name="connsiteY1" fmla="*/ 3297922 h 4478797"/>
              <a:gd name="connsiteX2" fmla="*/ 1180875 w 4224918"/>
              <a:gd name="connsiteY2" fmla="*/ 4478797 h 4478797"/>
              <a:gd name="connsiteX3" fmla="*/ 4224918 w 4224918"/>
              <a:gd name="connsiteY3" fmla="*/ 4478797 h 4478797"/>
              <a:gd name="connsiteX4" fmla="*/ 697462 w 4224918"/>
              <a:gd name="connsiteY4" fmla="*/ 0 h 4478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4918" h="4478797">
                <a:moveTo>
                  <a:pt x="0" y="549314"/>
                </a:moveTo>
                <a:lnTo>
                  <a:pt x="0" y="3297922"/>
                </a:lnTo>
                <a:cubicBezTo>
                  <a:pt x="0" y="3950101"/>
                  <a:pt x="528696" y="4478797"/>
                  <a:pt x="1180875" y="4478797"/>
                </a:cubicBezTo>
                <a:lnTo>
                  <a:pt x="4224918" y="4478797"/>
                </a:lnTo>
                <a:lnTo>
                  <a:pt x="697462" y="0"/>
                </a:lnTo>
                <a:close/>
              </a:path>
            </a:pathLst>
          </a:custGeom>
          <a:solidFill>
            <a:srgbClr val="00683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rot="8443360" flipV="1">
            <a:off x="180244" y="4610022"/>
            <a:ext cx="4872287" cy="3198101"/>
          </a:xfrm>
          <a:custGeom>
            <a:avLst/>
            <a:gdLst>
              <a:gd name="connsiteX0" fmla="*/ 582784 w 4872287"/>
              <a:gd name="connsiteY0" fmla="*/ 365697 h 3198101"/>
              <a:gd name="connsiteX1" fmla="*/ 0 w 4872287"/>
              <a:gd name="connsiteY1" fmla="*/ 1601462 h 3198101"/>
              <a:gd name="connsiteX2" fmla="*/ 1437721 w 4872287"/>
              <a:gd name="connsiteY2" fmla="*/ 3194656 h 3198101"/>
              <a:gd name="connsiteX3" fmla="*/ 1505950 w 4872287"/>
              <a:gd name="connsiteY3" fmla="*/ 3198101 h 3198101"/>
              <a:gd name="connsiteX4" fmla="*/ 4872287 w 4872287"/>
              <a:gd name="connsiteY4" fmla="*/ 445009 h 3198101"/>
              <a:gd name="connsiteX5" fmla="*/ 4508346 w 4872287"/>
              <a:gd name="connsiteY5" fmla="*/ 0 h 3198101"/>
              <a:gd name="connsiteX6" fmla="*/ 1601462 w 4872287"/>
              <a:gd name="connsiteY6" fmla="*/ 0 h 3198101"/>
              <a:gd name="connsiteX7" fmla="*/ 582784 w 4872287"/>
              <a:gd name="connsiteY7" fmla="*/ 365697 h 319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2287" h="3198101">
                <a:moveTo>
                  <a:pt x="582784" y="365697"/>
                </a:moveTo>
                <a:cubicBezTo>
                  <a:pt x="226863" y="659428"/>
                  <a:pt x="0" y="1103951"/>
                  <a:pt x="0" y="1601462"/>
                </a:cubicBezTo>
                <a:cubicBezTo>
                  <a:pt x="0" y="2430646"/>
                  <a:pt x="630175" y="3112645"/>
                  <a:pt x="1437721" y="3194656"/>
                </a:cubicBezTo>
                <a:lnTo>
                  <a:pt x="1505950" y="3198101"/>
                </a:lnTo>
                <a:lnTo>
                  <a:pt x="4872287" y="445009"/>
                </a:lnTo>
                <a:lnTo>
                  <a:pt x="4508346" y="0"/>
                </a:lnTo>
                <a:lnTo>
                  <a:pt x="1601462" y="0"/>
                </a:lnTo>
                <a:cubicBezTo>
                  <a:pt x="1214509" y="0"/>
                  <a:pt x="859611" y="137238"/>
                  <a:pt x="582784" y="365697"/>
                </a:cubicBezTo>
                <a:close/>
              </a:path>
            </a:pathLst>
          </a:cu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文本框 46"/>
          <p:cNvSpPr txBox="1"/>
          <p:nvPr userDrawn="1"/>
        </p:nvSpPr>
        <p:spPr>
          <a:xfrm>
            <a:off x="5514502" y="3572088"/>
            <a:ext cx="5467630" cy="707886"/>
          </a:xfrm>
          <a:prstGeom prst="rect">
            <a:avLst/>
          </a:prstGeom>
          <a:noFill/>
        </p:spPr>
        <p:txBody>
          <a:bodyPr wrap="square" rtlCol="0">
            <a:spAutoFit/>
          </a:bodyPr>
          <a:lstStyle/>
          <a:p>
            <a:pPr algn="dist"/>
            <a:r>
              <a:rPr lang="zh-CN" altLang="en-US" sz="40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研究内容</a:t>
            </a:r>
          </a:p>
        </p:txBody>
      </p:sp>
      <p:sp>
        <p:nvSpPr>
          <p:cNvPr id="48" name="文本框 47"/>
          <p:cNvSpPr txBox="1"/>
          <p:nvPr userDrawn="1"/>
        </p:nvSpPr>
        <p:spPr>
          <a:xfrm>
            <a:off x="5514502" y="4166345"/>
            <a:ext cx="5467630" cy="340606"/>
          </a:xfrm>
          <a:prstGeom prst="rect">
            <a:avLst/>
          </a:prstGeom>
          <a:noFill/>
        </p:spPr>
        <p:txBody>
          <a:bodyPr wrap="square" rtlCol="0">
            <a:spAutoFit/>
          </a:bodyPr>
          <a:lstStyle/>
          <a:p>
            <a:pPr algn="dist">
              <a:lnSpc>
                <a:spcPct val="150000"/>
              </a:lnSpc>
            </a:pPr>
            <a:r>
              <a:rPr lang="en-US" altLang="zh-CN" sz="12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Research Topics</a:t>
            </a:r>
          </a:p>
        </p:txBody>
      </p:sp>
      <p:sp>
        <p:nvSpPr>
          <p:cNvPr id="49" name="文本框 48"/>
          <p:cNvSpPr txBox="1"/>
          <p:nvPr userDrawn="1"/>
        </p:nvSpPr>
        <p:spPr>
          <a:xfrm>
            <a:off x="5448078" y="2377452"/>
            <a:ext cx="3766587" cy="1107996"/>
          </a:xfrm>
          <a:prstGeom prst="rect">
            <a:avLst/>
          </a:prstGeom>
          <a:noFill/>
        </p:spPr>
        <p:txBody>
          <a:bodyPr wrap="square" rtlCol="0">
            <a:spAutoFit/>
          </a:bodyPr>
          <a:lstStyle/>
          <a:p>
            <a:pPr algn="dist"/>
            <a:r>
              <a:rPr lang="zh-CN" altLang="en-US" sz="66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第二部分</a:t>
            </a:r>
          </a:p>
        </p:txBody>
      </p:sp>
      <p:sp>
        <p:nvSpPr>
          <p:cNvPr id="50" name="文本框 49"/>
          <p:cNvSpPr txBox="1"/>
          <p:nvPr userDrawn="1"/>
        </p:nvSpPr>
        <p:spPr>
          <a:xfrm>
            <a:off x="9098280" y="2850515"/>
            <a:ext cx="2307590" cy="583565"/>
          </a:xfrm>
          <a:prstGeom prst="rect">
            <a:avLst/>
          </a:prstGeom>
          <a:noFill/>
        </p:spPr>
        <p:txBody>
          <a:bodyPr wrap="square" rtlCol="0">
            <a:spAutoFit/>
          </a:bodyPr>
          <a:lstStyle/>
          <a:p>
            <a:pPr algn="just"/>
            <a:r>
              <a:rPr lang="en-US" altLang="zh-CN"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Part two</a:t>
            </a:r>
            <a:endParaRPr lang="zh-CN" altLang="en-US"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endParaRPr>
          </a:p>
        </p:txBody>
      </p:sp>
      <p:pic>
        <p:nvPicPr>
          <p:cNvPr id="52" name="图片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77459" y="117469"/>
            <a:ext cx="1809345" cy="55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0-#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三部分">
    <p:spTree>
      <p:nvGrpSpPr>
        <p:cNvPr id="1" name=""/>
        <p:cNvGrpSpPr/>
        <p:nvPr/>
      </p:nvGrpSpPr>
      <p:grpSpPr>
        <a:xfrm>
          <a:off x="0" y="0"/>
          <a:ext cx="0" cy="0"/>
          <a:chOff x="0" y="0"/>
          <a:chExt cx="0" cy="0"/>
        </a:xfrm>
      </p:grpSpPr>
      <p:sp>
        <p:nvSpPr>
          <p:cNvPr id="11" name="任意多边形: 形状 10"/>
          <p:cNvSpPr/>
          <p:nvPr/>
        </p:nvSpPr>
        <p:spPr>
          <a:xfrm rot="8506583" flipV="1">
            <a:off x="5518935" y="-486819"/>
            <a:ext cx="8418578" cy="8194015"/>
          </a:xfrm>
          <a:custGeom>
            <a:avLst/>
            <a:gdLst>
              <a:gd name="connsiteX0" fmla="*/ 3563219 w 8418578"/>
              <a:gd name="connsiteY0" fmla="*/ 1 h 8194015"/>
              <a:gd name="connsiteX1" fmla="*/ 0 w 8418578"/>
              <a:gd name="connsiteY1" fmla="*/ 2806356 h 8194015"/>
              <a:gd name="connsiteX2" fmla="*/ 4243266 w 8418578"/>
              <a:gd name="connsiteY2" fmla="*/ 8194015 h 8194015"/>
              <a:gd name="connsiteX3" fmla="*/ 8418578 w 8418578"/>
              <a:gd name="connsiteY3" fmla="*/ 4905580 h 8194015"/>
              <a:gd name="connsiteX4" fmla="*/ 8418578 w 8418578"/>
              <a:gd name="connsiteY4" fmla="*/ 1277175 h 8194015"/>
              <a:gd name="connsiteX5" fmla="*/ 7141403 w 8418578"/>
              <a:gd name="connsiteY5" fmla="*/ 0 h 8194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8578" h="8194015">
                <a:moveTo>
                  <a:pt x="3563219" y="1"/>
                </a:moveTo>
                <a:lnTo>
                  <a:pt x="0" y="2806356"/>
                </a:lnTo>
                <a:lnTo>
                  <a:pt x="4243266" y="8194015"/>
                </a:lnTo>
                <a:lnTo>
                  <a:pt x="8418578" y="4905580"/>
                </a:lnTo>
                <a:lnTo>
                  <a:pt x="8418578" y="1277175"/>
                </a:lnTo>
                <a:cubicBezTo>
                  <a:pt x="8418578" y="571812"/>
                  <a:pt x="7846767" y="1"/>
                  <a:pt x="7141403"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13845381" flipV="1">
            <a:off x="2935866" y="-1799920"/>
            <a:ext cx="2757548" cy="3985575"/>
          </a:xfrm>
          <a:custGeom>
            <a:avLst/>
            <a:gdLst>
              <a:gd name="connsiteX0" fmla="*/ 2757548 w 2757548"/>
              <a:gd name="connsiteY0" fmla="*/ 3375833 h 3985575"/>
              <a:gd name="connsiteX1" fmla="*/ 0 w 2757548"/>
              <a:gd name="connsiteY1" fmla="*/ 0 h 3985575"/>
              <a:gd name="connsiteX2" fmla="*/ 0 w 2757548"/>
              <a:gd name="connsiteY2" fmla="*/ 2447161 h 3985575"/>
              <a:gd name="connsiteX3" fmla="*/ 1538414 w 2757548"/>
              <a:gd name="connsiteY3" fmla="*/ 3985575 h 3985575"/>
              <a:gd name="connsiteX4" fmla="*/ 2626237 w 2757548"/>
              <a:gd name="connsiteY4" fmla="*/ 3534984 h 398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7548" h="3985575">
                <a:moveTo>
                  <a:pt x="2757548" y="3375833"/>
                </a:moveTo>
                <a:lnTo>
                  <a:pt x="0" y="0"/>
                </a:lnTo>
                <a:lnTo>
                  <a:pt x="0" y="2447161"/>
                </a:lnTo>
                <a:cubicBezTo>
                  <a:pt x="0" y="3296804"/>
                  <a:pt x="688771" y="3985575"/>
                  <a:pt x="1538414" y="3985575"/>
                </a:cubicBezTo>
                <a:cubicBezTo>
                  <a:pt x="1963235" y="3985575"/>
                  <a:pt x="2347839" y="3813382"/>
                  <a:pt x="2626237" y="3534984"/>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8506583" flipV="1">
            <a:off x="-1838500" y="395382"/>
            <a:ext cx="4224918" cy="4478797"/>
          </a:xfrm>
          <a:custGeom>
            <a:avLst/>
            <a:gdLst>
              <a:gd name="connsiteX0" fmla="*/ 0 w 4224918"/>
              <a:gd name="connsiteY0" fmla="*/ 549314 h 4478797"/>
              <a:gd name="connsiteX1" fmla="*/ 0 w 4224918"/>
              <a:gd name="connsiteY1" fmla="*/ 3297922 h 4478797"/>
              <a:gd name="connsiteX2" fmla="*/ 1180875 w 4224918"/>
              <a:gd name="connsiteY2" fmla="*/ 4478797 h 4478797"/>
              <a:gd name="connsiteX3" fmla="*/ 4224918 w 4224918"/>
              <a:gd name="connsiteY3" fmla="*/ 4478797 h 4478797"/>
              <a:gd name="connsiteX4" fmla="*/ 697462 w 4224918"/>
              <a:gd name="connsiteY4" fmla="*/ 0 h 4478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4918" h="4478797">
                <a:moveTo>
                  <a:pt x="0" y="549314"/>
                </a:moveTo>
                <a:lnTo>
                  <a:pt x="0" y="3297922"/>
                </a:lnTo>
                <a:cubicBezTo>
                  <a:pt x="0" y="3950101"/>
                  <a:pt x="528696" y="4478797"/>
                  <a:pt x="1180875" y="4478797"/>
                </a:cubicBezTo>
                <a:lnTo>
                  <a:pt x="4224918" y="4478797"/>
                </a:lnTo>
                <a:lnTo>
                  <a:pt x="697462" y="0"/>
                </a:lnTo>
                <a:close/>
              </a:path>
            </a:pathLst>
          </a:custGeom>
          <a:solidFill>
            <a:srgbClr val="00683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rot="8443360" flipV="1">
            <a:off x="180244" y="4610022"/>
            <a:ext cx="4872287" cy="3198101"/>
          </a:xfrm>
          <a:custGeom>
            <a:avLst/>
            <a:gdLst>
              <a:gd name="connsiteX0" fmla="*/ 582784 w 4872287"/>
              <a:gd name="connsiteY0" fmla="*/ 365697 h 3198101"/>
              <a:gd name="connsiteX1" fmla="*/ 0 w 4872287"/>
              <a:gd name="connsiteY1" fmla="*/ 1601462 h 3198101"/>
              <a:gd name="connsiteX2" fmla="*/ 1437721 w 4872287"/>
              <a:gd name="connsiteY2" fmla="*/ 3194656 h 3198101"/>
              <a:gd name="connsiteX3" fmla="*/ 1505950 w 4872287"/>
              <a:gd name="connsiteY3" fmla="*/ 3198101 h 3198101"/>
              <a:gd name="connsiteX4" fmla="*/ 4872287 w 4872287"/>
              <a:gd name="connsiteY4" fmla="*/ 445009 h 3198101"/>
              <a:gd name="connsiteX5" fmla="*/ 4508346 w 4872287"/>
              <a:gd name="connsiteY5" fmla="*/ 0 h 3198101"/>
              <a:gd name="connsiteX6" fmla="*/ 1601462 w 4872287"/>
              <a:gd name="connsiteY6" fmla="*/ 0 h 3198101"/>
              <a:gd name="connsiteX7" fmla="*/ 582784 w 4872287"/>
              <a:gd name="connsiteY7" fmla="*/ 365697 h 319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2287" h="3198101">
                <a:moveTo>
                  <a:pt x="582784" y="365697"/>
                </a:moveTo>
                <a:cubicBezTo>
                  <a:pt x="226863" y="659428"/>
                  <a:pt x="0" y="1103951"/>
                  <a:pt x="0" y="1601462"/>
                </a:cubicBezTo>
                <a:cubicBezTo>
                  <a:pt x="0" y="2430646"/>
                  <a:pt x="630175" y="3112645"/>
                  <a:pt x="1437721" y="3194656"/>
                </a:cubicBezTo>
                <a:lnTo>
                  <a:pt x="1505950" y="3198101"/>
                </a:lnTo>
                <a:lnTo>
                  <a:pt x="4872287" y="445009"/>
                </a:lnTo>
                <a:lnTo>
                  <a:pt x="4508346" y="0"/>
                </a:lnTo>
                <a:lnTo>
                  <a:pt x="1601462" y="0"/>
                </a:lnTo>
                <a:cubicBezTo>
                  <a:pt x="1214509" y="0"/>
                  <a:pt x="859611" y="137238"/>
                  <a:pt x="582784" y="365697"/>
                </a:cubicBezTo>
                <a:close/>
              </a:path>
            </a:pathLst>
          </a:cu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文本框 46"/>
          <p:cNvSpPr txBox="1"/>
          <p:nvPr userDrawn="1"/>
        </p:nvSpPr>
        <p:spPr>
          <a:xfrm>
            <a:off x="5514502" y="3572088"/>
            <a:ext cx="5467630" cy="707886"/>
          </a:xfrm>
          <a:prstGeom prst="rect">
            <a:avLst/>
          </a:prstGeom>
          <a:noFill/>
        </p:spPr>
        <p:txBody>
          <a:bodyPr wrap="square" rtlCol="0">
            <a:spAutoFit/>
          </a:bodyPr>
          <a:lstStyle/>
          <a:p>
            <a:pPr algn="dist"/>
            <a:r>
              <a:rPr lang="zh-CN" altLang="en-US" sz="40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研究方法</a:t>
            </a:r>
          </a:p>
        </p:txBody>
      </p:sp>
      <p:sp>
        <p:nvSpPr>
          <p:cNvPr id="48" name="文本框 47"/>
          <p:cNvSpPr txBox="1"/>
          <p:nvPr userDrawn="1"/>
        </p:nvSpPr>
        <p:spPr>
          <a:xfrm>
            <a:off x="5467072" y="4166345"/>
            <a:ext cx="5634014" cy="340606"/>
          </a:xfrm>
          <a:prstGeom prst="rect">
            <a:avLst/>
          </a:prstGeom>
          <a:noFill/>
        </p:spPr>
        <p:txBody>
          <a:bodyPr wrap="square" rtlCol="0">
            <a:spAutoFit/>
          </a:bodyPr>
          <a:lstStyle/>
          <a:p>
            <a:pPr algn="dist">
              <a:lnSpc>
                <a:spcPct val="150000"/>
              </a:lnSpc>
            </a:pPr>
            <a:r>
              <a:rPr lang="en-US" altLang="zh-CN" sz="12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Research methodology</a:t>
            </a:r>
          </a:p>
        </p:txBody>
      </p:sp>
      <p:sp>
        <p:nvSpPr>
          <p:cNvPr id="49" name="文本框 48"/>
          <p:cNvSpPr txBox="1"/>
          <p:nvPr userDrawn="1"/>
        </p:nvSpPr>
        <p:spPr>
          <a:xfrm>
            <a:off x="5448078" y="2377452"/>
            <a:ext cx="3766587" cy="1107996"/>
          </a:xfrm>
          <a:prstGeom prst="rect">
            <a:avLst/>
          </a:prstGeom>
          <a:noFill/>
        </p:spPr>
        <p:txBody>
          <a:bodyPr wrap="square" rtlCol="0">
            <a:spAutoFit/>
          </a:bodyPr>
          <a:lstStyle/>
          <a:p>
            <a:pPr algn="dist"/>
            <a:r>
              <a:rPr lang="zh-CN" altLang="en-US" sz="66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第三部分</a:t>
            </a:r>
          </a:p>
        </p:txBody>
      </p:sp>
      <p:sp>
        <p:nvSpPr>
          <p:cNvPr id="50" name="文本框 49"/>
          <p:cNvSpPr txBox="1"/>
          <p:nvPr userDrawn="1"/>
        </p:nvSpPr>
        <p:spPr>
          <a:xfrm>
            <a:off x="9098280" y="2850515"/>
            <a:ext cx="2788920" cy="583565"/>
          </a:xfrm>
          <a:prstGeom prst="rect">
            <a:avLst/>
          </a:prstGeom>
          <a:noFill/>
        </p:spPr>
        <p:txBody>
          <a:bodyPr wrap="square" rtlCol="0">
            <a:spAutoFit/>
          </a:bodyPr>
          <a:lstStyle/>
          <a:p>
            <a:pPr algn="just"/>
            <a:r>
              <a:rPr lang="en-US" altLang="zh-CN"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Part three</a:t>
            </a:r>
            <a:endParaRPr lang="zh-CN" altLang="en-US"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endParaRPr>
          </a:p>
        </p:txBody>
      </p:sp>
      <p:pic>
        <p:nvPicPr>
          <p:cNvPr id="52" name="图片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77459" y="117469"/>
            <a:ext cx="1809345" cy="55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0-#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四部分">
    <p:spTree>
      <p:nvGrpSpPr>
        <p:cNvPr id="1" name=""/>
        <p:cNvGrpSpPr/>
        <p:nvPr/>
      </p:nvGrpSpPr>
      <p:grpSpPr>
        <a:xfrm>
          <a:off x="0" y="0"/>
          <a:ext cx="0" cy="0"/>
          <a:chOff x="0" y="0"/>
          <a:chExt cx="0" cy="0"/>
        </a:xfrm>
      </p:grpSpPr>
      <p:sp>
        <p:nvSpPr>
          <p:cNvPr id="11" name="任意多边形: 形状 10"/>
          <p:cNvSpPr/>
          <p:nvPr/>
        </p:nvSpPr>
        <p:spPr>
          <a:xfrm rot="8506583" flipV="1">
            <a:off x="5518935" y="-486819"/>
            <a:ext cx="8418578" cy="8194015"/>
          </a:xfrm>
          <a:custGeom>
            <a:avLst/>
            <a:gdLst>
              <a:gd name="connsiteX0" fmla="*/ 3563219 w 8418578"/>
              <a:gd name="connsiteY0" fmla="*/ 1 h 8194015"/>
              <a:gd name="connsiteX1" fmla="*/ 0 w 8418578"/>
              <a:gd name="connsiteY1" fmla="*/ 2806356 h 8194015"/>
              <a:gd name="connsiteX2" fmla="*/ 4243266 w 8418578"/>
              <a:gd name="connsiteY2" fmla="*/ 8194015 h 8194015"/>
              <a:gd name="connsiteX3" fmla="*/ 8418578 w 8418578"/>
              <a:gd name="connsiteY3" fmla="*/ 4905580 h 8194015"/>
              <a:gd name="connsiteX4" fmla="*/ 8418578 w 8418578"/>
              <a:gd name="connsiteY4" fmla="*/ 1277175 h 8194015"/>
              <a:gd name="connsiteX5" fmla="*/ 7141403 w 8418578"/>
              <a:gd name="connsiteY5" fmla="*/ 0 h 8194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18578" h="8194015">
                <a:moveTo>
                  <a:pt x="3563219" y="1"/>
                </a:moveTo>
                <a:lnTo>
                  <a:pt x="0" y="2806356"/>
                </a:lnTo>
                <a:lnTo>
                  <a:pt x="4243266" y="8194015"/>
                </a:lnTo>
                <a:lnTo>
                  <a:pt x="8418578" y="4905580"/>
                </a:lnTo>
                <a:lnTo>
                  <a:pt x="8418578" y="1277175"/>
                </a:lnTo>
                <a:cubicBezTo>
                  <a:pt x="8418578" y="571812"/>
                  <a:pt x="7846767" y="1"/>
                  <a:pt x="7141403"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形状 6"/>
          <p:cNvSpPr/>
          <p:nvPr userDrawn="1"/>
        </p:nvSpPr>
        <p:spPr>
          <a:xfrm rot="13845381" flipV="1">
            <a:off x="2935866" y="-1799920"/>
            <a:ext cx="2757548" cy="3985575"/>
          </a:xfrm>
          <a:custGeom>
            <a:avLst/>
            <a:gdLst>
              <a:gd name="connsiteX0" fmla="*/ 2757548 w 2757548"/>
              <a:gd name="connsiteY0" fmla="*/ 3375833 h 3985575"/>
              <a:gd name="connsiteX1" fmla="*/ 0 w 2757548"/>
              <a:gd name="connsiteY1" fmla="*/ 0 h 3985575"/>
              <a:gd name="connsiteX2" fmla="*/ 0 w 2757548"/>
              <a:gd name="connsiteY2" fmla="*/ 2447161 h 3985575"/>
              <a:gd name="connsiteX3" fmla="*/ 1538414 w 2757548"/>
              <a:gd name="connsiteY3" fmla="*/ 3985575 h 3985575"/>
              <a:gd name="connsiteX4" fmla="*/ 2626237 w 2757548"/>
              <a:gd name="connsiteY4" fmla="*/ 3534984 h 398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7548" h="3985575">
                <a:moveTo>
                  <a:pt x="2757548" y="3375833"/>
                </a:moveTo>
                <a:lnTo>
                  <a:pt x="0" y="0"/>
                </a:lnTo>
                <a:lnTo>
                  <a:pt x="0" y="2447161"/>
                </a:lnTo>
                <a:cubicBezTo>
                  <a:pt x="0" y="3296804"/>
                  <a:pt x="688771" y="3985575"/>
                  <a:pt x="1538414" y="3985575"/>
                </a:cubicBezTo>
                <a:cubicBezTo>
                  <a:pt x="1963235" y="3985575"/>
                  <a:pt x="2347839" y="3813382"/>
                  <a:pt x="2626237" y="3534984"/>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nvSpPr>
        <p:spPr>
          <a:xfrm rot="8506583" flipV="1">
            <a:off x="-1838500" y="395382"/>
            <a:ext cx="4224918" cy="4478797"/>
          </a:xfrm>
          <a:custGeom>
            <a:avLst/>
            <a:gdLst>
              <a:gd name="connsiteX0" fmla="*/ 0 w 4224918"/>
              <a:gd name="connsiteY0" fmla="*/ 549314 h 4478797"/>
              <a:gd name="connsiteX1" fmla="*/ 0 w 4224918"/>
              <a:gd name="connsiteY1" fmla="*/ 3297922 h 4478797"/>
              <a:gd name="connsiteX2" fmla="*/ 1180875 w 4224918"/>
              <a:gd name="connsiteY2" fmla="*/ 4478797 h 4478797"/>
              <a:gd name="connsiteX3" fmla="*/ 4224918 w 4224918"/>
              <a:gd name="connsiteY3" fmla="*/ 4478797 h 4478797"/>
              <a:gd name="connsiteX4" fmla="*/ 697462 w 4224918"/>
              <a:gd name="connsiteY4" fmla="*/ 0 h 4478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4918" h="4478797">
                <a:moveTo>
                  <a:pt x="0" y="549314"/>
                </a:moveTo>
                <a:lnTo>
                  <a:pt x="0" y="3297922"/>
                </a:lnTo>
                <a:cubicBezTo>
                  <a:pt x="0" y="3950101"/>
                  <a:pt x="528696" y="4478797"/>
                  <a:pt x="1180875" y="4478797"/>
                </a:cubicBezTo>
                <a:lnTo>
                  <a:pt x="4224918" y="4478797"/>
                </a:lnTo>
                <a:lnTo>
                  <a:pt x="697462" y="0"/>
                </a:lnTo>
                <a:close/>
              </a:path>
            </a:pathLst>
          </a:custGeom>
          <a:solidFill>
            <a:srgbClr val="00683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p:cNvSpPr/>
          <p:nvPr userDrawn="1"/>
        </p:nvSpPr>
        <p:spPr>
          <a:xfrm rot="8443360" flipV="1">
            <a:off x="180244" y="4610022"/>
            <a:ext cx="4872287" cy="3198101"/>
          </a:xfrm>
          <a:custGeom>
            <a:avLst/>
            <a:gdLst>
              <a:gd name="connsiteX0" fmla="*/ 582784 w 4872287"/>
              <a:gd name="connsiteY0" fmla="*/ 365697 h 3198101"/>
              <a:gd name="connsiteX1" fmla="*/ 0 w 4872287"/>
              <a:gd name="connsiteY1" fmla="*/ 1601462 h 3198101"/>
              <a:gd name="connsiteX2" fmla="*/ 1437721 w 4872287"/>
              <a:gd name="connsiteY2" fmla="*/ 3194656 h 3198101"/>
              <a:gd name="connsiteX3" fmla="*/ 1505950 w 4872287"/>
              <a:gd name="connsiteY3" fmla="*/ 3198101 h 3198101"/>
              <a:gd name="connsiteX4" fmla="*/ 4872287 w 4872287"/>
              <a:gd name="connsiteY4" fmla="*/ 445009 h 3198101"/>
              <a:gd name="connsiteX5" fmla="*/ 4508346 w 4872287"/>
              <a:gd name="connsiteY5" fmla="*/ 0 h 3198101"/>
              <a:gd name="connsiteX6" fmla="*/ 1601462 w 4872287"/>
              <a:gd name="connsiteY6" fmla="*/ 0 h 3198101"/>
              <a:gd name="connsiteX7" fmla="*/ 582784 w 4872287"/>
              <a:gd name="connsiteY7" fmla="*/ 365697 h 3198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2287" h="3198101">
                <a:moveTo>
                  <a:pt x="582784" y="365697"/>
                </a:moveTo>
                <a:cubicBezTo>
                  <a:pt x="226863" y="659428"/>
                  <a:pt x="0" y="1103951"/>
                  <a:pt x="0" y="1601462"/>
                </a:cubicBezTo>
                <a:cubicBezTo>
                  <a:pt x="0" y="2430646"/>
                  <a:pt x="630175" y="3112645"/>
                  <a:pt x="1437721" y="3194656"/>
                </a:cubicBezTo>
                <a:lnTo>
                  <a:pt x="1505950" y="3198101"/>
                </a:lnTo>
                <a:lnTo>
                  <a:pt x="4872287" y="445009"/>
                </a:lnTo>
                <a:lnTo>
                  <a:pt x="4508346" y="0"/>
                </a:lnTo>
                <a:lnTo>
                  <a:pt x="1601462" y="0"/>
                </a:lnTo>
                <a:cubicBezTo>
                  <a:pt x="1214509" y="0"/>
                  <a:pt x="859611" y="137238"/>
                  <a:pt x="582784" y="365697"/>
                </a:cubicBezTo>
                <a:close/>
              </a:path>
            </a:pathLst>
          </a:cu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7" name="文本框 46"/>
          <p:cNvSpPr txBox="1"/>
          <p:nvPr userDrawn="1"/>
        </p:nvSpPr>
        <p:spPr>
          <a:xfrm>
            <a:off x="5514502" y="3572088"/>
            <a:ext cx="5467630" cy="707886"/>
          </a:xfrm>
          <a:prstGeom prst="rect">
            <a:avLst/>
          </a:prstGeom>
          <a:noFill/>
        </p:spPr>
        <p:txBody>
          <a:bodyPr wrap="square" rtlCol="0">
            <a:spAutoFit/>
          </a:bodyPr>
          <a:lstStyle/>
          <a:p>
            <a:pPr algn="dist"/>
            <a:r>
              <a:rPr lang="zh-CN" altLang="en-US" sz="4000" i="1" dirty="0">
                <a:solidFill>
                  <a:schemeClr val="tx1">
                    <a:lumMod val="75000"/>
                    <a:lumOff val="25000"/>
                  </a:schemeClr>
                </a:solidFill>
                <a:latin typeface="Noto Sans S Chinese Bold" panose="020B0800000000000000" charset="-122"/>
                <a:ea typeface="Noto Sans S Chinese Bold" panose="020B0800000000000000" charset="-122"/>
                <a:cs typeface="米开爱的省略号" panose="03000600000000000000" charset="-122"/>
              </a:rPr>
              <a:t>研究结论</a:t>
            </a:r>
          </a:p>
        </p:txBody>
      </p:sp>
      <p:sp>
        <p:nvSpPr>
          <p:cNvPr id="48" name="文本框 47"/>
          <p:cNvSpPr txBox="1"/>
          <p:nvPr userDrawn="1"/>
        </p:nvSpPr>
        <p:spPr>
          <a:xfrm>
            <a:off x="5467072" y="4166345"/>
            <a:ext cx="5634014" cy="340606"/>
          </a:xfrm>
          <a:prstGeom prst="rect">
            <a:avLst/>
          </a:prstGeom>
          <a:noFill/>
        </p:spPr>
        <p:txBody>
          <a:bodyPr wrap="square" rtlCol="0">
            <a:spAutoFit/>
          </a:bodyPr>
          <a:lstStyle/>
          <a:p>
            <a:pPr algn="dist">
              <a:lnSpc>
                <a:spcPct val="150000"/>
              </a:lnSpc>
            </a:pPr>
            <a:r>
              <a:rPr lang="en-US" altLang="zh-CN" sz="1200" i="1" dirty="0">
                <a:solidFill>
                  <a:schemeClr val="tx1">
                    <a:lumMod val="75000"/>
                    <a:lumOff val="25000"/>
                  </a:schemeClr>
                </a:solidFill>
                <a:latin typeface="Noto Sans S Chinese Light" panose="020B0300000000000000" charset="-122"/>
                <a:ea typeface="Noto Sans S Chinese Light" panose="020B0300000000000000" charset="-122"/>
                <a:cs typeface="米开爱的省略号" panose="03000600000000000000" charset="-122"/>
              </a:rPr>
              <a:t>Research results</a:t>
            </a:r>
          </a:p>
        </p:txBody>
      </p:sp>
      <p:sp>
        <p:nvSpPr>
          <p:cNvPr id="49" name="文本框 48"/>
          <p:cNvSpPr txBox="1"/>
          <p:nvPr userDrawn="1"/>
        </p:nvSpPr>
        <p:spPr>
          <a:xfrm>
            <a:off x="5448078" y="2377452"/>
            <a:ext cx="3766587" cy="1107996"/>
          </a:xfrm>
          <a:prstGeom prst="rect">
            <a:avLst/>
          </a:prstGeom>
          <a:noFill/>
        </p:spPr>
        <p:txBody>
          <a:bodyPr wrap="square" rtlCol="0">
            <a:spAutoFit/>
          </a:bodyPr>
          <a:lstStyle/>
          <a:p>
            <a:pPr algn="dist"/>
            <a:r>
              <a:rPr lang="zh-CN" altLang="en-US" sz="66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第四部分</a:t>
            </a:r>
          </a:p>
        </p:txBody>
      </p:sp>
      <p:sp>
        <p:nvSpPr>
          <p:cNvPr id="50" name="文本框 49"/>
          <p:cNvSpPr txBox="1"/>
          <p:nvPr userDrawn="1"/>
        </p:nvSpPr>
        <p:spPr>
          <a:xfrm>
            <a:off x="9098280" y="2850515"/>
            <a:ext cx="2788285" cy="583565"/>
          </a:xfrm>
          <a:prstGeom prst="rect">
            <a:avLst/>
          </a:prstGeom>
          <a:noFill/>
        </p:spPr>
        <p:txBody>
          <a:bodyPr wrap="square" rtlCol="0">
            <a:spAutoFit/>
          </a:bodyPr>
          <a:lstStyle/>
          <a:p>
            <a:pPr algn="just"/>
            <a:r>
              <a:rPr lang="en-US" altLang="zh-CN"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rPr>
              <a:t>Part four</a:t>
            </a:r>
            <a:endParaRPr lang="zh-CN" altLang="en-US" sz="3200" i="1" dirty="0">
              <a:solidFill>
                <a:srgbClr val="006835"/>
              </a:solidFill>
              <a:latin typeface="Noto Sans S Chinese Bold" panose="020B0800000000000000" charset="-122"/>
              <a:ea typeface="Noto Sans S Chinese Bold" panose="020B0800000000000000" charset="-122"/>
              <a:cs typeface="米开爱的省略号" panose="03000600000000000000" charset="-122"/>
            </a:endParaRPr>
          </a:p>
        </p:txBody>
      </p:sp>
      <p:pic>
        <p:nvPicPr>
          <p:cNvPr id="52" name="图片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77459" y="117469"/>
            <a:ext cx="1809345" cy="552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ppt_x"/>
                                          </p:val>
                                        </p:tav>
                                        <p:tav tm="100000">
                                          <p:val>
                                            <p:strVal val="#ppt_x"/>
                                          </p:val>
                                        </p:tav>
                                      </p:tavLst>
                                    </p:anim>
                                    <p:anim calcmode="lin" valueType="num">
                                      <p:cBhvr additive="base">
                                        <p:cTn id="8" dur="750" fill="hold"/>
                                        <p:tgtEl>
                                          <p:spTgt spid="7"/>
                                        </p:tgtEl>
                                        <p:attrNameLst>
                                          <p:attrName>ppt_y</p:attrName>
                                        </p:attrNameLst>
                                      </p:cBhvr>
                                      <p:tavLst>
                                        <p:tav tm="0">
                                          <p:val>
                                            <p:strVal val="0-#ppt_h/2"/>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0-#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ppt_x"/>
                                          </p:val>
                                        </p:tav>
                                        <p:tav tm="100000">
                                          <p:val>
                                            <p:strVal val="#ppt_x"/>
                                          </p:val>
                                        </p:tav>
                                      </p:tavLst>
                                    </p:anim>
                                    <p:anim calcmode="lin" valueType="num">
                                      <p:cBhvr additive="base">
                                        <p:cTn id="16" dur="7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一">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817" y="9740"/>
            <a:ext cx="2844173" cy="868976"/>
          </a:xfrm>
          <a:prstGeom prst="rect">
            <a:avLst/>
          </a:prstGeom>
        </p:spPr>
      </p:pic>
      <p:sp>
        <p:nvSpPr>
          <p:cNvPr id="28" name="文本框 27"/>
          <p:cNvSpPr txBox="1"/>
          <p:nvPr userDrawn="1"/>
        </p:nvSpPr>
        <p:spPr>
          <a:xfrm>
            <a:off x="294788" y="213395"/>
            <a:ext cx="1483204" cy="461665"/>
          </a:xfrm>
          <a:prstGeom prst="rect">
            <a:avLst/>
          </a:prstGeom>
          <a:noFill/>
        </p:spPr>
        <p:txBody>
          <a:bodyPr wrap="square" rtlCol="0">
            <a:spAutoFit/>
          </a:bodyPr>
          <a:lstStyle/>
          <a:p>
            <a:r>
              <a:rPr lang="zh-CN" altLang="en-US" sz="2400" b="1" i="1" kern="1200" dirty="0">
                <a:solidFill>
                  <a:srgbClr val="006835"/>
                </a:solidFill>
                <a:ea typeface="Noto Sans S Chinese Bold" panose="020B0800000000000000" charset="-122"/>
              </a:rPr>
              <a:t>研究概述</a:t>
            </a:r>
          </a:p>
        </p:txBody>
      </p:sp>
      <p:sp>
        <p:nvSpPr>
          <p:cNvPr id="29" name="文本框 28"/>
          <p:cNvSpPr txBox="1"/>
          <p:nvPr userDrawn="1"/>
        </p:nvSpPr>
        <p:spPr>
          <a:xfrm>
            <a:off x="2211355" y="244173"/>
            <a:ext cx="1240607" cy="400110"/>
          </a:xfrm>
          <a:prstGeom prst="rect">
            <a:avLst/>
          </a:prstGeom>
          <a:noFill/>
        </p:spPr>
        <p:txBody>
          <a:bodyPr wrap="square" rtlCol="0">
            <a:spAutoFit/>
          </a:bodyPr>
          <a:lstStyle/>
          <a:p>
            <a:r>
              <a:rPr lang="zh-CN" altLang="en-US" sz="2000" i="1" kern="1200" dirty="0">
                <a:solidFill>
                  <a:schemeClr val="tx1">
                    <a:lumMod val="75000"/>
                    <a:lumOff val="25000"/>
                  </a:schemeClr>
                </a:solidFill>
                <a:ea typeface="Noto Sans S Chinese Bold" panose="020B0800000000000000" charset="-122"/>
              </a:rPr>
              <a:t>研究内容</a:t>
            </a:r>
          </a:p>
        </p:txBody>
      </p:sp>
      <p:sp>
        <p:nvSpPr>
          <p:cNvPr id="32" name="文本框 31"/>
          <p:cNvSpPr txBox="1"/>
          <p:nvPr userDrawn="1"/>
        </p:nvSpPr>
        <p:spPr>
          <a:xfrm>
            <a:off x="4049121" y="244173"/>
            <a:ext cx="1240607" cy="400110"/>
          </a:xfrm>
          <a:prstGeom prst="rect">
            <a:avLst/>
          </a:prstGeom>
          <a:noFill/>
        </p:spPr>
        <p:txBody>
          <a:bodyPr wrap="square" rtlCol="0">
            <a:spAutoFit/>
          </a:bodyPr>
          <a:lstStyle/>
          <a:p>
            <a:pPr marL="0" algn="l" defTabSz="914400" rtl="0" eaLnBrk="1" latinLnBrk="0" hangingPunct="1"/>
            <a:r>
              <a:rPr lang="zh-CN" altLang="en-US" sz="2000" i="1" kern="1200" dirty="0">
                <a:solidFill>
                  <a:schemeClr val="tx1">
                    <a:lumMod val="75000"/>
                    <a:lumOff val="25000"/>
                  </a:schemeClr>
                </a:solidFill>
                <a:latin typeface="+mn-lt"/>
                <a:ea typeface="Noto Sans S Chinese Bold" panose="020B0800000000000000" charset="-122"/>
                <a:cs typeface="+mn-cs"/>
              </a:rPr>
              <a:t>研究方法</a:t>
            </a:r>
          </a:p>
        </p:txBody>
      </p:sp>
      <p:sp>
        <p:nvSpPr>
          <p:cNvPr id="33" name="文本框 32"/>
          <p:cNvSpPr txBox="1"/>
          <p:nvPr userDrawn="1"/>
        </p:nvSpPr>
        <p:spPr>
          <a:xfrm>
            <a:off x="5886887" y="244173"/>
            <a:ext cx="1240607" cy="400110"/>
          </a:xfrm>
          <a:prstGeom prst="rect">
            <a:avLst/>
          </a:prstGeom>
          <a:noFill/>
        </p:spPr>
        <p:txBody>
          <a:bodyPr wrap="square" rtlCol="0">
            <a:spAutoFit/>
          </a:bodyPr>
          <a:lstStyle/>
          <a:p>
            <a:r>
              <a:rPr lang="zh-CN" altLang="en-US" sz="2000" i="1" kern="1200" dirty="0">
                <a:solidFill>
                  <a:schemeClr val="tx1">
                    <a:lumMod val="75000"/>
                    <a:lumOff val="25000"/>
                  </a:schemeClr>
                </a:solidFill>
                <a:latin typeface="+mn-lt"/>
                <a:ea typeface="Noto Sans S Chinese Bold" panose="020B0800000000000000" charset="-122"/>
                <a:cs typeface="+mn-cs"/>
              </a:rPr>
              <a:t>研究结论</a:t>
            </a:r>
          </a:p>
        </p:txBody>
      </p:sp>
      <p:cxnSp>
        <p:nvCxnSpPr>
          <p:cNvPr id="35" name="直接连接符 34"/>
          <p:cNvCxnSpPr/>
          <p:nvPr userDrawn="1"/>
        </p:nvCxnSpPr>
        <p:spPr>
          <a:xfrm>
            <a:off x="0" y="693722"/>
            <a:ext cx="7016620" cy="0"/>
          </a:xfrm>
          <a:prstGeom prst="line">
            <a:avLst/>
          </a:prstGeom>
          <a:ln w="19050">
            <a:solidFill>
              <a:srgbClr val="006835"/>
            </a:solidFill>
          </a:ln>
        </p:spPr>
        <p:style>
          <a:lnRef idx="1">
            <a:schemeClr val="accent1"/>
          </a:lnRef>
          <a:fillRef idx="0">
            <a:schemeClr val="accent1"/>
          </a:fillRef>
          <a:effectRef idx="0">
            <a:schemeClr val="accent1"/>
          </a:effectRef>
          <a:fontRef idx="minor">
            <a:schemeClr val="tx1"/>
          </a:fontRef>
        </p:style>
      </p:cxnSp>
      <p:sp>
        <p:nvSpPr>
          <p:cNvPr id="36" name="椭圆 35"/>
          <p:cNvSpPr/>
          <p:nvPr userDrawn="1"/>
        </p:nvSpPr>
        <p:spPr>
          <a:xfrm>
            <a:off x="978629" y="631626"/>
            <a:ext cx="115522" cy="115522"/>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userDrawn="1"/>
        </p:nvSpPr>
        <p:spPr>
          <a:xfrm>
            <a:off x="2790455" y="64631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userDrawn="1"/>
        </p:nvSpPr>
        <p:spPr>
          <a:xfrm>
            <a:off x="4628221" y="64934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userDrawn="1"/>
        </p:nvSpPr>
        <p:spPr>
          <a:xfrm>
            <a:off x="6465987" y="654583"/>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0" name="组合 39"/>
          <p:cNvGrpSpPr/>
          <p:nvPr userDrawn="1"/>
        </p:nvGrpSpPr>
        <p:grpSpPr>
          <a:xfrm rot="21362959">
            <a:off x="8414347" y="4892835"/>
            <a:ext cx="4387104" cy="3773458"/>
            <a:chOff x="8708987" y="5146835"/>
            <a:chExt cx="4387104" cy="3773458"/>
          </a:xfrm>
        </p:grpSpPr>
        <p:sp>
          <p:nvSpPr>
            <p:cNvPr id="41" name="椭圆 40"/>
            <p:cNvSpPr/>
            <p:nvPr userDrawn="1"/>
          </p:nvSpPr>
          <p:spPr>
            <a:xfrm rot="8850532">
              <a:off x="8708987" y="6222987"/>
              <a:ext cx="2697306" cy="2697306"/>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userDrawn="1"/>
          </p:nvSpPr>
          <p:spPr>
            <a:xfrm rot="8850532">
              <a:off x="10398785" y="5146835"/>
              <a:ext cx="2697306" cy="2697306"/>
            </a:xfrm>
            <a:prstGeom prst="ellipse">
              <a:avLst/>
            </a:prstGeom>
            <a:solidFill>
              <a:srgbClr val="016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r">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817" y="9740"/>
            <a:ext cx="2844173" cy="868976"/>
          </a:xfrm>
          <a:prstGeom prst="rect">
            <a:avLst/>
          </a:prstGeom>
        </p:spPr>
      </p:pic>
      <p:sp>
        <p:nvSpPr>
          <p:cNvPr id="12" name="文本框 11"/>
          <p:cNvSpPr txBox="1"/>
          <p:nvPr userDrawn="1"/>
        </p:nvSpPr>
        <p:spPr>
          <a:xfrm>
            <a:off x="434446" y="244173"/>
            <a:ext cx="1319409" cy="400110"/>
          </a:xfrm>
          <a:prstGeom prst="rect">
            <a:avLst/>
          </a:prstGeom>
          <a:noFill/>
        </p:spPr>
        <p:txBody>
          <a:bodyPr wrap="square" rtlCol="0">
            <a:spAutoFit/>
          </a:bodyPr>
          <a:lstStyle/>
          <a:p>
            <a:pPr marL="0" algn="l" defTabSz="914400" rtl="0" eaLnBrk="1" latinLnBrk="0" hangingPunct="1"/>
            <a:r>
              <a:rPr lang="zh-CN" altLang="en-US" sz="2000" i="1" kern="1200" dirty="0">
                <a:solidFill>
                  <a:schemeClr val="tx1">
                    <a:lumMod val="75000"/>
                    <a:lumOff val="25000"/>
                  </a:schemeClr>
                </a:solidFill>
                <a:latin typeface="+mn-lt"/>
                <a:ea typeface="Noto Sans S Chinese Bold" panose="020B0800000000000000" charset="-122"/>
                <a:cs typeface="+mn-cs"/>
              </a:rPr>
              <a:t>研究概述</a:t>
            </a:r>
          </a:p>
        </p:txBody>
      </p:sp>
      <p:sp>
        <p:nvSpPr>
          <p:cNvPr id="13" name="文本框 12"/>
          <p:cNvSpPr txBox="1"/>
          <p:nvPr userDrawn="1"/>
        </p:nvSpPr>
        <p:spPr>
          <a:xfrm>
            <a:off x="2082424" y="213728"/>
            <a:ext cx="1498470" cy="461665"/>
          </a:xfrm>
          <a:prstGeom prst="rect">
            <a:avLst/>
          </a:prstGeom>
          <a:noFill/>
        </p:spPr>
        <p:txBody>
          <a:bodyPr wrap="square" rtlCol="0">
            <a:spAutoFit/>
          </a:bodyPr>
          <a:lstStyle/>
          <a:p>
            <a:pPr marL="0" algn="l" defTabSz="914400" rtl="0" eaLnBrk="1" latinLnBrk="0" hangingPunct="1"/>
            <a:r>
              <a:rPr lang="zh-CN" altLang="en-US" sz="2400" b="1" i="1" kern="1200" dirty="0">
                <a:solidFill>
                  <a:srgbClr val="006835"/>
                </a:solidFill>
                <a:latin typeface="+mn-lt"/>
                <a:ea typeface="Noto Sans S Chinese Bold" panose="020B0800000000000000" charset="-122"/>
                <a:cs typeface="+mn-cs"/>
              </a:rPr>
              <a:t>研究内容</a:t>
            </a:r>
          </a:p>
        </p:txBody>
      </p:sp>
      <p:sp>
        <p:nvSpPr>
          <p:cNvPr id="14" name="文本框 13"/>
          <p:cNvSpPr txBox="1"/>
          <p:nvPr userDrawn="1"/>
        </p:nvSpPr>
        <p:spPr>
          <a:xfrm>
            <a:off x="4049121" y="244173"/>
            <a:ext cx="1240607" cy="400110"/>
          </a:xfrm>
          <a:prstGeom prst="rect">
            <a:avLst/>
          </a:prstGeom>
          <a:noFill/>
        </p:spPr>
        <p:txBody>
          <a:bodyPr wrap="square" rtlCol="0">
            <a:spAutoFit/>
          </a:bodyPr>
          <a:lstStyle/>
          <a:p>
            <a:pPr marL="0" algn="l" defTabSz="914400" rtl="0" eaLnBrk="1" latinLnBrk="0" hangingPunct="1"/>
            <a:r>
              <a:rPr lang="zh-CN" altLang="en-US" sz="2000" i="1" kern="1200" dirty="0">
                <a:solidFill>
                  <a:schemeClr val="tx1">
                    <a:lumMod val="75000"/>
                    <a:lumOff val="25000"/>
                  </a:schemeClr>
                </a:solidFill>
                <a:latin typeface="+mn-lt"/>
                <a:ea typeface="Noto Sans S Chinese Bold" panose="020B0800000000000000" charset="-122"/>
                <a:cs typeface="+mn-cs"/>
              </a:rPr>
              <a:t>研究方法</a:t>
            </a:r>
          </a:p>
        </p:txBody>
      </p:sp>
      <p:sp>
        <p:nvSpPr>
          <p:cNvPr id="15" name="文本框 14"/>
          <p:cNvSpPr txBox="1"/>
          <p:nvPr userDrawn="1"/>
        </p:nvSpPr>
        <p:spPr>
          <a:xfrm>
            <a:off x="5886887" y="244173"/>
            <a:ext cx="1240607" cy="400110"/>
          </a:xfrm>
          <a:prstGeom prst="rect">
            <a:avLst/>
          </a:prstGeom>
          <a:noFill/>
        </p:spPr>
        <p:txBody>
          <a:bodyPr wrap="square" rtlCol="0">
            <a:spAutoFit/>
          </a:bodyPr>
          <a:lstStyle/>
          <a:p>
            <a:r>
              <a:rPr lang="zh-CN" altLang="en-US" sz="2000" i="1" kern="1200" dirty="0">
                <a:solidFill>
                  <a:schemeClr val="tx1">
                    <a:lumMod val="75000"/>
                    <a:lumOff val="25000"/>
                  </a:schemeClr>
                </a:solidFill>
                <a:latin typeface="+mn-lt"/>
                <a:ea typeface="Noto Sans S Chinese Bold" panose="020B0800000000000000" charset="-122"/>
                <a:cs typeface="+mn-cs"/>
              </a:rPr>
              <a:t>研究结论</a:t>
            </a:r>
          </a:p>
        </p:txBody>
      </p:sp>
      <p:cxnSp>
        <p:nvCxnSpPr>
          <p:cNvPr id="16" name="直接连接符 15"/>
          <p:cNvCxnSpPr/>
          <p:nvPr userDrawn="1"/>
        </p:nvCxnSpPr>
        <p:spPr>
          <a:xfrm>
            <a:off x="0" y="693722"/>
            <a:ext cx="7016620" cy="0"/>
          </a:xfrm>
          <a:prstGeom prst="line">
            <a:avLst/>
          </a:prstGeom>
          <a:ln w="19050">
            <a:solidFill>
              <a:srgbClr val="006835"/>
            </a:solidFill>
          </a:ln>
        </p:spPr>
        <p:style>
          <a:lnRef idx="1">
            <a:schemeClr val="accent1"/>
          </a:lnRef>
          <a:fillRef idx="0">
            <a:schemeClr val="accent1"/>
          </a:fillRef>
          <a:effectRef idx="0">
            <a:schemeClr val="accent1"/>
          </a:effectRef>
          <a:fontRef idx="minor">
            <a:schemeClr val="tx1"/>
          </a:fontRef>
        </p:style>
      </p:cxnSp>
      <p:sp>
        <p:nvSpPr>
          <p:cNvPr id="17" name="椭圆 16"/>
          <p:cNvSpPr/>
          <p:nvPr userDrawn="1"/>
        </p:nvSpPr>
        <p:spPr>
          <a:xfrm>
            <a:off x="2757338" y="631626"/>
            <a:ext cx="115522" cy="115522"/>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userDrawn="1"/>
        </p:nvSpPr>
        <p:spPr>
          <a:xfrm>
            <a:off x="952692" y="64654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4628221" y="64934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userDrawn="1"/>
        </p:nvSpPr>
        <p:spPr>
          <a:xfrm>
            <a:off x="6465987" y="654583"/>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userDrawn="1"/>
        </p:nvGrpSpPr>
        <p:grpSpPr>
          <a:xfrm rot="21362959">
            <a:off x="8414347" y="4892835"/>
            <a:ext cx="4387104" cy="3773458"/>
            <a:chOff x="8708987" y="5146835"/>
            <a:chExt cx="4387104" cy="3773458"/>
          </a:xfrm>
        </p:grpSpPr>
        <p:sp>
          <p:nvSpPr>
            <p:cNvPr id="26" name="椭圆 25"/>
            <p:cNvSpPr/>
            <p:nvPr userDrawn="1"/>
          </p:nvSpPr>
          <p:spPr>
            <a:xfrm rot="8850532">
              <a:off x="8708987" y="6222987"/>
              <a:ext cx="2697306" cy="2697306"/>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userDrawn="1"/>
          </p:nvSpPr>
          <p:spPr>
            <a:xfrm rot="8850532">
              <a:off x="10398785" y="5146835"/>
              <a:ext cx="2697306" cy="2697306"/>
            </a:xfrm>
            <a:prstGeom prst="ellipse">
              <a:avLst/>
            </a:prstGeom>
            <a:solidFill>
              <a:srgbClr val="016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三">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817" y="9740"/>
            <a:ext cx="2844173" cy="868976"/>
          </a:xfrm>
          <a:prstGeom prst="rect">
            <a:avLst/>
          </a:prstGeom>
        </p:spPr>
      </p:pic>
      <p:sp>
        <p:nvSpPr>
          <p:cNvPr id="18" name="文本框 17"/>
          <p:cNvSpPr txBox="1"/>
          <p:nvPr userDrawn="1"/>
        </p:nvSpPr>
        <p:spPr>
          <a:xfrm>
            <a:off x="412146" y="219669"/>
            <a:ext cx="1240607" cy="400110"/>
          </a:xfrm>
          <a:prstGeom prst="rect">
            <a:avLst/>
          </a:prstGeom>
          <a:noFill/>
        </p:spPr>
        <p:txBody>
          <a:bodyPr wrap="square" rtlCol="0">
            <a:spAutoFit/>
          </a:bodyPr>
          <a:lstStyle/>
          <a:p>
            <a:pPr marL="0" algn="l" defTabSz="914400" rtl="0" eaLnBrk="1" latinLnBrk="0" hangingPunct="1"/>
            <a:r>
              <a:rPr lang="zh-CN" altLang="en-US" sz="2000" i="1" kern="1200" dirty="0">
                <a:solidFill>
                  <a:schemeClr val="tx1">
                    <a:lumMod val="75000"/>
                    <a:lumOff val="25000"/>
                  </a:schemeClr>
                </a:solidFill>
                <a:latin typeface="+mn-lt"/>
                <a:ea typeface="Noto Sans S Chinese Bold" panose="020B0800000000000000" charset="-122"/>
                <a:cs typeface="+mn-cs"/>
              </a:rPr>
              <a:t>研究概述</a:t>
            </a:r>
          </a:p>
        </p:txBody>
      </p:sp>
      <p:sp>
        <p:nvSpPr>
          <p:cNvPr id="19" name="文本框 18"/>
          <p:cNvSpPr txBox="1"/>
          <p:nvPr userDrawn="1"/>
        </p:nvSpPr>
        <p:spPr>
          <a:xfrm>
            <a:off x="2211355" y="244173"/>
            <a:ext cx="1240607" cy="400110"/>
          </a:xfrm>
          <a:prstGeom prst="rect">
            <a:avLst/>
          </a:prstGeom>
          <a:noFill/>
        </p:spPr>
        <p:txBody>
          <a:bodyPr wrap="square" rtlCol="0">
            <a:spAutoFit/>
          </a:bodyPr>
          <a:lstStyle/>
          <a:p>
            <a:r>
              <a:rPr lang="zh-CN" altLang="en-US" sz="2000" i="1" kern="1200" dirty="0">
                <a:solidFill>
                  <a:schemeClr val="tx1">
                    <a:lumMod val="75000"/>
                    <a:lumOff val="25000"/>
                  </a:schemeClr>
                </a:solidFill>
                <a:ea typeface="Noto Sans S Chinese Bold" panose="020B0800000000000000" charset="-122"/>
              </a:rPr>
              <a:t>研究内容</a:t>
            </a:r>
          </a:p>
        </p:txBody>
      </p:sp>
      <p:sp>
        <p:nvSpPr>
          <p:cNvPr id="21" name="文本框 20"/>
          <p:cNvSpPr txBox="1"/>
          <p:nvPr userDrawn="1"/>
        </p:nvSpPr>
        <p:spPr>
          <a:xfrm>
            <a:off x="5886887" y="244173"/>
            <a:ext cx="1240607" cy="400110"/>
          </a:xfrm>
          <a:prstGeom prst="rect">
            <a:avLst/>
          </a:prstGeom>
          <a:noFill/>
        </p:spPr>
        <p:txBody>
          <a:bodyPr wrap="square" rtlCol="0">
            <a:spAutoFit/>
          </a:bodyPr>
          <a:lstStyle/>
          <a:p>
            <a:r>
              <a:rPr lang="zh-CN" altLang="en-US" sz="2000" i="1" kern="1200" dirty="0">
                <a:solidFill>
                  <a:schemeClr val="tx1">
                    <a:lumMod val="75000"/>
                    <a:lumOff val="25000"/>
                  </a:schemeClr>
                </a:solidFill>
                <a:latin typeface="+mn-lt"/>
                <a:ea typeface="Noto Sans S Chinese Bold" panose="020B0800000000000000" charset="-122"/>
                <a:cs typeface="+mn-cs"/>
              </a:rPr>
              <a:t>研究结论</a:t>
            </a:r>
          </a:p>
        </p:txBody>
      </p:sp>
      <p:cxnSp>
        <p:nvCxnSpPr>
          <p:cNvPr id="22" name="直接连接符 21"/>
          <p:cNvCxnSpPr/>
          <p:nvPr userDrawn="1"/>
        </p:nvCxnSpPr>
        <p:spPr>
          <a:xfrm>
            <a:off x="0" y="693722"/>
            <a:ext cx="7016620" cy="0"/>
          </a:xfrm>
          <a:prstGeom prst="line">
            <a:avLst/>
          </a:prstGeom>
          <a:ln w="19050">
            <a:solidFill>
              <a:srgbClr val="006835"/>
            </a:solidFill>
          </a:ln>
        </p:spPr>
        <p:style>
          <a:lnRef idx="1">
            <a:schemeClr val="accent1"/>
          </a:lnRef>
          <a:fillRef idx="0">
            <a:schemeClr val="accent1"/>
          </a:fillRef>
          <a:effectRef idx="0">
            <a:schemeClr val="accent1"/>
          </a:effectRef>
          <a:fontRef idx="minor">
            <a:schemeClr val="tx1"/>
          </a:fontRef>
        </p:style>
      </p:cxnSp>
      <p:sp>
        <p:nvSpPr>
          <p:cNvPr id="24" name="椭圆 23"/>
          <p:cNvSpPr/>
          <p:nvPr userDrawn="1"/>
        </p:nvSpPr>
        <p:spPr>
          <a:xfrm>
            <a:off x="2790455" y="64631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userDrawn="1"/>
        </p:nvSpPr>
        <p:spPr>
          <a:xfrm>
            <a:off x="4628221" y="64934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userDrawn="1"/>
        </p:nvSpPr>
        <p:spPr>
          <a:xfrm>
            <a:off x="6465987" y="654583"/>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userDrawn="1"/>
        </p:nvSpPr>
        <p:spPr>
          <a:xfrm>
            <a:off x="933485" y="649239"/>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userDrawn="1"/>
        </p:nvSpPr>
        <p:spPr>
          <a:xfrm>
            <a:off x="3945615" y="207337"/>
            <a:ext cx="1483204" cy="461665"/>
          </a:xfrm>
          <a:prstGeom prst="rect">
            <a:avLst/>
          </a:prstGeom>
          <a:noFill/>
        </p:spPr>
        <p:txBody>
          <a:bodyPr wrap="square" rtlCol="0">
            <a:spAutoFit/>
          </a:bodyPr>
          <a:lstStyle/>
          <a:p>
            <a:r>
              <a:rPr lang="zh-CN" altLang="en-US" sz="2400" b="1" i="1" kern="1200" dirty="0">
                <a:solidFill>
                  <a:srgbClr val="006835"/>
                </a:solidFill>
                <a:ea typeface="Noto Sans S Chinese Bold" panose="020B0800000000000000" charset="-122"/>
              </a:rPr>
              <a:t>研究方法</a:t>
            </a:r>
          </a:p>
        </p:txBody>
      </p:sp>
      <p:sp>
        <p:nvSpPr>
          <p:cNvPr id="23" name="椭圆 22"/>
          <p:cNvSpPr/>
          <p:nvPr userDrawn="1"/>
        </p:nvSpPr>
        <p:spPr>
          <a:xfrm>
            <a:off x="4611662" y="638024"/>
            <a:ext cx="115522" cy="115522"/>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userDrawn="1"/>
        </p:nvGrpSpPr>
        <p:grpSpPr>
          <a:xfrm rot="21362959">
            <a:off x="8414347" y="4892835"/>
            <a:ext cx="4387104" cy="3773458"/>
            <a:chOff x="8708987" y="5146835"/>
            <a:chExt cx="4387104" cy="3773458"/>
          </a:xfrm>
        </p:grpSpPr>
        <p:sp>
          <p:nvSpPr>
            <p:cNvPr id="35" name="椭圆 34"/>
            <p:cNvSpPr/>
            <p:nvPr userDrawn="1"/>
          </p:nvSpPr>
          <p:spPr>
            <a:xfrm rot="8850532">
              <a:off x="8708987" y="6222987"/>
              <a:ext cx="2697306" cy="2697306"/>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userDrawn="1"/>
          </p:nvSpPr>
          <p:spPr>
            <a:xfrm rot="8850532">
              <a:off x="10398785" y="5146835"/>
              <a:ext cx="2697306" cy="2697306"/>
            </a:xfrm>
            <a:prstGeom prst="ellipse">
              <a:avLst/>
            </a:prstGeom>
            <a:solidFill>
              <a:srgbClr val="016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四">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0817" y="9740"/>
            <a:ext cx="2844173" cy="868976"/>
          </a:xfrm>
          <a:prstGeom prst="rect">
            <a:avLst/>
          </a:prstGeom>
        </p:spPr>
      </p:pic>
      <p:sp>
        <p:nvSpPr>
          <p:cNvPr id="9" name="文本框 8"/>
          <p:cNvSpPr txBox="1"/>
          <p:nvPr userDrawn="1"/>
        </p:nvSpPr>
        <p:spPr>
          <a:xfrm>
            <a:off x="412146" y="219669"/>
            <a:ext cx="1240607" cy="400110"/>
          </a:xfrm>
          <a:prstGeom prst="rect">
            <a:avLst/>
          </a:prstGeom>
          <a:noFill/>
        </p:spPr>
        <p:txBody>
          <a:bodyPr wrap="square" rtlCol="0">
            <a:spAutoFit/>
          </a:bodyPr>
          <a:lstStyle/>
          <a:p>
            <a:pPr marL="0" algn="l" defTabSz="914400" rtl="0" eaLnBrk="1" latinLnBrk="0" hangingPunct="1"/>
            <a:r>
              <a:rPr lang="zh-CN" altLang="en-US" sz="2000" i="1" kern="1200" dirty="0">
                <a:solidFill>
                  <a:schemeClr val="tx1">
                    <a:lumMod val="75000"/>
                    <a:lumOff val="25000"/>
                  </a:schemeClr>
                </a:solidFill>
                <a:latin typeface="+mn-lt"/>
                <a:ea typeface="Noto Sans S Chinese Bold" panose="020B0800000000000000" charset="-122"/>
                <a:cs typeface="+mn-cs"/>
              </a:rPr>
              <a:t>研究概述</a:t>
            </a:r>
          </a:p>
        </p:txBody>
      </p:sp>
      <p:sp>
        <p:nvSpPr>
          <p:cNvPr id="10" name="文本框 9"/>
          <p:cNvSpPr txBox="1"/>
          <p:nvPr userDrawn="1"/>
        </p:nvSpPr>
        <p:spPr>
          <a:xfrm>
            <a:off x="2211355" y="244173"/>
            <a:ext cx="1240607" cy="400110"/>
          </a:xfrm>
          <a:prstGeom prst="rect">
            <a:avLst/>
          </a:prstGeom>
          <a:noFill/>
        </p:spPr>
        <p:txBody>
          <a:bodyPr wrap="square" rtlCol="0">
            <a:spAutoFit/>
          </a:bodyPr>
          <a:lstStyle/>
          <a:p>
            <a:r>
              <a:rPr lang="zh-CN" altLang="en-US" sz="2000" i="1" kern="1200" dirty="0">
                <a:solidFill>
                  <a:schemeClr val="tx1">
                    <a:lumMod val="75000"/>
                    <a:lumOff val="25000"/>
                  </a:schemeClr>
                </a:solidFill>
                <a:ea typeface="Noto Sans S Chinese Bold" panose="020B0800000000000000" charset="-122"/>
              </a:rPr>
              <a:t>研究内容</a:t>
            </a:r>
          </a:p>
        </p:txBody>
      </p:sp>
      <p:sp>
        <p:nvSpPr>
          <p:cNvPr id="11" name="文本框 10"/>
          <p:cNvSpPr txBox="1"/>
          <p:nvPr userDrawn="1"/>
        </p:nvSpPr>
        <p:spPr>
          <a:xfrm>
            <a:off x="4049121" y="244173"/>
            <a:ext cx="1240607" cy="400110"/>
          </a:xfrm>
          <a:prstGeom prst="rect">
            <a:avLst/>
          </a:prstGeom>
          <a:noFill/>
        </p:spPr>
        <p:txBody>
          <a:bodyPr wrap="square" rtlCol="0">
            <a:spAutoFit/>
          </a:bodyPr>
          <a:lstStyle/>
          <a:p>
            <a:pPr marL="0" algn="l" defTabSz="914400" rtl="0" eaLnBrk="1" latinLnBrk="0" hangingPunct="1"/>
            <a:r>
              <a:rPr lang="zh-CN" altLang="en-US" sz="2000" i="1" kern="1200" dirty="0">
                <a:solidFill>
                  <a:schemeClr val="tx1">
                    <a:lumMod val="75000"/>
                    <a:lumOff val="25000"/>
                  </a:schemeClr>
                </a:solidFill>
                <a:latin typeface="+mn-lt"/>
                <a:ea typeface="Noto Sans S Chinese Bold" panose="020B0800000000000000" charset="-122"/>
                <a:cs typeface="+mn-cs"/>
              </a:rPr>
              <a:t>研究方法</a:t>
            </a:r>
          </a:p>
        </p:txBody>
      </p:sp>
      <p:cxnSp>
        <p:nvCxnSpPr>
          <p:cNvPr id="13" name="直接连接符 12"/>
          <p:cNvCxnSpPr/>
          <p:nvPr userDrawn="1"/>
        </p:nvCxnSpPr>
        <p:spPr>
          <a:xfrm>
            <a:off x="0" y="693722"/>
            <a:ext cx="7016620" cy="0"/>
          </a:xfrm>
          <a:prstGeom prst="line">
            <a:avLst/>
          </a:prstGeom>
          <a:ln w="19050">
            <a:solidFill>
              <a:srgbClr val="006835"/>
            </a:solidFill>
          </a:ln>
        </p:spPr>
        <p:style>
          <a:lnRef idx="1">
            <a:schemeClr val="accent1"/>
          </a:lnRef>
          <a:fillRef idx="0">
            <a:schemeClr val="accent1"/>
          </a:fillRef>
          <a:effectRef idx="0">
            <a:schemeClr val="accent1"/>
          </a:effectRef>
          <a:fontRef idx="minor">
            <a:schemeClr val="tx1"/>
          </a:fontRef>
        </p:style>
      </p:cxnSp>
      <p:sp>
        <p:nvSpPr>
          <p:cNvPr id="15" name="椭圆 14"/>
          <p:cNvSpPr/>
          <p:nvPr userDrawn="1"/>
        </p:nvSpPr>
        <p:spPr>
          <a:xfrm>
            <a:off x="2790455" y="64631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userDrawn="1"/>
        </p:nvSpPr>
        <p:spPr>
          <a:xfrm>
            <a:off x="4628221" y="649345"/>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6465987" y="654583"/>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userDrawn="1"/>
        </p:nvSpPr>
        <p:spPr>
          <a:xfrm>
            <a:off x="933485" y="649239"/>
            <a:ext cx="82405" cy="8240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userDrawn="1"/>
        </p:nvSpPr>
        <p:spPr>
          <a:xfrm>
            <a:off x="5765587" y="234120"/>
            <a:ext cx="1483204" cy="461665"/>
          </a:xfrm>
          <a:prstGeom prst="rect">
            <a:avLst/>
          </a:prstGeom>
          <a:noFill/>
        </p:spPr>
        <p:txBody>
          <a:bodyPr wrap="square" rtlCol="0">
            <a:spAutoFit/>
          </a:bodyPr>
          <a:lstStyle/>
          <a:p>
            <a:r>
              <a:rPr lang="zh-CN" altLang="en-US" sz="2400" b="1" i="1" kern="1200" dirty="0">
                <a:solidFill>
                  <a:srgbClr val="006835"/>
                </a:solidFill>
                <a:ea typeface="Noto Sans S Chinese Bold" panose="020B0800000000000000" charset="-122"/>
              </a:rPr>
              <a:t>研究结论</a:t>
            </a:r>
          </a:p>
        </p:txBody>
      </p:sp>
      <p:sp>
        <p:nvSpPr>
          <p:cNvPr id="14" name="椭圆 13"/>
          <p:cNvSpPr/>
          <p:nvPr userDrawn="1"/>
        </p:nvSpPr>
        <p:spPr>
          <a:xfrm>
            <a:off x="6455827" y="639916"/>
            <a:ext cx="115522" cy="115522"/>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userDrawn="1"/>
        </p:nvGrpSpPr>
        <p:grpSpPr>
          <a:xfrm rot="21362959">
            <a:off x="8414347" y="4892835"/>
            <a:ext cx="4387104" cy="3773458"/>
            <a:chOff x="8708987" y="5146835"/>
            <a:chExt cx="4387104" cy="3773458"/>
          </a:xfrm>
        </p:grpSpPr>
        <p:sp>
          <p:nvSpPr>
            <p:cNvPr id="26" name="椭圆 25"/>
            <p:cNvSpPr/>
            <p:nvPr userDrawn="1"/>
          </p:nvSpPr>
          <p:spPr>
            <a:xfrm rot="8850532">
              <a:off x="8708987" y="6222987"/>
              <a:ext cx="2697306" cy="2697306"/>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userDrawn="1"/>
          </p:nvSpPr>
          <p:spPr>
            <a:xfrm rot="8850532">
              <a:off x="10398785" y="5146835"/>
              <a:ext cx="2697306" cy="2697306"/>
            </a:xfrm>
            <a:prstGeom prst="ellipse">
              <a:avLst/>
            </a:prstGeom>
            <a:solidFill>
              <a:srgbClr val="016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grpSp>
        <p:nvGrpSpPr>
          <p:cNvPr id="15" name="组合 14"/>
          <p:cNvGrpSpPr/>
          <p:nvPr userDrawn="1"/>
        </p:nvGrpSpPr>
        <p:grpSpPr>
          <a:xfrm rot="21362959">
            <a:off x="8414347" y="4892835"/>
            <a:ext cx="4387104" cy="3773458"/>
            <a:chOff x="8708987" y="5146835"/>
            <a:chExt cx="4387104" cy="3773458"/>
          </a:xfrm>
        </p:grpSpPr>
        <p:sp>
          <p:nvSpPr>
            <p:cNvPr id="13" name="椭圆 12"/>
            <p:cNvSpPr/>
            <p:nvPr userDrawn="1"/>
          </p:nvSpPr>
          <p:spPr>
            <a:xfrm rot="8850532">
              <a:off x="8708987" y="6222987"/>
              <a:ext cx="2697306" cy="2697306"/>
            </a:xfrm>
            <a:prstGeom prst="ellipse">
              <a:avLst/>
            </a:prstGeom>
            <a:solidFill>
              <a:srgbClr val="A9CD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rot="8850532">
              <a:off x="10398785" y="5146835"/>
              <a:ext cx="2697306" cy="2697306"/>
            </a:xfrm>
            <a:prstGeom prst="ellipse">
              <a:avLst/>
            </a:prstGeom>
            <a:solidFill>
              <a:srgbClr val="0165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E00515D-4251-4E9C-A27E-F7430697F996}" type="datetimeFigureOut">
              <a:rPr lang="zh-CN" altLang="en-US" smtClean="0"/>
              <a:t>2024/9/12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4A8D769-9168-424C-BA2D-3F9950FC7BDB}"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E00515D-4251-4E9C-A27E-F7430697F996}" type="datetimeFigureOut">
              <a:rPr lang="zh-CN" altLang="en-US" smtClean="0"/>
              <a:t>2024/9/12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4A8D769-9168-424C-BA2D-3F9950FC7BDB}"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E00515D-4251-4E9C-A27E-F7430697F996}" type="datetimeFigureOut">
              <a:rPr lang="zh-CN" altLang="en-US" smtClean="0"/>
              <a:t>2024/9/12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4A8D769-9168-424C-BA2D-3F9950FC7BDB}"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E00515D-4251-4E9C-A27E-F7430697F996}" type="datetimeFigureOut">
              <a:rPr lang="zh-CN" altLang="en-US" smtClean="0"/>
              <a:t>2024/9/12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4A8D769-9168-424C-BA2D-3F9950FC7BDB}"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E00515D-4251-4E9C-A27E-F7430697F996}" type="datetimeFigureOut">
              <a:rPr lang="zh-CN" altLang="en-US" smtClean="0"/>
              <a:t>2024/9/12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A8D769-9168-424C-BA2D-3F9950FC7BDB}"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E00515D-4251-4E9C-A27E-F7430697F996}" type="datetimeFigureOut">
              <a:rPr lang="zh-CN" altLang="en-US" smtClean="0"/>
              <a:t>2024/9/12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A8D769-9168-424C-BA2D-3F9950FC7BDB}"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48627" name="标题 1"/>
          <p:cNvSpPr>
            <a:spLocks noGrp="1"/>
          </p:cNvSpPr>
          <p:nvPr>
            <p:ph type="title"/>
          </p:nvPr>
        </p:nvSpPr>
        <p:spPr>
          <a:xfrm>
            <a:off x="983433" y="193547"/>
            <a:ext cx="10668000" cy="777789"/>
          </a:xfrm>
        </p:spPr>
        <p:txBody>
          <a:bodyPr/>
          <a:lstStyle>
            <a:lvl1pPr>
              <a:defRPr sz="3600" b="1">
                <a:solidFill>
                  <a:schemeClr val="tx1">
                    <a:lumMod val="85000"/>
                    <a:lumOff val="15000"/>
                  </a:schemeClr>
                </a:solidFill>
                <a:latin typeface="+mn-ea"/>
                <a:ea typeface="+mn-ea"/>
              </a:defRPr>
            </a:lvl1pPr>
          </a:lstStyle>
          <a:p>
            <a:r>
              <a:rPr lang="zh-CN" altLang="en-US" noProof="1"/>
              <a:t>单击此处编辑母版标题样式</a:t>
            </a:r>
          </a:p>
        </p:txBody>
      </p:sp>
      <p:grpSp>
        <p:nvGrpSpPr>
          <p:cNvPr id="53" name="组合 11"/>
          <p:cNvGrpSpPr/>
          <p:nvPr userDrawn="1"/>
        </p:nvGrpSpPr>
        <p:grpSpPr>
          <a:xfrm>
            <a:off x="360724" y="326944"/>
            <a:ext cx="550700" cy="581818"/>
            <a:chOff x="414063" y="326944"/>
            <a:chExt cx="550700" cy="581818"/>
          </a:xfrm>
        </p:grpSpPr>
        <p:sp>
          <p:nvSpPr>
            <p:cNvPr id="1048628" name="矩形 6"/>
            <p:cNvSpPr/>
            <p:nvPr userDrawn="1"/>
          </p:nvSpPr>
          <p:spPr>
            <a:xfrm>
              <a:off x="414063" y="326944"/>
              <a:ext cx="396000" cy="396000"/>
            </a:xfrm>
            <a:prstGeom prst="rect">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gradFill>
                  <a:gsLst>
                    <a:gs pos="0">
                      <a:srgbClr val="66CCFF"/>
                    </a:gs>
                    <a:gs pos="52000">
                      <a:schemeClr val="bg1"/>
                    </a:gs>
                    <a:gs pos="100000">
                      <a:srgbClr val="0070C0"/>
                    </a:gs>
                  </a:gsLst>
                  <a:lin ang="0" scaled="1"/>
                </a:gradFill>
              </a:endParaRPr>
            </a:p>
          </p:txBody>
        </p:sp>
        <p:sp>
          <p:nvSpPr>
            <p:cNvPr id="1048629" name="矩形 8"/>
            <p:cNvSpPr/>
            <p:nvPr userDrawn="1"/>
          </p:nvSpPr>
          <p:spPr>
            <a:xfrm>
              <a:off x="568763" y="512762"/>
              <a:ext cx="396000" cy="396000"/>
            </a:xfrm>
            <a:prstGeom prst="rect">
              <a:avLst/>
            </a:prstGeom>
            <a:solidFill>
              <a:srgbClr val="0058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gradFill>
                  <a:gsLst>
                    <a:gs pos="0">
                      <a:srgbClr val="66CCFF"/>
                    </a:gs>
                    <a:gs pos="52000">
                      <a:schemeClr val="bg1"/>
                    </a:gs>
                    <a:gs pos="100000">
                      <a:srgbClr val="0070C0"/>
                    </a:gs>
                  </a:gsLst>
                  <a:lin ang="0" scaled="1"/>
                </a:gradFill>
              </a:endParaRPr>
            </a:p>
          </p:txBody>
        </p:sp>
      </p:grpSp>
      <p:sp>
        <p:nvSpPr>
          <p:cNvPr id="1048630" name="矩形 1"/>
          <p:cNvSpPr>
            <a:spLocks noChangeArrowheads="1"/>
          </p:cNvSpPr>
          <p:nvPr userDrawn="1"/>
        </p:nvSpPr>
        <p:spPr bwMode="auto">
          <a:xfrm>
            <a:off x="335360" y="1005439"/>
            <a:ext cx="11520000" cy="66760"/>
          </a:xfrm>
          <a:prstGeom prst="rect">
            <a:avLst/>
          </a:prstGeom>
          <a:solidFill>
            <a:srgbClr val="005800"/>
          </a:solidFill>
          <a:ln>
            <a:noFill/>
          </a:ln>
        </p:spPr>
        <p:txBody>
          <a:bodyPr lIns="68571" tIns="34285" rIns="68571" bIns="34285" anchor="ctr"/>
          <a:lstStyle/>
          <a:p>
            <a:pPr algn="ctr" eaLnBrk="1" hangingPunct="1"/>
            <a:endParaRPr lang="zh-CN" altLang="en-US">
              <a:solidFill>
                <a:srgbClr val="FFFFFF"/>
              </a:solidFill>
              <a:cs typeface="+mn-ea"/>
              <a:sym typeface="+mn-lt"/>
            </a:endParaRPr>
          </a:p>
        </p:txBody>
      </p:sp>
      <p:sp>
        <p:nvSpPr>
          <p:cNvPr id="1048631" name="矩形 1"/>
          <p:cNvSpPr>
            <a:spLocks noChangeArrowheads="1"/>
          </p:cNvSpPr>
          <p:nvPr userDrawn="1"/>
        </p:nvSpPr>
        <p:spPr bwMode="auto">
          <a:xfrm>
            <a:off x="8472640" y="1005439"/>
            <a:ext cx="3384000" cy="66760"/>
          </a:xfrm>
          <a:prstGeom prst="rect">
            <a:avLst/>
          </a:prstGeom>
          <a:solidFill>
            <a:schemeClr val="bg1">
              <a:lumMod val="75000"/>
            </a:schemeClr>
          </a:solidFill>
          <a:ln>
            <a:noFill/>
          </a:ln>
        </p:spPr>
        <p:txBody>
          <a:bodyPr lIns="68571" tIns="34285" rIns="68571" bIns="34285" anchor="ctr"/>
          <a:lstStyle/>
          <a:p>
            <a:pPr algn="ctr" eaLnBrk="1" hangingPunct="1"/>
            <a:endParaRPr lang="zh-CN" altLang="en-US" dirty="0">
              <a:solidFill>
                <a:srgbClr val="FFFFFF"/>
              </a:solidFill>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00515D-4251-4E9C-A27E-F7430697F996}" type="datetimeFigureOut">
              <a:rPr lang="zh-CN" altLang="en-US" smtClean="0"/>
              <a:t>2024/9/12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A8D769-9168-424C-BA2D-3F9950FC7BD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image" Target="../media/image3.jpe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slideLayout" Target="../slideLayouts/slideLayout13.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2.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image" Target="../media/image4.jpeg"/><Relationship Id="rId10" Type="http://schemas.openxmlformats.org/officeDocument/2006/relationships/tags" Target="../tags/tag27.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34.xml"/><Relationship Id="rId7" Type="http://schemas.openxmlformats.org/officeDocument/2006/relationships/image" Target="../media/image7.jpe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6.jpeg"/><Relationship Id="rId5" Type="http://schemas.openxmlformats.org/officeDocument/2006/relationships/image" Target="../media/image5.png"/><Relationship Id="rId10" Type="http://schemas.openxmlformats.org/officeDocument/2006/relationships/image" Target="../media/image4.jpeg"/><Relationship Id="rId4" Type="http://schemas.openxmlformats.org/officeDocument/2006/relationships/slideLayout" Target="../slideLayouts/slideLayout11.xml"/><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5.png"/><Relationship Id="rId1" Type="http://schemas.openxmlformats.org/officeDocument/2006/relationships/slideLayout" Target="../slideLayouts/slideLayout11.xml"/><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tags" Target="../tags/tag37.xml"/><Relationship Id="rId7" Type="http://schemas.openxmlformats.org/officeDocument/2006/relationships/image" Target="../media/image5.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5.png"/><Relationship Id="rId5" Type="http://schemas.openxmlformats.org/officeDocument/2006/relationships/slideLayout" Target="../slideLayouts/slideLayout11.xml"/><Relationship Id="rId4" Type="http://schemas.openxmlformats.org/officeDocument/2006/relationships/tags" Target="../tags/tag38.xml"/><Relationship Id="rId9" Type="http://schemas.openxmlformats.org/officeDocument/2006/relationships/image" Target="../media/image17.jp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3.jpg"/><Relationship Id="rId3" Type="http://schemas.openxmlformats.org/officeDocument/2006/relationships/image" Target="../media/image18.jpg"/><Relationship Id="rId7" Type="http://schemas.openxmlformats.org/officeDocument/2006/relationships/image" Target="../media/image19.png"/><Relationship Id="rId12" Type="http://schemas.openxmlformats.org/officeDocument/2006/relationships/image" Target="../media/image22.em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5.png"/><Relationship Id="rId11" Type="http://schemas.openxmlformats.org/officeDocument/2006/relationships/oleObject" Target="../embeddings/oleObject3.bin"/><Relationship Id="rId5" Type="http://schemas.openxmlformats.org/officeDocument/2006/relationships/image" Target="../media/image15.png"/><Relationship Id="rId10" Type="http://schemas.openxmlformats.org/officeDocument/2006/relationships/image" Target="../media/image21.emf"/><Relationship Id="rId4" Type="http://schemas.openxmlformats.org/officeDocument/2006/relationships/image" Target="../media/image17.png"/><Relationship Id="rId9" Type="http://schemas.openxmlformats.org/officeDocument/2006/relationships/oleObject" Target="../embeddings/oleObject2.bin"/><Relationship Id="rId1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4.emf"/><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17" Type="http://schemas.openxmlformats.org/officeDocument/2006/relationships/tags" Target="../tags/tag155.xml"/><Relationship Id="rId21" Type="http://schemas.openxmlformats.org/officeDocument/2006/relationships/tags" Target="../tags/tag59.xml"/><Relationship Id="rId42" Type="http://schemas.openxmlformats.org/officeDocument/2006/relationships/tags" Target="../tags/tag80.xml"/><Relationship Id="rId63" Type="http://schemas.openxmlformats.org/officeDocument/2006/relationships/tags" Target="../tags/tag101.xml"/><Relationship Id="rId84" Type="http://schemas.openxmlformats.org/officeDocument/2006/relationships/tags" Target="../tags/tag122.xml"/><Relationship Id="rId138" Type="http://schemas.openxmlformats.org/officeDocument/2006/relationships/image" Target="../media/image33.png"/><Relationship Id="rId107" Type="http://schemas.openxmlformats.org/officeDocument/2006/relationships/tags" Target="../tags/tag145.xml"/><Relationship Id="rId11" Type="http://schemas.openxmlformats.org/officeDocument/2006/relationships/tags" Target="../tags/tag49.xml"/><Relationship Id="rId32" Type="http://schemas.openxmlformats.org/officeDocument/2006/relationships/tags" Target="../tags/tag70.xml"/><Relationship Id="rId53" Type="http://schemas.openxmlformats.org/officeDocument/2006/relationships/tags" Target="../tags/tag91.xml"/><Relationship Id="rId74" Type="http://schemas.openxmlformats.org/officeDocument/2006/relationships/tags" Target="../tags/tag112.xml"/><Relationship Id="rId128" Type="http://schemas.openxmlformats.org/officeDocument/2006/relationships/slideLayout" Target="../slideLayouts/slideLayout13.xml"/><Relationship Id="rId5" Type="http://schemas.openxmlformats.org/officeDocument/2006/relationships/tags" Target="../tags/tag43.xml"/><Relationship Id="rId90" Type="http://schemas.openxmlformats.org/officeDocument/2006/relationships/tags" Target="../tags/tag128.xml"/><Relationship Id="rId95" Type="http://schemas.openxmlformats.org/officeDocument/2006/relationships/tags" Target="../tags/tag133.xml"/><Relationship Id="rId22" Type="http://schemas.openxmlformats.org/officeDocument/2006/relationships/tags" Target="../tags/tag60.xml"/><Relationship Id="rId27" Type="http://schemas.openxmlformats.org/officeDocument/2006/relationships/tags" Target="../tags/tag65.xml"/><Relationship Id="rId43" Type="http://schemas.openxmlformats.org/officeDocument/2006/relationships/tags" Target="../tags/tag81.xml"/><Relationship Id="rId48" Type="http://schemas.openxmlformats.org/officeDocument/2006/relationships/tags" Target="../tags/tag86.xml"/><Relationship Id="rId64" Type="http://schemas.openxmlformats.org/officeDocument/2006/relationships/tags" Target="../tags/tag102.xml"/><Relationship Id="rId69" Type="http://schemas.openxmlformats.org/officeDocument/2006/relationships/tags" Target="../tags/tag107.xml"/><Relationship Id="rId113" Type="http://schemas.openxmlformats.org/officeDocument/2006/relationships/tags" Target="../tags/tag151.xml"/><Relationship Id="rId118" Type="http://schemas.openxmlformats.org/officeDocument/2006/relationships/tags" Target="../tags/tag156.xml"/><Relationship Id="rId134" Type="http://schemas.openxmlformats.org/officeDocument/2006/relationships/image" Target="../media/image29.png"/><Relationship Id="rId139" Type="http://schemas.openxmlformats.org/officeDocument/2006/relationships/image" Target="../media/image34.svg"/><Relationship Id="rId80" Type="http://schemas.openxmlformats.org/officeDocument/2006/relationships/tags" Target="../tags/tag118.xml"/><Relationship Id="rId85" Type="http://schemas.openxmlformats.org/officeDocument/2006/relationships/tags" Target="../tags/tag123.xml"/><Relationship Id="rId12" Type="http://schemas.openxmlformats.org/officeDocument/2006/relationships/tags" Target="../tags/tag50.xml"/><Relationship Id="rId17" Type="http://schemas.openxmlformats.org/officeDocument/2006/relationships/tags" Target="../tags/tag55.xml"/><Relationship Id="rId33" Type="http://schemas.openxmlformats.org/officeDocument/2006/relationships/tags" Target="../tags/tag71.xml"/><Relationship Id="rId38" Type="http://schemas.openxmlformats.org/officeDocument/2006/relationships/tags" Target="../tags/tag76.xml"/><Relationship Id="rId59" Type="http://schemas.openxmlformats.org/officeDocument/2006/relationships/tags" Target="../tags/tag97.xml"/><Relationship Id="rId103" Type="http://schemas.openxmlformats.org/officeDocument/2006/relationships/tags" Target="../tags/tag141.xml"/><Relationship Id="rId108" Type="http://schemas.openxmlformats.org/officeDocument/2006/relationships/tags" Target="../tags/tag146.xml"/><Relationship Id="rId124" Type="http://schemas.openxmlformats.org/officeDocument/2006/relationships/tags" Target="../tags/tag162.xml"/><Relationship Id="rId129" Type="http://schemas.openxmlformats.org/officeDocument/2006/relationships/notesSlide" Target="../notesSlides/notesSlide2.xml"/><Relationship Id="rId54" Type="http://schemas.openxmlformats.org/officeDocument/2006/relationships/tags" Target="../tags/tag92.xml"/><Relationship Id="rId70" Type="http://schemas.openxmlformats.org/officeDocument/2006/relationships/tags" Target="../tags/tag108.xml"/><Relationship Id="rId75" Type="http://schemas.openxmlformats.org/officeDocument/2006/relationships/tags" Target="../tags/tag113.xml"/><Relationship Id="rId91" Type="http://schemas.openxmlformats.org/officeDocument/2006/relationships/tags" Target="../tags/tag129.xml"/><Relationship Id="rId96" Type="http://schemas.openxmlformats.org/officeDocument/2006/relationships/tags" Target="../tags/tag134.xml"/><Relationship Id="rId140" Type="http://schemas.openxmlformats.org/officeDocument/2006/relationships/image" Target="../media/image35.png"/><Relationship Id="rId145" Type="http://schemas.openxmlformats.org/officeDocument/2006/relationships/image" Target="../media/image4.jpeg"/><Relationship Id="rId1" Type="http://schemas.openxmlformats.org/officeDocument/2006/relationships/tags" Target="../tags/tag39.xml"/><Relationship Id="rId6" Type="http://schemas.openxmlformats.org/officeDocument/2006/relationships/tags" Target="../tags/tag44.xml"/><Relationship Id="rId23" Type="http://schemas.openxmlformats.org/officeDocument/2006/relationships/tags" Target="../tags/tag61.xml"/><Relationship Id="rId28" Type="http://schemas.openxmlformats.org/officeDocument/2006/relationships/tags" Target="../tags/tag66.xml"/><Relationship Id="rId49" Type="http://schemas.openxmlformats.org/officeDocument/2006/relationships/tags" Target="../tags/tag87.xml"/><Relationship Id="rId114" Type="http://schemas.openxmlformats.org/officeDocument/2006/relationships/tags" Target="../tags/tag152.xml"/><Relationship Id="rId119" Type="http://schemas.openxmlformats.org/officeDocument/2006/relationships/tags" Target="../tags/tag157.xml"/><Relationship Id="rId44" Type="http://schemas.openxmlformats.org/officeDocument/2006/relationships/tags" Target="../tags/tag82.xml"/><Relationship Id="rId60" Type="http://schemas.openxmlformats.org/officeDocument/2006/relationships/tags" Target="../tags/tag98.xml"/><Relationship Id="rId65" Type="http://schemas.openxmlformats.org/officeDocument/2006/relationships/tags" Target="../tags/tag103.xml"/><Relationship Id="rId81" Type="http://schemas.openxmlformats.org/officeDocument/2006/relationships/tags" Target="../tags/tag119.xml"/><Relationship Id="rId86" Type="http://schemas.openxmlformats.org/officeDocument/2006/relationships/tags" Target="../tags/tag124.xml"/><Relationship Id="rId130" Type="http://schemas.openxmlformats.org/officeDocument/2006/relationships/image" Target="../media/image25.png"/><Relationship Id="rId135" Type="http://schemas.openxmlformats.org/officeDocument/2006/relationships/image" Target="../media/image30.svg"/><Relationship Id="rId13" Type="http://schemas.openxmlformats.org/officeDocument/2006/relationships/tags" Target="../tags/tag51.xml"/><Relationship Id="rId18" Type="http://schemas.openxmlformats.org/officeDocument/2006/relationships/tags" Target="../tags/tag56.xml"/><Relationship Id="rId39" Type="http://schemas.openxmlformats.org/officeDocument/2006/relationships/tags" Target="../tags/tag77.xml"/><Relationship Id="rId109" Type="http://schemas.openxmlformats.org/officeDocument/2006/relationships/tags" Target="../tags/tag147.xml"/><Relationship Id="rId34" Type="http://schemas.openxmlformats.org/officeDocument/2006/relationships/tags" Target="../tags/tag72.xml"/><Relationship Id="rId50" Type="http://schemas.openxmlformats.org/officeDocument/2006/relationships/tags" Target="../tags/tag88.xml"/><Relationship Id="rId55" Type="http://schemas.openxmlformats.org/officeDocument/2006/relationships/tags" Target="../tags/tag93.xml"/><Relationship Id="rId76" Type="http://schemas.openxmlformats.org/officeDocument/2006/relationships/tags" Target="../tags/tag114.xml"/><Relationship Id="rId97" Type="http://schemas.openxmlformats.org/officeDocument/2006/relationships/tags" Target="../tags/tag135.xml"/><Relationship Id="rId104" Type="http://schemas.openxmlformats.org/officeDocument/2006/relationships/tags" Target="../tags/tag142.xml"/><Relationship Id="rId120" Type="http://schemas.openxmlformats.org/officeDocument/2006/relationships/tags" Target="../tags/tag158.xml"/><Relationship Id="rId125" Type="http://schemas.openxmlformats.org/officeDocument/2006/relationships/tags" Target="../tags/tag163.xml"/><Relationship Id="rId141" Type="http://schemas.openxmlformats.org/officeDocument/2006/relationships/image" Target="../media/image36.svg"/><Relationship Id="rId7" Type="http://schemas.openxmlformats.org/officeDocument/2006/relationships/tags" Target="../tags/tag45.xml"/><Relationship Id="rId71" Type="http://schemas.openxmlformats.org/officeDocument/2006/relationships/tags" Target="../tags/tag109.xml"/><Relationship Id="rId92" Type="http://schemas.openxmlformats.org/officeDocument/2006/relationships/tags" Target="../tags/tag130.xml"/><Relationship Id="rId2" Type="http://schemas.openxmlformats.org/officeDocument/2006/relationships/tags" Target="../tags/tag40.xml"/><Relationship Id="rId29" Type="http://schemas.openxmlformats.org/officeDocument/2006/relationships/tags" Target="../tags/tag67.xml"/><Relationship Id="rId24" Type="http://schemas.openxmlformats.org/officeDocument/2006/relationships/tags" Target="../tags/tag62.xml"/><Relationship Id="rId40" Type="http://schemas.openxmlformats.org/officeDocument/2006/relationships/tags" Target="../tags/tag78.xml"/><Relationship Id="rId45" Type="http://schemas.openxmlformats.org/officeDocument/2006/relationships/tags" Target="../tags/tag83.xml"/><Relationship Id="rId66" Type="http://schemas.openxmlformats.org/officeDocument/2006/relationships/tags" Target="../tags/tag104.xml"/><Relationship Id="rId87" Type="http://schemas.openxmlformats.org/officeDocument/2006/relationships/tags" Target="../tags/tag125.xml"/><Relationship Id="rId110" Type="http://schemas.openxmlformats.org/officeDocument/2006/relationships/tags" Target="../tags/tag148.xml"/><Relationship Id="rId115" Type="http://schemas.openxmlformats.org/officeDocument/2006/relationships/tags" Target="../tags/tag153.xml"/><Relationship Id="rId131" Type="http://schemas.openxmlformats.org/officeDocument/2006/relationships/image" Target="../media/image26.svg"/><Relationship Id="rId136" Type="http://schemas.openxmlformats.org/officeDocument/2006/relationships/image" Target="../media/image31.png"/><Relationship Id="rId61" Type="http://schemas.openxmlformats.org/officeDocument/2006/relationships/tags" Target="../tags/tag99.xml"/><Relationship Id="rId82" Type="http://schemas.openxmlformats.org/officeDocument/2006/relationships/tags" Target="../tags/tag120.xml"/><Relationship Id="rId19" Type="http://schemas.openxmlformats.org/officeDocument/2006/relationships/tags" Target="../tags/tag57.xml"/><Relationship Id="rId14" Type="http://schemas.openxmlformats.org/officeDocument/2006/relationships/tags" Target="../tags/tag52.xml"/><Relationship Id="rId30" Type="http://schemas.openxmlformats.org/officeDocument/2006/relationships/tags" Target="../tags/tag68.xml"/><Relationship Id="rId35" Type="http://schemas.openxmlformats.org/officeDocument/2006/relationships/tags" Target="../tags/tag73.xml"/><Relationship Id="rId56" Type="http://schemas.openxmlformats.org/officeDocument/2006/relationships/tags" Target="../tags/tag94.xml"/><Relationship Id="rId77" Type="http://schemas.openxmlformats.org/officeDocument/2006/relationships/tags" Target="../tags/tag115.xml"/><Relationship Id="rId100" Type="http://schemas.openxmlformats.org/officeDocument/2006/relationships/tags" Target="../tags/tag138.xml"/><Relationship Id="rId105" Type="http://schemas.openxmlformats.org/officeDocument/2006/relationships/tags" Target="../tags/tag143.xml"/><Relationship Id="rId126" Type="http://schemas.openxmlformats.org/officeDocument/2006/relationships/tags" Target="../tags/tag164.xml"/><Relationship Id="rId8" Type="http://schemas.openxmlformats.org/officeDocument/2006/relationships/tags" Target="../tags/tag46.xml"/><Relationship Id="rId51" Type="http://schemas.openxmlformats.org/officeDocument/2006/relationships/tags" Target="../tags/tag89.xml"/><Relationship Id="rId72" Type="http://schemas.openxmlformats.org/officeDocument/2006/relationships/tags" Target="../tags/tag110.xml"/><Relationship Id="rId93" Type="http://schemas.openxmlformats.org/officeDocument/2006/relationships/tags" Target="../tags/tag131.xml"/><Relationship Id="rId98" Type="http://schemas.openxmlformats.org/officeDocument/2006/relationships/tags" Target="../tags/tag136.xml"/><Relationship Id="rId121" Type="http://schemas.openxmlformats.org/officeDocument/2006/relationships/tags" Target="../tags/tag159.xml"/><Relationship Id="rId142" Type="http://schemas.openxmlformats.org/officeDocument/2006/relationships/image" Target="../media/image5.png"/><Relationship Id="rId3" Type="http://schemas.openxmlformats.org/officeDocument/2006/relationships/tags" Target="../tags/tag41.xml"/><Relationship Id="rId25" Type="http://schemas.openxmlformats.org/officeDocument/2006/relationships/tags" Target="../tags/tag63.xml"/><Relationship Id="rId46" Type="http://schemas.openxmlformats.org/officeDocument/2006/relationships/tags" Target="../tags/tag84.xml"/><Relationship Id="rId67" Type="http://schemas.openxmlformats.org/officeDocument/2006/relationships/tags" Target="../tags/tag105.xml"/><Relationship Id="rId116" Type="http://schemas.openxmlformats.org/officeDocument/2006/relationships/tags" Target="../tags/tag154.xml"/><Relationship Id="rId137" Type="http://schemas.openxmlformats.org/officeDocument/2006/relationships/image" Target="../media/image32.svg"/><Relationship Id="rId20" Type="http://schemas.openxmlformats.org/officeDocument/2006/relationships/tags" Target="../tags/tag58.xml"/><Relationship Id="rId41" Type="http://schemas.openxmlformats.org/officeDocument/2006/relationships/tags" Target="../tags/tag79.xml"/><Relationship Id="rId62" Type="http://schemas.openxmlformats.org/officeDocument/2006/relationships/tags" Target="../tags/tag100.xml"/><Relationship Id="rId83" Type="http://schemas.openxmlformats.org/officeDocument/2006/relationships/tags" Target="../tags/tag121.xml"/><Relationship Id="rId88" Type="http://schemas.openxmlformats.org/officeDocument/2006/relationships/tags" Target="../tags/tag126.xml"/><Relationship Id="rId111" Type="http://schemas.openxmlformats.org/officeDocument/2006/relationships/tags" Target="../tags/tag149.xml"/><Relationship Id="rId132" Type="http://schemas.openxmlformats.org/officeDocument/2006/relationships/image" Target="../media/image27.png"/><Relationship Id="rId15" Type="http://schemas.openxmlformats.org/officeDocument/2006/relationships/tags" Target="../tags/tag53.xml"/><Relationship Id="rId36" Type="http://schemas.openxmlformats.org/officeDocument/2006/relationships/tags" Target="../tags/tag74.xml"/><Relationship Id="rId57" Type="http://schemas.openxmlformats.org/officeDocument/2006/relationships/tags" Target="../tags/tag95.xml"/><Relationship Id="rId106" Type="http://schemas.openxmlformats.org/officeDocument/2006/relationships/tags" Target="../tags/tag144.xml"/><Relationship Id="rId127" Type="http://schemas.openxmlformats.org/officeDocument/2006/relationships/tags" Target="../tags/tag165.xml"/><Relationship Id="rId10" Type="http://schemas.openxmlformats.org/officeDocument/2006/relationships/tags" Target="../tags/tag48.xml"/><Relationship Id="rId31" Type="http://schemas.openxmlformats.org/officeDocument/2006/relationships/tags" Target="../tags/tag69.xml"/><Relationship Id="rId52" Type="http://schemas.openxmlformats.org/officeDocument/2006/relationships/tags" Target="../tags/tag90.xml"/><Relationship Id="rId73" Type="http://schemas.openxmlformats.org/officeDocument/2006/relationships/tags" Target="../tags/tag111.xml"/><Relationship Id="rId78" Type="http://schemas.openxmlformats.org/officeDocument/2006/relationships/tags" Target="../tags/tag116.xml"/><Relationship Id="rId94" Type="http://schemas.openxmlformats.org/officeDocument/2006/relationships/tags" Target="../tags/tag132.xml"/><Relationship Id="rId99" Type="http://schemas.openxmlformats.org/officeDocument/2006/relationships/tags" Target="../tags/tag137.xml"/><Relationship Id="rId101" Type="http://schemas.openxmlformats.org/officeDocument/2006/relationships/tags" Target="../tags/tag139.xml"/><Relationship Id="rId122" Type="http://schemas.openxmlformats.org/officeDocument/2006/relationships/tags" Target="../tags/tag160.xml"/><Relationship Id="rId143" Type="http://schemas.openxmlformats.org/officeDocument/2006/relationships/image" Target="../media/image37.png"/><Relationship Id="rId4" Type="http://schemas.openxmlformats.org/officeDocument/2006/relationships/tags" Target="../tags/tag42.xml"/><Relationship Id="rId9" Type="http://schemas.openxmlformats.org/officeDocument/2006/relationships/tags" Target="../tags/tag47.xml"/><Relationship Id="rId26" Type="http://schemas.openxmlformats.org/officeDocument/2006/relationships/tags" Target="../tags/tag64.xml"/><Relationship Id="rId47" Type="http://schemas.openxmlformats.org/officeDocument/2006/relationships/tags" Target="../tags/tag85.xml"/><Relationship Id="rId68" Type="http://schemas.openxmlformats.org/officeDocument/2006/relationships/tags" Target="../tags/tag106.xml"/><Relationship Id="rId89" Type="http://schemas.openxmlformats.org/officeDocument/2006/relationships/tags" Target="../tags/tag127.xml"/><Relationship Id="rId112" Type="http://schemas.openxmlformats.org/officeDocument/2006/relationships/tags" Target="../tags/tag150.xml"/><Relationship Id="rId133" Type="http://schemas.openxmlformats.org/officeDocument/2006/relationships/image" Target="../media/image28.svg"/><Relationship Id="rId16" Type="http://schemas.openxmlformats.org/officeDocument/2006/relationships/tags" Target="../tags/tag54.xml"/><Relationship Id="rId37" Type="http://schemas.openxmlformats.org/officeDocument/2006/relationships/tags" Target="../tags/tag75.xml"/><Relationship Id="rId58" Type="http://schemas.openxmlformats.org/officeDocument/2006/relationships/tags" Target="../tags/tag96.xml"/><Relationship Id="rId79" Type="http://schemas.openxmlformats.org/officeDocument/2006/relationships/tags" Target="../tags/tag117.xml"/><Relationship Id="rId102" Type="http://schemas.openxmlformats.org/officeDocument/2006/relationships/tags" Target="../tags/tag140.xml"/><Relationship Id="rId123" Type="http://schemas.openxmlformats.org/officeDocument/2006/relationships/tags" Target="../tags/tag161.xml"/><Relationship Id="rId14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tags" Target="../tags/tag166.xml"/></Relationships>
</file>

<file path=ppt/slides/_rels/slide12.xml.rels><?xml version="1.0" encoding="UTF-8" standalone="yes"?>
<Relationships xmlns="http://schemas.openxmlformats.org/package/2006/relationships"><Relationship Id="rId8" Type="http://schemas.openxmlformats.org/officeDocument/2006/relationships/image" Target="../media/image40.jpg"/><Relationship Id="rId3" Type="http://schemas.openxmlformats.org/officeDocument/2006/relationships/image" Target="../media/image15.png"/><Relationship Id="rId7" Type="http://schemas.openxmlformats.org/officeDocument/2006/relationships/image" Target="../media/image4.jpeg"/><Relationship Id="rId2" Type="http://schemas.openxmlformats.org/officeDocument/2006/relationships/slideLayout" Target="../slideLayouts/slideLayout11.xml"/><Relationship Id="rId1" Type="http://schemas.openxmlformats.org/officeDocument/2006/relationships/tags" Target="../tags/tag167.xml"/><Relationship Id="rId6" Type="http://schemas.openxmlformats.org/officeDocument/2006/relationships/image" Target="../media/image39.emf"/><Relationship Id="rId5" Type="http://schemas.openxmlformats.org/officeDocument/2006/relationships/oleObject" Target="../embeddings/oleObject4.bin"/><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41.png"/><Relationship Id="rId7" Type="http://schemas.openxmlformats.org/officeDocument/2006/relationships/image" Target="../media/image43.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42.png"/><Relationship Id="rId5" Type="http://schemas.openxmlformats.org/officeDocument/2006/relationships/image" Target="../media/image5.png"/><Relationship Id="rId10" Type="http://schemas.openxmlformats.org/officeDocument/2006/relationships/image" Target="../media/image46.png"/><Relationship Id="rId4" Type="http://schemas.openxmlformats.org/officeDocument/2006/relationships/image" Target="../media/image15.png"/><Relationship Id="rId9" Type="http://schemas.openxmlformats.org/officeDocument/2006/relationships/image" Target="../media/image45.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Layout" Target="../slideLayouts/slideLayout11.xml"/><Relationship Id="rId5" Type="http://schemas.openxmlformats.org/officeDocument/2006/relationships/image" Target="../media/image47.emf"/><Relationship Id="rId4"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image" Target="../media/image15.png"/><Relationship Id="rId7" Type="http://schemas.openxmlformats.org/officeDocument/2006/relationships/image" Target="../media/image49.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8.emf"/><Relationship Id="rId5" Type="http://schemas.openxmlformats.org/officeDocument/2006/relationships/oleObject" Target="../embeddings/oleObject6.bin"/><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51.png"/><Relationship Id="rId7" Type="http://schemas.openxmlformats.org/officeDocument/2006/relationships/image" Target="../media/image53.emf"/><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52.png"/><Relationship Id="rId4" Type="http://schemas.openxmlformats.org/officeDocument/2006/relationships/image" Target="../media/image15.png"/><Relationship Id="rId9" Type="http://schemas.openxmlformats.org/officeDocument/2006/relationships/image" Target="../media/image54.emf"/></Relationships>
</file>

<file path=ppt/slides/_rels/slide17.xml.rels><?xml version="1.0" encoding="UTF-8" standalone="yes"?>
<Relationships xmlns="http://schemas.openxmlformats.org/package/2006/relationships"><Relationship Id="rId8" Type="http://schemas.openxmlformats.org/officeDocument/2006/relationships/tags" Target="../tags/tag175.xml"/><Relationship Id="rId13" Type="http://schemas.openxmlformats.org/officeDocument/2006/relationships/tags" Target="../tags/tag180.xml"/><Relationship Id="rId18" Type="http://schemas.openxmlformats.org/officeDocument/2006/relationships/tags" Target="../tags/tag185.xml"/><Relationship Id="rId26" Type="http://schemas.openxmlformats.org/officeDocument/2006/relationships/image" Target="../media/image5.png"/><Relationship Id="rId3" Type="http://schemas.openxmlformats.org/officeDocument/2006/relationships/tags" Target="../tags/tag170.xml"/><Relationship Id="rId21" Type="http://schemas.openxmlformats.org/officeDocument/2006/relationships/tags" Target="../tags/tag188.xml"/><Relationship Id="rId7" Type="http://schemas.openxmlformats.org/officeDocument/2006/relationships/tags" Target="../tags/tag174.xml"/><Relationship Id="rId12" Type="http://schemas.openxmlformats.org/officeDocument/2006/relationships/tags" Target="../tags/tag179.xml"/><Relationship Id="rId17" Type="http://schemas.openxmlformats.org/officeDocument/2006/relationships/tags" Target="../tags/tag184.xml"/><Relationship Id="rId25" Type="http://schemas.openxmlformats.org/officeDocument/2006/relationships/image" Target="../media/image15.png"/><Relationship Id="rId2" Type="http://schemas.openxmlformats.org/officeDocument/2006/relationships/tags" Target="../tags/tag169.xml"/><Relationship Id="rId16" Type="http://schemas.openxmlformats.org/officeDocument/2006/relationships/tags" Target="../tags/tag183.xml"/><Relationship Id="rId20" Type="http://schemas.openxmlformats.org/officeDocument/2006/relationships/tags" Target="../tags/tag187.xml"/><Relationship Id="rId1" Type="http://schemas.openxmlformats.org/officeDocument/2006/relationships/tags" Target="../tags/tag168.xml"/><Relationship Id="rId6" Type="http://schemas.openxmlformats.org/officeDocument/2006/relationships/tags" Target="../tags/tag173.xml"/><Relationship Id="rId11" Type="http://schemas.openxmlformats.org/officeDocument/2006/relationships/tags" Target="../tags/tag178.xml"/><Relationship Id="rId24" Type="http://schemas.openxmlformats.org/officeDocument/2006/relationships/notesSlide" Target="../notesSlides/notesSlide6.xml"/><Relationship Id="rId5" Type="http://schemas.openxmlformats.org/officeDocument/2006/relationships/tags" Target="../tags/tag172.xml"/><Relationship Id="rId15" Type="http://schemas.openxmlformats.org/officeDocument/2006/relationships/tags" Target="../tags/tag182.xml"/><Relationship Id="rId23" Type="http://schemas.openxmlformats.org/officeDocument/2006/relationships/slideLayout" Target="../slideLayouts/slideLayout11.xml"/><Relationship Id="rId10" Type="http://schemas.openxmlformats.org/officeDocument/2006/relationships/tags" Target="../tags/tag177.xml"/><Relationship Id="rId19" Type="http://schemas.openxmlformats.org/officeDocument/2006/relationships/tags" Target="../tags/tag186.xml"/><Relationship Id="rId4" Type="http://schemas.openxmlformats.org/officeDocument/2006/relationships/tags" Target="../tags/tag171.xml"/><Relationship Id="rId9" Type="http://schemas.openxmlformats.org/officeDocument/2006/relationships/tags" Target="../tags/tag176.xml"/><Relationship Id="rId14" Type="http://schemas.openxmlformats.org/officeDocument/2006/relationships/tags" Target="../tags/tag181.xml"/><Relationship Id="rId22" Type="http://schemas.openxmlformats.org/officeDocument/2006/relationships/tags" Target="../tags/tag189.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55.emf"/><Relationship Id="rId5" Type="http://schemas.openxmlformats.org/officeDocument/2006/relationships/oleObject" Target="../embeddings/oleObject8.bin"/><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8" Type="http://schemas.openxmlformats.org/officeDocument/2006/relationships/image" Target="../media/image58.svg"/><Relationship Id="rId13" Type="http://schemas.openxmlformats.org/officeDocument/2006/relationships/image" Target="../media/image4.jpeg"/><Relationship Id="rId3" Type="http://schemas.openxmlformats.org/officeDocument/2006/relationships/image" Target="../media/image15.png"/><Relationship Id="rId7" Type="http://schemas.openxmlformats.org/officeDocument/2006/relationships/image" Target="../media/image57.png"/><Relationship Id="rId12" Type="http://schemas.openxmlformats.org/officeDocument/2006/relationships/image" Target="../media/image62.svg"/><Relationship Id="rId2" Type="http://schemas.openxmlformats.org/officeDocument/2006/relationships/slideLayout" Target="../slideLayouts/slideLayout11.xml"/><Relationship Id="rId1" Type="http://schemas.openxmlformats.org/officeDocument/2006/relationships/tags" Target="../tags/tag190.xml"/><Relationship Id="rId6" Type="http://schemas.openxmlformats.org/officeDocument/2006/relationships/image" Target="../media/image56.emf"/><Relationship Id="rId11" Type="http://schemas.openxmlformats.org/officeDocument/2006/relationships/image" Target="../media/image61.png"/><Relationship Id="rId5" Type="http://schemas.openxmlformats.org/officeDocument/2006/relationships/oleObject" Target="../embeddings/oleObject9.bin"/><Relationship Id="rId10" Type="http://schemas.openxmlformats.org/officeDocument/2006/relationships/image" Target="../media/image60.svg"/><Relationship Id="rId4" Type="http://schemas.openxmlformats.org/officeDocument/2006/relationships/image" Target="../media/image5.png"/><Relationship Id="rId9" Type="http://schemas.openxmlformats.org/officeDocument/2006/relationships/image" Target="../media/image59.png"/></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tags" Target="../tags/tag19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4.jpeg"/><Relationship Id="rId2" Type="http://schemas.openxmlformats.org/officeDocument/2006/relationships/slideLayout" Target="../slideLayouts/slideLayout11.xml"/><Relationship Id="rId1" Type="http://schemas.openxmlformats.org/officeDocument/2006/relationships/tags" Target="../tags/tag192.xml"/><Relationship Id="rId6" Type="http://schemas.openxmlformats.org/officeDocument/2006/relationships/image" Target="../media/image63.emf"/><Relationship Id="rId5" Type="http://schemas.openxmlformats.org/officeDocument/2006/relationships/oleObject" Target="../embeddings/oleObject10.bin"/><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64.emf"/></Relationships>
</file>

<file path=ppt/slides/_rels/slide23.xml.rels><?xml version="1.0" encoding="UTF-8" standalone="yes"?>
<Relationships xmlns="http://schemas.openxmlformats.org/package/2006/relationships"><Relationship Id="rId8" Type="http://schemas.openxmlformats.org/officeDocument/2006/relationships/image" Target="../media/image68.svg"/><Relationship Id="rId13" Type="http://schemas.openxmlformats.org/officeDocument/2006/relationships/image" Target="../media/image4.jpeg"/><Relationship Id="rId3" Type="http://schemas.openxmlformats.org/officeDocument/2006/relationships/notesSlide" Target="../notesSlides/notesSlide9.xml"/><Relationship Id="rId7" Type="http://schemas.openxmlformats.org/officeDocument/2006/relationships/image" Target="../media/image67.png"/><Relationship Id="rId12" Type="http://schemas.openxmlformats.org/officeDocument/2006/relationships/image" Target="../media/image72.svg"/><Relationship Id="rId2" Type="http://schemas.openxmlformats.org/officeDocument/2006/relationships/slideLayout" Target="../slideLayouts/slideLayout11.xml"/><Relationship Id="rId1" Type="http://schemas.openxmlformats.org/officeDocument/2006/relationships/tags" Target="../tags/tag193.xml"/><Relationship Id="rId6" Type="http://schemas.openxmlformats.org/officeDocument/2006/relationships/image" Target="../media/image66.sv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svg"/><Relationship Id="rId4" Type="http://schemas.openxmlformats.org/officeDocument/2006/relationships/image" Target="../media/image5.png"/><Relationship Id="rId9" Type="http://schemas.openxmlformats.org/officeDocument/2006/relationships/image" Target="../media/image69.png"/></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tags" Target="../tags/tag194.xml"/></Relationships>
</file>

<file path=ppt/slides/_rels/slide25.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notesSlide" Target="../notesSlides/notesSlide10.xml"/><Relationship Id="rId7" Type="http://schemas.openxmlformats.org/officeDocument/2006/relationships/image" Target="../media/image73.png"/><Relationship Id="rId2" Type="http://schemas.openxmlformats.org/officeDocument/2006/relationships/slideLayout" Target="../slideLayouts/slideLayout11.xml"/><Relationship Id="rId1" Type="http://schemas.openxmlformats.org/officeDocument/2006/relationships/tags" Target="../tags/tag195.xml"/><Relationship Id="rId6" Type="http://schemas.openxmlformats.org/officeDocument/2006/relationships/image" Target="../media/image5.png"/><Relationship Id="rId5" Type="http://schemas.openxmlformats.org/officeDocument/2006/relationships/image" Target="../media/image15.png"/><Relationship Id="rId10" Type="http://schemas.openxmlformats.org/officeDocument/2006/relationships/image" Target="../media/image76.png"/><Relationship Id="rId4" Type="http://schemas.openxmlformats.org/officeDocument/2006/relationships/image" Target="../media/image4.jpeg"/><Relationship Id="rId9" Type="http://schemas.openxmlformats.org/officeDocument/2006/relationships/image" Target="../media/image75.png"/></Relationships>
</file>

<file path=ppt/slides/_rels/slide26.xml.rels><?xml version="1.0" encoding="UTF-8" standalone="yes"?>
<Relationships xmlns="http://schemas.openxmlformats.org/package/2006/relationships"><Relationship Id="rId8" Type="http://schemas.openxmlformats.org/officeDocument/2006/relationships/tags" Target="../tags/tag203.xml"/><Relationship Id="rId13" Type="http://schemas.openxmlformats.org/officeDocument/2006/relationships/oleObject" Target="../embeddings/oleObject12.bin"/><Relationship Id="rId18" Type="http://schemas.openxmlformats.org/officeDocument/2006/relationships/image" Target="../media/image80.png"/><Relationship Id="rId3" Type="http://schemas.openxmlformats.org/officeDocument/2006/relationships/tags" Target="../tags/tag198.xml"/><Relationship Id="rId7" Type="http://schemas.openxmlformats.org/officeDocument/2006/relationships/tags" Target="../tags/tag202.xml"/><Relationship Id="rId12" Type="http://schemas.openxmlformats.org/officeDocument/2006/relationships/image" Target="../media/image5.png"/><Relationship Id="rId17" Type="http://schemas.openxmlformats.org/officeDocument/2006/relationships/image" Target="../media/image79.jpeg"/><Relationship Id="rId2" Type="http://schemas.openxmlformats.org/officeDocument/2006/relationships/tags" Target="../tags/tag197.xml"/><Relationship Id="rId16" Type="http://schemas.openxmlformats.org/officeDocument/2006/relationships/image" Target="../media/image78.emf"/><Relationship Id="rId1" Type="http://schemas.openxmlformats.org/officeDocument/2006/relationships/tags" Target="../tags/tag196.xml"/><Relationship Id="rId6" Type="http://schemas.openxmlformats.org/officeDocument/2006/relationships/tags" Target="../tags/tag201.xml"/><Relationship Id="rId11" Type="http://schemas.openxmlformats.org/officeDocument/2006/relationships/notesSlide" Target="../notesSlides/notesSlide11.xml"/><Relationship Id="rId5" Type="http://schemas.openxmlformats.org/officeDocument/2006/relationships/tags" Target="../tags/tag200.xml"/><Relationship Id="rId15" Type="http://schemas.openxmlformats.org/officeDocument/2006/relationships/oleObject" Target="../embeddings/oleObject13.bin"/><Relationship Id="rId10" Type="http://schemas.openxmlformats.org/officeDocument/2006/relationships/slideLayout" Target="../slideLayouts/slideLayout11.xml"/><Relationship Id="rId4" Type="http://schemas.openxmlformats.org/officeDocument/2006/relationships/tags" Target="../tags/tag199.xml"/><Relationship Id="rId9" Type="http://schemas.openxmlformats.org/officeDocument/2006/relationships/tags" Target="../tags/tag204.xml"/><Relationship Id="rId14" Type="http://schemas.openxmlformats.org/officeDocument/2006/relationships/image" Target="../media/image77.emf"/></Relationships>
</file>

<file path=ppt/slides/_rels/slide27.xml.rels><?xml version="1.0" encoding="UTF-8" standalone="yes"?>
<Relationships xmlns="http://schemas.openxmlformats.org/package/2006/relationships"><Relationship Id="rId8" Type="http://schemas.openxmlformats.org/officeDocument/2006/relationships/image" Target="../media/image81.emf"/><Relationship Id="rId3" Type="http://schemas.openxmlformats.org/officeDocument/2006/relationships/tags" Target="../tags/tag207.xml"/><Relationship Id="rId7" Type="http://schemas.openxmlformats.org/officeDocument/2006/relationships/oleObject" Target="../embeddings/oleObject14.bin"/><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image" Target="../media/image5.png"/><Relationship Id="rId11" Type="http://schemas.openxmlformats.org/officeDocument/2006/relationships/image" Target="../media/image83.GIF"/><Relationship Id="rId5" Type="http://schemas.openxmlformats.org/officeDocument/2006/relationships/notesSlide" Target="../notesSlides/notesSlide12.xml"/><Relationship Id="rId10" Type="http://schemas.openxmlformats.org/officeDocument/2006/relationships/image" Target="../media/image82.emf"/><Relationship Id="rId4" Type="http://schemas.openxmlformats.org/officeDocument/2006/relationships/slideLayout" Target="../slideLayouts/slideLayout11.xml"/><Relationship Id="rId9" Type="http://schemas.openxmlformats.org/officeDocument/2006/relationships/oleObject" Target="../embeddings/oleObject15.bin"/></Relationships>
</file>

<file path=ppt/slides/_rels/slide28.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6.png"/><Relationship Id="rId3" Type="http://schemas.openxmlformats.org/officeDocument/2006/relationships/tags" Target="../tags/tag210.xml"/><Relationship Id="rId7" Type="http://schemas.openxmlformats.org/officeDocument/2006/relationships/notesSlide" Target="../notesSlides/notesSlide13.xml"/><Relationship Id="rId12" Type="http://schemas.openxmlformats.org/officeDocument/2006/relationships/image" Target="../media/image85.emf"/><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slideLayout" Target="../slideLayouts/slideLayout11.xml"/><Relationship Id="rId11" Type="http://schemas.openxmlformats.org/officeDocument/2006/relationships/oleObject" Target="../embeddings/oleObject17.bin"/><Relationship Id="rId5" Type="http://schemas.openxmlformats.org/officeDocument/2006/relationships/tags" Target="../tags/tag212.xml"/><Relationship Id="rId10" Type="http://schemas.openxmlformats.org/officeDocument/2006/relationships/image" Target="../media/image84.emf"/><Relationship Id="rId4" Type="http://schemas.openxmlformats.org/officeDocument/2006/relationships/tags" Target="../tags/tag211.xml"/><Relationship Id="rId9" Type="http://schemas.openxmlformats.org/officeDocument/2006/relationships/oleObject" Target="../embeddings/oleObject16.bin"/><Relationship Id="rId14" Type="http://schemas.openxmlformats.org/officeDocument/2006/relationships/image" Target="../media/image87.png"/></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slideLayout" Target="../slideLayouts/slideLayout11.xml"/><Relationship Id="rId7" Type="http://schemas.openxmlformats.org/officeDocument/2006/relationships/image" Target="../media/image88.emf"/><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oleObject" Target="../embeddings/oleObject18.bin"/><Relationship Id="rId11" Type="http://schemas.openxmlformats.org/officeDocument/2006/relationships/image" Target="../media/image90.emf"/><Relationship Id="rId5" Type="http://schemas.openxmlformats.org/officeDocument/2006/relationships/image" Target="../media/image5.png"/><Relationship Id="rId10" Type="http://schemas.openxmlformats.org/officeDocument/2006/relationships/oleObject" Target="../embeddings/oleObject20.bin"/><Relationship Id="rId4" Type="http://schemas.openxmlformats.org/officeDocument/2006/relationships/notesSlide" Target="../notesSlides/notesSlide14.xml"/><Relationship Id="rId9" Type="http://schemas.openxmlformats.org/officeDocument/2006/relationships/image" Target="../media/image89.emf"/></Relationships>
</file>

<file path=ppt/slides/_rels/slide30.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tags" Target="../tags/tag227.xml"/><Relationship Id="rId18" Type="http://schemas.openxmlformats.org/officeDocument/2006/relationships/slideLayout" Target="../slideLayouts/slideLayout11.xml"/><Relationship Id="rId26" Type="http://schemas.openxmlformats.org/officeDocument/2006/relationships/image" Target="../media/image72.svg"/><Relationship Id="rId3" Type="http://schemas.openxmlformats.org/officeDocument/2006/relationships/tags" Target="../tags/tag217.xml"/><Relationship Id="rId21" Type="http://schemas.openxmlformats.org/officeDocument/2006/relationships/image" Target="../media/image65.png"/><Relationship Id="rId7" Type="http://schemas.openxmlformats.org/officeDocument/2006/relationships/tags" Target="../tags/tag221.xml"/><Relationship Id="rId12" Type="http://schemas.openxmlformats.org/officeDocument/2006/relationships/tags" Target="../tags/tag226.xml"/><Relationship Id="rId17" Type="http://schemas.openxmlformats.org/officeDocument/2006/relationships/tags" Target="../tags/tag231.xml"/><Relationship Id="rId25" Type="http://schemas.openxmlformats.org/officeDocument/2006/relationships/image" Target="../media/image71.png"/><Relationship Id="rId2" Type="http://schemas.openxmlformats.org/officeDocument/2006/relationships/tags" Target="../tags/tag216.xml"/><Relationship Id="rId16" Type="http://schemas.openxmlformats.org/officeDocument/2006/relationships/tags" Target="../tags/tag230.xml"/><Relationship Id="rId20" Type="http://schemas.openxmlformats.org/officeDocument/2006/relationships/image" Target="../media/image5.png"/><Relationship Id="rId29" Type="http://schemas.openxmlformats.org/officeDocument/2006/relationships/image" Target="../media/image91.png"/><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24" Type="http://schemas.openxmlformats.org/officeDocument/2006/relationships/image" Target="../media/image70.svg"/><Relationship Id="rId5" Type="http://schemas.openxmlformats.org/officeDocument/2006/relationships/tags" Target="../tags/tag219.xml"/><Relationship Id="rId15" Type="http://schemas.openxmlformats.org/officeDocument/2006/relationships/tags" Target="../tags/tag229.xml"/><Relationship Id="rId23" Type="http://schemas.openxmlformats.org/officeDocument/2006/relationships/image" Target="../media/image69.png"/><Relationship Id="rId28" Type="http://schemas.openxmlformats.org/officeDocument/2006/relationships/image" Target="../media/image68.svg"/><Relationship Id="rId10" Type="http://schemas.openxmlformats.org/officeDocument/2006/relationships/tags" Target="../tags/tag224.xml"/><Relationship Id="rId19" Type="http://schemas.openxmlformats.org/officeDocument/2006/relationships/notesSlide" Target="../notesSlides/notesSlide15.xml"/><Relationship Id="rId31" Type="http://schemas.openxmlformats.org/officeDocument/2006/relationships/image" Target="../media/image93.png"/><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 Id="rId22" Type="http://schemas.openxmlformats.org/officeDocument/2006/relationships/image" Target="../media/image66.svg"/><Relationship Id="rId27" Type="http://schemas.openxmlformats.org/officeDocument/2006/relationships/image" Target="../media/image67.png"/><Relationship Id="rId30" Type="http://schemas.openxmlformats.org/officeDocument/2006/relationships/image" Target="../media/image92.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181100" y="-2171065"/>
            <a:ext cx="14798040" cy="7345045"/>
          </a:xfrm>
          <a:prstGeom prst="ellipse">
            <a:avLst/>
          </a:prstGeom>
          <a:solidFill>
            <a:schemeClr val="accent6">
              <a:alpha val="97000"/>
            </a:schemeClr>
          </a:solidFill>
          <a:ln>
            <a:noFill/>
          </a:ln>
          <a:effectLst>
            <a:outerShdw blurRad="546100" dist="50800" dir="5400000" algn="t" rotWithShape="0">
              <a:prstClr val="black">
                <a:alpha val="76000"/>
              </a:prstClr>
            </a:outerShdw>
            <a:reflection stA="45000" endPos="0" dist="50800" dir="5400000" sy="-100000" algn="bl" rotWithShape="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1196975" y="1988185"/>
            <a:ext cx="10041890" cy="1442720"/>
          </a:xfrm>
          <a:prstGeom prst="rect">
            <a:avLst/>
          </a:prstGeom>
          <a:noFill/>
        </p:spPr>
        <p:txBody>
          <a:bodyPr wrap="square" rtlCol="0">
            <a:noAutofit/>
          </a:bodyPr>
          <a:lstStyle/>
          <a:p>
            <a:pPr algn="ctr"/>
            <a:r>
              <a:rPr lang="zh-CN" altLang="en-US" sz="4000" b="1">
                <a:solidFill>
                  <a:schemeClr val="bg1">
                    <a:lumMod val="95000"/>
                  </a:schemeClr>
                </a:solidFill>
              </a:rPr>
              <a:t>基于数据特征挖掘和随机配置网络的短期风电功率预测研究</a:t>
            </a:r>
          </a:p>
        </p:txBody>
      </p:sp>
      <p:pic>
        <p:nvPicPr>
          <p:cNvPr id="6" name="图片 5" descr="沈阳农业大学校徽"/>
          <p:cNvPicPr>
            <a:picLocks noChangeAspect="1"/>
          </p:cNvPicPr>
          <p:nvPr/>
        </p:nvPicPr>
        <p:blipFill>
          <a:blip r:embed="rId18"/>
          <a:srcRect l="2052" t="3377" r="2160" b="4221"/>
          <a:stretch>
            <a:fillRect/>
          </a:stretch>
        </p:blipFill>
        <p:spPr>
          <a:xfrm>
            <a:off x="10688955" y="186690"/>
            <a:ext cx="1470025" cy="1450975"/>
          </a:xfrm>
          <a:prstGeom prst="ellipse">
            <a:avLst/>
          </a:prstGeom>
        </p:spPr>
      </p:pic>
      <p:sp>
        <p:nvSpPr>
          <p:cNvPr id="10" name="文本框 9"/>
          <p:cNvSpPr txBox="1"/>
          <p:nvPr/>
        </p:nvSpPr>
        <p:spPr>
          <a:xfrm>
            <a:off x="4175125" y="3975735"/>
            <a:ext cx="3841115" cy="521970"/>
          </a:xfrm>
          <a:prstGeom prst="rect">
            <a:avLst/>
          </a:prstGeom>
          <a:noFill/>
        </p:spPr>
        <p:txBody>
          <a:bodyPr wrap="square" rtlCol="0">
            <a:spAutoFit/>
          </a:bodyPr>
          <a:lstStyle/>
          <a:p>
            <a:pPr algn="ctr"/>
            <a:r>
              <a:rPr lang="zh-CN" altLang="en-US" sz="2800" b="1"/>
              <a:t>信息与电气工程学院</a:t>
            </a:r>
          </a:p>
        </p:txBody>
      </p:sp>
      <p:sp>
        <p:nvSpPr>
          <p:cNvPr id="11" name="文本框 10"/>
          <p:cNvSpPr txBox="1"/>
          <p:nvPr/>
        </p:nvSpPr>
        <p:spPr>
          <a:xfrm>
            <a:off x="4175125" y="4641215"/>
            <a:ext cx="3841115" cy="521970"/>
          </a:xfrm>
          <a:prstGeom prst="rect">
            <a:avLst/>
          </a:prstGeom>
          <a:noFill/>
        </p:spPr>
        <p:txBody>
          <a:bodyPr wrap="square" rtlCol="0">
            <a:spAutoFit/>
          </a:bodyPr>
          <a:lstStyle/>
          <a:p>
            <a:pPr algn="ctr"/>
            <a:r>
              <a:rPr lang="zh-CN" altLang="en-US" sz="2800" b="1"/>
              <a:t>汇报人：于冰冰</a:t>
            </a:r>
          </a:p>
        </p:txBody>
      </p:sp>
      <p:sp>
        <p:nvSpPr>
          <p:cNvPr id="12" name="文本框 11"/>
          <p:cNvSpPr txBox="1"/>
          <p:nvPr/>
        </p:nvSpPr>
        <p:spPr>
          <a:xfrm>
            <a:off x="4175125" y="5306695"/>
            <a:ext cx="3841115" cy="521970"/>
          </a:xfrm>
          <a:prstGeom prst="rect">
            <a:avLst/>
          </a:prstGeom>
          <a:noFill/>
        </p:spPr>
        <p:txBody>
          <a:bodyPr wrap="square" rtlCol="0">
            <a:spAutoFit/>
          </a:bodyPr>
          <a:lstStyle/>
          <a:p>
            <a:pPr algn="ctr"/>
            <a:r>
              <a:rPr lang="zh-CN" altLang="en-US" sz="2800" b="1"/>
              <a:t>导师：郑维刚、王永刚</a:t>
            </a:r>
          </a:p>
        </p:txBody>
      </p:sp>
      <p:sp>
        <p:nvSpPr>
          <p:cNvPr id="15" name="文本框 14"/>
          <p:cNvSpPr txBox="1"/>
          <p:nvPr/>
        </p:nvSpPr>
        <p:spPr>
          <a:xfrm>
            <a:off x="4175125" y="5972175"/>
            <a:ext cx="3841115" cy="521970"/>
          </a:xfrm>
          <a:prstGeom prst="rect">
            <a:avLst/>
          </a:prstGeom>
          <a:noFill/>
        </p:spPr>
        <p:txBody>
          <a:bodyPr wrap="square" rtlCol="0">
            <a:spAutoFit/>
          </a:bodyPr>
          <a:lstStyle/>
          <a:p>
            <a:pPr algn="ctr"/>
            <a:r>
              <a:rPr lang="en-US" altLang="zh-CN" sz="2800" b="1"/>
              <a:t>2024</a:t>
            </a:r>
            <a:r>
              <a:rPr lang="zh-CN" altLang="en-US" sz="2800" b="1"/>
              <a:t>年</a:t>
            </a:r>
            <a:r>
              <a:rPr lang="en-US" altLang="zh-CN" sz="2800" b="1"/>
              <a:t>9</a:t>
            </a:r>
            <a:r>
              <a:rPr lang="zh-CN" altLang="en-US" sz="2800" b="1"/>
              <a:t>月</a:t>
            </a:r>
            <a:r>
              <a:rPr lang="en-US" altLang="zh-CN" sz="2800" b="1"/>
              <a:t>13</a:t>
            </a:r>
            <a:r>
              <a:rPr lang="zh-CN" altLang="en-US" sz="2800" b="1"/>
              <a:t>日</a:t>
            </a:r>
          </a:p>
        </p:txBody>
      </p:sp>
      <p:sp>
        <p:nvSpPr>
          <p:cNvPr id="9" name="矩形 8"/>
          <p:cNvSpPr/>
          <p:nvPr/>
        </p:nvSpPr>
        <p:spPr>
          <a:xfrm>
            <a:off x="0" y="0"/>
            <a:ext cx="3628390" cy="737870"/>
          </a:xfrm>
          <a:prstGeom prst="rect">
            <a:avLst/>
          </a:prstGeom>
        </p:spPr>
        <p:txBody>
          <a:bodyPr wrap="square">
            <a:noAutofit/>
          </a:bodyPr>
          <a:lstStyle/>
          <a:p>
            <a:pPr eaLnBrk="1" hangingPunct="1">
              <a:lnSpc>
                <a:spcPct val="150000"/>
              </a:lnSpc>
            </a:pPr>
            <a:r>
              <a:rPr lang="en-US" altLang="zh-CN" sz="2000" b="1" dirty="0">
                <a:solidFill>
                  <a:schemeClr val="tx1">
                    <a:lumMod val="85000"/>
                    <a:lumOff val="15000"/>
                  </a:schemeClr>
                </a:solidFill>
                <a:latin typeface="Cambria" panose="02040503050406030204" pitchFamily="18" charset="0"/>
                <a:ea typeface="黑体" panose="02010609060101010101" charset="-122"/>
              </a:rPr>
              <a:t>2023</a:t>
            </a:r>
            <a:r>
              <a:rPr lang="zh-CN" altLang="en-US" sz="2000" b="1" dirty="0">
                <a:solidFill>
                  <a:schemeClr val="tx1">
                    <a:lumMod val="85000"/>
                    <a:lumOff val="15000"/>
                  </a:schemeClr>
                </a:solidFill>
                <a:latin typeface="Cambria" panose="02040503050406030204" pitchFamily="18" charset="0"/>
                <a:ea typeface="黑体" panose="02010609060101010101" charset="-122"/>
              </a:rPr>
              <a:t>级研究生学位论文开题 </a:t>
            </a:r>
          </a:p>
        </p:txBody>
      </p:sp>
      <p:sp>
        <p:nvSpPr>
          <p:cNvPr id="3" name="椭圆 2"/>
          <p:cNvSpPr/>
          <p:nvPr/>
        </p:nvSpPr>
        <p:spPr>
          <a:xfrm>
            <a:off x="-8658860" y="-395605"/>
            <a:ext cx="8268970" cy="8268970"/>
          </a:xfrm>
          <a:prstGeom prst="ellipse">
            <a:avLst/>
          </a:prstGeom>
          <a:solidFill>
            <a:schemeClr val="accent6">
              <a:lumMod val="20000"/>
              <a:lumOff val="80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p:cNvGrpSpPr/>
          <p:nvPr>
            <p:custDataLst>
              <p:tags r:id="rId1"/>
            </p:custDataLst>
          </p:nvPr>
        </p:nvGrpSpPr>
        <p:grpSpPr>
          <a:xfrm>
            <a:off x="-8658860" y="854710"/>
            <a:ext cx="1229360" cy="5537200"/>
            <a:chOff x="6753" y="1346"/>
            <a:chExt cx="1936" cy="8720"/>
          </a:xfrm>
        </p:grpSpPr>
        <p:sp>
          <p:nvSpPr>
            <p:cNvPr id="26" name="圆角矩形 25"/>
            <p:cNvSpPr/>
            <p:nvPr>
              <p:custDataLst>
                <p:tags r:id="rId14"/>
              </p:custDataLst>
            </p:nvPr>
          </p:nvSpPr>
          <p:spPr>
            <a:xfrm>
              <a:off x="6753" y="1346"/>
              <a:ext cx="1936" cy="8721"/>
            </a:xfrm>
            <a:prstGeom prst="roundRect">
              <a:avLst/>
            </a:prstGeom>
            <a:solidFill>
              <a:schemeClr val="accent6">
                <a:lumMod val="20000"/>
                <a:lumOff val="80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黑体" panose="02010609060101010101" charset="-122"/>
                <a:ea typeface="黑体" panose="02010609060101010101" charset="-122"/>
                <a:sym typeface="+mn-ea"/>
              </a:endParaRPr>
            </a:p>
          </p:txBody>
        </p:sp>
        <p:sp>
          <p:nvSpPr>
            <p:cNvPr id="8" name="文本框 7"/>
            <p:cNvSpPr txBox="1"/>
            <p:nvPr>
              <p:custDataLst>
                <p:tags r:id="rId15"/>
              </p:custDataLst>
            </p:nvPr>
          </p:nvSpPr>
          <p:spPr>
            <a:xfrm>
              <a:off x="7115" y="2771"/>
              <a:ext cx="1063" cy="6129"/>
            </a:xfrm>
            <a:prstGeom prst="rect">
              <a:avLst/>
            </a:prstGeom>
            <a:noFill/>
          </p:spPr>
          <p:txBody>
            <a:bodyPr vert="eaVert" wrap="square" rtlCol="0">
              <a:spAutoFit/>
            </a:bodyPr>
            <a:lstStyle/>
            <a:p>
              <a:r>
                <a:rPr lang="zh-CN" altLang="en-US" sz="3200">
                  <a:solidFill>
                    <a:schemeClr val="tx1">
                      <a:lumMod val="95000"/>
                      <a:lumOff val="5000"/>
                    </a:schemeClr>
                  </a:solidFill>
                  <a:latin typeface="黑体" panose="02010609060101010101" charset="-122"/>
                  <a:ea typeface="黑体" panose="02010609060101010101" charset="-122"/>
                </a:rPr>
                <a:t>课题研究背景和意义</a:t>
              </a:r>
            </a:p>
          </p:txBody>
        </p:sp>
        <p:sp>
          <p:nvSpPr>
            <p:cNvPr id="13" name="文本框 12"/>
            <p:cNvSpPr txBox="1"/>
            <p:nvPr>
              <p:custDataLst>
                <p:tags r:id="rId16"/>
              </p:custDataLst>
            </p:nvPr>
          </p:nvSpPr>
          <p:spPr>
            <a:xfrm>
              <a:off x="7277" y="1764"/>
              <a:ext cx="865" cy="1016"/>
            </a:xfrm>
            <a:prstGeom prst="rect">
              <a:avLst/>
            </a:prstGeom>
            <a:noFill/>
          </p:spPr>
          <p:txBody>
            <a:bodyPr wrap="square" rtlCol="0">
              <a:spAutoFit/>
            </a:bodyPr>
            <a:lstStyle/>
            <a:p>
              <a:r>
                <a:rPr lang="en-US" altLang="zh-CN" sz="3600" b="1" i="1">
                  <a:solidFill>
                    <a:schemeClr val="tx1">
                      <a:lumMod val="95000"/>
                      <a:lumOff val="5000"/>
                    </a:schemeClr>
                  </a:solidFill>
                  <a:latin typeface="黑体" panose="02010609060101010101" charset="-122"/>
                  <a:ea typeface="黑体" panose="02010609060101010101" charset="-122"/>
                </a:rPr>
                <a:t>1</a:t>
              </a:r>
            </a:p>
          </p:txBody>
        </p:sp>
      </p:grpSp>
      <p:grpSp>
        <p:nvGrpSpPr>
          <p:cNvPr id="14" name="组合 13"/>
          <p:cNvGrpSpPr/>
          <p:nvPr>
            <p:custDataLst>
              <p:tags r:id="rId2"/>
            </p:custDataLst>
          </p:nvPr>
        </p:nvGrpSpPr>
        <p:grpSpPr>
          <a:xfrm>
            <a:off x="-8658860" y="822325"/>
            <a:ext cx="1233170" cy="5537200"/>
            <a:chOff x="9888" y="1295"/>
            <a:chExt cx="1942" cy="8720"/>
          </a:xfrm>
        </p:grpSpPr>
        <p:sp>
          <p:nvSpPr>
            <p:cNvPr id="16" name="圆角矩形 15"/>
            <p:cNvSpPr/>
            <p:nvPr>
              <p:custDataLst>
                <p:tags r:id="rId11"/>
              </p:custDataLst>
            </p:nvPr>
          </p:nvSpPr>
          <p:spPr>
            <a:xfrm>
              <a:off x="9888" y="1295"/>
              <a:ext cx="1942" cy="8721"/>
            </a:xfrm>
            <a:prstGeom prst="roundRect">
              <a:avLst/>
            </a:prstGeom>
            <a:solidFill>
              <a:schemeClr val="accent6">
                <a:lumMod val="40000"/>
                <a:lumOff val="60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7" name="文本框 16"/>
            <p:cNvSpPr txBox="1"/>
            <p:nvPr>
              <p:custDataLst>
                <p:tags r:id="rId12"/>
              </p:custDataLst>
            </p:nvPr>
          </p:nvSpPr>
          <p:spPr>
            <a:xfrm>
              <a:off x="10288" y="2771"/>
              <a:ext cx="1063" cy="6129"/>
            </a:xfrm>
            <a:prstGeom prst="rect">
              <a:avLst/>
            </a:prstGeom>
            <a:noFill/>
          </p:spPr>
          <p:txBody>
            <a:bodyPr vert="eaVert" wrap="square" rtlCol="0">
              <a:spAutoFit/>
            </a:bodyPr>
            <a:lstStyle/>
            <a:p>
              <a:r>
                <a:rPr lang="zh-CN" altLang="en-US" sz="3200">
                  <a:solidFill>
                    <a:schemeClr val="tx1">
                      <a:lumMod val="95000"/>
                      <a:lumOff val="5000"/>
                    </a:schemeClr>
                  </a:solidFill>
                  <a:latin typeface="黑体" panose="02010609060101010101" charset="-122"/>
                  <a:ea typeface="黑体" panose="02010609060101010101" charset="-122"/>
                </a:rPr>
                <a:t>研究目标与研究内容</a:t>
              </a:r>
            </a:p>
          </p:txBody>
        </p:sp>
        <p:sp>
          <p:nvSpPr>
            <p:cNvPr id="18" name="文本框 17"/>
            <p:cNvSpPr txBox="1"/>
            <p:nvPr>
              <p:custDataLst>
                <p:tags r:id="rId13"/>
              </p:custDataLst>
            </p:nvPr>
          </p:nvSpPr>
          <p:spPr>
            <a:xfrm>
              <a:off x="10450" y="1764"/>
              <a:ext cx="922" cy="1016"/>
            </a:xfrm>
            <a:prstGeom prst="rect">
              <a:avLst/>
            </a:prstGeom>
            <a:noFill/>
          </p:spPr>
          <p:txBody>
            <a:bodyPr wrap="square" rtlCol="0">
              <a:spAutoFit/>
            </a:bodyPr>
            <a:lstStyle/>
            <a:p>
              <a:pPr lvl="0" algn="l">
                <a:buClrTx/>
                <a:buSzTx/>
                <a:buFontTx/>
              </a:pPr>
              <a:r>
                <a:rPr lang="en-US" altLang="zh-CN" sz="3600" b="1" i="1">
                  <a:solidFill>
                    <a:schemeClr val="tx1">
                      <a:lumMod val="95000"/>
                      <a:lumOff val="5000"/>
                    </a:schemeClr>
                  </a:solidFill>
                  <a:latin typeface="黑体" panose="02010609060101010101" charset="-122"/>
                  <a:ea typeface="黑体" panose="02010609060101010101" charset="-122"/>
                  <a:sym typeface="+mn-ea"/>
                </a:rPr>
                <a:t>2</a:t>
              </a:r>
            </a:p>
          </p:txBody>
        </p:sp>
      </p:grpSp>
      <p:grpSp>
        <p:nvGrpSpPr>
          <p:cNvPr id="19" name="组合 18"/>
          <p:cNvGrpSpPr/>
          <p:nvPr>
            <p:custDataLst>
              <p:tags r:id="rId3"/>
            </p:custDataLst>
          </p:nvPr>
        </p:nvGrpSpPr>
        <p:grpSpPr>
          <a:xfrm>
            <a:off x="-8658860" y="824230"/>
            <a:ext cx="1223010" cy="5537200"/>
            <a:chOff x="13125" y="1298"/>
            <a:chExt cx="1926" cy="8720"/>
          </a:xfrm>
        </p:grpSpPr>
        <p:sp>
          <p:nvSpPr>
            <p:cNvPr id="20" name="圆角矩形 19"/>
            <p:cNvSpPr/>
            <p:nvPr>
              <p:custDataLst>
                <p:tags r:id="rId8"/>
              </p:custDataLst>
            </p:nvPr>
          </p:nvSpPr>
          <p:spPr>
            <a:xfrm>
              <a:off x="13125" y="1298"/>
              <a:ext cx="1927" cy="8721"/>
            </a:xfrm>
            <a:prstGeom prst="roundRect">
              <a:avLst/>
            </a:prstGeom>
            <a:solidFill>
              <a:schemeClr val="accent6">
                <a:lumMod val="60000"/>
                <a:lumOff val="40000"/>
              </a:schemeClr>
            </a:solidFill>
            <a:ln>
              <a:solidFill>
                <a:schemeClr val="accent6">
                  <a:lumMod val="60000"/>
                  <a:lumOff val="40000"/>
                </a:schemeClr>
              </a:solid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1" name="文本框 20"/>
            <p:cNvSpPr txBox="1"/>
            <p:nvPr>
              <p:custDataLst>
                <p:tags r:id="rId9"/>
              </p:custDataLst>
            </p:nvPr>
          </p:nvSpPr>
          <p:spPr>
            <a:xfrm>
              <a:off x="13547" y="2771"/>
              <a:ext cx="1063" cy="5964"/>
            </a:xfrm>
            <a:prstGeom prst="rect">
              <a:avLst/>
            </a:prstGeom>
            <a:noFill/>
          </p:spPr>
          <p:txBody>
            <a:bodyPr vert="eaVert" wrap="square" rtlCol="0">
              <a:spAutoFit/>
            </a:bodyPr>
            <a:lstStyle/>
            <a:p>
              <a:r>
                <a:rPr lang="zh-CN" altLang="en-US" sz="3200">
                  <a:solidFill>
                    <a:schemeClr val="tx1">
                      <a:lumMod val="95000"/>
                      <a:lumOff val="5000"/>
                    </a:schemeClr>
                  </a:solidFill>
                  <a:latin typeface="黑体" panose="02010609060101010101" charset="-122"/>
                  <a:ea typeface="黑体" panose="02010609060101010101" charset="-122"/>
                </a:rPr>
                <a:t>研究方法与技术路线</a:t>
              </a:r>
            </a:p>
          </p:txBody>
        </p:sp>
        <p:sp>
          <p:nvSpPr>
            <p:cNvPr id="22" name="文本框 21"/>
            <p:cNvSpPr txBox="1"/>
            <p:nvPr>
              <p:custDataLst>
                <p:tags r:id="rId10"/>
              </p:custDataLst>
            </p:nvPr>
          </p:nvSpPr>
          <p:spPr>
            <a:xfrm>
              <a:off x="13680" y="1783"/>
              <a:ext cx="933" cy="1016"/>
            </a:xfrm>
            <a:prstGeom prst="rect">
              <a:avLst/>
            </a:prstGeom>
            <a:noFill/>
          </p:spPr>
          <p:txBody>
            <a:bodyPr wrap="square" rtlCol="0">
              <a:spAutoFit/>
            </a:bodyPr>
            <a:lstStyle/>
            <a:p>
              <a:pPr lvl="0" algn="l">
                <a:buClrTx/>
                <a:buSzTx/>
                <a:buFontTx/>
              </a:pPr>
              <a:r>
                <a:rPr lang="en-US" altLang="zh-CN" sz="3600" b="1" i="1">
                  <a:solidFill>
                    <a:schemeClr val="tx1">
                      <a:lumMod val="95000"/>
                      <a:lumOff val="5000"/>
                    </a:schemeClr>
                  </a:solidFill>
                  <a:latin typeface="黑体" panose="02010609060101010101" charset="-122"/>
                  <a:ea typeface="黑体" panose="02010609060101010101" charset="-122"/>
                  <a:sym typeface="+mn-ea"/>
                </a:rPr>
                <a:t>3</a:t>
              </a:r>
            </a:p>
          </p:txBody>
        </p:sp>
      </p:grpSp>
      <p:grpSp>
        <p:nvGrpSpPr>
          <p:cNvPr id="23" name="组合 22"/>
          <p:cNvGrpSpPr/>
          <p:nvPr>
            <p:custDataLst>
              <p:tags r:id="rId4"/>
            </p:custDataLst>
          </p:nvPr>
        </p:nvGrpSpPr>
        <p:grpSpPr>
          <a:xfrm>
            <a:off x="-8658860" y="824230"/>
            <a:ext cx="1228090" cy="5537200"/>
            <a:chOff x="16228" y="1298"/>
            <a:chExt cx="1934" cy="8720"/>
          </a:xfrm>
        </p:grpSpPr>
        <p:sp>
          <p:nvSpPr>
            <p:cNvPr id="24" name="圆角矩形 23"/>
            <p:cNvSpPr/>
            <p:nvPr>
              <p:custDataLst>
                <p:tags r:id="rId5"/>
              </p:custDataLst>
            </p:nvPr>
          </p:nvSpPr>
          <p:spPr>
            <a:xfrm>
              <a:off x="16228" y="1298"/>
              <a:ext cx="1935" cy="8721"/>
            </a:xfrm>
            <a:prstGeom prst="roundRect">
              <a:avLst/>
            </a:prstGeom>
            <a:solidFill>
              <a:schemeClr val="accent6">
                <a:lumMod val="75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5" name="文本框 24"/>
            <p:cNvSpPr txBox="1"/>
            <p:nvPr>
              <p:custDataLst>
                <p:tags r:id="rId6"/>
              </p:custDataLst>
            </p:nvPr>
          </p:nvSpPr>
          <p:spPr>
            <a:xfrm>
              <a:off x="16619" y="2723"/>
              <a:ext cx="1063" cy="6599"/>
            </a:xfrm>
            <a:prstGeom prst="rect">
              <a:avLst/>
            </a:prstGeom>
            <a:noFill/>
          </p:spPr>
          <p:txBody>
            <a:bodyPr vert="eaVert" wrap="square" rtlCol="0">
              <a:spAutoFit/>
            </a:bodyPr>
            <a:lstStyle/>
            <a:p>
              <a:r>
                <a:rPr lang="zh-CN" altLang="en-US" sz="3200">
                  <a:solidFill>
                    <a:schemeClr val="tx1">
                      <a:lumMod val="95000"/>
                      <a:lumOff val="5000"/>
                    </a:schemeClr>
                  </a:solidFill>
                  <a:latin typeface="黑体" panose="02010609060101010101" charset="-122"/>
                  <a:ea typeface="黑体" panose="02010609060101010101" charset="-122"/>
                </a:rPr>
                <a:t>可行性分析与预期结果</a:t>
              </a:r>
            </a:p>
          </p:txBody>
        </p:sp>
        <p:sp>
          <p:nvSpPr>
            <p:cNvPr id="41" name="文本框 40"/>
            <p:cNvSpPr txBox="1"/>
            <p:nvPr>
              <p:custDataLst>
                <p:tags r:id="rId7"/>
              </p:custDataLst>
            </p:nvPr>
          </p:nvSpPr>
          <p:spPr>
            <a:xfrm>
              <a:off x="16776" y="1760"/>
              <a:ext cx="836" cy="1016"/>
            </a:xfrm>
            <a:prstGeom prst="rect">
              <a:avLst/>
            </a:prstGeom>
            <a:noFill/>
          </p:spPr>
          <p:txBody>
            <a:bodyPr wrap="square" rtlCol="0">
              <a:spAutoFit/>
            </a:bodyPr>
            <a:lstStyle/>
            <a:p>
              <a:pPr lvl="0" algn="l">
                <a:buClrTx/>
                <a:buSzTx/>
                <a:buFontTx/>
              </a:pPr>
              <a:r>
                <a:rPr lang="en-US" altLang="zh-CN" sz="3600" b="1" i="1">
                  <a:solidFill>
                    <a:schemeClr val="tx1">
                      <a:lumMod val="95000"/>
                      <a:lumOff val="5000"/>
                    </a:schemeClr>
                  </a:solidFill>
                  <a:latin typeface="黑体" panose="02010609060101010101" charset="-122"/>
                  <a:ea typeface="黑体" panose="02010609060101010101" charset="-122"/>
                  <a:sym typeface="+mn-ea"/>
                </a:rPr>
                <a:t>4</a:t>
              </a:r>
            </a:p>
          </p:txBody>
        </p:sp>
      </p:grpSp>
      <p:sp>
        <p:nvSpPr>
          <p:cNvPr id="42" name="文本框 41"/>
          <p:cNvSpPr txBox="1"/>
          <p:nvPr/>
        </p:nvSpPr>
        <p:spPr>
          <a:xfrm>
            <a:off x="-8658860" y="1885950"/>
            <a:ext cx="1536700" cy="3580765"/>
          </a:xfrm>
          <a:prstGeom prst="rect">
            <a:avLst/>
          </a:prstGeom>
          <a:noFill/>
        </p:spPr>
        <p:txBody>
          <a:bodyPr vert="eaVert" wrap="square" rtlCol="0">
            <a:spAutoFit/>
          </a:bodyPr>
          <a:lstStyle/>
          <a:p>
            <a:r>
              <a:rPr lang="en-US" altLang="zh-CN" sz="4000" b="1" dirty="0">
                <a:solidFill>
                  <a:schemeClr val="bg1">
                    <a:lumMod val="50000"/>
                  </a:schemeClr>
                </a:solidFill>
                <a:latin typeface="Times New Roman" panose="02020603050405020304" pitchFamily="18" charset="0"/>
                <a:ea typeface="+mj-ea"/>
                <a:cs typeface="Times New Roman" panose="02020603050405020304" pitchFamily="18" charset="0"/>
                <a:sym typeface="+mn-ea"/>
              </a:rPr>
              <a:t>Report outline</a:t>
            </a:r>
          </a:p>
          <a:p>
            <a:r>
              <a:rPr lang="zh-CN" altLang="en-US" sz="4800">
                <a:latin typeface="黑体" panose="02010609060101010101" charset="-122"/>
                <a:ea typeface="黑体" panose="02010609060101010101" charset="-122"/>
                <a:sym typeface="+mn-ea"/>
              </a:rPr>
              <a:t>汇报提纲</a:t>
            </a:r>
            <a:endParaRPr lang="zh-CN" altLang="en-US" sz="4800">
              <a:latin typeface="黑体" panose="02010609060101010101" charset="-122"/>
              <a:ea typeface="黑体" panose="0201060906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4528820" y="-395605"/>
            <a:ext cx="8268970" cy="8268970"/>
          </a:xfrm>
          <a:prstGeom prst="ellipse">
            <a:avLst/>
          </a:prstGeom>
          <a:solidFill>
            <a:schemeClr val="accent6">
              <a:lumMod val="20000"/>
              <a:lumOff val="80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3" name="组合 2"/>
          <p:cNvGrpSpPr/>
          <p:nvPr/>
        </p:nvGrpSpPr>
        <p:grpSpPr>
          <a:xfrm>
            <a:off x="4288155" y="854710"/>
            <a:ext cx="1229360" cy="5537200"/>
            <a:chOff x="6753" y="1346"/>
            <a:chExt cx="1936" cy="8720"/>
          </a:xfrm>
        </p:grpSpPr>
        <p:sp>
          <p:nvSpPr>
            <p:cNvPr id="26" name="圆角矩形 25"/>
            <p:cNvSpPr/>
            <p:nvPr>
              <p:custDataLst>
                <p:tags r:id="rId11"/>
              </p:custDataLst>
            </p:nvPr>
          </p:nvSpPr>
          <p:spPr>
            <a:xfrm>
              <a:off x="6753" y="1346"/>
              <a:ext cx="1936" cy="8721"/>
            </a:xfrm>
            <a:prstGeom prst="roundRect">
              <a:avLst/>
            </a:prstGeom>
            <a:solidFill>
              <a:schemeClr val="accent6">
                <a:lumMod val="20000"/>
                <a:lumOff val="80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黑体" panose="02010609060101010101" charset="-122"/>
                <a:ea typeface="黑体" panose="02010609060101010101" charset="-122"/>
                <a:sym typeface="+mn-ea"/>
              </a:endParaRPr>
            </a:p>
          </p:txBody>
        </p:sp>
        <p:sp>
          <p:nvSpPr>
            <p:cNvPr id="8" name="文本框 7"/>
            <p:cNvSpPr txBox="1"/>
            <p:nvPr>
              <p:custDataLst>
                <p:tags r:id="rId12"/>
              </p:custDataLst>
            </p:nvPr>
          </p:nvSpPr>
          <p:spPr>
            <a:xfrm>
              <a:off x="7115" y="2771"/>
              <a:ext cx="1063" cy="6129"/>
            </a:xfrm>
            <a:prstGeom prst="rect">
              <a:avLst/>
            </a:prstGeom>
            <a:noFill/>
          </p:spPr>
          <p:txBody>
            <a:bodyPr vert="eaVert" wrap="square" rtlCol="0">
              <a:spAutoFit/>
            </a:bodyPr>
            <a:lstStyle/>
            <a:p>
              <a:r>
                <a:rPr lang="zh-CN" altLang="en-US" sz="3200">
                  <a:solidFill>
                    <a:schemeClr val="tx1">
                      <a:lumMod val="95000"/>
                      <a:lumOff val="5000"/>
                    </a:schemeClr>
                  </a:solidFill>
                  <a:latin typeface="黑体" panose="02010609060101010101" charset="-122"/>
                  <a:ea typeface="黑体" panose="02010609060101010101" charset="-122"/>
                </a:rPr>
                <a:t>课题研究背景和意义</a:t>
              </a:r>
            </a:p>
          </p:txBody>
        </p:sp>
        <p:sp>
          <p:nvSpPr>
            <p:cNvPr id="15" name="文本框 14"/>
            <p:cNvSpPr txBox="1"/>
            <p:nvPr>
              <p:custDataLst>
                <p:tags r:id="rId13"/>
              </p:custDataLst>
            </p:nvPr>
          </p:nvSpPr>
          <p:spPr>
            <a:xfrm>
              <a:off x="7277" y="1764"/>
              <a:ext cx="865" cy="1016"/>
            </a:xfrm>
            <a:prstGeom prst="rect">
              <a:avLst/>
            </a:prstGeom>
            <a:noFill/>
          </p:spPr>
          <p:txBody>
            <a:bodyPr wrap="square" rtlCol="0">
              <a:spAutoFit/>
            </a:bodyPr>
            <a:lstStyle/>
            <a:p>
              <a:r>
                <a:rPr lang="en-US" altLang="zh-CN" sz="3600" b="1" i="1">
                  <a:solidFill>
                    <a:schemeClr val="tx1">
                      <a:lumMod val="95000"/>
                      <a:lumOff val="5000"/>
                    </a:schemeClr>
                  </a:solidFill>
                  <a:latin typeface="黑体" panose="02010609060101010101" charset="-122"/>
                  <a:ea typeface="黑体" panose="02010609060101010101" charset="-122"/>
                </a:rPr>
                <a:t>1</a:t>
              </a:r>
            </a:p>
          </p:txBody>
        </p:sp>
      </p:grpSp>
      <p:grpSp>
        <p:nvGrpSpPr>
          <p:cNvPr id="4" name="组合 3"/>
          <p:cNvGrpSpPr/>
          <p:nvPr/>
        </p:nvGrpSpPr>
        <p:grpSpPr>
          <a:xfrm>
            <a:off x="6278880" y="822325"/>
            <a:ext cx="1233170" cy="5537200"/>
            <a:chOff x="9888" y="1295"/>
            <a:chExt cx="1942" cy="8720"/>
          </a:xfrm>
        </p:grpSpPr>
        <p:sp>
          <p:nvSpPr>
            <p:cNvPr id="27" name="圆角矩形 26"/>
            <p:cNvSpPr/>
            <p:nvPr>
              <p:custDataLst>
                <p:tags r:id="rId8"/>
              </p:custDataLst>
            </p:nvPr>
          </p:nvSpPr>
          <p:spPr>
            <a:xfrm>
              <a:off x="9888" y="1295"/>
              <a:ext cx="1942" cy="8721"/>
            </a:xfrm>
            <a:prstGeom prst="roundRect">
              <a:avLst/>
            </a:prstGeom>
            <a:solidFill>
              <a:schemeClr val="accent6">
                <a:lumMod val="40000"/>
                <a:lumOff val="60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文本框 8"/>
            <p:cNvSpPr txBox="1"/>
            <p:nvPr>
              <p:custDataLst>
                <p:tags r:id="rId9"/>
              </p:custDataLst>
            </p:nvPr>
          </p:nvSpPr>
          <p:spPr>
            <a:xfrm>
              <a:off x="10288" y="2771"/>
              <a:ext cx="1063" cy="6129"/>
            </a:xfrm>
            <a:prstGeom prst="rect">
              <a:avLst/>
            </a:prstGeom>
            <a:noFill/>
          </p:spPr>
          <p:txBody>
            <a:bodyPr vert="eaVert" wrap="square" rtlCol="0">
              <a:spAutoFit/>
            </a:bodyPr>
            <a:lstStyle/>
            <a:p>
              <a:r>
                <a:rPr lang="zh-CN" altLang="en-US" sz="3200">
                  <a:solidFill>
                    <a:schemeClr val="tx1">
                      <a:lumMod val="95000"/>
                      <a:lumOff val="5000"/>
                    </a:schemeClr>
                  </a:solidFill>
                  <a:latin typeface="黑体" panose="02010609060101010101" charset="-122"/>
                  <a:ea typeface="黑体" panose="02010609060101010101" charset="-122"/>
                </a:rPr>
                <a:t>研究目标与研究内容</a:t>
              </a:r>
            </a:p>
          </p:txBody>
        </p:sp>
        <p:sp>
          <p:nvSpPr>
            <p:cNvPr id="16" name="文本框 15"/>
            <p:cNvSpPr txBox="1"/>
            <p:nvPr>
              <p:custDataLst>
                <p:tags r:id="rId10"/>
              </p:custDataLst>
            </p:nvPr>
          </p:nvSpPr>
          <p:spPr>
            <a:xfrm>
              <a:off x="10450" y="1764"/>
              <a:ext cx="922" cy="1016"/>
            </a:xfrm>
            <a:prstGeom prst="rect">
              <a:avLst/>
            </a:prstGeom>
            <a:noFill/>
          </p:spPr>
          <p:txBody>
            <a:bodyPr wrap="square" rtlCol="0">
              <a:spAutoFit/>
            </a:bodyPr>
            <a:lstStyle/>
            <a:p>
              <a:pPr lvl="0" algn="l">
                <a:buClrTx/>
                <a:buSzTx/>
                <a:buFontTx/>
              </a:pPr>
              <a:r>
                <a:rPr lang="en-US" altLang="zh-CN" sz="3600" b="1" i="1">
                  <a:solidFill>
                    <a:schemeClr val="tx1">
                      <a:lumMod val="95000"/>
                      <a:lumOff val="5000"/>
                    </a:schemeClr>
                  </a:solidFill>
                  <a:latin typeface="黑体" panose="02010609060101010101" charset="-122"/>
                  <a:ea typeface="黑体" panose="02010609060101010101" charset="-122"/>
                  <a:sym typeface="+mn-ea"/>
                </a:rPr>
                <a:t>2</a:t>
              </a:r>
            </a:p>
          </p:txBody>
        </p:sp>
      </p:grpSp>
      <p:grpSp>
        <p:nvGrpSpPr>
          <p:cNvPr id="5" name="组合 4"/>
          <p:cNvGrpSpPr/>
          <p:nvPr/>
        </p:nvGrpSpPr>
        <p:grpSpPr>
          <a:xfrm>
            <a:off x="8334375" y="824230"/>
            <a:ext cx="1223010" cy="5537200"/>
            <a:chOff x="13125" y="1298"/>
            <a:chExt cx="1926" cy="8720"/>
          </a:xfrm>
        </p:grpSpPr>
        <p:sp>
          <p:nvSpPr>
            <p:cNvPr id="28" name="圆角矩形 27"/>
            <p:cNvSpPr/>
            <p:nvPr>
              <p:custDataLst>
                <p:tags r:id="rId5"/>
              </p:custDataLst>
            </p:nvPr>
          </p:nvSpPr>
          <p:spPr>
            <a:xfrm>
              <a:off x="13125" y="1298"/>
              <a:ext cx="1927" cy="8721"/>
            </a:xfrm>
            <a:prstGeom prst="roundRect">
              <a:avLst/>
            </a:prstGeom>
            <a:solidFill>
              <a:schemeClr val="accent6">
                <a:lumMod val="60000"/>
                <a:lumOff val="40000"/>
              </a:schemeClr>
            </a:solidFill>
            <a:ln>
              <a:solidFill>
                <a:schemeClr val="accent6">
                  <a:lumMod val="60000"/>
                  <a:lumOff val="40000"/>
                </a:schemeClr>
              </a:solid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2" name="文本框 11"/>
            <p:cNvSpPr txBox="1"/>
            <p:nvPr>
              <p:custDataLst>
                <p:tags r:id="rId6"/>
              </p:custDataLst>
            </p:nvPr>
          </p:nvSpPr>
          <p:spPr>
            <a:xfrm>
              <a:off x="13547" y="2771"/>
              <a:ext cx="1063" cy="5964"/>
            </a:xfrm>
            <a:prstGeom prst="rect">
              <a:avLst/>
            </a:prstGeom>
            <a:noFill/>
          </p:spPr>
          <p:txBody>
            <a:bodyPr vert="eaVert" wrap="square" rtlCol="0">
              <a:spAutoFit/>
            </a:bodyPr>
            <a:lstStyle/>
            <a:p>
              <a:r>
                <a:rPr lang="zh-CN" altLang="en-US" sz="3200">
                  <a:solidFill>
                    <a:schemeClr val="tx1">
                      <a:lumMod val="95000"/>
                      <a:lumOff val="5000"/>
                    </a:schemeClr>
                  </a:solidFill>
                  <a:latin typeface="黑体" panose="02010609060101010101" charset="-122"/>
                  <a:ea typeface="黑体" panose="02010609060101010101" charset="-122"/>
                </a:rPr>
                <a:t>研究方法与技术路线</a:t>
              </a:r>
            </a:p>
          </p:txBody>
        </p:sp>
        <p:sp>
          <p:nvSpPr>
            <p:cNvPr id="17" name="文本框 16"/>
            <p:cNvSpPr txBox="1"/>
            <p:nvPr>
              <p:custDataLst>
                <p:tags r:id="rId7"/>
              </p:custDataLst>
            </p:nvPr>
          </p:nvSpPr>
          <p:spPr>
            <a:xfrm>
              <a:off x="13680" y="1783"/>
              <a:ext cx="933" cy="1016"/>
            </a:xfrm>
            <a:prstGeom prst="rect">
              <a:avLst/>
            </a:prstGeom>
            <a:noFill/>
          </p:spPr>
          <p:txBody>
            <a:bodyPr wrap="square" rtlCol="0">
              <a:spAutoFit/>
            </a:bodyPr>
            <a:lstStyle/>
            <a:p>
              <a:pPr lvl="0" algn="l">
                <a:buClrTx/>
                <a:buSzTx/>
                <a:buFontTx/>
              </a:pPr>
              <a:r>
                <a:rPr lang="en-US" altLang="zh-CN" sz="3600" b="1" i="1">
                  <a:solidFill>
                    <a:schemeClr val="tx1">
                      <a:lumMod val="95000"/>
                      <a:lumOff val="5000"/>
                    </a:schemeClr>
                  </a:solidFill>
                  <a:latin typeface="黑体" panose="02010609060101010101" charset="-122"/>
                  <a:ea typeface="黑体" panose="02010609060101010101" charset="-122"/>
                  <a:sym typeface="+mn-ea"/>
                </a:rPr>
                <a:t>3</a:t>
              </a:r>
            </a:p>
          </p:txBody>
        </p:sp>
      </p:grpSp>
      <p:grpSp>
        <p:nvGrpSpPr>
          <p:cNvPr id="6" name="组合 5"/>
          <p:cNvGrpSpPr/>
          <p:nvPr/>
        </p:nvGrpSpPr>
        <p:grpSpPr>
          <a:xfrm>
            <a:off x="10304780" y="824230"/>
            <a:ext cx="1228090" cy="5537200"/>
            <a:chOff x="16228" y="1298"/>
            <a:chExt cx="1934" cy="8720"/>
          </a:xfrm>
        </p:grpSpPr>
        <p:sp>
          <p:nvSpPr>
            <p:cNvPr id="29" name="圆角矩形 28"/>
            <p:cNvSpPr/>
            <p:nvPr>
              <p:custDataLst>
                <p:tags r:id="rId2"/>
              </p:custDataLst>
            </p:nvPr>
          </p:nvSpPr>
          <p:spPr>
            <a:xfrm>
              <a:off x="16228" y="1298"/>
              <a:ext cx="1935" cy="8721"/>
            </a:xfrm>
            <a:prstGeom prst="roundRect">
              <a:avLst/>
            </a:prstGeom>
            <a:solidFill>
              <a:schemeClr val="accent6">
                <a:lumMod val="75000"/>
              </a:schemeClr>
            </a:solidFill>
            <a:ln>
              <a:noFill/>
            </a:ln>
            <a:effectLst>
              <a:outerShdw blurRad="419100" dist="38100" algn="l" rotWithShape="0">
                <a:schemeClr val="accent6">
                  <a:lumMod val="50000"/>
                  <a:alpha val="74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4" name="文本框 13"/>
            <p:cNvSpPr txBox="1"/>
            <p:nvPr>
              <p:custDataLst>
                <p:tags r:id="rId3"/>
              </p:custDataLst>
            </p:nvPr>
          </p:nvSpPr>
          <p:spPr>
            <a:xfrm>
              <a:off x="16619" y="2723"/>
              <a:ext cx="1063" cy="6599"/>
            </a:xfrm>
            <a:prstGeom prst="rect">
              <a:avLst/>
            </a:prstGeom>
            <a:noFill/>
          </p:spPr>
          <p:txBody>
            <a:bodyPr vert="eaVert" wrap="square" rtlCol="0">
              <a:spAutoFit/>
            </a:bodyPr>
            <a:lstStyle/>
            <a:p>
              <a:r>
                <a:rPr lang="zh-CN" altLang="en-US" sz="3200">
                  <a:solidFill>
                    <a:schemeClr val="tx1">
                      <a:lumMod val="95000"/>
                      <a:lumOff val="5000"/>
                    </a:schemeClr>
                  </a:solidFill>
                  <a:latin typeface="黑体" panose="02010609060101010101" charset="-122"/>
                  <a:ea typeface="黑体" panose="02010609060101010101" charset="-122"/>
                </a:rPr>
                <a:t>可行性分析与预期结果</a:t>
              </a:r>
            </a:p>
          </p:txBody>
        </p:sp>
        <p:sp>
          <p:nvSpPr>
            <p:cNvPr id="18" name="文本框 17"/>
            <p:cNvSpPr txBox="1"/>
            <p:nvPr>
              <p:custDataLst>
                <p:tags r:id="rId4"/>
              </p:custDataLst>
            </p:nvPr>
          </p:nvSpPr>
          <p:spPr>
            <a:xfrm>
              <a:off x="16776" y="1760"/>
              <a:ext cx="836" cy="1016"/>
            </a:xfrm>
            <a:prstGeom prst="rect">
              <a:avLst/>
            </a:prstGeom>
            <a:noFill/>
          </p:spPr>
          <p:txBody>
            <a:bodyPr wrap="square" rtlCol="0">
              <a:spAutoFit/>
            </a:bodyPr>
            <a:lstStyle/>
            <a:p>
              <a:pPr lvl="0" algn="l">
                <a:buClrTx/>
                <a:buSzTx/>
                <a:buFontTx/>
              </a:pPr>
              <a:r>
                <a:rPr lang="en-US" altLang="zh-CN" sz="3600" b="1" i="1">
                  <a:solidFill>
                    <a:schemeClr val="tx1">
                      <a:lumMod val="95000"/>
                      <a:lumOff val="5000"/>
                    </a:schemeClr>
                  </a:solidFill>
                  <a:latin typeface="黑体" panose="02010609060101010101" charset="-122"/>
                  <a:ea typeface="黑体" panose="02010609060101010101" charset="-122"/>
                  <a:sym typeface="+mn-ea"/>
                </a:rPr>
                <a:t>4</a:t>
              </a:r>
            </a:p>
          </p:txBody>
        </p:sp>
      </p:grpSp>
      <p:sp>
        <p:nvSpPr>
          <p:cNvPr id="19" name="圆角矩形 18"/>
          <p:cNvSpPr/>
          <p:nvPr/>
        </p:nvSpPr>
        <p:spPr>
          <a:xfrm>
            <a:off x="950595" y="1355725"/>
            <a:ext cx="1800860" cy="4653280"/>
          </a:xfrm>
          <a:prstGeom prst="roundRect">
            <a:avLst/>
          </a:prstGeom>
          <a:noFill/>
          <a:ln>
            <a:noFill/>
          </a:ln>
          <a:extLst>
            <a:ext uri="{909E8E84-426E-40DD-AFC4-6F175D3DCCD1}">
              <a14:hiddenFill xmlns:a14="http://schemas.microsoft.com/office/drawing/2010/main">
                <a:solidFill>
                  <a:schemeClr val="accent1">
                    <a:lumMod val="40000"/>
                    <a:lumOff val="6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文本框 19"/>
          <p:cNvSpPr txBox="1"/>
          <p:nvPr/>
        </p:nvSpPr>
        <p:spPr>
          <a:xfrm>
            <a:off x="1080770" y="1885950"/>
            <a:ext cx="1536700" cy="3580765"/>
          </a:xfrm>
          <a:prstGeom prst="rect">
            <a:avLst/>
          </a:prstGeom>
          <a:noFill/>
        </p:spPr>
        <p:txBody>
          <a:bodyPr vert="eaVert" wrap="square" rtlCol="0">
            <a:spAutoFit/>
          </a:bodyPr>
          <a:lstStyle/>
          <a:p>
            <a:r>
              <a:rPr lang="en-US" altLang="zh-CN" sz="4000" b="1" dirty="0">
                <a:solidFill>
                  <a:schemeClr val="bg1">
                    <a:lumMod val="50000"/>
                  </a:schemeClr>
                </a:solidFill>
                <a:latin typeface="Times New Roman" panose="02020603050405020304" pitchFamily="18" charset="0"/>
                <a:ea typeface="+mj-ea"/>
                <a:cs typeface="Times New Roman" panose="02020603050405020304" pitchFamily="18" charset="0"/>
                <a:sym typeface="+mn-ea"/>
              </a:rPr>
              <a:t>Report outline</a:t>
            </a:r>
          </a:p>
          <a:p>
            <a:r>
              <a:rPr lang="zh-CN" altLang="en-US" sz="4800">
                <a:latin typeface="黑体" panose="02010609060101010101" charset="-122"/>
                <a:ea typeface="黑体" panose="02010609060101010101" charset="-122"/>
                <a:sym typeface="+mn-ea"/>
              </a:rPr>
              <a:t>汇报提纲</a:t>
            </a:r>
            <a:endParaRPr lang="zh-CN" altLang="en-US" sz="4800">
              <a:latin typeface="黑体" panose="02010609060101010101" charset="-122"/>
              <a:ea typeface="黑体" panose="02010609060101010101" charset="-122"/>
            </a:endParaRPr>
          </a:p>
        </p:txBody>
      </p:sp>
      <p:sp>
        <p:nvSpPr>
          <p:cNvPr id="7" name="矩形 6"/>
          <p:cNvSpPr/>
          <p:nvPr/>
        </p:nvSpPr>
        <p:spPr>
          <a:xfrm>
            <a:off x="1295400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矩形 9"/>
          <p:cNvSpPr/>
          <p:nvPr/>
        </p:nvSpPr>
        <p:spPr>
          <a:xfrm>
            <a:off x="1295400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11" name="组合 10"/>
          <p:cNvGrpSpPr/>
          <p:nvPr/>
        </p:nvGrpSpPr>
        <p:grpSpPr>
          <a:xfrm>
            <a:off x="-12649200" y="2153285"/>
            <a:ext cx="12192000" cy="2778760"/>
            <a:chOff x="0" y="3391"/>
            <a:chExt cx="19200" cy="4376"/>
          </a:xfrm>
        </p:grpSpPr>
        <p:sp>
          <p:nvSpPr>
            <p:cNvPr id="13"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21" name="文本框 20"/>
            <p:cNvSpPr txBox="1"/>
            <p:nvPr/>
          </p:nvSpPr>
          <p:spPr>
            <a:xfrm>
              <a:off x="3010" y="6017"/>
              <a:ext cx="2759" cy="727"/>
            </a:xfrm>
            <a:prstGeom prst="rect">
              <a:avLst/>
            </a:prstGeom>
            <a:noFill/>
          </p:spPr>
          <p:txBody>
            <a:bodyPr wrap="none" rtlCol="0">
              <a:spAutoFit/>
            </a:bodyPr>
            <a:lstStyle/>
            <a:p>
              <a:r>
                <a:rPr lang="en-US" altLang="zh-CN" sz="24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ONE</a:t>
              </a:r>
            </a:p>
          </p:txBody>
        </p:sp>
        <p:sp>
          <p:nvSpPr>
            <p:cNvPr id="22" name="文本框 21"/>
            <p:cNvSpPr txBox="1"/>
            <p:nvPr/>
          </p:nvSpPr>
          <p:spPr>
            <a:xfrm>
              <a:off x="7699"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课题研究背景和意义</a:t>
              </a:r>
            </a:p>
          </p:txBody>
        </p:sp>
        <p:sp>
          <p:nvSpPr>
            <p:cNvPr id="23" name="文本框 22"/>
            <p:cNvSpPr txBox="1"/>
            <p:nvPr/>
          </p:nvSpPr>
          <p:spPr>
            <a:xfrm>
              <a:off x="3277" y="4133"/>
              <a:ext cx="2088" cy="2084"/>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01</a:t>
              </a:r>
            </a:p>
          </p:txBody>
        </p:sp>
        <p:pic>
          <p:nvPicPr>
            <p:cNvPr id="24" name="图片 9"/>
            <p:cNvPicPr>
              <a:picLocks noChangeAspect="1"/>
            </p:cNvPicPr>
            <p:nvPr>
              <p:custDataLst>
                <p:tags r:id="rId1"/>
              </p:custDataLst>
            </p:nvPr>
          </p:nvPicPr>
          <p:blipFill>
            <a:blip r:embed="rId15"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椭圆 24"/>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6" name="组合 5"/>
          <p:cNvGrpSpPr/>
          <p:nvPr/>
        </p:nvGrpSpPr>
        <p:grpSpPr>
          <a:xfrm>
            <a:off x="0" y="2153285"/>
            <a:ext cx="12192000" cy="2778760"/>
            <a:chOff x="0" y="3391"/>
            <a:chExt cx="19200" cy="4376"/>
          </a:xfrm>
        </p:grpSpPr>
        <p:sp>
          <p:nvSpPr>
            <p:cNvPr id="16"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8" name="文本框 17"/>
            <p:cNvSpPr txBox="1"/>
            <p:nvPr/>
          </p:nvSpPr>
          <p:spPr>
            <a:xfrm>
              <a:off x="3010" y="6017"/>
              <a:ext cx="2759" cy="727"/>
            </a:xfrm>
            <a:prstGeom prst="rect">
              <a:avLst/>
            </a:prstGeom>
            <a:noFill/>
          </p:spPr>
          <p:txBody>
            <a:bodyPr wrap="none" rtlCol="0">
              <a:spAutoFit/>
            </a:bodyPr>
            <a:lstStyle/>
            <a:p>
              <a:r>
                <a:rPr lang="en-US" altLang="zh-CN" sz="24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ONE</a:t>
              </a:r>
            </a:p>
          </p:txBody>
        </p:sp>
        <p:sp>
          <p:nvSpPr>
            <p:cNvPr id="14" name="文本框 13"/>
            <p:cNvSpPr txBox="1"/>
            <p:nvPr/>
          </p:nvSpPr>
          <p:spPr>
            <a:xfrm>
              <a:off x="7123"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课题研究背景和意义</a:t>
              </a:r>
            </a:p>
          </p:txBody>
        </p:sp>
        <p:sp>
          <p:nvSpPr>
            <p:cNvPr id="23" name="文本框 22"/>
            <p:cNvSpPr txBox="1"/>
            <p:nvPr/>
          </p:nvSpPr>
          <p:spPr>
            <a:xfrm>
              <a:off x="3277" y="4133"/>
              <a:ext cx="2088" cy="2084"/>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01</a:t>
              </a:r>
            </a:p>
          </p:txBody>
        </p:sp>
        <p:pic>
          <p:nvPicPr>
            <p:cNvPr id="5" name="图片 9"/>
            <p:cNvPicPr>
              <a:picLocks noChangeAspect="1"/>
            </p:cNvPicPr>
            <p:nvPr>
              <p:custDataLst>
                <p:tags r:id="rId1"/>
              </p:custDataLst>
            </p:nvPr>
          </p:nvPicPr>
          <p:blipFill>
            <a:blip r:embed="rId3"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6463030" y="3399790"/>
            <a:ext cx="5403215" cy="2890520"/>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6" name="矩形 15"/>
          <p:cNvSpPr/>
          <p:nvPr/>
        </p:nvSpPr>
        <p:spPr>
          <a:xfrm>
            <a:off x="424815" y="3399790"/>
            <a:ext cx="5403215" cy="2890520"/>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5"/>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1.1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研究背景</a:t>
            </a:r>
          </a:p>
        </p:txBody>
      </p:sp>
      <p:pic>
        <p:nvPicPr>
          <p:cNvPr id="100" name="图片 99"/>
          <p:cNvPicPr/>
          <p:nvPr>
            <p:custDataLst>
              <p:tags r:id="rId1"/>
            </p:custDataLst>
          </p:nvPr>
        </p:nvPicPr>
        <p:blipFill>
          <a:blip r:embed="rId6"/>
          <a:stretch>
            <a:fillRect/>
          </a:stretch>
        </p:blipFill>
        <p:spPr>
          <a:xfrm>
            <a:off x="440690" y="1332230"/>
            <a:ext cx="2699385" cy="1581785"/>
          </a:xfrm>
          <a:prstGeom prst="rect">
            <a:avLst/>
          </a:prstGeom>
          <a:noFill/>
          <a:ln w="9525">
            <a:noFill/>
          </a:ln>
        </p:spPr>
      </p:pic>
      <p:pic>
        <p:nvPicPr>
          <p:cNvPr id="101" name="图片 100"/>
          <p:cNvPicPr/>
          <p:nvPr>
            <p:custDataLst>
              <p:tags r:id="rId2"/>
            </p:custDataLst>
          </p:nvPr>
        </p:nvPicPr>
        <p:blipFill>
          <a:blip r:embed="rId7"/>
          <a:stretch>
            <a:fillRect/>
          </a:stretch>
        </p:blipFill>
        <p:spPr>
          <a:xfrm>
            <a:off x="6490335" y="1332865"/>
            <a:ext cx="2660650" cy="1581150"/>
          </a:xfrm>
          <a:prstGeom prst="rect">
            <a:avLst/>
          </a:prstGeom>
          <a:noFill/>
          <a:ln w="9525">
            <a:noFill/>
          </a:ln>
        </p:spPr>
      </p:pic>
      <p:pic>
        <p:nvPicPr>
          <p:cNvPr id="11" name="图片 10"/>
          <p:cNvPicPr>
            <a:picLocks noChangeAspect="1"/>
          </p:cNvPicPr>
          <p:nvPr/>
        </p:nvPicPr>
        <p:blipFill>
          <a:blip r:embed="rId8"/>
          <a:stretch>
            <a:fillRect/>
          </a:stretch>
        </p:blipFill>
        <p:spPr>
          <a:xfrm>
            <a:off x="3140075" y="1332230"/>
            <a:ext cx="2699385" cy="1581785"/>
          </a:xfrm>
          <a:prstGeom prst="rect">
            <a:avLst/>
          </a:prstGeom>
        </p:spPr>
      </p:pic>
      <p:pic>
        <p:nvPicPr>
          <p:cNvPr id="13" name="图片 12"/>
          <p:cNvPicPr>
            <a:picLocks noChangeAspect="1"/>
          </p:cNvPicPr>
          <p:nvPr/>
        </p:nvPicPr>
        <p:blipFill>
          <a:blip r:embed="rId9"/>
          <a:stretch>
            <a:fillRect/>
          </a:stretch>
        </p:blipFill>
        <p:spPr>
          <a:xfrm>
            <a:off x="9150985" y="1332865"/>
            <a:ext cx="2699385" cy="1580515"/>
          </a:xfrm>
          <a:prstGeom prst="rect">
            <a:avLst/>
          </a:prstGeom>
        </p:spPr>
      </p:pic>
      <p:sp>
        <p:nvSpPr>
          <p:cNvPr id="14" name="文本框 13"/>
          <p:cNvSpPr txBox="1"/>
          <p:nvPr/>
        </p:nvSpPr>
        <p:spPr>
          <a:xfrm>
            <a:off x="503555" y="3692525"/>
            <a:ext cx="5385435" cy="2501265"/>
          </a:xfrm>
          <a:prstGeom prst="rect">
            <a:avLst/>
          </a:prstGeom>
          <a:noFill/>
        </p:spPr>
        <p:txBody>
          <a:bodyPr wrap="square" rtlCol="0">
            <a:noAutofit/>
          </a:bodyPr>
          <a:lstStyle/>
          <a:p>
            <a:r>
              <a:rPr lang="en-US" altLang="zh-CN" sz="2400" b="1" dirty="0">
                <a:solidFill>
                  <a:srgbClr val="FF0000"/>
                </a:solidFill>
                <a:latin typeface="楷体" panose="02010609060101010101" charset="-122"/>
                <a:ea typeface="楷体" panose="02010609060101010101" charset="-122"/>
                <a:cs typeface="楷体" panose="02010609060101010101" charset="-122"/>
              </a:rPr>
              <a:t>  </a:t>
            </a:r>
            <a:r>
              <a:rPr lang="zh-CN" altLang="en-US" sz="2400" b="1" dirty="0">
                <a:solidFill>
                  <a:srgbClr val="FF0000"/>
                </a:solidFill>
                <a:latin typeface="楷体" panose="02010609060101010101" charset="-122"/>
                <a:ea typeface="楷体" panose="02010609060101010101" charset="-122"/>
                <a:cs typeface="楷体" panose="02010609060101010101" charset="-122"/>
              </a:rPr>
              <a:t>能源</a:t>
            </a:r>
            <a:r>
              <a:rPr lang="zh-CN" altLang="en-US" sz="2400" b="1" dirty="0">
                <a:latin typeface="楷体" panose="02010609060101010101" charset="-122"/>
                <a:ea typeface="楷体" panose="02010609060101010101" charset="-122"/>
                <a:cs typeface="楷体" panose="02010609060101010101" charset="-122"/>
              </a:rPr>
              <a:t>作为支撑人类生存和社会进步的自然资源，不仅是国民经济发展的重要保障，更</a:t>
            </a:r>
            <a:r>
              <a:rPr lang="zh-CN" altLang="en-US" sz="2400" b="1" dirty="0">
                <a:solidFill>
                  <a:srgbClr val="FF0000"/>
                </a:solidFill>
                <a:latin typeface="楷体" panose="02010609060101010101" charset="-122"/>
                <a:ea typeface="楷体" panose="02010609060101010101" charset="-122"/>
                <a:cs typeface="楷体" panose="02010609060101010101" charset="-122"/>
              </a:rPr>
              <a:t>是现代社会可持续健康发展的根本动力</a:t>
            </a:r>
            <a:r>
              <a:rPr lang="zh-CN" altLang="en-US" sz="2400" b="1" dirty="0">
                <a:latin typeface="楷体" panose="02010609060101010101" charset="-122"/>
                <a:ea typeface="楷体" panose="02010609060101010101" charset="-122"/>
                <a:cs typeface="楷体" panose="02010609060101010101" charset="-122"/>
              </a:rPr>
              <a:t>。随着工业化水平的不断提高，人们对能源的需求更加迫切。</a:t>
            </a:r>
          </a:p>
        </p:txBody>
      </p:sp>
      <p:sp>
        <p:nvSpPr>
          <p:cNvPr id="15" name="文本框 14"/>
          <p:cNvSpPr txBox="1"/>
          <p:nvPr/>
        </p:nvSpPr>
        <p:spPr>
          <a:xfrm>
            <a:off x="6873875" y="3950970"/>
            <a:ext cx="4761230" cy="1984375"/>
          </a:xfrm>
          <a:prstGeom prst="rect">
            <a:avLst/>
          </a:prstGeom>
          <a:noFill/>
        </p:spPr>
        <p:txBody>
          <a:bodyPr wrap="square" rtlCol="0">
            <a:noAutofit/>
          </a:bodyPr>
          <a:lstStyle/>
          <a:p>
            <a:r>
              <a:rPr lang="en-US" altLang="zh-CN" sz="2400" b="1" dirty="0">
                <a:solidFill>
                  <a:srgbClr val="FF0000"/>
                </a:solidFill>
                <a:latin typeface="楷体" panose="02010609060101010101" charset="-122"/>
                <a:ea typeface="楷体" panose="02010609060101010101" charset="-122"/>
                <a:cs typeface="楷体" panose="02010609060101010101" charset="-122"/>
              </a:rPr>
              <a:t>  </a:t>
            </a:r>
            <a:r>
              <a:rPr lang="zh-CN" altLang="en-US" sz="2400" b="1" dirty="0">
                <a:solidFill>
                  <a:srgbClr val="FF0000"/>
                </a:solidFill>
                <a:latin typeface="楷体" panose="02010609060101010101" charset="-122"/>
                <a:ea typeface="楷体" panose="02010609060101010101" charset="-122"/>
                <a:cs typeface="楷体" panose="02010609060101010101" charset="-122"/>
              </a:rPr>
              <a:t>风力发电作为最具潜力的可再生能源之一</a:t>
            </a:r>
            <a:r>
              <a:rPr lang="zh-CN" altLang="en-US" sz="2400" b="1" dirty="0">
                <a:latin typeface="楷体" panose="02010609060101010101" charset="-122"/>
                <a:ea typeface="楷体" panose="02010609060101010101" charset="-122"/>
                <a:cs typeface="楷体" panose="02010609060101010101" charset="-122"/>
              </a:rPr>
              <a:t>，其自身具有资源丰富和经济竞争力强等优势</a:t>
            </a:r>
            <a:r>
              <a:rPr lang="en-US" altLang="zh-CN" sz="2400" b="1" dirty="0">
                <a:latin typeface="楷体" panose="02010609060101010101" charset="-122"/>
                <a:ea typeface="楷体" panose="02010609060101010101" charset="-122"/>
                <a:cs typeface="楷体" panose="02010609060101010101" charset="-122"/>
              </a:rPr>
              <a:t>,</a:t>
            </a:r>
            <a:r>
              <a:rPr lang="zh-CN" altLang="en-US" sz="2400" b="1" dirty="0">
                <a:latin typeface="楷体" panose="02010609060101010101" charset="-122"/>
                <a:ea typeface="楷体" panose="02010609060101010101" charset="-122"/>
                <a:cs typeface="楷体" panose="02010609060101010101" charset="-122"/>
                <a:sym typeface="+mn-ea"/>
              </a:rPr>
              <a:t>正受到全世界的广泛关注</a:t>
            </a:r>
            <a:r>
              <a:rPr lang="zh-CN" altLang="en-US" sz="2400" b="1" dirty="0">
                <a:latin typeface="楷体" panose="02010609060101010101" charset="-122"/>
                <a:ea typeface="楷体" panose="02010609060101010101" charset="-122"/>
                <a:cs typeface="楷体" panose="02010609060101010101" charset="-122"/>
              </a:rPr>
              <a:t>。</a:t>
            </a:r>
          </a:p>
        </p:txBody>
      </p:sp>
      <p:sp>
        <p:nvSpPr>
          <p:cNvPr id="5" name="矩形 4"/>
          <p:cNvSpPr/>
          <p:nvPr/>
        </p:nvSpPr>
        <p:spPr>
          <a:xfrm>
            <a:off x="-12648565" y="-762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矩形 5"/>
          <p:cNvSpPr/>
          <p:nvPr/>
        </p:nvSpPr>
        <p:spPr>
          <a:xfrm>
            <a:off x="-12648565" y="492506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9" name="组合 8"/>
          <p:cNvGrpSpPr/>
          <p:nvPr/>
        </p:nvGrpSpPr>
        <p:grpSpPr>
          <a:xfrm>
            <a:off x="12954000" y="2153285"/>
            <a:ext cx="12192000" cy="2778760"/>
            <a:chOff x="0" y="3391"/>
            <a:chExt cx="19200" cy="4376"/>
          </a:xfrm>
        </p:grpSpPr>
        <p:sp>
          <p:nvSpPr>
            <p:cNvPr id="12"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21" name="文本框 20"/>
            <p:cNvSpPr txBox="1"/>
            <p:nvPr/>
          </p:nvSpPr>
          <p:spPr>
            <a:xfrm>
              <a:off x="3010" y="6017"/>
              <a:ext cx="2759" cy="727"/>
            </a:xfrm>
            <a:prstGeom prst="rect">
              <a:avLst/>
            </a:prstGeom>
            <a:noFill/>
          </p:spPr>
          <p:txBody>
            <a:bodyPr wrap="none" rtlCol="0">
              <a:spAutoFit/>
            </a:bodyPr>
            <a:lstStyle/>
            <a:p>
              <a:r>
                <a:rPr lang="en-US" altLang="zh-CN" sz="24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ONE</a:t>
              </a:r>
            </a:p>
          </p:txBody>
        </p:sp>
        <p:sp>
          <p:nvSpPr>
            <p:cNvPr id="22" name="文本框 21"/>
            <p:cNvSpPr txBox="1"/>
            <p:nvPr/>
          </p:nvSpPr>
          <p:spPr>
            <a:xfrm>
              <a:off x="7699"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课题研究背景和意义</a:t>
              </a:r>
            </a:p>
          </p:txBody>
        </p:sp>
        <p:sp>
          <p:nvSpPr>
            <p:cNvPr id="23" name="文本框 22"/>
            <p:cNvSpPr txBox="1"/>
            <p:nvPr/>
          </p:nvSpPr>
          <p:spPr>
            <a:xfrm>
              <a:off x="3277" y="4133"/>
              <a:ext cx="2088" cy="2084"/>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01</a:t>
              </a:r>
            </a:p>
          </p:txBody>
        </p:sp>
        <p:pic>
          <p:nvPicPr>
            <p:cNvPr id="24" name="图片 9"/>
            <p:cNvPicPr>
              <a:picLocks noChangeAspect="1"/>
            </p:cNvPicPr>
            <p:nvPr>
              <p:custDataLst>
                <p:tags r:id="rId3"/>
              </p:custDataLst>
            </p:nvPr>
          </p:nvPicPr>
          <p:blipFill>
            <a:blip r:embed="rId10"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椭圆 24"/>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851535" y="4679315"/>
            <a:ext cx="10391140" cy="1971675"/>
          </a:xfrm>
          <a:prstGeom prst="rect">
            <a:avLst/>
          </a:prstGeom>
          <a:solidFill>
            <a:schemeClr val="accent2">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2"/>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1.1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研究背景</a:t>
            </a:r>
          </a:p>
        </p:txBody>
      </p:sp>
      <p:graphicFrame>
        <p:nvGraphicFramePr>
          <p:cNvPr id="3" name="对象 2"/>
          <p:cNvGraphicFramePr/>
          <p:nvPr/>
        </p:nvGraphicFramePr>
        <p:xfrm>
          <a:off x="6209030" y="1048385"/>
          <a:ext cx="5111750" cy="3566160"/>
        </p:xfrm>
        <a:graphic>
          <a:graphicData uri="http://schemas.openxmlformats.org/presentationml/2006/ole">
            <mc:AlternateContent xmlns:mc="http://schemas.openxmlformats.org/markup-compatibility/2006">
              <mc:Choice xmlns:v="urn:schemas-microsoft-com:vml" Requires="v">
                <p:oleObj r:id="rId3" imgW="5673090" imgH="4269105" progId="Visio.Drawing.15">
                  <p:embed/>
                </p:oleObj>
              </mc:Choice>
              <mc:Fallback>
                <p:oleObj r:id="rId3" imgW="5673090" imgH="4269105" progId="Visio.Drawing.15">
                  <p:embed/>
                  <p:pic>
                    <p:nvPicPr>
                      <p:cNvPr id="0" name="图片 4"/>
                      <p:cNvPicPr/>
                      <p:nvPr/>
                    </p:nvPicPr>
                    <p:blipFill>
                      <a:blip r:embed="rId4"/>
                      <a:stretch>
                        <a:fillRect/>
                      </a:stretch>
                    </p:blipFill>
                    <p:spPr>
                      <a:xfrm>
                        <a:off x="6209030" y="1048385"/>
                        <a:ext cx="5111750" cy="3566160"/>
                      </a:xfrm>
                      <a:prstGeom prst="rect">
                        <a:avLst/>
                      </a:prstGeom>
                    </p:spPr>
                  </p:pic>
                </p:oleObj>
              </mc:Fallback>
            </mc:AlternateContent>
          </a:graphicData>
        </a:graphic>
      </p:graphicFrame>
      <p:sp>
        <p:nvSpPr>
          <p:cNvPr id="6" name="文本框 5"/>
          <p:cNvSpPr txBox="1"/>
          <p:nvPr/>
        </p:nvSpPr>
        <p:spPr>
          <a:xfrm>
            <a:off x="1155065" y="4720590"/>
            <a:ext cx="9904730" cy="2243455"/>
          </a:xfrm>
          <a:prstGeom prst="rect">
            <a:avLst/>
          </a:prstGeom>
          <a:noFill/>
        </p:spPr>
        <p:txBody>
          <a:bodyPr wrap="square" rtlCol="0">
            <a:noAutofit/>
          </a:bodyPr>
          <a:lstStyle/>
          <a:p>
            <a:r>
              <a:rPr lang="en-US" altLang="zh-CN" sz="2400" b="1" dirty="0">
                <a:latin typeface="楷体" panose="02010609060101010101" charset="-122"/>
                <a:ea typeface="楷体" panose="02010609060101010101" charset="-122"/>
                <a:cs typeface="楷体" panose="02010609060101010101" charset="-122"/>
              </a:rPr>
              <a:t>  </a:t>
            </a:r>
            <a:r>
              <a:rPr lang="zh-CN" altLang="en-US" sz="2400" b="1" dirty="0">
                <a:latin typeface="楷体" panose="02010609060101010101" charset="-122"/>
                <a:ea typeface="楷体" panose="02010609060101010101" charset="-122"/>
                <a:cs typeface="楷体" panose="02010609060101010101" charset="-122"/>
              </a:rPr>
              <a:t>2020年</a:t>
            </a:r>
            <a:r>
              <a:rPr lang="en-US" altLang="zh-CN" sz="2400" b="1" dirty="0">
                <a:latin typeface="楷体" panose="02010609060101010101" charset="-122"/>
                <a:ea typeface="楷体" panose="02010609060101010101" charset="-122"/>
                <a:cs typeface="楷体" panose="02010609060101010101" charset="-122"/>
              </a:rPr>
              <a:t>9</a:t>
            </a:r>
            <a:r>
              <a:rPr lang="zh-CN" altLang="en-US" sz="2400" b="1" dirty="0">
                <a:latin typeface="楷体" panose="02010609060101010101" charset="-122"/>
                <a:ea typeface="楷体" panose="02010609060101010101" charset="-122"/>
                <a:cs typeface="楷体" panose="02010609060101010101" charset="-122"/>
              </a:rPr>
              <a:t>月，随着</a:t>
            </a:r>
            <a:r>
              <a:rPr lang="zh-CN" altLang="en-US" sz="2400" b="1" dirty="0">
                <a:solidFill>
                  <a:srgbClr val="FF0000"/>
                </a:solidFill>
                <a:latin typeface="楷体" panose="02010609060101010101" charset="-122"/>
                <a:ea typeface="楷体" panose="02010609060101010101" charset="-122"/>
                <a:cs typeface="楷体" panose="02010609060101010101" charset="-122"/>
              </a:rPr>
              <a:t>“2030 年碳达峰，2060 年碳中和”</a:t>
            </a:r>
            <a:r>
              <a:rPr lang="zh-CN" altLang="en-US" sz="2400" b="1" dirty="0">
                <a:latin typeface="楷体" panose="02010609060101010101" charset="-122"/>
                <a:ea typeface="楷体" panose="02010609060101010101" charset="-122"/>
                <a:cs typeface="楷体" panose="02010609060101010101" charset="-122"/>
              </a:rPr>
              <a:t>目标的提出，我国</a:t>
            </a:r>
            <a:r>
              <a:rPr lang="zh-CN" altLang="en-US" sz="2400" b="1" dirty="0">
                <a:solidFill>
                  <a:srgbClr val="FF0000"/>
                </a:solidFill>
                <a:latin typeface="楷体" panose="02010609060101010101" charset="-122"/>
                <a:ea typeface="楷体" panose="02010609060101010101" charset="-122"/>
                <a:cs typeface="楷体" panose="02010609060101010101" charset="-122"/>
              </a:rPr>
              <a:t>风电发展模式从规模化逐渐转向高质量化</a:t>
            </a:r>
            <a:r>
              <a:rPr lang="zh-CN" altLang="en-US" sz="2400" b="1" dirty="0">
                <a:latin typeface="楷体" panose="02010609060101010101" charset="-122"/>
                <a:ea typeface="楷体" panose="02010609060101010101" charset="-122"/>
                <a:cs typeface="楷体" panose="02010609060101010101" charset="-122"/>
              </a:rPr>
              <a:t>，全国风电装机容量占累计装机容量的比重不断增加，</a:t>
            </a:r>
            <a:r>
              <a:rPr lang="zh-CN" altLang="en-US" sz="2400" b="1" dirty="0">
                <a:solidFill>
                  <a:srgbClr val="FF0000"/>
                </a:solidFill>
                <a:latin typeface="楷体" panose="02010609060101010101" charset="-122"/>
                <a:ea typeface="楷体" panose="02010609060101010101" charset="-122"/>
                <a:cs typeface="楷体" panose="02010609060101010101" charset="-122"/>
              </a:rPr>
              <a:t>风能利用水平持续提高</a:t>
            </a:r>
            <a:r>
              <a:rPr lang="zh-CN" altLang="en-US" sz="2400" b="1" dirty="0">
                <a:latin typeface="楷体" panose="02010609060101010101" charset="-122"/>
                <a:ea typeface="楷体" panose="02010609060101010101" charset="-122"/>
                <a:cs typeface="楷体" panose="02010609060101010101" charset="-122"/>
              </a:rPr>
              <a:t>。</a:t>
            </a:r>
            <a:r>
              <a:rPr lang="zh-CN" altLang="en-US" sz="2400" b="1" dirty="0">
                <a:latin typeface="楷体" panose="02010609060101010101" charset="-122"/>
                <a:ea typeface="楷体" panose="02010609060101010101" charset="-122"/>
                <a:cs typeface="楷体" panose="02010609060101010101" charset="-122"/>
                <a:sym typeface="+mn-ea"/>
              </a:rPr>
              <a:t>上图为</a:t>
            </a:r>
            <a:r>
              <a:rPr lang="zh-CN" altLang="en-US" sz="2400" b="1" dirty="0">
                <a:latin typeface="楷体" panose="02010609060101010101" charset="-122"/>
                <a:ea typeface="楷体" panose="02010609060101010101" charset="-122"/>
                <a:cs typeface="楷体" panose="02010609060101010101" charset="-122"/>
              </a:rPr>
              <a:t>国家能源局的统计结果，描绘了近6年的全国风电装机容量变化趋势以及本年第一季度各个</a:t>
            </a:r>
            <a:r>
              <a:rPr lang="zh-CN" altLang="en-US" sz="2400" b="1" dirty="0">
                <a:latin typeface="楷体" panose="02010609060101010101" charset="-122"/>
                <a:ea typeface="楷体" panose="02010609060101010101" charset="-122"/>
                <a:cs typeface="楷体" panose="02010609060101010101" charset="-122"/>
                <a:sym typeface="+mn-ea"/>
              </a:rPr>
              <a:t>地区的</a:t>
            </a:r>
            <a:r>
              <a:rPr lang="zh-CN" altLang="en-US" sz="2400" b="1" dirty="0">
                <a:latin typeface="楷体" panose="02010609060101010101" charset="-122"/>
                <a:ea typeface="楷体" panose="02010609060101010101" charset="-122"/>
                <a:cs typeface="楷体" panose="02010609060101010101" charset="-122"/>
              </a:rPr>
              <a:t>风力发电占比。</a:t>
            </a:r>
          </a:p>
        </p:txBody>
      </p:sp>
      <p:pic>
        <p:nvPicPr>
          <p:cNvPr id="9" name="图片 8"/>
          <p:cNvPicPr/>
          <p:nvPr/>
        </p:nvPicPr>
        <p:blipFill>
          <a:blip r:embed="rId5"/>
          <a:srcRect l="586" t="2509" r="1238" b="8670"/>
        </p:blipFill>
        <p:spPr>
          <a:xfrm>
            <a:off x="561340" y="1239520"/>
            <a:ext cx="5638800" cy="3011805"/>
          </a:xfrm>
          <a:prstGeom prst="rect">
            <a:avLst/>
          </a:prstGeom>
          <a:ln>
            <a:noFill/>
          </a:ln>
        </p:spPr>
      </p:pic>
      <p:pic>
        <p:nvPicPr>
          <p:cNvPr id="12" name="图片 11"/>
          <p:cNvPicPr>
            <a:picLocks noChangeAspect="1"/>
          </p:cNvPicPr>
          <p:nvPr/>
        </p:nvPicPr>
        <p:blipFill>
          <a:blip r:embed="rId6"/>
          <a:stretch>
            <a:fillRect/>
          </a:stretch>
        </p:blipFill>
        <p:spPr>
          <a:xfrm>
            <a:off x="4631690" y="4076065"/>
            <a:ext cx="1577340" cy="3505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75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3673475" y="1098550"/>
            <a:ext cx="7945120" cy="2301240"/>
          </a:xfrm>
          <a:prstGeom prst="rect">
            <a:avLst/>
          </a:prstGeom>
          <a:solidFill>
            <a:schemeClr val="accent4">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8" name="矩形 17"/>
          <p:cNvSpPr/>
          <p:nvPr/>
        </p:nvSpPr>
        <p:spPr>
          <a:xfrm>
            <a:off x="424815" y="3663950"/>
            <a:ext cx="5054600" cy="2807335"/>
          </a:xfrm>
          <a:prstGeom prst="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2"/>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1.2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研究意义</a:t>
            </a:r>
          </a:p>
        </p:txBody>
      </p:sp>
      <p:sp>
        <p:nvSpPr>
          <p:cNvPr id="3" name="文本框 2"/>
          <p:cNvSpPr txBox="1"/>
          <p:nvPr/>
        </p:nvSpPr>
        <p:spPr>
          <a:xfrm>
            <a:off x="479425" y="3910330"/>
            <a:ext cx="4763770" cy="2432685"/>
          </a:xfrm>
          <a:prstGeom prst="rect">
            <a:avLst/>
          </a:prstGeom>
        </p:spPr>
        <p:txBody>
          <a:bodyPr wrap="square">
            <a:noAutofit/>
          </a:bodyPr>
          <a:lstStyle/>
          <a:p>
            <a:pPr marL="133350" indent="304800" algn="just" defTabSz="266700">
              <a:spcAft>
                <a:spcPct val="0"/>
              </a:spcAft>
            </a:pPr>
            <a:r>
              <a:rPr lang="zh-CN" altLang="en-US" sz="2400" b="1" dirty="0">
                <a:latin typeface="楷体" panose="02010609060101010101" charset="-122"/>
                <a:ea typeface="楷体" panose="02010609060101010101" charset="-122"/>
                <a:cs typeface="楷体" panose="02010609060101010101" charset="-122"/>
              </a:rPr>
              <a:t>通过构建风电功率预测模型提前了解风电场的发电能力，优化风电场的维护计划，</a:t>
            </a:r>
            <a:r>
              <a:rPr lang="zh-CN" altLang="en-US" sz="2400" b="1" dirty="0">
                <a:solidFill>
                  <a:srgbClr val="FF0000"/>
                </a:solidFill>
                <a:latin typeface="楷体" panose="02010609060101010101" charset="-122"/>
                <a:ea typeface="楷体" panose="02010609060101010101" charset="-122"/>
                <a:cs typeface="楷体" panose="02010609060101010101" charset="-122"/>
              </a:rPr>
              <a:t>提升电网整体运营效率和经济效益</a:t>
            </a:r>
            <a:r>
              <a:rPr lang="zh-CN" altLang="en-US" sz="2400" b="1" dirty="0">
                <a:latin typeface="楷体" panose="02010609060101010101" charset="-122"/>
                <a:ea typeface="楷体" panose="02010609060101010101" charset="-122"/>
                <a:cs typeface="楷体" panose="02010609060101010101" charset="-122"/>
              </a:rPr>
              <a:t>；同时提高电网对可再生能源的集成能力，</a:t>
            </a:r>
            <a:r>
              <a:rPr lang="zh-CN" altLang="en-US" sz="2400" b="1" dirty="0">
                <a:solidFill>
                  <a:srgbClr val="FF0000"/>
                </a:solidFill>
                <a:latin typeface="楷体" panose="02010609060101010101" charset="-122"/>
                <a:ea typeface="楷体" panose="02010609060101010101" charset="-122"/>
                <a:cs typeface="楷体" panose="02010609060101010101" charset="-122"/>
              </a:rPr>
              <a:t>减少对传统化石燃料的依赖</a:t>
            </a:r>
            <a:r>
              <a:rPr lang="zh-CN" altLang="en-US" sz="2400" b="1" dirty="0">
                <a:latin typeface="楷体" panose="02010609060101010101" charset="-122"/>
                <a:ea typeface="楷体" panose="02010609060101010101" charset="-122"/>
                <a:cs typeface="楷体" panose="02010609060101010101" charset="-122"/>
              </a:rPr>
              <a:t>。</a:t>
            </a:r>
          </a:p>
        </p:txBody>
      </p:sp>
      <p:sp>
        <p:nvSpPr>
          <p:cNvPr id="5" name="文本框 4"/>
          <p:cNvSpPr txBox="1"/>
          <p:nvPr/>
        </p:nvSpPr>
        <p:spPr>
          <a:xfrm>
            <a:off x="3872865" y="1294765"/>
            <a:ext cx="7444105" cy="2315210"/>
          </a:xfrm>
          <a:prstGeom prst="rect">
            <a:avLst/>
          </a:prstGeom>
          <a:noFill/>
        </p:spPr>
        <p:txBody>
          <a:bodyPr wrap="square" rtlCol="0" anchor="t">
            <a:noAutofit/>
          </a:bodyPr>
          <a:lstStyle/>
          <a:p>
            <a:r>
              <a:rPr lang="en-US" altLang="zh-CN" sz="2400" b="1" dirty="0">
                <a:latin typeface="楷体" panose="02010609060101010101" charset="-122"/>
                <a:ea typeface="楷体" panose="02010609060101010101" charset="-122"/>
                <a:cs typeface="楷体" panose="02010609060101010101" charset="-122"/>
                <a:sym typeface="+mn-ea"/>
              </a:rPr>
              <a:t>  </a:t>
            </a:r>
            <a:r>
              <a:rPr lang="zh-CN" altLang="en-US" sz="2400" b="1" dirty="0">
                <a:latin typeface="楷体" panose="02010609060101010101" charset="-122"/>
                <a:ea typeface="楷体" panose="02010609060101010101" charset="-122"/>
                <a:cs typeface="楷体" panose="02010609060101010101" charset="-122"/>
                <a:sym typeface="+mn-ea"/>
              </a:rPr>
              <a:t>本研究课题旨在利用先进技术的优势，</a:t>
            </a:r>
            <a:r>
              <a:rPr lang="zh-CN" altLang="en-US" sz="2400" b="1" dirty="0">
                <a:solidFill>
                  <a:srgbClr val="FF0000"/>
                </a:solidFill>
                <a:latin typeface="楷体" panose="02010609060101010101" charset="-122"/>
                <a:ea typeface="楷体" panose="02010609060101010101" charset="-122"/>
                <a:cs typeface="楷体" panose="02010609060101010101" charset="-122"/>
                <a:sym typeface="+mn-ea"/>
              </a:rPr>
              <a:t>更好地处理复杂的非线性环境因素和风电出力的动态变化关系</a:t>
            </a:r>
            <a:r>
              <a:rPr lang="zh-CN" altLang="en-US" sz="2400" b="1" dirty="0">
                <a:latin typeface="楷体" panose="02010609060101010101" charset="-122"/>
                <a:ea typeface="楷体" panose="02010609060101010101" charset="-122"/>
                <a:cs typeface="楷体" panose="02010609060101010101" charset="-122"/>
                <a:sym typeface="+mn-ea"/>
              </a:rPr>
              <a:t>，以提高风电功率预测的准确性，使得电力系统能够提前掌握未来的风电输出情况，从而优化电力调度策略，确保电力供应的平稳性和可靠性。</a:t>
            </a:r>
          </a:p>
        </p:txBody>
      </p:sp>
      <p:pic>
        <p:nvPicPr>
          <p:cNvPr id="14" name="图片 13" descr="图示&#10;&#10;中度可信度描述已自动生成">
            <a:extLst>
              <a:ext uri="{FF2B5EF4-FFF2-40B4-BE49-F238E27FC236}">
                <a16:creationId xmlns:a16="http://schemas.microsoft.com/office/drawing/2014/main" id="{A0CB09C1-809F-CCCE-53E8-245FCBF1F3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810" y="975474"/>
            <a:ext cx="2850128" cy="2644369"/>
          </a:xfrm>
          <a:prstGeom prst="rect">
            <a:avLst/>
          </a:prstGeom>
        </p:spPr>
      </p:pic>
      <p:pic>
        <p:nvPicPr>
          <p:cNvPr id="7" name="图片 6" descr="草地上站着&#10;&#10;描述已自动生成">
            <a:extLst>
              <a:ext uri="{FF2B5EF4-FFF2-40B4-BE49-F238E27FC236}">
                <a16:creationId xmlns:a16="http://schemas.microsoft.com/office/drawing/2014/main" id="{D4D4A25B-FE7F-CEDE-BED7-8CD2C67A36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3733" y="3659261"/>
            <a:ext cx="5387807" cy="281202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9265285" y="4034790"/>
            <a:ext cx="2707005" cy="2580640"/>
          </a:xfrm>
          <a:prstGeom prst="roundRect">
            <a:avLst/>
          </a:prstGeom>
          <a:solidFill>
            <a:schemeClr val="accent1">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16" name="圆角矩形 15"/>
          <p:cNvSpPr/>
          <p:nvPr>
            <p:custDataLst>
              <p:tags r:id="rId1"/>
            </p:custDataLst>
          </p:nvPr>
        </p:nvSpPr>
        <p:spPr>
          <a:xfrm>
            <a:off x="6513830" y="4064000"/>
            <a:ext cx="2329180" cy="2550795"/>
          </a:xfrm>
          <a:prstGeom prst="roundRect">
            <a:avLst/>
          </a:prstGeom>
          <a:solidFill>
            <a:schemeClr val="accent1">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15" name="圆角矩形 14"/>
          <p:cNvSpPr/>
          <p:nvPr>
            <p:custDataLst>
              <p:tags r:id="rId2"/>
            </p:custDataLst>
          </p:nvPr>
        </p:nvSpPr>
        <p:spPr>
          <a:xfrm>
            <a:off x="3884295" y="4062095"/>
            <a:ext cx="2207260" cy="2503170"/>
          </a:xfrm>
          <a:prstGeom prst="roundRect">
            <a:avLst/>
          </a:prstGeom>
          <a:solidFill>
            <a:schemeClr val="accent1">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14" name="圆角矩形 13"/>
          <p:cNvSpPr/>
          <p:nvPr/>
        </p:nvSpPr>
        <p:spPr>
          <a:xfrm>
            <a:off x="3865880" y="2755265"/>
            <a:ext cx="8015605" cy="772160"/>
          </a:xfrm>
          <a:prstGeom prst="roundRect">
            <a:avLst/>
          </a:prstGeom>
          <a:solidFill>
            <a:schemeClr val="accent6">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13" name="圆角矩形 12"/>
          <p:cNvSpPr/>
          <p:nvPr/>
        </p:nvSpPr>
        <p:spPr>
          <a:xfrm>
            <a:off x="3865880" y="1816100"/>
            <a:ext cx="8015605" cy="779145"/>
          </a:xfrm>
          <a:prstGeom prst="roundRect">
            <a:avLst/>
          </a:prstGeom>
          <a:solidFill>
            <a:schemeClr val="accent4">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pic>
        <p:nvPicPr>
          <p:cNvPr id="5" name="图片 4"/>
          <p:cNvPicPr>
            <a:picLocks noChangeAspect="1"/>
          </p:cNvPicPr>
          <p:nvPr/>
        </p:nvPicPr>
        <p:blipFill>
          <a:blip r:embed="rId6"/>
          <a:srcRect b="8786"/>
          <a:stretch>
            <a:fillRect/>
          </a:stretch>
        </p:blipFill>
        <p:spPr>
          <a:xfrm>
            <a:off x="4445" y="1003300"/>
            <a:ext cx="770255" cy="717550"/>
          </a:xfrm>
          <a:prstGeom prst="rect">
            <a:avLst/>
          </a:prstGeom>
        </p:spPr>
      </p:pic>
      <p:pic>
        <p:nvPicPr>
          <p:cNvPr id="2" name="图片 1"/>
          <p:cNvPicPr>
            <a:picLocks noChangeAspect="1"/>
          </p:cNvPicPr>
          <p:nvPr/>
        </p:nvPicPr>
        <p:blipFill>
          <a:blip r:embed="rId7"/>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1.3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研究现状</a:t>
            </a:r>
          </a:p>
        </p:txBody>
      </p:sp>
      <p:sp>
        <p:nvSpPr>
          <p:cNvPr id="3" name="文本框 2"/>
          <p:cNvSpPr txBox="1"/>
          <p:nvPr/>
        </p:nvSpPr>
        <p:spPr>
          <a:xfrm>
            <a:off x="784860" y="1177925"/>
            <a:ext cx="4338955" cy="398780"/>
          </a:xfrm>
          <a:prstGeom prst="rect">
            <a:avLst/>
          </a:prstGeom>
          <a:noFill/>
        </p:spPr>
        <p:txBody>
          <a:bodyPr wrap="square" rtlCol="0" anchor="t">
            <a:spAutoFit/>
          </a:bodyPr>
          <a:lstStyle/>
          <a:p>
            <a:r>
              <a:rPr lang="en-US" altLang="zh-CN" sz="2000" b="1">
                <a:solidFill>
                  <a:schemeClr val="accent6">
                    <a:lumMod val="75000"/>
                  </a:schemeClr>
                </a:solidFill>
                <a:latin typeface="楷体" panose="02010609060101010101" charset="-122"/>
                <a:ea typeface="楷体" panose="02010609060101010101" charset="-122"/>
              </a:rPr>
              <a:t>1.3.1 </a:t>
            </a:r>
            <a:r>
              <a:rPr lang="zh-CN" altLang="en-US" sz="2000" b="1">
                <a:solidFill>
                  <a:schemeClr val="accent6">
                    <a:lumMod val="75000"/>
                  </a:schemeClr>
                </a:solidFill>
                <a:latin typeface="楷体" panose="02010609060101010101" charset="-122"/>
                <a:ea typeface="楷体" panose="02010609060101010101" charset="-122"/>
              </a:rPr>
              <a:t>风电功率预测方法的研究现状</a:t>
            </a:r>
          </a:p>
        </p:txBody>
      </p:sp>
      <p:sp>
        <p:nvSpPr>
          <p:cNvPr id="6" name="文本框 5"/>
          <p:cNvSpPr txBox="1"/>
          <p:nvPr/>
        </p:nvSpPr>
        <p:spPr>
          <a:xfrm>
            <a:off x="4049395" y="1832610"/>
            <a:ext cx="7626350" cy="916305"/>
          </a:xfrm>
          <a:prstGeom prst="rect">
            <a:avLst/>
          </a:prstGeom>
          <a:noFill/>
        </p:spPr>
        <p:txBody>
          <a:bodyPr wrap="square" rtlCol="0" anchor="t">
            <a:noAutofit/>
          </a:bodyPr>
          <a:lstStyle/>
          <a:p>
            <a:r>
              <a:rPr lang="zh-CN" altLang="en-US" sz="2000" b="1">
                <a:latin typeface="楷体" panose="02010609060101010101" charset="-122"/>
                <a:ea typeface="楷体" panose="02010609060101010101" charset="-122"/>
              </a:rPr>
              <a:t>风电功率预测按照时间尺度可以分为</a:t>
            </a:r>
            <a:r>
              <a:rPr lang="zh-CN" altLang="en-US" sz="2000" b="1">
                <a:solidFill>
                  <a:srgbClr val="FF0000"/>
                </a:solidFill>
                <a:latin typeface="楷体" panose="02010609060101010101" charset="-122"/>
                <a:ea typeface="楷体" panose="02010609060101010101" charset="-122"/>
              </a:rPr>
              <a:t>超短期、短期、中期和长期</a:t>
            </a:r>
            <a:r>
              <a:rPr lang="zh-CN" altLang="en-US" sz="2000" b="1">
                <a:latin typeface="楷体" panose="02010609060101010101" charset="-122"/>
                <a:ea typeface="楷体" panose="02010609060101010101" charset="-122"/>
              </a:rPr>
              <a:t>功率预测</a:t>
            </a:r>
          </a:p>
        </p:txBody>
      </p:sp>
      <p:sp>
        <p:nvSpPr>
          <p:cNvPr id="7" name="文本框 6"/>
          <p:cNvSpPr txBox="1"/>
          <p:nvPr/>
        </p:nvSpPr>
        <p:spPr>
          <a:xfrm>
            <a:off x="4017010" y="2789555"/>
            <a:ext cx="7703185" cy="706755"/>
          </a:xfrm>
          <a:prstGeom prst="rect">
            <a:avLst/>
          </a:prstGeom>
        </p:spPr>
        <p:txBody>
          <a:bodyPr wrap="square">
            <a:spAutoFit/>
          </a:bodyPr>
          <a:lstStyle/>
          <a:p>
            <a:pPr marL="0" indent="0"/>
            <a:r>
              <a:rPr lang="zh-CN" altLang="en-US" sz="2000" b="1" i="0">
                <a:solidFill>
                  <a:srgbClr val="000000"/>
                </a:solidFill>
                <a:latin typeface="楷体" panose="02010609060101010101" charset="-122"/>
                <a:ea typeface="楷体" panose="02010609060101010101" charset="-122"/>
              </a:rPr>
              <a:t>根据预测模型特性，风电功率预测可以分为以下三种类型：</a:t>
            </a:r>
            <a:r>
              <a:rPr lang="zh-CN" altLang="en-US" sz="2000" b="1" i="0">
                <a:solidFill>
                  <a:srgbClr val="FF0000"/>
                </a:solidFill>
                <a:latin typeface="楷体" panose="02010609060101010101" charset="-122"/>
                <a:ea typeface="楷体" panose="02010609060101010101" charset="-122"/>
              </a:rPr>
              <a:t>物理模型、统计模型和人工智能模型</a:t>
            </a:r>
          </a:p>
        </p:txBody>
      </p:sp>
      <p:sp>
        <p:nvSpPr>
          <p:cNvPr id="9" name="文本框 8"/>
          <p:cNvSpPr txBox="1"/>
          <p:nvPr>
            <p:custDataLst>
              <p:tags r:id="rId3"/>
            </p:custDataLst>
          </p:nvPr>
        </p:nvSpPr>
        <p:spPr>
          <a:xfrm>
            <a:off x="3982085" y="4204970"/>
            <a:ext cx="2136775" cy="2245360"/>
          </a:xfrm>
          <a:prstGeom prst="rect">
            <a:avLst/>
          </a:prstGeom>
          <a:noFill/>
        </p:spPr>
        <p:txBody>
          <a:bodyPr wrap="square" rtlCol="0" anchor="t">
            <a:spAutoFit/>
          </a:bodyPr>
          <a:lstStyle/>
          <a:p>
            <a:r>
              <a:rPr lang="zh-CN" altLang="en-US" sz="2000" b="1">
                <a:latin typeface="楷体" panose="02010609060101010101" charset="-122"/>
                <a:ea typeface="楷体" panose="02010609060101010101" charset="-122"/>
                <a:cs typeface="楷体" panose="02010609060101010101" charset="-122"/>
              </a:rPr>
              <a:t>采用一系列</a:t>
            </a:r>
            <a:r>
              <a:rPr lang="zh-CN" altLang="en-US" sz="2000" b="1">
                <a:solidFill>
                  <a:srgbClr val="FF0000"/>
                </a:solidFill>
                <a:latin typeface="楷体" panose="02010609060101010101" charset="-122"/>
                <a:ea typeface="楷体" panose="02010609060101010101" charset="-122"/>
                <a:cs typeface="楷体" panose="02010609060101010101" charset="-122"/>
              </a:rPr>
              <a:t>物理方程</a:t>
            </a:r>
            <a:r>
              <a:rPr lang="zh-CN" altLang="en-US" sz="2000" b="1">
                <a:latin typeface="楷体" panose="02010609060101010101" charset="-122"/>
                <a:ea typeface="楷体" panose="02010609060101010101" charset="-122"/>
                <a:cs typeface="楷体" panose="02010609060101010101" charset="-122"/>
              </a:rPr>
              <a:t>计算出未来气象变量的统计规律，然后通过风速功率曲线</a:t>
            </a:r>
            <a:r>
              <a:rPr lang="zh-CN" altLang="en-US" sz="2000" b="1">
                <a:solidFill>
                  <a:srgbClr val="FF0000"/>
                </a:solidFill>
                <a:latin typeface="楷体" panose="02010609060101010101" charset="-122"/>
                <a:ea typeface="楷体" panose="02010609060101010101" charset="-122"/>
                <a:cs typeface="楷体" panose="02010609060101010101" charset="-122"/>
              </a:rPr>
              <a:t>将其转化为未来的风电功率值</a:t>
            </a:r>
          </a:p>
        </p:txBody>
      </p:sp>
      <p:sp>
        <p:nvSpPr>
          <p:cNvPr id="11" name="文本框 10"/>
          <p:cNvSpPr txBox="1"/>
          <p:nvPr>
            <p:custDataLst>
              <p:tags r:id="rId4"/>
            </p:custDataLst>
          </p:nvPr>
        </p:nvSpPr>
        <p:spPr>
          <a:xfrm>
            <a:off x="6686550" y="4199890"/>
            <a:ext cx="2084070" cy="1936750"/>
          </a:xfrm>
          <a:prstGeom prst="rect">
            <a:avLst/>
          </a:prstGeom>
          <a:noFill/>
        </p:spPr>
        <p:txBody>
          <a:bodyPr wrap="square" rtlCol="0" anchor="t">
            <a:noAutofit/>
          </a:bodyPr>
          <a:lstStyle/>
          <a:p>
            <a:r>
              <a:rPr lang="zh-CN" altLang="en-US" sz="2000" b="1">
                <a:latin typeface="楷体" panose="02010609060101010101" charset="-122"/>
                <a:ea typeface="楷体" panose="02010609060101010101" charset="-122"/>
                <a:cs typeface="楷体" panose="02010609060101010101" charset="-122"/>
              </a:rPr>
              <a:t>统计法基于大量历史数据以及其他外生因素，</a:t>
            </a:r>
            <a:r>
              <a:rPr lang="zh-CN" altLang="en-US" sz="2000" b="1">
                <a:solidFill>
                  <a:schemeClr val="tx1"/>
                </a:solidFill>
                <a:latin typeface="楷体" panose="02010609060101010101" charset="-122"/>
                <a:ea typeface="楷体" panose="02010609060101010101" charset="-122"/>
                <a:cs typeface="楷体" panose="02010609060101010101" charset="-122"/>
              </a:rPr>
              <a:t>通过</a:t>
            </a:r>
            <a:r>
              <a:rPr lang="zh-CN" altLang="en-US" sz="2000" b="1">
                <a:solidFill>
                  <a:srgbClr val="FF0000"/>
                </a:solidFill>
                <a:latin typeface="楷体" panose="02010609060101010101" charset="-122"/>
                <a:ea typeface="楷体" panose="02010609060101010101" charset="-122"/>
                <a:cs typeface="楷体" panose="02010609060101010101" charset="-122"/>
              </a:rPr>
              <a:t>挖掘和归纳数据背后的隐藏模式</a:t>
            </a:r>
            <a:r>
              <a:rPr lang="zh-CN" altLang="en-US" sz="2000" b="1">
                <a:latin typeface="楷体" panose="02010609060101010101" charset="-122"/>
                <a:ea typeface="楷体" panose="02010609060101010101" charset="-122"/>
                <a:cs typeface="楷体" panose="02010609060101010101" charset="-122"/>
              </a:rPr>
              <a:t>，来预测未来的风电功率</a:t>
            </a:r>
          </a:p>
        </p:txBody>
      </p:sp>
      <p:sp>
        <p:nvSpPr>
          <p:cNvPr id="12" name="文本框 11"/>
          <p:cNvSpPr txBox="1"/>
          <p:nvPr/>
        </p:nvSpPr>
        <p:spPr>
          <a:xfrm>
            <a:off x="9425305" y="4061460"/>
            <a:ext cx="2494280" cy="2553970"/>
          </a:xfrm>
          <a:prstGeom prst="rect">
            <a:avLst/>
          </a:prstGeom>
          <a:noFill/>
        </p:spPr>
        <p:txBody>
          <a:bodyPr wrap="square" rtlCol="0" anchor="t">
            <a:noAutofit/>
          </a:bodyPr>
          <a:lstStyle/>
          <a:p>
            <a:r>
              <a:rPr lang="zh-CN" altLang="en-US" sz="2000" b="1">
                <a:latin typeface="楷体" panose="02010609060101010101" charset="-122"/>
                <a:ea typeface="楷体" panose="02010609060101010101" charset="-122"/>
                <a:cs typeface="楷体" panose="02010609060101010101" charset="-122"/>
              </a:rPr>
              <a:t>主要包括径向基神经网络(</a:t>
            </a:r>
            <a:r>
              <a:rPr lang="zh-CN" altLang="en-US" sz="2000" b="1">
                <a:solidFill>
                  <a:srgbClr val="FF0000"/>
                </a:solidFill>
                <a:latin typeface="楷体" panose="02010609060101010101" charset="-122"/>
                <a:ea typeface="楷体" panose="02010609060101010101" charset="-122"/>
                <a:cs typeface="楷体" panose="02010609060101010101" charset="-122"/>
              </a:rPr>
              <a:t>RBF</a:t>
            </a:r>
            <a:r>
              <a:rPr lang="zh-CN" altLang="en-US" sz="2000" b="1">
                <a:latin typeface="楷体" panose="02010609060101010101" charset="-122"/>
                <a:ea typeface="楷体" panose="02010609060101010101" charset="-122"/>
                <a:cs typeface="楷体" panose="02010609060101010101" charset="-122"/>
              </a:rPr>
              <a:t>)、反向传播神经网络(</a:t>
            </a:r>
            <a:r>
              <a:rPr lang="zh-CN" altLang="en-US" sz="2000" b="1">
                <a:solidFill>
                  <a:srgbClr val="FF0000"/>
                </a:solidFill>
                <a:latin typeface="楷体" panose="02010609060101010101" charset="-122"/>
                <a:ea typeface="楷体" panose="02010609060101010101" charset="-122"/>
                <a:cs typeface="楷体" panose="02010609060101010101" charset="-122"/>
              </a:rPr>
              <a:t>BP</a:t>
            </a:r>
            <a:r>
              <a:rPr lang="zh-CN" altLang="en-US" sz="2000" b="1">
                <a:latin typeface="楷体" panose="02010609060101010101" charset="-122"/>
                <a:ea typeface="楷体" panose="02010609060101010101" charset="-122"/>
                <a:cs typeface="楷体" panose="02010609060101010101" charset="-122"/>
              </a:rPr>
              <a:t>)、支持向量机(</a:t>
            </a:r>
            <a:r>
              <a:rPr lang="zh-CN" altLang="en-US" sz="2000" b="1">
                <a:solidFill>
                  <a:srgbClr val="FF0000"/>
                </a:solidFill>
                <a:latin typeface="楷体" panose="02010609060101010101" charset="-122"/>
                <a:ea typeface="楷体" panose="02010609060101010101" charset="-122"/>
                <a:cs typeface="楷体" panose="02010609060101010101" charset="-122"/>
              </a:rPr>
              <a:t>SVM</a:t>
            </a:r>
            <a:r>
              <a:rPr lang="zh-CN" altLang="en-US" sz="2000" b="1">
                <a:latin typeface="楷体" panose="02010609060101010101" charset="-122"/>
                <a:ea typeface="楷体" panose="02010609060101010101" charset="-122"/>
                <a:cs typeface="楷体" panose="02010609060101010101" charset="-122"/>
              </a:rPr>
              <a:t>)、极限学习机(</a:t>
            </a:r>
            <a:r>
              <a:rPr lang="zh-CN" altLang="en-US" sz="2000" b="1">
                <a:solidFill>
                  <a:srgbClr val="FF0000"/>
                </a:solidFill>
                <a:latin typeface="楷体" panose="02010609060101010101" charset="-122"/>
                <a:ea typeface="楷体" panose="02010609060101010101" charset="-122"/>
                <a:cs typeface="楷体" panose="02010609060101010101" charset="-122"/>
              </a:rPr>
              <a:t>ELM</a:t>
            </a:r>
            <a:r>
              <a:rPr lang="zh-CN" altLang="en-US" sz="2000" b="1">
                <a:latin typeface="楷体" panose="02010609060101010101" charset="-122"/>
                <a:ea typeface="楷体" panose="02010609060101010101" charset="-122"/>
                <a:cs typeface="楷体" panose="02010609060101010101" charset="-122"/>
              </a:rPr>
              <a:t>)、长短期记忆网络(</a:t>
            </a:r>
            <a:r>
              <a:rPr lang="zh-CN" altLang="en-US" sz="2000" b="1">
                <a:solidFill>
                  <a:srgbClr val="FF0000"/>
                </a:solidFill>
                <a:latin typeface="楷体" panose="02010609060101010101" charset="-122"/>
                <a:ea typeface="楷体" panose="02010609060101010101" charset="-122"/>
                <a:cs typeface="楷体" panose="02010609060101010101" charset="-122"/>
              </a:rPr>
              <a:t>LSTM</a:t>
            </a:r>
            <a:r>
              <a:rPr lang="zh-CN" altLang="en-US" sz="2000" b="1">
                <a:latin typeface="楷体" panose="02010609060101010101" charset="-122"/>
                <a:ea typeface="楷体" panose="02010609060101010101" charset="-122"/>
                <a:cs typeface="楷体" panose="02010609060101010101" charset="-122"/>
              </a:rPr>
              <a:t>)为主的循环神经网络</a:t>
            </a:r>
            <a:r>
              <a:rPr lang="en-US" altLang="zh-CN" sz="2000" b="1">
                <a:latin typeface="楷体" panose="02010609060101010101" charset="-122"/>
                <a:ea typeface="楷体" panose="02010609060101010101" charset="-122"/>
                <a:cs typeface="楷体" panose="02010609060101010101" charset="-122"/>
              </a:rPr>
              <a:t>(</a:t>
            </a:r>
            <a:r>
              <a:rPr lang="en-US" altLang="zh-CN" sz="2000" b="1">
                <a:solidFill>
                  <a:srgbClr val="FF0000"/>
                </a:solidFill>
                <a:latin typeface="楷体" panose="02010609060101010101" charset="-122"/>
                <a:ea typeface="楷体" panose="02010609060101010101" charset="-122"/>
                <a:cs typeface="楷体" panose="02010609060101010101" charset="-122"/>
              </a:rPr>
              <a:t>RNN</a:t>
            </a:r>
            <a:r>
              <a:rPr lang="en-US" altLang="zh-CN" sz="2000" b="1">
                <a:latin typeface="楷体" panose="02010609060101010101" charset="-122"/>
                <a:ea typeface="楷体" panose="02010609060101010101" charset="-122"/>
                <a:cs typeface="楷体" panose="02010609060101010101" charset="-122"/>
              </a:rPr>
              <a:t>)</a:t>
            </a:r>
            <a:r>
              <a:rPr lang="zh-CN" altLang="en-US" sz="2000" b="1">
                <a:latin typeface="楷体" panose="02010609060101010101" charset="-122"/>
                <a:ea typeface="楷体" panose="02010609060101010101" charset="-122"/>
                <a:cs typeface="楷体" panose="02010609060101010101" charset="-122"/>
              </a:rPr>
              <a:t>及其变体等</a:t>
            </a:r>
            <a:endParaRPr lang="en-US" altLang="zh-CN" sz="2000" b="1">
              <a:latin typeface="楷体" panose="02010609060101010101" charset="-122"/>
              <a:ea typeface="楷体" panose="02010609060101010101" charset="-122"/>
              <a:cs typeface="楷体" panose="02010609060101010101" charset="-122"/>
            </a:endParaRPr>
          </a:p>
        </p:txBody>
      </p:sp>
      <p:sp>
        <p:nvSpPr>
          <p:cNvPr id="19" name="左大括号 18"/>
          <p:cNvSpPr/>
          <p:nvPr/>
        </p:nvSpPr>
        <p:spPr>
          <a:xfrm rot="5400000">
            <a:off x="7606665" y="975360"/>
            <a:ext cx="365760" cy="5776595"/>
          </a:xfrm>
          <a:prstGeom prst="leftBrace">
            <a:avLst>
              <a:gd name="adj1" fmla="val 68691"/>
              <a:gd name="adj2" fmla="val 50000"/>
            </a:avLst>
          </a:prstGeom>
          <a:ln w="28575"/>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b="1"/>
          </a:p>
        </p:txBody>
      </p:sp>
      <p:pic>
        <p:nvPicPr>
          <p:cNvPr id="20" name="图片 19" descr="草地上的风车&#10;&#10;描述已自动生成">
            <a:extLst>
              <a:ext uri="{FF2B5EF4-FFF2-40B4-BE49-F238E27FC236}">
                <a16:creationId xmlns:a16="http://schemas.microsoft.com/office/drawing/2014/main" id="{3BD63F11-E1E3-F4C6-ADCA-E3ECB7A6F60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3552" y="1697557"/>
            <a:ext cx="3208298" cy="2171888"/>
          </a:xfrm>
          <a:prstGeom prst="rect">
            <a:avLst/>
          </a:prstGeom>
        </p:spPr>
      </p:pic>
      <p:pic>
        <p:nvPicPr>
          <p:cNvPr id="24" name="图片 23" descr="水里有艘船&#10;&#10;中度可信度描述已自动生成">
            <a:extLst>
              <a:ext uri="{FF2B5EF4-FFF2-40B4-BE49-F238E27FC236}">
                <a16:creationId xmlns:a16="http://schemas.microsoft.com/office/drawing/2014/main" id="{6CCF537C-3250-F3EC-05F5-EF1794F1646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3552" y="4235355"/>
            <a:ext cx="3200677" cy="217950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表, 树状图&#10;&#10;描述已自动生成">
            <a:extLst>
              <a:ext uri="{FF2B5EF4-FFF2-40B4-BE49-F238E27FC236}">
                <a16:creationId xmlns:a16="http://schemas.microsoft.com/office/drawing/2014/main" id="{03F10554-03C0-1297-29E9-AD3CD22930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8894" y="1768559"/>
            <a:ext cx="2347163" cy="2278577"/>
          </a:xfrm>
          <a:prstGeom prst="rect">
            <a:avLst/>
          </a:prstGeom>
        </p:spPr>
      </p:pic>
      <p:sp>
        <p:nvSpPr>
          <p:cNvPr id="40" name="圆角矩形 39"/>
          <p:cNvSpPr/>
          <p:nvPr/>
        </p:nvSpPr>
        <p:spPr>
          <a:xfrm>
            <a:off x="7108825" y="1743075"/>
            <a:ext cx="4970780" cy="4982845"/>
          </a:xfrm>
          <a:prstGeom prst="roundRect">
            <a:avLst>
              <a:gd name="adj" fmla="val 9532"/>
            </a:avLst>
          </a:prstGeom>
          <a:noFill/>
          <a:ln w="12700">
            <a:solidFill>
              <a:schemeClr val="accent4">
                <a:lumMod val="75000"/>
              </a:schemeClr>
            </a:solidFill>
            <a:prstDash val="dash"/>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5">
                    <a:lumMod val="20000"/>
                    <a:lumOff val="8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3" name="圆角矩形 32"/>
          <p:cNvSpPr/>
          <p:nvPr/>
        </p:nvSpPr>
        <p:spPr>
          <a:xfrm>
            <a:off x="337185" y="1743075"/>
            <a:ext cx="3395980" cy="4982845"/>
          </a:xfrm>
          <a:prstGeom prst="roundRect">
            <a:avLst>
              <a:gd name="adj" fmla="val 10976"/>
            </a:avLst>
          </a:prstGeom>
          <a:noFill/>
          <a:ln w="12700">
            <a:solidFill>
              <a:schemeClr val="accent6">
                <a:lumMod val="50000"/>
              </a:schemeClr>
            </a:solidFill>
            <a:prstDash val="dash"/>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6">
                    <a:lumMod val="20000"/>
                    <a:lumOff val="8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2" name="圆角矩形 31"/>
          <p:cNvSpPr/>
          <p:nvPr/>
        </p:nvSpPr>
        <p:spPr>
          <a:xfrm>
            <a:off x="3816985" y="4202430"/>
            <a:ext cx="3204845" cy="2548890"/>
          </a:xfrm>
          <a:prstGeom prst="roundRect">
            <a:avLst/>
          </a:prstGeom>
          <a:solidFill>
            <a:schemeClr val="accent4">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1" name="圆角矩形 30"/>
          <p:cNvSpPr/>
          <p:nvPr/>
        </p:nvSpPr>
        <p:spPr>
          <a:xfrm>
            <a:off x="3796665" y="1753870"/>
            <a:ext cx="3227705" cy="1978025"/>
          </a:xfrm>
          <a:prstGeom prst="roundRect">
            <a:avLst/>
          </a:prstGeom>
          <a:solidFill>
            <a:schemeClr val="accent6">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mc:AlternateContent xmlns:mc="http://schemas.openxmlformats.org/markup-compatibility/2006" xmlns:a14="http://schemas.microsoft.com/office/drawing/2010/main">
        <mc:Choice Requires="a14">
          <p:sp>
            <p:nvSpPr>
              <p:cNvPr id="27" name="椭圆 26"/>
              <p:cNvSpPr/>
              <p:nvPr/>
            </p:nvSpPr>
            <p:spPr>
              <a:xfrm>
                <a:off x="395605" y="2118360"/>
                <a:ext cx="3241040" cy="908685"/>
              </a:xfrm>
              <a:prstGeom prst="ellipse">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14:m>
                  <m:oMath xmlns:m="http://schemas.openxmlformats.org/officeDocument/2006/math">
                    <m:sSub>
                      <m:sSubPr>
                        <m:ctrlPr>
                          <a:rPr lang="en-US" altLang="zh-CN" sz="1200" b="1" i="1">
                            <a:solidFill>
                              <a:schemeClr val="tx1"/>
                            </a:solidFill>
                            <a:latin typeface="Cambria Math" panose="02040503050406030204" pitchFamily="18" charset="0"/>
                            <a:cs typeface="Cambria Math" panose="02040503050406030204" charset="0"/>
                          </a:rPr>
                        </m:ctrlPr>
                      </m:sSubPr>
                      <m:e>
                        <m:r>
                          <a:rPr lang="en-US" altLang="zh-CN" sz="1200" b="1" i="1">
                            <a:solidFill>
                              <a:schemeClr val="tx1"/>
                            </a:solidFill>
                            <a:latin typeface="Cambria Math" panose="02040503050406030204" charset="0"/>
                            <a:cs typeface="Cambria Math" panose="02040503050406030204" charset="0"/>
                          </a:rPr>
                          <m:t>𝒁</m:t>
                        </m:r>
                      </m:e>
                      <m:sub>
                        <m:r>
                          <a:rPr lang="en-US" altLang="zh-CN" sz="1200" b="1" i="1">
                            <a:solidFill>
                              <a:schemeClr val="tx1"/>
                            </a:solidFill>
                            <a:latin typeface="Cambria Math" panose="02040503050406030204" charset="0"/>
                            <a:cs typeface="Cambria Math" panose="02040503050406030204" charset="0"/>
                          </a:rPr>
                          <m:t>𝒊</m:t>
                        </m:r>
                      </m:sub>
                    </m:sSub>
                    <m:r>
                      <a:rPr lang="en-US" altLang="zh-CN" sz="1200" b="1" i="1">
                        <a:solidFill>
                          <a:schemeClr val="tx1"/>
                        </a:solidFill>
                        <a:latin typeface="Cambria Math" panose="02040503050406030204" charset="0"/>
                        <a:cs typeface="Cambria Math" panose="02040503050406030204" charset="0"/>
                      </a:rPr>
                      <m:t>=(</m:t>
                    </m:r>
                    <m:sSub>
                      <m:sSubPr>
                        <m:ctrlPr>
                          <a:rPr lang="en-US" altLang="zh-CN" sz="1200" b="1" i="1">
                            <a:solidFill>
                              <a:schemeClr val="tx1"/>
                            </a:solidFill>
                            <a:latin typeface="Cambria Math" panose="02040503050406030204" pitchFamily="18" charset="0"/>
                            <a:cs typeface="Cambria Math" panose="02040503050406030204" charset="0"/>
                          </a:rPr>
                        </m:ctrlPr>
                      </m:sSubPr>
                      <m:e>
                        <m:r>
                          <a:rPr lang="en-US" altLang="zh-CN" sz="1200" b="1" i="1">
                            <a:solidFill>
                              <a:schemeClr val="tx1"/>
                            </a:solidFill>
                            <a:latin typeface="Cambria Math" panose="02040503050406030204" charset="0"/>
                            <a:cs typeface="Cambria Math" panose="02040503050406030204" charset="0"/>
                          </a:rPr>
                          <m:t>𝒙</m:t>
                        </m:r>
                      </m:e>
                      <m:sub>
                        <m:r>
                          <a:rPr lang="en-US" altLang="zh-CN" sz="1200" b="1" i="1">
                            <a:solidFill>
                              <a:schemeClr val="tx1"/>
                            </a:solidFill>
                            <a:latin typeface="Cambria Math" panose="02040503050406030204" charset="0"/>
                            <a:cs typeface="Cambria Math" panose="02040503050406030204" charset="0"/>
                          </a:rPr>
                          <m:t>𝒊</m:t>
                        </m:r>
                      </m:sub>
                    </m:sSub>
                    <m:r>
                      <a:rPr lang="en-US" altLang="zh-CN" sz="1200" b="1" i="1">
                        <a:solidFill>
                          <a:schemeClr val="tx1"/>
                        </a:solidFill>
                        <a:latin typeface="Cambria Math" panose="02040503050406030204" charset="0"/>
                        <a:cs typeface="Cambria Math" panose="02040503050406030204" charset="0"/>
                      </a:rPr>
                      <m:t>−</m:t>
                    </m:r>
                    <m:r>
                      <a:rPr lang="en-US" altLang="zh-CN" sz="1200" b="1" i="1">
                        <a:solidFill>
                          <a:schemeClr val="tx1"/>
                        </a:solidFill>
                        <a:latin typeface="Cambria Math" panose="02040503050406030204" charset="0"/>
                        <a:cs typeface="Cambria Math" panose="02040503050406030204" charset="0"/>
                      </a:rPr>
                      <m:t>𝒖</m:t>
                    </m:r>
                    <m:r>
                      <a:rPr lang="en-US" altLang="zh-CN" sz="1200" b="1" i="1">
                        <a:solidFill>
                          <a:schemeClr val="tx1"/>
                        </a:solidFill>
                        <a:latin typeface="Cambria Math" panose="02040503050406030204" charset="0"/>
                        <a:cs typeface="Cambria Math" panose="02040503050406030204" charset="0"/>
                      </a:rPr>
                      <m:t>)/</m:t>
                    </m:r>
                  </m:oMath>
                </a14:m>
                <a:r>
                  <a:rPr lang="en-US" altLang="zh-CN" sz="1200" b="1">
                    <a:solidFill>
                      <a:schemeClr val="tx1"/>
                    </a:solidFill>
                    <a:latin typeface="Cambria Math" panose="02040503050406030204" charset="0"/>
                    <a:cs typeface="Cambria Math" panose="02040503050406030204" charset="0"/>
                  </a:rPr>
                  <a:t>σ</a:t>
                </a:r>
              </a:p>
              <a:p>
                <a:pPr algn="ctr"/>
                <a14:m>
                  <m:oMath xmlns:m="http://schemas.openxmlformats.org/officeDocument/2006/math">
                    <m:sSub>
                      <m:sSubPr>
                        <m:ctrlPr>
                          <a:rPr lang="en-US" altLang="zh-CN" sz="1200" b="1" i="1">
                            <a:solidFill>
                              <a:schemeClr val="tx1"/>
                            </a:solidFill>
                            <a:latin typeface="Cambria Math" panose="02040503050406030204" pitchFamily="18" charset="0"/>
                            <a:cs typeface="Cambria Math" panose="02040503050406030204" charset="0"/>
                          </a:rPr>
                        </m:ctrlPr>
                      </m:sSubPr>
                      <m:e>
                        <m:r>
                          <a:rPr lang="en-US" altLang="zh-CN" sz="1200" b="1" i="1">
                            <a:solidFill>
                              <a:schemeClr val="tx1"/>
                            </a:solidFill>
                            <a:latin typeface="Cambria Math" panose="02040503050406030204" charset="0"/>
                            <a:cs typeface="Cambria Math" panose="02040503050406030204" charset="0"/>
                          </a:rPr>
                          <m:t>𝒁</m:t>
                        </m:r>
                      </m:e>
                      <m:sub>
                        <m:r>
                          <a:rPr lang="en-US" altLang="zh-CN" sz="1200" b="1" i="1">
                            <a:solidFill>
                              <a:schemeClr val="tx1"/>
                            </a:solidFill>
                            <a:latin typeface="Cambria Math" panose="02040503050406030204" charset="0"/>
                            <a:cs typeface="Cambria Math" panose="02040503050406030204" charset="0"/>
                          </a:rPr>
                          <m:t>𝒊</m:t>
                        </m:r>
                      </m:sub>
                    </m:sSub>
                    <m:r>
                      <a:rPr lang="en-US" altLang="zh-CN" sz="1200" b="1" i="1">
                        <a:solidFill>
                          <a:schemeClr val="tx1"/>
                        </a:solidFill>
                        <a:latin typeface="Cambria Math" panose="02040503050406030204" charset="0"/>
                        <a:cs typeface="Cambria Math" panose="02040503050406030204" charset="0"/>
                      </a:rPr>
                      <m:t>&gt;</m:t>
                    </m:r>
                    <m:sSub>
                      <m:sSubPr>
                        <m:ctrlPr>
                          <a:rPr lang="en-US" altLang="zh-CN" sz="1200" b="1" i="1">
                            <a:solidFill>
                              <a:schemeClr val="tx1"/>
                            </a:solidFill>
                            <a:latin typeface="Cambria Math" panose="02040503050406030204" pitchFamily="18" charset="0"/>
                            <a:cs typeface="Cambria Math" panose="02040503050406030204" charset="0"/>
                          </a:rPr>
                        </m:ctrlPr>
                      </m:sSubPr>
                      <m:e>
                        <m:r>
                          <a:rPr lang="en-US" altLang="zh-CN" sz="1200" b="1" i="1">
                            <a:solidFill>
                              <a:schemeClr val="tx1"/>
                            </a:solidFill>
                            <a:latin typeface="Cambria Math" panose="02040503050406030204" charset="0"/>
                            <a:cs typeface="Cambria Math" panose="02040503050406030204" charset="0"/>
                          </a:rPr>
                          <m:t>𝒁</m:t>
                        </m:r>
                      </m:e>
                      <m:sub>
                        <m:r>
                          <a:rPr lang="en-US" altLang="zh-CN" sz="1200" b="1" i="1">
                            <a:solidFill>
                              <a:schemeClr val="tx1"/>
                            </a:solidFill>
                            <a:latin typeface="Cambria Math" panose="02040503050406030204" charset="0"/>
                            <a:cs typeface="Cambria Math" panose="02040503050406030204" charset="0"/>
                          </a:rPr>
                          <m:t>𝒕𝒉𝒓</m:t>
                        </m:r>
                      </m:sub>
                    </m:sSub>
                  </m:oMath>
                </a14:m>
                <a:r>
                  <a:rPr lang="en-US" altLang="zh-CN" sz="1200" b="1">
                    <a:solidFill>
                      <a:schemeClr val="tx1"/>
                    </a:solidFill>
                    <a:latin typeface="Cambria Math" panose="02040503050406030204" charset="0"/>
                    <a:cs typeface="Cambria Math" panose="02040503050406030204" charset="0"/>
                  </a:rPr>
                  <a:t>  ,  </a:t>
                </a:r>
                <a14:m>
                  <m:oMath xmlns:m="http://schemas.openxmlformats.org/officeDocument/2006/math">
                    <m:sSub>
                      <m:sSubPr>
                        <m:ctrlPr>
                          <a:rPr lang="en-US" altLang="zh-CN" sz="1200" b="1" i="1">
                            <a:solidFill>
                              <a:schemeClr val="tx1"/>
                            </a:solidFill>
                            <a:latin typeface="Cambria Math" panose="02040503050406030204" pitchFamily="18" charset="0"/>
                            <a:cs typeface="Cambria Math" panose="02040503050406030204" charset="0"/>
                          </a:rPr>
                        </m:ctrlPr>
                      </m:sSubPr>
                      <m:e>
                        <m:r>
                          <a:rPr lang="en-US" altLang="zh-CN" sz="1200" b="1" i="1">
                            <a:solidFill>
                              <a:schemeClr val="tx1"/>
                            </a:solidFill>
                            <a:latin typeface="Cambria Math" panose="02040503050406030204" charset="0"/>
                            <a:cs typeface="Cambria Math" panose="02040503050406030204" charset="0"/>
                          </a:rPr>
                          <m:t>𝒁</m:t>
                        </m:r>
                      </m:e>
                      <m:sub>
                        <m:r>
                          <a:rPr lang="en-US" altLang="zh-CN" sz="1200" b="1" i="1">
                            <a:solidFill>
                              <a:schemeClr val="tx1"/>
                            </a:solidFill>
                            <a:latin typeface="Cambria Math" panose="02040503050406030204" charset="0"/>
                            <a:cs typeface="Cambria Math" panose="02040503050406030204" charset="0"/>
                          </a:rPr>
                          <m:t>𝒕𝒉𝒓</m:t>
                        </m:r>
                      </m:sub>
                    </m:sSub>
                  </m:oMath>
                </a14:m>
                <a:r>
                  <a:rPr lang="zh-CN" altLang="en-US" sz="1200" b="1">
                    <a:solidFill>
                      <a:schemeClr val="tx1"/>
                    </a:solidFill>
                    <a:latin typeface="Cambria Math" panose="02040503050406030204" charset="0"/>
                    <a:cs typeface="Cambria Math" panose="02040503050406030204" charset="0"/>
                  </a:rPr>
                  <a:t>通常为</a:t>
                </a:r>
                <a:r>
                  <a:rPr lang="en-US" altLang="zh-CN" sz="1200" b="1">
                    <a:solidFill>
                      <a:schemeClr val="tx1"/>
                    </a:solidFill>
                    <a:latin typeface="Cambria Math" panose="02040503050406030204" charset="0"/>
                    <a:cs typeface="Cambria Math" panose="02040503050406030204" charset="0"/>
                  </a:rPr>
                  <a:t>2.5</a:t>
                </a:r>
                <a:r>
                  <a:rPr lang="zh-CN" altLang="en-US" sz="1200" b="1">
                    <a:solidFill>
                      <a:schemeClr val="tx1"/>
                    </a:solidFill>
                    <a:latin typeface="Cambria Math" panose="02040503050406030204" charset="0"/>
                    <a:cs typeface="Cambria Math" panose="02040503050406030204" charset="0"/>
                  </a:rPr>
                  <a:t>、</a:t>
                </a:r>
                <a:r>
                  <a:rPr lang="en-US" altLang="zh-CN" sz="1200" b="1">
                    <a:solidFill>
                      <a:schemeClr val="tx1"/>
                    </a:solidFill>
                    <a:latin typeface="Cambria Math" panose="02040503050406030204" charset="0"/>
                    <a:cs typeface="Cambria Math" panose="02040503050406030204" charset="0"/>
                  </a:rPr>
                  <a:t>3.0</a:t>
                </a:r>
              </a:p>
            </p:txBody>
          </p:sp>
        </mc:Choice>
        <mc:Fallback xmlns="">
          <p:sp>
            <p:nvSpPr>
              <p:cNvPr id="27" name="椭圆 26"/>
              <p:cNvSpPr>
                <a:spLocks noRot="1" noChangeAspect="1" noMove="1" noResize="1" noEditPoints="1" noAdjustHandles="1" noChangeArrowheads="1" noChangeShapeType="1" noTextEdit="1"/>
              </p:cNvSpPr>
              <p:nvPr/>
            </p:nvSpPr>
            <p:spPr>
              <a:xfrm>
                <a:off x="395605" y="2118360"/>
                <a:ext cx="3241040" cy="908685"/>
              </a:xfrm>
              <a:prstGeom prst="ellipse">
                <a:avLst/>
              </a:prstGeom>
              <a:blipFill rotWithShape="1">
                <a:blip r:embed="rId4"/>
                <a:stretch>
                  <a:fillRect l="-216" t="-769" r="-196" b="-699"/>
                </a:stretch>
              </a:blipFill>
            </p:spPr>
            <p:style>
              <a:lnRef idx="2">
                <a:schemeClr val="accent1">
                  <a:lumMod val="75000"/>
                </a:schemeClr>
              </a:lnRef>
              <a:fillRef idx="1">
                <a:schemeClr val="accent1"/>
              </a:fillRef>
              <a:effectRef idx="0">
                <a:srgbClr val="FFFFFF"/>
              </a:effectRef>
              <a:fontRef idx="minor">
                <a:schemeClr val="lt1"/>
              </a:fontRef>
            </p:style>
            <p:txBody>
              <a:bodyPr/>
              <a:lstStyle/>
              <a:p>
                <a:r>
                  <a:rPr lang="zh-CN" altLang="en-US">
                    <a:noFill/>
                  </a:rPr>
                  <a:t> </a:t>
                </a:r>
              </a:p>
            </p:txBody>
          </p:sp>
        </mc:Fallback>
      </mc:AlternateContent>
      <p:pic>
        <p:nvPicPr>
          <p:cNvPr id="5" name="图片 4"/>
          <p:cNvPicPr>
            <a:picLocks noChangeAspect="1"/>
          </p:cNvPicPr>
          <p:nvPr/>
        </p:nvPicPr>
        <p:blipFill>
          <a:blip r:embed="rId5"/>
          <a:srcRect b="8786"/>
          <a:stretch>
            <a:fillRect/>
          </a:stretch>
        </p:blipFill>
        <p:spPr>
          <a:xfrm>
            <a:off x="4445" y="1003300"/>
            <a:ext cx="770255" cy="717550"/>
          </a:xfrm>
          <a:prstGeom prst="rect">
            <a:avLst/>
          </a:prstGeom>
        </p:spPr>
      </p:pic>
      <p:pic>
        <p:nvPicPr>
          <p:cNvPr id="2" name="图片 1"/>
          <p:cNvPicPr>
            <a:picLocks noChangeAspect="1"/>
          </p:cNvPicPr>
          <p:nvPr/>
        </p:nvPicPr>
        <p:blipFill>
          <a:blip r:embed="rId6"/>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1.3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研究现状</a:t>
            </a:r>
          </a:p>
        </p:txBody>
      </p:sp>
      <p:sp>
        <p:nvSpPr>
          <p:cNvPr id="3" name="文本框 2"/>
          <p:cNvSpPr txBox="1"/>
          <p:nvPr/>
        </p:nvSpPr>
        <p:spPr>
          <a:xfrm>
            <a:off x="784860" y="1177925"/>
            <a:ext cx="4338955" cy="398780"/>
          </a:xfrm>
          <a:prstGeom prst="rect">
            <a:avLst/>
          </a:prstGeom>
          <a:noFill/>
        </p:spPr>
        <p:txBody>
          <a:bodyPr wrap="square" rtlCol="0" anchor="t">
            <a:spAutoFit/>
          </a:bodyPr>
          <a:lstStyle/>
          <a:p>
            <a:r>
              <a:rPr lang="en-US" altLang="zh-CN" sz="2000" b="1">
                <a:solidFill>
                  <a:schemeClr val="accent6">
                    <a:lumMod val="75000"/>
                  </a:schemeClr>
                </a:solidFill>
                <a:latin typeface="楷体" panose="02010609060101010101" charset="-122"/>
                <a:ea typeface="楷体" panose="02010609060101010101" charset="-122"/>
              </a:rPr>
              <a:t>1.3.2 </a:t>
            </a:r>
            <a:r>
              <a:rPr lang="zh-CN" altLang="en-US" sz="2000" b="1">
                <a:solidFill>
                  <a:schemeClr val="accent6">
                    <a:lumMod val="75000"/>
                  </a:schemeClr>
                </a:solidFill>
                <a:latin typeface="楷体" panose="02010609060101010101" charset="-122"/>
                <a:ea typeface="楷体" panose="02010609060101010101" charset="-122"/>
              </a:rPr>
              <a:t>风电数据预处理的研究现状</a:t>
            </a:r>
          </a:p>
        </p:txBody>
      </p:sp>
      <p:sp>
        <p:nvSpPr>
          <p:cNvPr id="20" name="文本框 19"/>
          <p:cNvSpPr txBox="1"/>
          <p:nvPr/>
        </p:nvSpPr>
        <p:spPr>
          <a:xfrm>
            <a:off x="3778885" y="1780540"/>
            <a:ext cx="3261360" cy="1950720"/>
          </a:xfrm>
          <a:prstGeom prst="rect">
            <a:avLst/>
          </a:prstGeom>
          <a:noFill/>
        </p:spPr>
        <p:txBody>
          <a:bodyPr wrap="square" rtlCol="0" anchor="t">
            <a:noAutofit/>
          </a:bodyPr>
          <a:lstStyle/>
          <a:p>
            <a:r>
              <a:rPr lang="en-US" altLang="zh-CN" sz="2000" b="1" dirty="0">
                <a:latin typeface="楷体" panose="02010609060101010101" charset="-122"/>
                <a:ea typeface="楷体" panose="02010609060101010101" charset="-122"/>
                <a:cs typeface="楷体" panose="02010609060101010101" charset="-122"/>
              </a:rPr>
              <a:t>  </a:t>
            </a:r>
            <a:r>
              <a:rPr lang="zh-CN" altLang="en-US" sz="2000" b="1" dirty="0">
                <a:latin typeface="楷体" panose="02010609060101010101" charset="-122"/>
                <a:ea typeface="楷体" panose="02010609060101010101" charset="-122"/>
                <a:cs typeface="楷体" panose="02010609060101010101" charset="-122"/>
              </a:rPr>
              <a:t>通常采用基于统计的异常检测方法</a:t>
            </a:r>
            <a:r>
              <a:rPr lang="zh-CN" altLang="en-US" sz="2000" b="1" dirty="0">
                <a:solidFill>
                  <a:schemeClr val="tx1"/>
                </a:solidFill>
                <a:latin typeface="楷体" panose="02010609060101010101" charset="-122"/>
                <a:ea typeface="楷体" panose="02010609060101010101" charset="-122"/>
                <a:cs typeface="楷体" panose="02010609060101010101" charset="-122"/>
              </a:rPr>
              <a:t>，</a:t>
            </a:r>
            <a:r>
              <a:rPr lang="zh-CN" altLang="en-US" sz="2000" b="1" dirty="0">
                <a:latin typeface="楷体" panose="02010609060101010101" charset="-122"/>
                <a:ea typeface="楷体" panose="02010609060101010101" charset="-122"/>
                <a:cs typeface="楷体" panose="02010609060101010101" charset="-122"/>
              </a:rPr>
              <a:t>通过对变量进行统计分析，将统计量作为判断依据来甄别数据是否异常，统计量主要包括</a:t>
            </a:r>
            <a:r>
              <a:rPr lang="zh-CN" altLang="en-US" sz="2000" b="1" dirty="0">
                <a:solidFill>
                  <a:srgbClr val="FF0000"/>
                </a:solidFill>
                <a:latin typeface="Times New Roman" panose="02020603050405020304" pitchFamily="18" charset="0"/>
                <a:ea typeface="楷体" panose="02010609060101010101" charset="-122"/>
                <a:cs typeface="Times New Roman" panose="02020603050405020304" pitchFamily="18" charset="0"/>
              </a:rPr>
              <a:t>Z-score</a:t>
            </a:r>
            <a:r>
              <a:rPr lang="zh-CN" altLang="en-US" sz="2000" b="1" dirty="0">
                <a:solidFill>
                  <a:srgbClr val="FF0000"/>
                </a:solidFill>
                <a:latin typeface="楷体" panose="02010609060101010101" charset="-122"/>
                <a:ea typeface="楷体" panose="02010609060101010101" charset="-122"/>
                <a:cs typeface="楷体" panose="02010609060101010101" charset="-122"/>
              </a:rPr>
              <a:t>方法、四分位数以及3</a:t>
            </a:r>
            <a:r>
              <a:rPr lang="zh-CN" altLang="en-US" sz="2000" b="1" i="1" dirty="0">
                <a:solidFill>
                  <a:srgbClr val="FF0000"/>
                </a:solidFill>
                <a:latin typeface="楷体" panose="02010609060101010101" charset="-122"/>
                <a:ea typeface="楷体" panose="02010609060101010101" charset="-122"/>
                <a:cs typeface="楷体" panose="02010609060101010101" charset="-122"/>
              </a:rPr>
              <a:t>σ</a:t>
            </a:r>
            <a:r>
              <a:rPr lang="zh-CN" altLang="en-US" sz="2000" b="1" dirty="0">
                <a:solidFill>
                  <a:srgbClr val="FF0000"/>
                </a:solidFill>
                <a:latin typeface="楷体" panose="02010609060101010101" charset="-122"/>
                <a:ea typeface="楷体" panose="02010609060101010101" charset="-122"/>
                <a:cs typeface="楷体" panose="02010609060101010101" charset="-122"/>
              </a:rPr>
              <a:t>准则</a:t>
            </a:r>
            <a:endParaRPr lang="zh-CN" altLang="en-US" sz="2000" b="1" dirty="0">
              <a:latin typeface="楷体" panose="02010609060101010101" charset="-122"/>
              <a:ea typeface="楷体" panose="02010609060101010101" charset="-122"/>
              <a:cs typeface="楷体" panose="02010609060101010101" charset="-122"/>
            </a:endParaRPr>
          </a:p>
        </p:txBody>
      </p:sp>
      <p:sp>
        <p:nvSpPr>
          <p:cNvPr id="23" name="文本框 22"/>
          <p:cNvSpPr txBox="1"/>
          <p:nvPr/>
        </p:nvSpPr>
        <p:spPr>
          <a:xfrm>
            <a:off x="3878580" y="4204970"/>
            <a:ext cx="3242310" cy="2088515"/>
          </a:xfrm>
          <a:prstGeom prst="rect">
            <a:avLst/>
          </a:prstGeom>
          <a:noFill/>
        </p:spPr>
        <p:txBody>
          <a:bodyPr wrap="square" rtlCol="0" anchor="t">
            <a:noAutofit/>
          </a:bodyPr>
          <a:lstStyle/>
          <a:p>
            <a:pPr algn="l">
              <a:buClrTx/>
              <a:buSzTx/>
              <a:buFontTx/>
            </a:pPr>
            <a:r>
              <a:rPr lang="en-US" altLang="zh-CN" sz="2000" b="1">
                <a:latin typeface="楷体" panose="02010609060101010101" charset="-122"/>
                <a:ea typeface="楷体" panose="02010609060101010101" charset="-122"/>
                <a:cs typeface="楷体" panose="02010609060101010101" charset="-122"/>
              </a:rPr>
              <a:t>  </a:t>
            </a:r>
            <a:r>
              <a:rPr lang="zh-CN" altLang="en-US" sz="2000" b="1">
                <a:latin typeface="楷体" panose="02010609060101010101" charset="-122"/>
                <a:ea typeface="楷体" panose="02010609060101010101" charset="-122"/>
                <a:cs typeface="楷体" panose="02010609060101010101" charset="-122"/>
              </a:rPr>
              <a:t>同时，需要在模型训练之前采用特征选择对特征进行筛选，来减少模型训练时间并降低预测误差。常见的相关性指标有</a:t>
            </a:r>
            <a:r>
              <a:rPr lang="zh-CN" altLang="en-US" sz="2000" b="1">
                <a:solidFill>
                  <a:srgbClr val="FF0000"/>
                </a:solidFill>
                <a:latin typeface="Times New Roman" panose="02020603050405020304" pitchFamily="18" charset="0"/>
                <a:ea typeface="楷体" panose="02010609060101010101" charset="-122"/>
                <a:cs typeface="Times New Roman" panose="02020603050405020304" pitchFamily="18" charset="0"/>
              </a:rPr>
              <a:t>Pearson 、Spearman</a:t>
            </a:r>
            <a:r>
              <a:rPr lang="zh-CN" altLang="en-US" sz="2000" b="1">
                <a:solidFill>
                  <a:srgbClr val="FF0000"/>
                </a:solidFill>
                <a:latin typeface="楷体" panose="02010609060101010101" charset="-122"/>
                <a:ea typeface="楷体" panose="02010609060101010101" charset="-122"/>
                <a:cs typeface="楷体" panose="02010609060101010101" charset="-122"/>
              </a:rPr>
              <a:t>相关系数、</a:t>
            </a:r>
            <a:r>
              <a:rPr lang="zh-CN" altLang="en-US" sz="2000" b="1">
                <a:solidFill>
                  <a:srgbClr val="FF0000"/>
                </a:solidFill>
                <a:latin typeface="楷体" panose="02010609060101010101" charset="-122"/>
                <a:ea typeface="楷体" panose="02010609060101010101" charset="-122"/>
                <a:cs typeface="楷体" panose="02010609060101010101" charset="-122"/>
                <a:sym typeface="+mn-ea"/>
              </a:rPr>
              <a:t>灰色关联和</a:t>
            </a:r>
            <a:r>
              <a:rPr lang="zh-CN" altLang="en-US" sz="2000" b="1">
                <a:solidFill>
                  <a:srgbClr val="FF0000"/>
                </a:solidFill>
                <a:latin typeface="楷体" panose="02010609060101010101" charset="-122"/>
                <a:ea typeface="楷体" panose="02010609060101010101" charset="-122"/>
                <a:cs typeface="楷体" panose="02010609060101010101" charset="-122"/>
              </a:rPr>
              <a:t>最大信息系数</a:t>
            </a:r>
            <a:r>
              <a:rPr lang="en-US" altLang="zh-CN" sz="2000" b="1">
                <a:solidFill>
                  <a:srgbClr val="FF0000"/>
                </a:solidFill>
                <a:latin typeface="Times New Roman" panose="02020603050405020304" pitchFamily="18" charset="0"/>
                <a:ea typeface="楷体" panose="02010609060101010101" charset="-122"/>
                <a:cs typeface="Times New Roman" panose="02020603050405020304" pitchFamily="18" charset="0"/>
              </a:rPr>
              <a:t>(MIC)</a:t>
            </a:r>
            <a:r>
              <a:rPr lang="zh-CN" altLang="en-US" sz="2000" b="1">
                <a:latin typeface="楷体" panose="02010609060101010101" charset="-122"/>
                <a:ea typeface="楷体" panose="02010609060101010101" charset="-122"/>
                <a:cs typeface="楷体" panose="02010609060101010101" charset="-122"/>
              </a:rPr>
              <a:t>等等</a:t>
            </a:r>
          </a:p>
        </p:txBody>
      </p:sp>
      <p:pic>
        <p:nvPicPr>
          <p:cNvPr id="29" name="图片 28"/>
          <p:cNvPicPr>
            <a:picLocks noChangeAspect="1"/>
          </p:cNvPicPr>
          <p:nvPr/>
        </p:nvPicPr>
        <p:blipFill>
          <a:blip r:embed="rId7"/>
          <a:srcRect l="9576" r="2148"/>
          <a:stretch>
            <a:fillRect/>
          </a:stretch>
        </p:blipFill>
        <p:spPr>
          <a:xfrm>
            <a:off x="434975" y="4776470"/>
            <a:ext cx="3184525" cy="1521460"/>
          </a:xfrm>
          <a:prstGeom prst="rect">
            <a:avLst/>
          </a:prstGeom>
        </p:spPr>
      </p:pic>
      <p:pic>
        <p:nvPicPr>
          <p:cNvPr id="30" name="图片 29"/>
          <p:cNvPicPr>
            <a:picLocks noChangeAspect="1"/>
          </p:cNvPicPr>
          <p:nvPr/>
        </p:nvPicPr>
        <p:blipFill>
          <a:blip r:embed="rId8"/>
          <a:stretch>
            <a:fillRect/>
          </a:stretch>
        </p:blipFill>
        <p:spPr>
          <a:xfrm>
            <a:off x="428625" y="3248025"/>
            <a:ext cx="3195955" cy="1337310"/>
          </a:xfrm>
          <a:prstGeom prst="rect">
            <a:avLst/>
          </a:prstGeom>
        </p:spPr>
      </p:pic>
      <p:graphicFrame>
        <p:nvGraphicFramePr>
          <p:cNvPr id="36" name="对象 35"/>
          <p:cNvGraphicFramePr/>
          <p:nvPr/>
        </p:nvGraphicFramePr>
        <p:xfrm>
          <a:off x="9525635" y="1741805"/>
          <a:ext cx="2527935" cy="2291715"/>
        </p:xfrm>
        <a:graphic>
          <a:graphicData uri="http://schemas.openxmlformats.org/presentationml/2006/ole">
            <mc:AlternateContent xmlns:mc="http://schemas.openxmlformats.org/markup-compatibility/2006">
              <mc:Choice xmlns:v="urn:schemas-microsoft-com:vml" Requires="v">
                <p:oleObj r:id="rId9" imgW="3110230" imgH="2724150" progId="Visio.Drawing.15">
                  <p:embed/>
                </p:oleObj>
              </mc:Choice>
              <mc:Fallback>
                <p:oleObj r:id="rId9" imgW="3110230" imgH="2724150" progId="Visio.Drawing.15">
                  <p:embed/>
                  <p:pic>
                    <p:nvPicPr>
                      <p:cNvPr id="0" name="图片 36"/>
                      <p:cNvPicPr/>
                      <p:nvPr/>
                    </p:nvPicPr>
                    <p:blipFill>
                      <a:blip r:embed="rId10"/>
                      <a:stretch>
                        <a:fillRect/>
                      </a:stretch>
                    </p:blipFill>
                    <p:spPr>
                      <a:xfrm>
                        <a:off x="9525635" y="1741805"/>
                        <a:ext cx="2527935" cy="2291715"/>
                      </a:xfrm>
                      <a:prstGeom prst="rect">
                        <a:avLst/>
                      </a:prstGeom>
                    </p:spPr>
                  </p:pic>
                </p:oleObj>
              </mc:Fallback>
            </mc:AlternateContent>
          </a:graphicData>
        </a:graphic>
      </p:graphicFrame>
      <p:graphicFrame>
        <p:nvGraphicFramePr>
          <p:cNvPr id="38" name="对象 37"/>
          <p:cNvGraphicFramePr/>
          <p:nvPr/>
        </p:nvGraphicFramePr>
        <p:xfrm>
          <a:off x="9516110" y="4216400"/>
          <a:ext cx="2578735" cy="2348865"/>
        </p:xfrm>
        <a:graphic>
          <a:graphicData uri="http://schemas.openxmlformats.org/presentationml/2006/ole">
            <mc:AlternateContent xmlns:mc="http://schemas.openxmlformats.org/markup-compatibility/2006">
              <mc:Choice xmlns:v="urn:schemas-microsoft-com:vml" Requires="v">
                <p:oleObj r:id="rId11" imgW="3110230" imgH="2955925" progId="Visio.Drawing.15">
                  <p:embed/>
                </p:oleObj>
              </mc:Choice>
              <mc:Fallback>
                <p:oleObj r:id="rId11" imgW="3110230" imgH="2955925" progId="Visio.Drawing.15">
                  <p:embed/>
                  <p:pic>
                    <p:nvPicPr>
                      <p:cNvPr id="0" name="图片 38"/>
                      <p:cNvPicPr/>
                      <p:nvPr/>
                    </p:nvPicPr>
                    <p:blipFill>
                      <a:blip r:embed="rId12"/>
                      <a:stretch>
                        <a:fillRect/>
                      </a:stretch>
                    </p:blipFill>
                    <p:spPr>
                      <a:xfrm>
                        <a:off x="9516110" y="4216400"/>
                        <a:ext cx="2578735" cy="2348865"/>
                      </a:xfrm>
                      <a:prstGeom prst="rect">
                        <a:avLst/>
                      </a:prstGeom>
                    </p:spPr>
                  </p:pic>
                </p:oleObj>
              </mc:Fallback>
            </mc:AlternateContent>
          </a:graphicData>
        </a:graphic>
      </p:graphicFrame>
      <p:sp>
        <p:nvSpPr>
          <p:cNvPr id="42" name="直角上箭头 41"/>
          <p:cNvSpPr/>
          <p:nvPr/>
        </p:nvSpPr>
        <p:spPr>
          <a:xfrm rot="16200000" flipH="1">
            <a:off x="4094480" y="3434080"/>
            <a:ext cx="410210" cy="1005840"/>
          </a:xfrm>
          <a:prstGeom prst="bentUpArrow">
            <a:avLst/>
          </a:prstGeom>
          <a:solidFill>
            <a:schemeClr val="bg1">
              <a:lumMod val="75000"/>
            </a:schemeClr>
          </a:solidFill>
          <a:effectLst>
            <a:outerShdw blurRad="50800" dist="381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r"/>
            <a:endParaRPr lang="zh-CN" altLang="en-US"/>
          </a:p>
        </p:txBody>
      </p:sp>
      <p:sp>
        <p:nvSpPr>
          <p:cNvPr id="43" name="直角上箭头 42"/>
          <p:cNvSpPr/>
          <p:nvPr/>
        </p:nvSpPr>
        <p:spPr>
          <a:xfrm rot="16200000" flipV="1">
            <a:off x="6329045" y="3490595"/>
            <a:ext cx="414655" cy="1005840"/>
          </a:xfrm>
          <a:prstGeom prst="bentUpArrow">
            <a:avLst/>
          </a:prstGeom>
          <a:solidFill>
            <a:schemeClr val="bg1">
              <a:lumMod val="75000"/>
            </a:schemeClr>
          </a:solidFill>
          <a:effectLst>
            <a:outerShdw blurRad="50800" dist="38100" algn="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r">
              <a:buClrTx/>
              <a:buSzTx/>
              <a:buFontTx/>
            </a:pPr>
            <a:endParaRPr lang="zh-CN" altLang="en-US">
              <a:sym typeface="+mn-ea"/>
            </a:endParaRPr>
          </a:p>
        </p:txBody>
      </p:sp>
      <p:grpSp>
        <p:nvGrpSpPr>
          <p:cNvPr id="13" name="组合 12">
            <a:extLst>
              <a:ext uri="{FF2B5EF4-FFF2-40B4-BE49-F238E27FC236}">
                <a16:creationId xmlns:a16="http://schemas.microsoft.com/office/drawing/2014/main" id="{2F6002A8-C7EB-1853-1B0F-AC1E6D4C88E5}"/>
              </a:ext>
            </a:extLst>
          </p:cNvPr>
          <p:cNvGrpSpPr/>
          <p:nvPr/>
        </p:nvGrpSpPr>
        <p:grpSpPr>
          <a:xfrm>
            <a:off x="7362828" y="4302966"/>
            <a:ext cx="2004234" cy="1950889"/>
            <a:chOff x="7362828" y="4302966"/>
            <a:chExt cx="2004234" cy="1950889"/>
          </a:xfrm>
        </p:grpSpPr>
        <p:pic>
          <p:nvPicPr>
            <p:cNvPr id="11" name="图片 10" descr="图示, 示意图&#10;&#10;描述已自动生成">
              <a:extLst>
                <a:ext uri="{FF2B5EF4-FFF2-40B4-BE49-F238E27FC236}">
                  <a16:creationId xmlns:a16="http://schemas.microsoft.com/office/drawing/2014/main" id="{8C26E643-B08D-51E9-6241-166D7ADB4F0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362828" y="4302966"/>
              <a:ext cx="2004234" cy="1950889"/>
            </a:xfrm>
            <a:prstGeom prst="rect">
              <a:avLst/>
            </a:prstGeom>
          </p:spPr>
        </p:pic>
        <p:pic>
          <p:nvPicPr>
            <p:cNvPr id="12" name="图片 11">
              <a:extLst>
                <a:ext uri="{FF2B5EF4-FFF2-40B4-BE49-F238E27FC236}">
                  <a16:creationId xmlns:a16="http://schemas.microsoft.com/office/drawing/2014/main" id="{CCBA422C-C664-7E32-46C7-C74CB631F8DA}"/>
                </a:ext>
              </a:extLst>
            </p:cNvPr>
            <p:cNvPicPr>
              <a:picLocks noChangeAspect="1"/>
            </p:cNvPicPr>
            <p:nvPr/>
          </p:nvPicPr>
          <p:blipFill>
            <a:blip r:embed="rId14"/>
            <a:stretch>
              <a:fillRect/>
            </a:stretch>
          </p:blipFill>
          <p:spPr>
            <a:xfrm>
              <a:off x="8899457" y="5933872"/>
              <a:ext cx="428693" cy="261188"/>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2"/>
          <a:stretch>
            <a:fillRect/>
          </a:stretch>
        </p:blipFill>
        <p:spPr>
          <a:xfrm>
            <a:off x="-826135" y="2026920"/>
            <a:ext cx="12947650" cy="5262245"/>
          </a:xfrm>
          <a:prstGeom prst="rect">
            <a:avLst/>
          </a:prstGeom>
        </p:spPr>
      </p:pic>
      <p:sp>
        <p:nvSpPr>
          <p:cNvPr id="11" name="圆角矩形 10"/>
          <p:cNvSpPr/>
          <p:nvPr/>
        </p:nvSpPr>
        <p:spPr>
          <a:xfrm>
            <a:off x="995680" y="2651760"/>
            <a:ext cx="10525760" cy="788670"/>
          </a:xfrm>
          <a:prstGeom prst="roundRect">
            <a:avLst/>
          </a:prstGeom>
          <a:solidFill>
            <a:schemeClr val="accent6">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2" name="圆角矩形 31"/>
          <p:cNvSpPr/>
          <p:nvPr/>
        </p:nvSpPr>
        <p:spPr>
          <a:xfrm>
            <a:off x="1005840" y="1527810"/>
            <a:ext cx="10525760" cy="1059180"/>
          </a:xfrm>
          <a:prstGeom prst="roundRect">
            <a:avLst/>
          </a:prstGeom>
          <a:solidFill>
            <a:schemeClr val="accent4">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pic>
        <p:nvPicPr>
          <p:cNvPr id="5" name="图片 4"/>
          <p:cNvPicPr>
            <a:picLocks noChangeAspect="1"/>
          </p:cNvPicPr>
          <p:nvPr/>
        </p:nvPicPr>
        <p:blipFill>
          <a:blip r:embed="rId3"/>
          <a:srcRect b="8786"/>
          <a:stretch>
            <a:fillRect/>
          </a:stretch>
        </p:blipFill>
        <p:spPr>
          <a:xfrm>
            <a:off x="4445" y="896620"/>
            <a:ext cx="770255" cy="717550"/>
          </a:xfrm>
          <a:prstGeom prst="rect">
            <a:avLst/>
          </a:prstGeom>
        </p:spPr>
      </p:pic>
      <p:pic>
        <p:nvPicPr>
          <p:cNvPr id="2" name="图片 1"/>
          <p:cNvPicPr>
            <a:picLocks noChangeAspect="1"/>
          </p:cNvPicPr>
          <p:nvPr/>
        </p:nvPicPr>
        <p:blipFill>
          <a:blip r:embed="rId4"/>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1.3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研究现状</a:t>
            </a:r>
          </a:p>
        </p:txBody>
      </p:sp>
      <p:sp>
        <p:nvSpPr>
          <p:cNvPr id="3" name="文本框 2"/>
          <p:cNvSpPr txBox="1"/>
          <p:nvPr/>
        </p:nvSpPr>
        <p:spPr>
          <a:xfrm>
            <a:off x="784860" y="1062355"/>
            <a:ext cx="4338955" cy="398780"/>
          </a:xfrm>
          <a:prstGeom prst="rect">
            <a:avLst/>
          </a:prstGeom>
          <a:noFill/>
        </p:spPr>
        <p:txBody>
          <a:bodyPr wrap="square" rtlCol="0" anchor="t">
            <a:spAutoFit/>
          </a:bodyPr>
          <a:lstStyle/>
          <a:p>
            <a:r>
              <a:rPr lang="en-US" altLang="zh-CN" sz="2000" b="1">
                <a:solidFill>
                  <a:schemeClr val="accent6">
                    <a:lumMod val="75000"/>
                  </a:schemeClr>
                </a:solidFill>
                <a:latin typeface="楷体" panose="02010609060101010101" charset="-122"/>
                <a:ea typeface="楷体" panose="02010609060101010101" charset="-122"/>
              </a:rPr>
              <a:t>1.3.3 </a:t>
            </a:r>
            <a:r>
              <a:rPr lang="zh-CN" altLang="en-US" sz="2000" b="1">
                <a:solidFill>
                  <a:schemeClr val="accent6">
                    <a:lumMod val="75000"/>
                  </a:schemeClr>
                </a:solidFill>
                <a:latin typeface="楷体" panose="02010609060101010101" charset="-122"/>
                <a:ea typeface="楷体" panose="02010609060101010101" charset="-122"/>
              </a:rPr>
              <a:t>风电数据分解方法的研究现状</a:t>
            </a:r>
          </a:p>
        </p:txBody>
      </p:sp>
      <p:sp>
        <p:nvSpPr>
          <p:cNvPr id="6" name="文本框 5"/>
          <p:cNvSpPr txBox="1"/>
          <p:nvPr/>
        </p:nvSpPr>
        <p:spPr>
          <a:xfrm>
            <a:off x="995680" y="1555750"/>
            <a:ext cx="10535920" cy="770890"/>
          </a:xfrm>
          <a:prstGeom prst="rect">
            <a:avLst/>
          </a:prstGeom>
        </p:spPr>
        <p:txBody>
          <a:bodyPr>
            <a:noAutofit/>
          </a:bodyPr>
          <a:lstStyle/>
          <a:p>
            <a:pPr marL="0" indent="0" algn="just"/>
            <a:r>
              <a:rPr lang="en-US" altLang="zh-CN" sz="2000" b="1">
                <a:latin typeface="楷体" panose="02010609060101010101" charset="-122"/>
                <a:ea typeface="楷体" panose="02010609060101010101" charset="-122"/>
                <a:cs typeface="楷体" panose="02010609060101010101" charset="-122"/>
                <a:sym typeface="+mn-ea"/>
              </a:rPr>
              <a:t>  </a:t>
            </a:r>
            <a:r>
              <a:rPr lang="zh-CN" altLang="en-US" sz="2000" b="1">
                <a:latin typeface="楷体" panose="02010609060101010101" charset="-122"/>
                <a:ea typeface="楷体" panose="02010609060101010101" charset="-122"/>
                <a:cs typeface="楷体" panose="02010609060101010101" charset="-122"/>
                <a:sym typeface="+mn-ea"/>
              </a:rPr>
              <a:t>研究结果表明，</a:t>
            </a:r>
            <a:r>
              <a:rPr lang="zh-CN" altLang="en-US" sz="2000" b="1">
                <a:solidFill>
                  <a:srgbClr val="FF0000"/>
                </a:solidFill>
                <a:latin typeface="楷体" panose="02010609060101010101" charset="-122"/>
                <a:ea typeface="楷体" panose="02010609060101010101" charset="-122"/>
                <a:cs typeface="楷体" panose="02010609060101010101" charset="-122"/>
                <a:sym typeface="+mn-ea"/>
              </a:rPr>
              <a:t>分解方法对提高风电功率预测精度起着至关重要的作用</a:t>
            </a:r>
            <a:r>
              <a:rPr lang="zh-CN" altLang="en-US" sz="2000" b="1">
                <a:latin typeface="楷体" panose="02010609060101010101" charset="-122"/>
                <a:ea typeface="楷体" panose="02010609060101010101" charset="-122"/>
                <a:cs typeface="楷体" panose="02010609060101010101" charset="-122"/>
                <a:sym typeface="+mn-ea"/>
              </a:rPr>
              <a:t>。</a:t>
            </a:r>
            <a:r>
              <a:rPr lang="zh-CN" altLang="en-US" sz="2000" b="1" i="0">
                <a:latin typeface="楷体" panose="02010609060101010101" charset="-122"/>
                <a:ea typeface="楷体" panose="02010609060101010101" charset="-122"/>
                <a:cs typeface="楷体" panose="02010609060101010101" charset="-122"/>
              </a:rPr>
              <a:t>多种分解方法已应用于风电功率预测领域，如</a:t>
            </a:r>
            <a:r>
              <a:rPr lang="zh-CN" altLang="en-US" sz="2000" b="1" i="0">
                <a:solidFill>
                  <a:schemeClr val="tx1"/>
                </a:solidFill>
                <a:latin typeface="楷体" panose="02010609060101010101" charset="-122"/>
                <a:ea typeface="楷体" panose="02010609060101010101" charset="-122"/>
                <a:cs typeface="楷体" panose="02010609060101010101" charset="-122"/>
              </a:rPr>
              <a:t>完全自适应噪声集合经验模态分解</a:t>
            </a:r>
            <a:r>
              <a:rPr lang="zh-CN" altLang="en-US" sz="2000" b="1" i="0">
                <a:solidFill>
                  <a:srgbClr val="FF0000"/>
                </a:solidFill>
                <a:latin typeface="Times New Roman" panose="02020603050405020304" pitchFamily="18" charset="0"/>
                <a:ea typeface="楷体" panose="02010609060101010101" charset="-122"/>
                <a:cs typeface="Times New Roman" panose="02020603050405020304" pitchFamily="18" charset="0"/>
              </a:rPr>
              <a:t>CEEMDAN</a:t>
            </a:r>
            <a:r>
              <a:rPr lang="zh-CN" altLang="en-US" sz="2000" b="1" i="0">
                <a:solidFill>
                  <a:srgbClr val="FF0000"/>
                </a:solidFill>
                <a:latin typeface="楷体" panose="02010609060101010101" charset="-122"/>
                <a:ea typeface="楷体" panose="02010609060101010101" charset="-122"/>
                <a:cs typeface="楷体" panose="02010609060101010101" charset="-122"/>
              </a:rPr>
              <a:t>、</a:t>
            </a:r>
            <a:r>
              <a:rPr lang="zh-CN" altLang="en-US" sz="2000" b="1" i="0">
                <a:solidFill>
                  <a:schemeClr val="tx1"/>
                </a:solidFill>
                <a:latin typeface="楷体" panose="02010609060101010101" charset="-122"/>
                <a:ea typeface="楷体" panose="02010609060101010101" charset="-122"/>
                <a:cs typeface="楷体" panose="02010609060101010101" charset="-122"/>
              </a:rPr>
              <a:t>经验小波变换</a:t>
            </a:r>
            <a:r>
              <a:rPr lang="zh-CN" altLang="en-US" sz="2000" b="1" i="0">
                <a:solidFill>
                  <a:srgbClr val="FF0000"/>
                </a:solidFill>
                <a:latin typeface="Times New Roman" panose="02020603050405020304" pitchFamily="18" charset="0"/>
                <a:ea typeface="楷体" panose="02010609060101010101" charset="-122"/>
                <a:cs typeface="Times New Roman" panose="02020603050405020304" pitchFamily="18" charset="0"/>
              </a:rPr>
              <a:t>EWT</a:t>
            </a:r>
            <a:r>
              <a:rPr lang="zh-CN" altLang="en-US" sz="2000" b="1" i="0">
                <a:solidFill>
                  <a:schemeClr val="tx1"/>
                </a:solidFill>
                <a:latin typeface="楷体" panose="02010609060101010101" charset="-122"/>
                <a:ea typeface="楷体" panose="02010609060101010101" charset="-122"/>
                <a:cs typeface="楷体" panose="02010609060101010101" charset="-122"/>
              </a:rPr>
              <a:t>和变分模态分解</a:t>
            </a:r>
            <a:r>
              <a:rPr lang="zh-CN" altLang="en-US" sz="2000" b="1" i="0">
                <a:solidFill>
                  <a:srgbClr val="FF0000"/>
                </a:solidFill>
                <a:latin typeface="Times New Roman" panose="02020603050405020304" pitchFamily="18" charset="0"/>
                <a:ea typeface="楷体" panose="02010609060101010101" charset="-122"/>
                <a:cs typeface="Times New Roman" panose="02020603050405020304" pitchFamily="18" charset="0"/>
              </a:rPr>
              <a:t>VMD</a:t>
            </a:r>
            <a:r>
              <a:rPr lang="zh-CN" altLang="en-US" sz="2000" b="1" i="0">
                <a:latin typeface="楷体" panose="02010609060101010101" charset="-122"/>
                <a:ea typeface="楷体" panose="02010609060101010101" charset="-122"/>
                <a:cs typeface="楷体" panose="02010609060101010101" charset="-122"/>
              </a:rPr>
              <a:t>。</a:t>
            </a:r>
          </a:p>
        </p:txBody>
      </p:sp>
      <p:sp>
        <p:nvSpPr>
          <p:cNvPr id="7" name="文本框 6"/>
          <p:cNvSpPr txBox="1"/>
          <p:nvPr/>
        </p:nvSpPr>
        <p:spPr>
          <a:xfrm>
            <a:off x="1005840" y="2721610"/>
            <a:ext cx="10535920" cy="706755"/>
          </a:xfrm>
          <a:prstGeom prst="rect">
            <a:avLst/>
          </a:prstGeom>
        </p:spPr>
        <p:txBody>
          <a:bodyPr wrap="square">
            <a:spAutoFit/>
          </a:bodyPr>
          <a:lstStyle/>
          <a:p>
            <a:pPr marL="0" indent="0" algn="just"/>
            <a:r>
              <a:rPr lang="en-US" altLang="zh-CN" sz="2000" b="1" i="0">
                <a:latin typeface="楷体" panose="02010609060101010101" charset="-122"/>
                <a:ea typeface="楷体" panose="02010609060101010101" charset="-122"/>
                <a:cs typeface="楷体" panose="02010609060101010101" charset="-122"/>
              </a:rPr>
              <a:t>  </a:t>
            </a:r>
            <a:r>
              <a:rPr lang="zh-CN" altLang="en-US" sz="2000" b="1" i="0">
                <a:latin typeface="楷体" panose="02010609060101010101" charset="-122"/>
                <a:ea typeface="楷体" panose="02010609060101010101" charset="-122"/>
                <a:cs typeface="楷体" panose="02010609060101010101" charset="-122"/>
              </a:rPr>
              <a:t>然而，由于单一的分解方法有时难以全面提取有效的风电功率信息，因此一些学者引入了</a:t>
            </a:r>
            <a:r>
              <a:rPr lang="zh-CN" altLang="en-US" sz="2000" b="1" i="0">
                <a:solidFill>
                  <a:srgbClr val="FF0000"/>
                </a:solidFill>
                <a:latin typeface="楷体" panose="02010609060101010101" charset="-122"/>
                <a:ea typeface="楷体" panose="02010609060101010101" charset="-122"/>
                <a:cs typeface="楷体" panose="02010609060101010101" charset="-122"/>
              </a:rPr>
              <a:t>组合分解方法</a:t>
            </a:r>
            <a:r>
              <a:rPr lang="zh-CN" altLang="en-US" sz="2000" b="1" i="0">
                <a:latin typeface="楷体" panose="02010609060101010101" charset="-122"/>
                <a:ea typeface="楷体" panose="02010609060101010101" charset="-122"/>
                <a:cs typeface="楷体" panose="02010609060101010101" charset="-122"/>
              </a:rPr>
              <a:t>、</a:t>
            </a:r>
            <a:r>
              <a:rPr lang="zh-CN" altLang="en-US" sz="2000" b="1" i="0">
                <a:solidFill>
                  <a:srgbClr val="FF0000"/>
                </a:solidFill>
                <a:latin typeface="楷体" panose="02010609060101010101" charset="-122"/>
                <a:ea typeface="楷体" panose="02010609060101010101" charset="-122"/>
                <a:cs typeface="楷体" panose="02010609060101010101" charset="-122"/>
              </a:rPr>
              <a:t>二次分解方法</a:t>
            </a:r>
            <a:r>
              <a:rPr lang="zh-CN" altLang="en-US" sz="2000" b="1" i="0">
                <a:solidFill>
                  <a:schemeClr val="tx1"/>
                </a:solidFill>
                <a:latin typeface="楷体" panose="02010609060101010101" charset="-122"/>
                <a:ea typeface="楷体" panose="02010609060101010101" charset="-122"/>
                <a:cs typeface="楷体" panose="02010609060101010101" charset="-122"/>
              </a:rPr>
              <a:t>等技术。</a:t>
            </a: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矩形: 圆角 93"/>
          <p:cNvSpPr/>
          <p:nvPr/>
        </p:nvSpPr>
        <p:spPr>
          <a:xfrm>
            <a:off x="17780" y="825500"/>
            <a:ext cx="5354320" cy="543560"/>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zh-CN" altLang="en-US" b="1" dirty="0">
                <a:solidFill>
                  <a:schemeClr val="accent6">
                    <a:lumMod val="75000"/>
                  </a:schemeClr>
                </a:solidFill>
                <a:latin typeface="楷体" panose="02010609060101010101" charset="-122"/>
                <a:ea typeface="楷体" panose="02010609060101010101" charset="-122"/>
                <a:sym typeface="+mn-ea"/>
              </a:rPr>
              <a:t>总结基于人工智能技术的风电功率预测研究框架</a:t>
            </a:r>
          </a:p>
        </p:txBody>
      </p:sp>
      <p:sp>
        <p:nvSpPr>
          <p:cNvPr id="34" name="矩形 33"/>
          <p:cNvSpPr/>
          <p:nvPr>
            <p:custDataLst>
              <p:tags r:id="rId1"/>
            </p:custDataLst>
          </p:nvPr>
        </p:nvSpPr>
        <p:spPr>
          <a:xfrm>
            <a:off x="1229995" y="1303655"/>
            <a:ext cx="6694170" cy="479425"/>
          </a:xfrm>
          <a:prstGeom prst="rect">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4" name="矩形 13"/>
          <p:cNvSpPr/>
          <p:nvPr>
            <p:custDataLst>
              <p:tags r:id="rId2"/>
            </p:custDataLst>
          </p:nvPr>
        </p:nvSpPr>
        <p:spPr>
          <a:xfrm>
            <a:off x="139636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建设规划</a:t>
            </a:r>
          </a:p>
        </p:txBody>
      </p:sp>
      <p:sp>
        <p:nvSpPr>
          <p:cNvPr id="15" name="矩形 14"/>
          <p:cNvSpPr/>
          <p:nvPr>
            <p:custDataLst>
              <p:tags r:id="rId3"/>
            </p:custDataLst>
          </p:nvPr>
        </p:nvSpPr>
        <p:spPr>
          <a:xfrm>
            <a:off x="218376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优化调度</a:t>
            </a:r>
          </a:p>
        </p:txBody>
      </p:sp>
      <p:sp>
        <p:nvSpPr>
          <p:cNvPr id="10" name="矩形 9"/>
          <p:cNvSpPr/>
          <p:nvPr>
            <p:custDataLst>
              <p:tags r:id="rId4"/>
            </p:custDataLst>
          </p:nvPr>
        </p:nvSpPr>
        <p:spPr>
          <a:xfrm>
            <a:off x="297116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经济运行</a:t>
            </a:r>
          </a:p>
        </p:txBody>
      </p:sp>
      <p:sp>
        <p:nvSpPr>
          <p:cNvPr id="11" name="矩形 10"/>
          <p:cNvSpPr/>
          <p:nvPr>
            <p:custDataLst>
              <p:tags r:id="rId5"/>
            </p:custDataLst>
          </p:nvPr>
        </p:nvSpPr>
        <p:spPr>
          <a:xfrm>
            <a:off x="375856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sym typeface="+mn-ea"/>
              </a:rPr>
              <a:t>系统稳定</a:t>
            </a:r>
            <a:endParaRPr lang="zh-CN" altLang="en-US" sz="900" b="1">
              <a:solidFill>
                <a:schemeClr val="tx1"/>
              </a:solidFill>
            </a:endParaRPr>
          </a:p>
        </p:txBody>
      </p:sp>
      <p:sp>
        <p:nvSpPr>
          <p:cNvPr id="12" name="矩形 11"/>
          <p:cNvSpPr/>
          <p:nvPr>
            <p:custDataLst>
              <p:tags r:id="rId6"/>
            </p:custDataLst>
          </p:nvPr>
        </p:nvSpPr>
        <p:spPr>
          <a:xfrm>
            <a:off x="454596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监视控制</a:t>
            </a:r>
          </a:p>
        </p:txBody>
      </p:sp>
      <p:sp>
        <p:nvSpPr>
          <p:cNvPr id="19" name="矩形 18"/>
          <p:cNvSpPr/>
          <p:nvPr>
            <p:custDataLst>
              <p:tags r:id="rId7"/>
            </p:custDataLst>
          </p:nvPr>
        </p:nvSpPr>
        <p:spPr>
          <a:xfrm>
            <a:off x="533336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检修计划</a:t>
            </a:r>
          </a:p>
        </p:txBody>
      </p:sp>
      <p:sp>
        <p:nvSpPr>
          <p:cNvPr id="20" name="矩形 19"/>
          <p:cNvSpPr/>
          <p:nvPr>
            <p:custDataLst>
              <p:tags r:id="rId8"/>
            </p:custDataLst>
          </p:nvPr>
        </p:nvSpPr>
        <p:spPr>
          <a:xfrm>
            <a:off x="6120765" y="1377315"/>
            <a:ext cx="7613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供电可靠</a:t>
            </a:r>
          </a:p>
        </p:txBody>
      </p:sp>
      <p:sp>
        <p:nvSpPr>
          <p:cNvPr id="35" name="矩形 34"/>
          <p:cNvSpPr/>
          <p:nvPr>
            <p:custDataLst>
              <p:tags r:id="rId9"/>
            </p:custDataLst>
          </p:nvPr>
        </p:nvSpPr>
        <p:spPr>
          <a:xfrm>
            <a:off x="8451850" y="1383665"/>
            <a:ext cx="3160395" cy="2660650"/>
          </a:xfrm>
          <a:prstGeom prst="rect">
            <a:avLst/>
          </a:prstGeom>
          <a:solidFill>
            <a:schemeClr val="bg1"/>
          </a:solid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1" name="矩形 20"/>
          <p:cNvSpPr/>
          <p:nvPr>
            <p:custDataLst>
              <p:tags r:id="rId10"/>
            </p:custDataLst>
          </p:nvPr>
        </p:nvSpPr>
        <p:spPr>
          <a:xfrm>
            <a:off x="7009765" y="1377315"/>
            <a:ext cx="659765" cy="32956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绿色环保</a:t>
            </a:r>
          </a:p>
        </p:txBody>
      </p:sp>
      <p:sp>
        <p:nvSpPr>
          <p:cNvPr id="22" name="矩形 21"/>
          <p:cNvSpPr/>
          <p:nvPr>
            <p:custDataLst>
              <p:tags r:id="rId11"/>
            </p:custDataLst>
          </p:nvPr>
        </p:nvSpPr>
        <p:spPr>
          <a:xfrm>
            <a:off x="9152890" y="1595120"/>
            <a:ext cx="21355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面向数据匮乏场景的风电功率预测技术</a:t>
            </a:r>
          </a:p>
        </p:txBody>
      </p:sp>
      <p:sp>
        <p:nvSpPr>
          <p:cNvPr id="23" name="矩形 22"/>
          <p:cNvSpPr/>
          <p:nvPr>
            <p:custDataLst>
              <p:tags r:id="rId12"/>
            </p:custDataLst>
          </p:nvPr>
        </p:nvSpPr>
        <p:spPr>
          <a:xfrm>
            <a:off x="9152890" y="1934845"/>
            <a:ext cx="21355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基于多源数据融合的概率预测技术</a:t>
            </a:r>
          </a:p>
        </p:txBody>
      </p:sp>
      <p:sp>
        <p:nvSpPr>
          <p:cNvPr id="26" name="矩形 25"/>
          <p:cNvSpPr/>
          <p:nvPr>
            <p:custDataLst>
              <p:tags r:id="rId13"/>
            </p:custDataLst>
          </p:nvPr>
        </p:nvSpPr>
        <p:spPr>
          <a:xfrm>
            <a:off x="8576310" y="1544955"/>
            <a:ext cx="304800" cy="69596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数据角度</a:t>
            </a:r>
          </a:p>
        </p:txBody>
      </p:sp>
      <p:sp>
        <p:nvSpPr>
          <p:cNvPr id="27" name="矩形 26"/>
          <p:cNvSpPr/>
          <p:nvPr>
            <p:custDataLst>
              <p:tags r:id="rId14"/>
            </p:custDataLst>
          </p:nvPr>
        </p:nvSpPr>
        <p:spPr>
          <a:xfrm>
            <a:off x="8881110" y="1544955"/>
            <a:ext cx="2571750" cy="69596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28" name="矩形 27"/>
          <p:cNvSpPr/>
          <p:nvPr>
            <p:custDataLst>
              <p:tags r:id="rId15"/>
            </p:custDataLst>
          </p:nvPr>
        </p:nvSpPr>
        <p:spPr>
          <a:xfrm>
            <a:off x="9152890" y="2493010"/>
            <a:ext cx="21355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基于集成学习的自适应风电功率预测</a:t>
            </a:r>
          </a:p>
        </p:txBody>
      </p:sp>
      <p:sp>
        <p:nvSpPr>
          <p:cNvPr id="29" name="矩形 28"/>
          <p:cNvSpPr/>
          <p:nvPr>
            <p:custDataLst>
              <p:tags r:id="rId16"/>
            </p:custDataLst>
          </p:nvPr>
        </p:nvSpPr>
        <p:spPr>
          <a:xfrm>
            <a:off x="9152890" y="2861945"/>
            <a:ext cx="21355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基于深度神经网络的风电功率预测技术</a:t>
            </a:r>
          </a:p>
        </p:txBody>
      </p:sp>
      <p:sp>
        <p:nvSpPr>
          <p:cNvPr id="13" name="矩形 12"/>
          <p:cNvSpPr/>
          <p:nvPr>
            <p:custDataLst>
              <p:tags r:id="rId17"/>
            </p:custDataLst>
          </p:nvPr>
        </p:nvSpPr>
        <p:spPr>
          <a:xfrm>
            <a:off x="9152890" y="3230880"/>
            <a:ext cx="21355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基于自动机器学习的</a:t>
            </a:r>
            <a:r>
              <a:rPr lang="zh-CN" altLang="en-US" sz="900" b="1">
                <a:solidFill>
                  <a:schemeClr val="tx1"/>
                </a:solidFill>
                <a:sym typeface="+mn-ea"/>
              </a:rPr>
              <a:t>风电功率</a:t>
            </a:r>
            <a:r>
              <a:rPr lang="zh-CN" altLang="en-US" sz="900" b="1">
                <a:solidFill>
                  <a:schemeClr val="tx1"/>
                </a:solidFill>
              </a:rPr>
              <a:t>预测技术</a:t>
            </a:r>
          </a:p>
        </p:txBody>
      </p:sp>
      <p:sp>
        <p:nvSpPr>
          <p:cNvPr id="31" name="矩形 30"/>
          <p:cNvSpPr/>
          <p:nvPr>
            <p:custDataLst>
              <p:tags r:id="rId18"/>
            </p:custDataLst>
          </p:nvPr>
        </p:nvSpPr>
        <p:spPr>
          <a:xfrm>
            <a:off x="9152890" y="3599815"/>
            <a:ext cx="21355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考虑模型可解释性的</a:t>
            </a:r>
            <a:r>
              <a:rPr lang="zh-CN" altLang="en-US" sz="900" b="1">
                <a:solidFill>
                  <a:schemeClr val="tx1"/>
                </a:solidFill>
                <a:sym typeface="+mn-ea"/>
              </a:rPr>
              <a:t>风电功率</a:t>
            </a:r>
            <a:r>
              <a:rPr lang="zh-CN" altLang="en-US" sz="900" b="1">
                <a:solidFill>
                  <a:schemeClr val="tx1"/>
                </a:solidFill>
              </a:rPr>
              <a:t>预测技术</a:t>
            </a:r>
          </a:p>
        </p:txBody>
      </p:sp>
      <p:sp>
        <p:nvSpPr>
          <p:cNvPr id="32" name="矩形 31"/>
          <p:cNvSpPr/>
          <p:nvPr>
            <p:custDataLst>
              <p:tags r:id="rId19"/>
            </p:custDataLst>
          </p:nvPr>
        </p:nvSpPr>
        <p:spPr>
          <a:xfrm>
            <a:off x="8881745" y="2432050"/>
            <a:ext cx="2625090" cy="146431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33" name="矩形 32"/>
          <p:cNvSpPr/>
          <p:nvPr>
            <p:custDataLst>
              <p:tags r:id="rId20"/>
            </p:custDataLst>
          </p:nvPr>
        </p:nvSpPr>
        <p:spPr>
          <a:xfrm>
            <a:off x="8576310" y="2432050"/>
            <a:ext cx="304800" cy="146431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模型角度</a:t>
            </a:r>
          </a:p>
        </p:txBody>
      </p:sp>
      <p:sp>
        <p:nvSpPr>
          <p:cNvPr id="38" name="矩形 37"/>
          <p:cNvSpPr/>
          <p:nvPr>
            <p:custDataLst>
              <p:tags r:id="rId21"/>
            </p:custDataLst>
          </p:nvPr>
        </p:nvSpPr>
        <p:spPr>
          <a:xfrm>
            <a:off x="2581910" y="2029460"/>
            <a:ext cx="4425950" cy="845820"/>
          </a:xfrm>
          <a:prstGeom prst="rect">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9" name="矩形 38"/>
          <p:cNvSpPr/>
          <p:nvPr>
            <p:custDataLst>
              <p:tags r:id="rId22"/>
            </p:custDataLst>
          </p:nvPr>
        </p:nvSpPr>
        <p:spPr>
          <a:xfrm>
            <a:off x="1228725" y="3116580"/>
            <a:ext cx="6694170" cy="2778760"/>
          </a:xfrm>
          <a:prstGeom prst="rect">
            <a:avLst/>
          </a:prstGeom>
          <a:solidFill>
            <a:schemeClr val="bg1"/>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7" name="矩形 36"/>
          <p:cNvSpPr/>
          <p:nvPr>
            <p:custDataLst>
              <p:tags r:id="rId23"/>
            </p:custDataLst>
          </p:nvPr>
        </p:nvSpPr>
        <p:spPr>
          <a:xfrm>
            <a:off x="3114675" y="2492375"/>
            <a:ext cx="55562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短期</a:t>
            </a:r>
          </a:p>
        </p:txBody>
      </p:sp>
      <p:sp>
        <p:nvSpPr>
          <p:cNvPr id="40" name="矩形 39"/>
          <p:cNvSpPr/>
          <p:nvPr>
            <p:custDataLst>
              <p:tags r:id="rId24"/>
            </p:custDataLst>
          </p:nvPr>
        </p:nvSpPr>
        <p:spPr>
          <a:xfrm>
            <a:off x="1992630" y="6140450"/>
            <a:ext cx="5378450" cy="645795"/>
          </a:xfrm>
          <a:prstGeom prst="rect">
            <a:avLst/>
          </a:prstGeom>
          <a:solidFill>
            <a:schemeClr val="bg1"/>
          </a:solidFill>
          <a:ln w="190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1" name="矩形 40"/>
          <p:cNvSpPr/>
          <p:nvPr>
            <p:custDataLst>
              <p:tags r:id="rId25"/>
            </p:custDataLst>
          </p:nvPr>
        </p:nvSpPr>
        <p:spPr>
          <a:xfrm>
            <a:off x="3773805" y="2171700"/>
            <a:ext cx="55562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中期</a:t>
            </a:r>
          </a:p>
        </p:txBody>
      </p:sp>
      <p:sp>
        <p:nvSpPr>
          <p:cNvPr id="43" name="矩形 42"/>
          <p:cNvSpPr/>
          <p:nvPr>
            <p:custDataLst>
              <p:tags r:id="rId26"/>
            </p:custDataLst>
          </p:nvPr>
        </p:nvSpPr>
        <p:spPr>
          <a:xfrm>
            <a:off x="3773170" y="2492375"/>
            <a:ext cx="55562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超短期</a:t>
            </a:r>
          </a:p>
        </p:txBody>
      </p:sp>
      <p:sp>
        <p:nvSpPr>
          <p:cNvPr id="44" name="矩形 43"/>
          <p:cNvSpPr/>
          <p:nvPr>
            <p:custDataLst>
              <p:tags r:id="rId27"/>
            </p:custDataLst>
          </p:nvPr>
        </p:nvSpPr>
        <p:spPr>
          <a:xfrm>
            <a:off x="2748280" y="2097405"/>
            <a:ext cx="263525" cy="71374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时间维度</a:t>
            </a:r>
          </a:p>
        </p:txBody>
      </p:sp>
      <p:sp>
        <p:nvSpPr>
          <p:cNvPr id="45" name="矩形 44"/>
          <p:cNvSpPr/>
          <p:nvPr>
            <p:custDataLst>
              <p:tags r:id="rId28"/>
            </p:custDataLst>
          </p:nvPr>
        </p:nvSpPr>
        <p:spPr>
          <a:xfrm>
            <a:off x="3011805" y="2097405"/>
            <a:ext cx="1398270" cy="71374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46" name="矩形 45"/>
          <p:cNvSpPr/>
          <p:nvPr>
            <p:custDataLst>
              <p:tags r:id="rId29"/>
            </p:custDataLst>
          </p:nvPr>
        </p:nvSpPr>
        <p:spPr>
          <a:xfrm>
            <a:off x="3114675" y="2171700"/>
            <a:ext cx="55626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长期</a:t>
            </a:r>
          </a:p>
        </p:txBody>
      </p:sp>
      <p:sp>
        <p:nvSpPr>
          <p:cNvPr id="48" name="矩形 47"/>
          <p:cNvSpPr/>
          <p:nvPr>
            <p:custDataLst>
              <p:tags r:id="rId30"/>
            </p:custDataLst>
          </p:nvPr>
        </p:nvSpPr>
        <p:spPr>
          <a:xfrm>
            <a:off x="4521200" y="2097405"/>
            <a:ext cx="263525" cy="71374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预测模型</a:t>
            </a:r>
          </a:p>
        </p:txBody>
      </p:sp>
      <p:sp>
        <p:nvSpPr>
          <p:cNvPr id="49" name="矩形 48"/>
          <p:cNvSpPr/>
          <p:nvPr>
            <p:custDataLst>
              <p:tags r:id="rId31"/>
            </p:custDataLst>
          </p:nvPr>
        </p:nvSpPr>
        <p:spPr>
          <a:xfrm>
            <a:off x="4784725" y="2097405"/>
            <a:ext cx="2014855" cy="71374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52" name="矩形 51"/>
          <p:cNvSpPr/>
          <p:nvPr>
            <p:custDataLst>
              <p:tags r:id="rId32"/>
            </p:custDataLst>
          </p:nvPr>
        </p:nvSpPr>
        <p:spPr>
          <a:xfrm>
            <a:off x="4838065" y="2171700"/>
            <a:ext cx="78740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物理模型</a:t>
            </a:r>
          </a:p>
        </p:txBody>
      </p:sp>
      <p:sp>
        <p:nvSpPr>
          <p:cNvPr id="53" name="矩形 52"/>
          <p:cNvSpPr/>
          <p:nvPr>
            <p:custDataLst>
              <p:tags r:id="rId33"/>
            </p:custDataLst>
          </p:nvPr>
        </p:nvSpPr>
        <p:spPr>
          <a:xfrm>
            <a:off x="5678805" y="2171700"/>
            <a:ext cx="108902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统计模型</a:t>
            </a:r>
          </a:p>
        </p:txBody>
      </p:sp>
      <p:sp>
        <p:nvSpPr>
          <p:cNvPr id="56" name="矩形 55"/>
          <p:cNvSpPr/>
          <p:nvPr>
            <p:custDataLst>
              <p:tags r:id="rId34"/>
            </p:custDataLst>
          </p:nvPr>
        </p:nvSpPr>
        <p:spPr>
          <a:xfrm>
            <a:off x="4837430" y="2493010"/>
            <a:ext cx="192405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基于人工智能预测方法</a:t>
            </a:r>
          </a:p>
        </p:txBody>
      </p:sp>
      <p:sp>
        <p:nvSpPr>
          <p:cNvPr id="59" name="矩形 58"/>
          <p:cNvSpPr/>
          <p:nvPr>
            <p:custDataLst>
              <p:tags r:id="rId35"/>
            </p:custDataLst>
          </p:nvPr>
        </p:nvSpPr>
        <p:spPr>
          <a:xfrm>
            <a:off x="2099945" y="3251835"/>
            <a:ext cx="222758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确定性模型（点预测、连续曲线预测）</a:t>
            </a:r>
          </a:p>
        </p:txBody>
      </p:sp>
      <p:sp>
        <p:nvSpPr>
          <p:cNvPr id="24" name="矩形 23"/>
          <p:cNvSpPr/>
          <p:nvPr>
            <p:custDataLst>
              <p:tags r:id="rId36"/>
            </p:custDataLst>
          </p:nvPr>
        </p:nvSpPr>
        <p:spPr>
          <a:xfrm>
            <a:off x="1397000" y="3165475"/>
            <a:ext cx="6374765" cy="40703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25" name="矩形 24"/>
          <p:cNvSpPr/>
          <p:nvPr>
            <p:custDataLst>
              <p:tags r:id="rId37"/>
            </p:custDataLst>
          </p:nvPr>
        </p:nvSpPr>
        <p:spPr>
          <a:xfrm>
            <a:off x="1395095" y="3809365"/>
            <a:ext cx="6374765" cy="203898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36" name="文本框 35"/>
          <p:cNvSpPr txBox="1"/>
          <p:nvPr>
            <p:custDataLst>
              <p:tags r:id="rId38"/>
            </p:custDataLst>
          </p:nvPr>
        </p:nvSpPr>
        <p:spPr>
          <a:xfrm>
            <a:off x="1495425" y="3142615"/>
            <a:ext cx="403225" cy="460375"/>
          </a:xfrm>
          <a:prstGeom prst="rect">
            <a:avLst/>
          </a:prstGeom>
          <a:noFill/>
        </p:spPr>
        <p:txBody>
          <a:bodyPr wrap="square" rtlCol="0">
            <a:spAutoFit/>
          </a:bodyPr>
          <a:lstStyle/>
          <a:p>
            <a:r>
              <a:rPr lang="zh-CN" altLang="en-US" sz="800" b="1"/>
              <a:t>预测结果形式</a:t>
            </a:r>
          </a:p>
        </p:txBody>
      </p:sp>
      <p:sp>
        <p:nvSpPr>
          <p:cNvPr id="42" name="矩形 41"/>
          <p:cNvSpPr/>
          <p:nvPr>
            <p:custDataLst>
              <p:tags r:id="rId39"/>
            </p:custDataLst>
          </p:nvPr>
        </p:nvSpPr>
        <p:spPr>
          <a:xfrm>
            <a:off x="4785360" y="3251835"/>
            <a:ext cx="222504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概率模型（区间预测、概率密度预测）</a:t>
            </a:r>
          </a:p>
        </p:txBody>
      </p:sp>
      <p:sp>
        <p:nvSpPr>
          <p:cNvPr id="47" name="矩形 46"/>
          <p:cNvSpPr/>
          <p:nvPr>
            <p:custDataLst>
              <p:tags r:id="rId40"/>
            </p:custDataLst>
          </p:nvPr>
        </p:nvSpPr>
        <p:spPr>
          <a:xfrm>
            <a:off x="1493520" y="3856990"/>
            <a:ext cx="263525" cy="97218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机器学习</a:t>
            </a:r>
          </a:p>
        </p:txBody>
      </p:sp>
      <p:sp>
        <p:nvSpPr>
          <p:cNvPr id="58" name="矩形 57"/>
          <p:cNvSpPr/>
          <p:nvPr>
            <p:custDataLst>
              <p:tags r:id="rId41"/>
            </p:custDataLst>
          </p:nvPr>
        </p:nvSpPr>
        <p:spPr>
          <a:xfrm>
            <a:off x="1493520" y="4963160"/>
            <a:ext cx="263525" cy="84201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相关性分析</a:t>
            </a:r>
          </a:p>
        </p:txBody>
      </p:sp>
      <p:sp>
        <p:nvSpPr>
          <p:cNvPr id="63" name="矩形 62"/>
          <p:cNvSpPr/>
          <p:nvPr>
            <p:custDataLst>
              <p:tags r:id="rId42"/>
            </p:custDataLst>
          </p:nvPr>
        </p:nvSpPr>
        <p:spPr>
          <a:xfrm>
            <a:off x="2159000"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气象条件</a:t>
            </a:r>
          </a:p>
        </p:txBody>
      </p:sp>
      <p:sp>
        <p:nvSpPr>
          <p:cNvPr id="64" name="矩形 63"/>
          <p:cNvSpPr/>
          <p:nvPr>
            <p:custDataLst>
              <p:tags r:id="rId43"/>
            </p:custDataLst>
          </p:nvPr>
        </p:nvSpPr>
        <p:spPr>
          <a:xfrm>
            <a:off x="1757045" y="3856990"/>
            <a:ext cx="2320290" cy="97282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65" name="矩形 64"/>
          <p:cNvSpPr/>
          <p:nvPr>
            <p:custDataLst>
              <p:tags r:id="rId44"/>
            </p:custDataLst>
          </p:nvPr>
        </p:nvSpPr>
        <p:spPr>
          <a:xfrm>
            <a:off x="1814830" y="3905250"/>
            <a:ext cx="87439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支持向量回归</a:t>
            </a:r>
          </a:p>
        </p:txBody>
      </p:sp>
      <p:sp>
        <p:nvSpPr>
          <p:cNvPr id="66" name="矩形 65"/>
          <p:cNvSpPr/>
          <p:nvPr>
            <p:custDataLst>
              <p:tags r:id="rId45"/>
            </p:custDataLst>
          </p:nvPr>
        </p:nvSpPr>
        <p:spPr>
          <a:xfrm>
            <a:off x="2760345" y="3905250"/>
            <a:ext cx="54038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决策树</a:t>
            </a:r>
          </a:p>
        </p:txBody>
      </p:sp>
      <p:sp>
        <p:nvSpPr>
          <p:cNvPr id="67" name="矩形 66"/>
          <p:cNvSpPr/>
          <p:nvPr>
            <p:custDataLst>
              <p:tags r:id="rId46"/>
            </p:custDataLst>
          </p:nvPr>
        </p:nvSpPr>
        <p:spPr>
          <a:xfrm>
            <a:off x="3366135" y="3905250"/>
            <a:ext cx="65341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随机森林</a:t>
            </a:r>
          </a:p>
        </p:txBody>
      </p:sp>
      <p:sp>
        <p:nvSpPr>
          <p:cNvPr id="68" name="矩形 67"/>
          <p:cNvSpPr/>
          <p:nvPr>
            <p:custDataLst>
              <p:tags r:id="rId47"/>
            </p:custDataLst>
          </p:nvPr>
        </p:nvSpPr>
        <p:spPr>
          <a:xfrm>
            <a:off x="1814830" y="4222750"/>
            <a:ext cx="87439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人工神经网络</a:t>
            </a:r>
          </a:p>
        </p:txBody>
      </p:sp>
      <p:sp>
        <p:nvSpPr>
          <p:cNvPr id="69" name="矩形 68"/>
          <p:cNvSpPr/>
          <p:nvPr>
            <p:custDataLst>
              <p:tags r:id="rId48"/>
            </p:custDataLst>
          </p:nvPr>
        </p:nvSpPr>
        <p:spPr>
          <a:xfrm>
            <a:off x="2760980" y="4222750"/>
            <a:ext cx="125857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梯度提升决策树</a:t>
            </a:r>
          </a:p>
        </p:txBody>
      </p:sp>
      <p:sp>
        <p:nvSpPr>
          <p:cNvPr id="70" name="矩形 69"/>
          <p:cNvSpPr/>
          <p:nvPr>
            <p:custDataLst>
              <p:tags r:id="rId49"/>
            </p:custDataLst>
          </p:nvPr>
        </p:nvSpPr>
        <p:spPr>
          <a:xfrm>
            <a:off x="1814830" y="4532630"/>
            <a:ext cx="6623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层次聚类</a:t>
            </a:r>
          </a:p>
        </p:txBody>
      </p:sp>
      <p:sp>
        <p:nvSpPr>
          <p:cNvPr id="71" name="矩形 70"/>
          <p:cNvSpPr/>
          <p:nvPr>
            <p:custDataLst>
              <p:tags r:id="rId50"/>
            </p:custDataLst>
          </p:nvPr>
        </p:nvSpPr>
        <p:spPr>
          <a:xfrm>
            <a:off x="2547620" y="4532630"/>
            <a:ext cx="75247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a:solidFill>
                  <a:schemeClr val="tx1"/>
                </a:solidFill>
              </a:rPr>
              <a:t>K</a:t>
            </a:r>
            <a:r>
              <a:rPr lang="zh-CN" altLang="en-US" sz="900" b="1">
                <a:solidFill>
                  <a:schemeClr val="tx1"/>
                </a:solidFill>
              </a:rPr>
              <a:t>均值聚类</a:t>
            </a:r>
          </a:p>
        </p:txBody>
      </p:sp>
      <p:sp>
        <p:nvSpPr>
          <p:cNvPr id="72" name="矩形 71"/>
          <p:cNvSpPr/>
          <p:nvPr>
            <p:custDataLst>
              <p:tags r:id="rId51"/>
            </p:custDataLst>
          </p:nvPr>
        </p:nvSpPr>
        <p:spPr>
          <a:xfrm>
            <a:off x="3357245" y="4532630"/>
            <a:ext cx="6623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稀疏编码</a:t>
            </a:r>
          </a:p>
        </p:txBody>
      </p:sp>
      <p:sp>
        <p:nvSpPr>
          <p:cNvPr id="73" name="矩形 72"/>
          <p:cNvSpPr/>
          <p:nvPr>
            <p:custDataLst>
              <p:tags r:id="rId52"/>
            </p:custDataLst>
          </p:nvPr>
        </p:nvSpPr>
        <p:spPr>
          <a:xfrm>
            <a:off x="1761490" y="4962525"/>
            <a:ext cx="2320290" cy="8394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74" name="矩形 73"/>
          <p:cNvSpPr/>
          <p:nvPr>
            <p:custDataLst>
              <p:tags r:id="rId53"/>
            </p:custDataLst>
          </p:nvPr>
        </p:nvSpPr>
        <p:spPr>
          <a:xfrm>
            <a:off x="1814830" y="5067300"/>
            <a:ext cx="109220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皮尔逊相关系数</a:t>
            </a:r>
          </a:p>
        </p:txBody>
      </p:sp>
      <p:sp>
        <p:nvSpPr>
          <p:cNvPr id="75" name="矩形 74"/>
          <p:cNvSpPr/>
          <p:nvPr>
            <p:custDataLst>
              <p:tags r:id="rId54"/>
            </p:custDataLst>
          </p:nvPr>
        </p:nvSpPr>
        <p:spPr>
          <a:xfrm>
            <a:off x="2978785" y="5067300"/>
            <a:ext cx="104076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最大信息系数</a:t>
            </a:r>
          </a:p>
        </p:txBody>
      </p:sp>
      <p:sp>
        <p:nvSpPr>
          <p:cNvPr id="76" name="矩形 75"/>
          <p:cNvSpPr/>
          <p:nvPr>
            <p:custDataLst>
              <p:tags r:id="rId55"/>
            </p:custDataLst>
          </p:nvPr>
        </p:nvSpPr>
        <p:spPr>
          <a:xfrm>
            <a:off x="1814830" y="5436235"/>
            <a:ext cx="109220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斯皮尔曼相关系数</a:t>
            </a:r>
          </a:p>
        </p:txBody>
      </p:sp>
      <p:sp>
        <p:nvSpPr>
          <p:cNvPr id="77" name="矩形 76"/>
          <p:cNvSpPr/>
          <p:nvPr>
            <p:custDataLst>
              <p:tags r:id="rId56"/>
            </p:custDataLst>
          </p:nvPr>
        </p:nvSpPr>
        <p:spPr>
          <a:xfrm>
            <a:off x="2978785" y="5436235"/>
            <a:ext cx="104140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灰色关联分析</a:t>
            </a:r>
          </a:p>
        </p:txBody>
      </p:sp>
      <p:sp>
        <p:nvSpPr>
          <p:cNvPr id="78" name="矩形 77"/>
          <p:cNvSpPr/>
          <p:nvPr>
            <p:custDataLst>
              <p:tags r:id="rId57"/>
            </p:custDataLst>
          </p:nvPr>
        </p:nvSpPr>
        <p:spPr>
          <a:xfrm>
            <a:off x="4198620" y="3856990"/>
            <a:ext cx="263525" cy="97218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深度学习</a:t>
            </a:r>
          </a:p>
        </p:txBody>
      </p:sp>
      <p:sp>
        <p:nvSpPr>
          <p:cNvPr id="79" name="矩形 78"/>
          <p:cNvSpPr/>
          <p:nvPr>
            <p:custDataLst>
              <p:tags r:id="rId58"/>
            </p:custDataLst>
          </p:nvPr>
        </p:nvSpPr>
        <p:spPr>
          <a:xfrm>
            <a:off x="4462145" y="3856990"/>
            <a:ext cx="2320290" cy="97282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80" name="矩形 79"/>
          <p:cNvSpPr/>
          <p:nvPr>
            <p:custDataLst>
              <p:tags r:id="rId59"/>
            </p:custDataLst>
          </p:nvPr>
        </p:nvSpPr>
        <p:spPr>
          <a:xfrm>
            <a:off x="4523105" y="3905250"/>
            <a:ext cx="12211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全连接深度神经网络</a:t>
            </a:r>
          </a:p>
        </p:txBody>
      </p:sp>
      <p:sp>
        <p:nvSpPr>
          <p:cNvPr id="81" name="矩形 80"/>
          <p:cNvSpPr/>
          <p:nvPr>
            <p:custDataLst>
              <p:tags r:id="rId60"/>
            </p:custDataLst>
          </p:nvPr>
        </p:nvSpPr>
        <p:spPr>
          <a:xfrm>
            <a:off x="5811520" y="3905250"/>
            <a:ext cx="90106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循环神经网络</a:t>
            </a:r>
          </a:p>
        </p:txBody>
      </p:sp>
      <p:sp>
        <p:nvSpPr>
          <p:cNvPr id="82" name="矩形 81"/>
          <p:cNvSpPr/>
          <p:nvPr>
            <p:custDataLst>
              <p:tags r:id="rId61"/>
            </p:custDataLst>
          </p:nvPr>
        </p:nvSpPr>
        <p:spPr>
          <a:xfrm>
            <a:off x="4523105" y="4222750"/>
            <a:ext cx="12211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长短期记忆神经网络</a:t>
            </a:r>
          </a:p>
        </p:txBody>
      </p:sp>
      <p:sp>
        <p:nvSpPr>
          <p:cNvPr id="83" name="矩形 82"/>
          <p:cNvSpPr/>
          <p:nvPr>
            <p:custDataLst>
              <p:tags r:id="rId62"/>
            </p:custDataLst>
          </p:nvPr>
        </p:nvSpPr>
        <p:spPr>
          <a:xfrm>
            <a:off x="4523105" y="4532630"/>
            <a:ext cx="122110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卷积神经网络</a:t>
            </a:r>
          </a:p>
        </p:txBody>
      </p:sp>
      <p:sp>
        <p:nvSpPr>
          <p:cNvPr id="84" name="矩形 83"/>
          <p:cNvSpPr/>
          <p:nvPr>
            <p:custDataLst>
              <p:tags r:id="rId63"/>
            </p:custDataLst>
          </p:nvPr>
        </p:nvSpPr>
        <p:spPr>
          <a:xfrm>
            <a:off x="5811520" y="4222750"/>
            <a:ext cx="90106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深度置信网络</a:t>
            </a:r>
          </a:p>
        </p:txBody>
      </p:sp>
      <p:sp>
        <p:nvSpPr>
          <p:cNvPr id="85" name="矩形 84"/>
          <p:cNvSpPr/>
          <p:nvPr>
            <p:custDataLst>
              <p:tags r:id="rId64"/>
            </p:custDataLst>
          </p:nvPr>
        </p:nvSpPr>
        <p:spPr>
          <a:xfrm>
            <a:off x="5811520" y="4532630"/>
            <a:ext cx="90106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堆叠自编码器</a:t>
            </a:r>
          </a:p>
        </p:txBody>
      </p:sp>
      <p:sp>
        <p:nvSpPr>
          <p:cNvPr id="86" name="矩形 85"/>
          <p:cNvSpPr/>
          <p:nvPr>
            <p:custDataLst>
              <p:tags r:id="rId65"/>
            </p:custDataLst>
          </p:nvPr>
        </p:nvSpPr>
        <p:spPr>
          <a:xfrm>
            <a:off x="4198620" y="4959985"/>
            <a:ext cx="263525" cy="84201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900" b="1">
                <a:solidFill>
                  <a:schemeClr val="tx1"/>
                </a:solidFill>
              </a:rPr>
              <a:t>优化算法</a:t>
            </a:r>
          </a:p>
        </p:txBody>
      </p:sp>
      <p:sp>
        <p:nvSpPr>
          <p:cNvPr id="87" name="矩形 86"/>
          <p:cNvSpPr/>
          <p:nvPr>
            <p:custDataLst>
              <p:tags r:id="rId66"/>
            </p:custDataLst>
          </p:nvPr>
        </p:nvSpPr>
        <p:spPr>
          <a:xfrm>
            <a:off x="4462145" y="4959985"/>
            <a:ext cx="2320290" cy="8394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88" name="矩形 87"/>
          <p:cNvSpPr/>
          <p:nvPr>
            <p:custDataLst>
              <p:tags r:id="rId67"/>
            </p:custDataLst>
          </p:nvPr>
        </p:nvSpPr>
        <p:spPr>
          <a:xfrm>
            <a:off x="4523105" y="5067300"/>
            <a:ext cx="98552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网格搜索</a:t>
            </a:r>
          </a:p>
        </p:txBody>
      </p:sp>
      <p:sp>
        <p:nvSpPr>
          <p:cNvPr id="89" name="矩形 88"/>
          <p:cNvSpPr/>
          <p:nvPr>
            <p:custDataLst>
              <p:tags r:id="rId68"/>
            </p:custDataLst>
          </p:nvPr>
        </p:nvSpPr>
        <p:spPr>
          <a:xfrm>
            <a:off x="5657215" y="5067300"/>
            <a:ext cx="105537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遗传算法</a:t>
            </a:r>
          </a:p>
        </p:txBody>
      </p:sp>
      <p:sp>
        <p:nvSpPr>
          <p:cNvPr id="90" name="矩形 89"/>
          <p:cNvSpPr/>
          <p:nvPr>
            <p:custDataLst>
              <p:tags r:id="rId69"/>
            </p:custDataLst>
          </p:nvPr>
        </p:nvSpPr>
        <p:spPr>
          <a:xfrm>
            <a:off x="4523105" y="5436235"/>
            <a:ext cx="98552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随机搜索</a:t>
            </a:r>
          </a:p>
        </p:txBody>
      </p:sp>
      <p:sp>
        <p:nvSpPr>
          <p:cNvPr id="91" name="矩形 90"/>
          <p:cNvSpPr/>
          <p:nvPr>
            <p:custDataLst>
              <p:tags r:id="rId70"/>
            </p:custDataLst>
          </p:nvPr>
        </p:nvSpPr>
        <p:spPr>
          <a:xfrm>
            <a:off x="5657215" y="5436235"/>
            <a:ext cx="105537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群优化算法</a:t>
            </a:r>
          </a:p>
        </p:txBody>
      </p:sp>
      <p:sp>
        <p:nvSpPr>
          <p:cNvPr id="92" name="矩形 91"/>
          <p:cNvSpPr/>
          <p:nvPr>
            <p:custDataLst>
              <p:tags r:id="rId71"/>
            </p:custDataLst>
          </p:nvPr>
        </p:nvSpPr>
        <p:spPr>
          <a:xfrm>
            <a:off x="6838315" y="3925570"/>
            <a:ext cx="87312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小波分解</a:t>
            </a:r>
          </a:p>
        </p:txBody>
      </p:sp>
      <p:sp>
        <p:nvSpPr>
          <p:cNvPr id="93" name="矩形 92"/>
          <p:cNvSpPr/>
          <p:nvPr>
            <p:custDataLst>
              <p:tags r:id="rId72"/>
            </p:custDataLst>
          </p:nvPr>
        </p:nvSpPr>
        <p:spPr>
          <a:xfrm>
            <a:off x="6837045" y="4562475"/>
            <a:ext cx="87439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经验模式分解</a:t>
            </a:r>
          </a:p>
        </p:txBody>
      </p:sp>
      <p:sp>
        <p:nvSpPr>
          <p:cNvPr id="95" name="矩形 94"/>
          <p:cNvSpPr/>
          <p:nvPr>
            <p:custDataLst>
              <p:tags r:id="rId73"/>
            </p:custDataLst>
          </p:nvPr>
        </p:nvSpPr>
        <p:spPr>
          <a:xfrm>
            <a:off x="6837045" y="4878070"/>
            <a:ext cx="87439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动态模式分解</a:t>
            </a:r>
          </a:p>
        </p:txBody>
      </p:sp>
      <p:sp>
        <p:nvSpPr>
          <p:cNvPr id="96" name="矩形 95"/>
          <p:cNvSpPr/>
          <p:nvPr>
            <p:custDataLst>
              <p:tags r:id="rId74"/>
            </p:custDataLst>
          </p:nvPr>
        </p:nvSpPr>
        <p:spPr>
          <a:xfrm>
            <a:off x="6838315" y="5190490"/>
            <a:ext cx="87439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卡尔曼滤波</a:t>
            </a:r>
          </a:p>
        </p:txBody>
      </p:sp>
      <p:sp>
        <p:nvSpPr>
          <p:cNvPr id="97" name="矩形 96"/>
          <p:cNvSpPr/>
          <p:nvPr>
            <p:custDataLst>
              <p:tags r:id="rId75"/>
            </p:custDataLst>
          </p:nvPr>
        </p:nvSpPr>
        <p:spPr>
          <a:xfrm>
            <a:off x="6837045" y="5503545"/>
            <a:ext cx="87439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变分模态分解</a:t>
            </a:r>
          </a:p>
        </p:txBody>
      </p:sp>
      <p:sp>
        <p:nvSpPr>
          <p:cNvPr id="99" name="矩形 98"/>
          <p:cNvSpPr/>
          <p:nvPr>
            <p:custDataLst>
              <p:tags r:id="rId76"/>
            </p:custDataLst>
          </p:nvPr>
        </p:nvSpPr>
        <p:spPr>
          <a:xfrm>
            <a:off x="2422525" y="6182995"/>
            <a:ext cx="3245485" cy="57340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100" name="矩形 99"/>
          <p:cNvSpPr/>
          <p:nvPr>
            <p:custDataLst>
              <p:tags r:id="rId77"/>
            </p:custDataLst>
          </p:nvPr>
        </p:nvSpPr>
        <p:spPr>
          <a:xfrm>
            <a:off x="2496820" y="6298565"/>
            <a:ext cx="239395"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温度</a:t>
            </a:r>
          </a:p>
        </p:txBody>
      </p:sp>
      <p:sp>
        <p:nvSpPr>
          <p:cNvPr id="101" name="矩形 100"/>
          <p:cNvSpPr/>
          <p:nvPr>
            <p:custDataLst>
              <p:tags r:id="rId78"/>
            </p:custDataLst>
          </p:nvPr>
        </p:nvSpPr>
        <p:spPr>
          <a:xfrm>
            <a:off x="2841625" y="6298565"/>
            <a:ext cx="239395"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湿度</a:t>
            </a:r>
          </a:p>
        </p:txBody>
      </p:sp>
      <p:sp>
        <p:nvSpPr>
          <p:cNvPr id="102" name="矩形 101"/>
          <p:cNvSpPr/>
          <p:nvPr>
            <p:custDataLst>
              <p:tags r:id="rId79"/>
            </p:custDataLst>
          </p:nvPr>
        </p:nvSpPr>
        <p:spPr>
          <a:xfrm>
            <a:off x="3183890" y="6298565"/>
            <a:ext cx="239395"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气压</a:t>
            </a:r>
          </a:p>
        </p:txBody>
      </p:sp>
      <p:sp>
        <p:nvSpPr>
          <p:cNvPr id="103" name="矩形 102"/>
          <p:cNvSpPr/>
          <p:nvPr>
            <p:custDataLst>
              <p:tags r:id="rId80"/>
            </p:custDataLst>
          </p:nvPr>
        </p:nvSpPr>
        <p:spPr>
          <a:xfrm>
            <a:off x="3524250" y="6298565"/>
            <a:ext cx="429260"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降雨量</a:t>
            </a:r>
          </a:p>
        </p:txBody>
      </p:sp>
      <p:sp>
        <p:nvSpPr>
          <p:cNvPr id="104" name="矩形 103"/>
          <p:cNvSpPr/>
          <p:nvPr>
            <p:custDataLst>
              <p:tags r:id="rId81"/>
            </p:custDataLst>
          </p:nvPr>
        </p:nvSpPr>
        <p:spPr>
          <a:xfrm>
            <a:off x="8891905" y="4404360"/>
            <a:ext cx="2167255" cy="2025015"/>
          </a:xfrm>
          <a:prstGeom prst="rect">
            <a:avLst/>
          </a:prstGeom>
          <a:solidFill>
            <a:schemeClr val="bg1"/>
          </a:solid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05" name="矩形 104"/>
          <p:cNvSpPr/>
          <p:nvPr>
            <p:custDataLst>
              <p:tags r:id="rId82"/>
            </p:custDataLst>
          </p:nvPr>
        </p:nvSpPr>
        <p:spPr>
          <a:xfrm>
            <a:off x="4064000" y="6298565"/>
            <a:ext cx="429260"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光照强度</a:t>
            </a:r>
          </a:p>
        </p:txBody>
      </p:sp>
      <p:sp>
        <p:nvSpPr>
          <p:cNvPr id="106" name="矩形 105"/>
          <p:cNvSpPr/>
          <p:nvPr>
            <p:custDataLst>
              <p:tags r:id="rId83"/>
            </p:custDataLst>
          </p:nvPr>
        </p:nvSpPr>
        <p:spPr>
          <a:xfrm>
            <a:off x="5785485"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季节状况</a:t>
            </a:r>
          </a:p>
        </p:txBody>
      </p:sp>
      <p:sp>
        <p:nvSpPr>
          <p:cNvPr id="107" name="矩形 106"/>
          <p:cNvSpPr/>
          <p:nvPr>
            <p:custDataLst>
              <p:tags r:id="rId84"/>
            </p:custDataLst>
          </p:nvPr>
        </p:nvSpPr>
        <p:spPr>
          <a:xfrm>
            <a:off x="6176010" y="6182995"/>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天气类型</a:t>
            </a:r>
          </a:p>
        </p:txBody>
      </p:sp>
      <p:sp>
        <p:nvSpPr>
          <p:cNvPr id="108" name="矩形 107"/>
          <p:cNvSpPr/>
          <p:nvPr>
            <p:custDataLst>
              <p:tags r:id="rId85"/>
            </p:custDataLst>
          </p:nvPr>
        </p:nvSpPr>
        <p:spPr>
          <a:xfrm>
            <a:off x="6566535"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地理位置</a:t>
            </a:r>
          </a:p>
        </p:txBody>
      </p:sp>
      <p:sp>
        <p:nvSpPr>
          <p:cNvPr id="110" name="矩形 109"/>
          <p:cNvSpPr/>
          <p:nvPr>
            <p:custDataLst>
              <p:tags r:id="rId86"/>
            </p:custDataLst>
          </p:nvPr>
        </p:nvSpPr>
        <p:spPr>
          <a:xfrm>
            <a:off x="6950710" y="6183630"/>
            <a:ext cx="263525" cy="57277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时间维度</a:t>
            </a:r>
          </a:p>
        </p:txBody>
      </p:sp>
      <p:sp>
        <p:nvSpPr>
          <p:cNvPr id="116" name="矩形 115"/>
          <p:cNvSpPr/>
          <p:nvPr>
            <p:custDataLst>
              <p:tags r:id="rId87"/>
            </p:custDataLst>
          </p:nvPr>
        </p:nvSpPr>
        <p:spPr>
          <a:xfrm>
            <a:off x="9001125" y="5398770"/>
            <a:ext cx="263525" cy="97218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模型方面</a:t>
            </a:r>
          </a:p>
        </p:txBody>
      </p:sp>
      <p:sp>
        <p:nvSpPr>
          <p:cNvPr id="117" name="矩形 116"/>
          <p:cNvSpPr/>
          <p:nvPr>
            <p:custDataLst>
              <p:tags r:id="rId88"/>
            </p:custDataLst>
          </p:nvPr>
        </p:nvSpPr>
        <p:spPr>
          <a:xfrm>
            <a:off x="9001125" y="4481195"/>
            <a:ext cx="263525" cy="80200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数据方面</a:t>
            </a:r>
          </a:p>
        </p:txBody>
      </p:sp>
      <p:sp>
        <p:nvSpPr>
          <p:cNvPr id="118" name="矩形 117"/>
          <p:cNvSpPr/>
          <p:nvPr>
            <p:custDataLst>
              <p:tags r:id="rId89"/>
            </p:custDataLst>
          </p:nvPr>
        </p:nvSpPr>
        <p:spPr>
          <a:xfrm>
            <a:off x="9264650" y="5398135"/>
            <a:ext cx="1670685" cy="972820"/>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119" name="矩形 118"/>
          <p:cNvSpPr/>
          <p:nvPr>
            <p:custDataLst>
              <p:tags r:id="rId90"/>
            </p:custDataLst>
          </p:nvPr>
        </p:nvSpPr>
        <p:spPr>
          <a:xfrm>
            <a:off x="9383395" y="5454015"/>
            <a:ext cx="143383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适应场景单一问题</a:t>
            </a:r>
          </a:p>
        </p:txBody>
      </p:sp>
      <p:sp>
        <p:nvSpPr>
          <p:cNvPr id="120" name="矩形 119"/>
          <p:cNvSpPr/>
          <p:nvPr>
            <p:custDataLst>
              <p:tags r:id="rId91"/>
            </p:custDataLst>
          </p:nvPr>
        </p:nvSpPr>
        <p:spPr>
          <a:xfrm>
            <a:off x="9383395" y="5763895"/>
            <a:ext cx="143383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时空相关性问题</a:t>
            </a:r>
          </a:p>
        </p:txBody>
      </p:sp>
      <p:sp>
        <p:nvSpPr>
          <p:cNvPr id="121" name="矩形 120"/>
          <p:cNvSpPr/>
          <p:nvPr>
            <p:custDataLst>
              <p:tags r:id="rId92"/>
            </p:custDataLst>
          </p:nvPr>
        </p:nvSpPr>
        <p:spPr>
          <a:xfrm>
            <a:off x="9383395" y="6080125"/>
            <a:ext cx="143383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模型自动调优问题</a:t>
            </a:r>
          </a:p>
        </p:txBody>
      </p:sp>
      <p:sp>
        <p:nvSpPr>
          <p:cNvPr id="122" name="矩形 121"/>
          <p:cNvSpPr/>
          <p:nvPr>
            <p:custDataLst>
              <p:tags r:id="rId93"/>
            </p:custDataLst>
          </p:nvPr>
        </p:nvSpPr>
        <p:spPr>
          <a:xfrm>
            <a:off x="9264650" y="4481195"/>
            <a:ext cx="1670685" cy="802005"/>
          </a:xfrm>
          <a:prstGeom prst="rect">
            <a:avLst/>
          </a:prstGeom>
          <a:noFill/>
          <a:ln>
            <a:solidFill>
              <a:schemeClr val="tx1"/>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b="1">
              <a:solidFill>
                <a:schemeClr val="tx1"/>
              </a:solidFill>
            </a:endParaRPr>
          </a:p>
        </p:txBody>
      </p:sp>
      <p:sp>
        <p:nvSpPr>
          <p:cNvPr id="123" name="矩形 122"/>
          <p:cNvSpPr/>
          <p:nvPr>
            <p:custDataLst>
              <p:tags r:id="rId94"/>
            </p:custDataLst>
          </p:nvPr>
        </p:nvSpPr>
        <p:spPr>
          <a:xfrm>
            <a:off x="9383395" y="4577715"/>
            <a:ext cx="143383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小样本问题</a:t>
            </a:r>
          </a:p>
        </p:txBody>
      </p:sp>
      <p:sp>
        <p:nvSpPr>
          <p:cNvPr id="124" name="矩形 123"/>
          <p:cNvSpPr/>
          <p:nvPr>
            <p:custDataLst>
              <p:tags r:id="rId95"/>
            </p:custDataLst>
          </p:nvPr>
        </p:nvSpPr>
        <p:spPr>
          <a:xfrm>
            <a:off x="9383395" y="4943475"/>
            <a:ext cx="1433830"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影响因素考虑不足问题</a:t>
            </a:r>
          </a:p>
        </p:txBody>
      </p:sp>
      <p:sp>
        <p:nvSpPr>
          <p:cNvPr id="125" name="燕尾形箭头 124"/>
          <p:cNvSpPr/>
          <p:nvPr>
            <p:custDataLst>
              <p:tags r:id="rId96"/>
            </p:custDataLst>
          </p:nvPr>
        </p:nvSpPr>
        <p:spPr>
          <a:xfrm rot="5400000">
            <a:off x="9732010" y="4156710"/>
            <a:ext cx="172085" cy="143510"/>
          </a:xfrm>
          <a:prstGeom prst="notch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b="1"/>
          </a:p>
        </p:txBody>
      </p:sp>
      <p:sp>
        <p:nvSpPr>
          <p:cNvPr id="126" name="燕尾形箭头 125"/>
          <p:cNvSpPr/>
          <p:nvPr>
            <p:custDataLst>
              <p:tags r:id="rId97"/>
            </p:custDataLst>
          </p:nvPr>
        </p:nvSpPr>
        <p:spPr>
          <a:xfrm rot="10800000">
            <a:off x="8228330" y="5187950"/>
            <a:ext cx="278130" cy="142240"/>
          </a:xfrm>
          <a:prstGeom prst="notch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b="1"/>
          </a:p>
        </p:txBody>
      </p:sp>
      <p:sp>
        <p:nvSpPr>
          <p:cNvPr id="127" name="文本框 126"/>
          <p:cNvSpPr txBox="1"/>
          <p:nvPr>
            <p:custDataLst>
              <p:tags r:id="rId98"/>
            </p:custDataLst>
          </p:nvPr>
        </p:nvSpPr>
        <p:spPr>
          <a:xfrm>
            <a:off x="4719955" y="2871470"/>
            <a:ext cx="774065" cy="245110"/>
          </a:xfrm>
          <a:prstGeom prst="rect">
            <a:avLst/>
          </a:prstGeom>
          <a:noFill/>
        </p:spPr>
        <p:txBody>
          <a:bodyPr wrap="square" rtlCol="0">
            <a:spAutoFit/>
          </a:bodyPr>
          <a:lstStyle/>
          <a:p>
            <a:r>
              <a:rPr lang="zh-CN" altLang="en-US" sz="1000" b="1"/>
              <a:t>技术支撑</a:t>
            </a:r>
          </a:p>
        </p:txBody>
      </p:sp>
      <p:sp>
        <p:nvSpPr>
          <p:cNvPr id="128" name="燕尾形箭头 127"/>
          <p:cNvSpPr/>
          <p:nvPr>
            <p:custDataLst>
              <p:tags r:id="rId99"/>
            </p:custDataLst>
          </p:nvPr>
        </p:nvSpPr>
        <p:spPr>
          <a:xfrm rot="16200000">
            <a:off x="4573270" y="1830705"/>
            <a:ext cx="163195" cy="127635"/>
          </a:xfrm>
          <a:prstGeom prst="notch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b="1"/>
          </a:p>
        </p:txBody>
      </p:sp>
      <p:sp>
        <p:nvSpPr>
          <p:cNvPr id="129" name="文本框 128"/>
          <p:cNvSpPr txBox="1"/>
          <p:nvPr>
            <p:custDataLst>
              <p:tags r:id="rId100"/>
            </p:custDataLst>
          </p:nvPr>
        </p:nvSpPr>
        <p:spPr>
          <a:xfrm>
            <a:off x="4718050" y="1774825"/>
            <a:ext cx="774065" cy="245110"/>
          </a:xfrm>
          <a:prstGeom prst="rect">
            <a:avLst/>
          </a:prstGeom>
          <a:noFill/>
        </p:spPr>
        <p:txBody>
          <a:bodyPr wrap="square" rtlCol="0">
            <a:spAutoFit/>
          </a:bodyPr>
          <a:lstStyle/>
          <a:p>
            <a:r>
              <a:rPr lang="zh-CN" altLang="en-US" sz="1000" b="1"/>
              <a:t>场景支持</a:t>
            </a:r>
          </a:p>
        </p:txBody>
      </p:sp>
      <p:sp>
        <p:nvSpPr>
          <p:cNvPr id="131" name="文本框 130"/>
          <p:cNvSpPr txBox="1"/>
          <p:nvPr>
            <p:custDataLst>
              <p:tags r:id="rId101"/>
            </p:custDataLst>
          </p:nvPr>
        </p:nvSpPr>
        <p:spPr>
          <a:xfrm>
            <a:off x="4723130" y="3572510"/>
            <a:ext cx="774065" cy="245110"/>
          </a:xfrm>
          <a:prstGeom prst="rect">
            <a:avLst/>
          </a:prstGeom>
          <a:noFill/>
        </p:spPr>
        <p:txBody>
          <a:bodyPr wrap="square" rtlCol="0">
            <a:spAutoFit/>
          </a:bodyPr>
          <a:lstStyle/>
          <a:p>
            <a:r>
              <a:rPr lang="zh-CN" altLang="en-US" sz="1000" b="1"/>
              <a:t>算法支撑</a:t>
            </a:r>
          </a:p>
        </p:txBody>
      </p:sp>
      <p:sp>
        <p:nvSpPr>
          <p:cNvPr id="133" name="文本框 132"/>
          <p:cNvSpPr txBox="1"/>
          <p:nvPr>
            <p:custDataLst>
              <p:tags r:id="rId102"/>
            </p:custDataLst>
          </p:nvPr>
        </p:nvSpPr>
        <p:spPr>
          <a:xfrm>
            <a:off x="4734560" y="5895340"/>
            <a:ext cx="774065" cy="245110"/>
          </a:xfrm>
          <a:prstGeom prst="rect">
            <a:avLst/>
          </a:prstGeom>
          <a:noFill/>
        </p:spPr>
        <p:txBody>
          <a:bodyPr wrap="square" rtlCol="0">
            <a:spAutoFit/>
          </a:bodyPr>
          <a:lstStyle/>
          <a:p>
            <a:r>
              <a:rPr lang="zh-CN" altLang="en-US" sz="1000" b="1"/>
              <a:t>数据支撑</a:t>
            </a:r>
          </a:p>
        </p:txBody>
      </p:sp>
      <p:sp>
        <p:nvSpPr>
          <p:cNvPr id="135" name="文本框 134"/>
          <p:cNvSpPr txBox="1"/>
          <p:nvPr>
            <p:custDataLst>
              <p:tags r:id="rId103"/>
            </p:custDataLst>
          </p:nvPr>
        </p:nvSpPr>
        <p:spPr>
          <a:xfrm>
            <a:off x="9890125" y="4089400"/>
            <a:ext cx="774065" cy="245110"/>
          </a:xfrm>
          <a:prstGeom prst="rect">
            <a:avLst/>
          </a:prstGeom>
          <a:noFill/>
        </p:spPr>
        <p:txBody>
          <a:bodyPr wrap="square" rtlCol="0">
            <a:spAutoFit/>
          </a:bodyPr>
          <a:lstStyle/>
          <a:p>
            <a:r>
              <a:rPr lang="zh-CN" altLang="en-US" sz="1000" b="1"/>
              <a:t>解决方案</a:t>
            </a:r>
          </a:p>
        </p:txBody>
      </p:sp>
      <p:sp>
        <p:nvSpPr>
          <p:cNvPr id="136" name="文本框 135"/>
          <p:cNvSpPr txBox="1"/>
          <p:nvPr>
            <p:custDataLst>
              <p:tags r:id="rId104"/>
            </p:custDataLst>
          </p:nvPr>
        </p:nvSpPr>
        <p:spPr>
          <a:xfrm>
            <a:off x="8144510" y="4809490"/>
            <a:ext cx="507365" cy="424180"/>
          </a:xfrm>
          <a:prstGeom prst="rect">
            <a:avLst/>
          </a:prstGeom>
          <a:noFill/>
        </p:spPr>
        <p:txBody>
          <a:bodyPr wrap="square" rtlCol="0">
            <a:noAutofit/>
          </a:bodyPr>
          <a:lstStyle/>
          <a:p>
            <a:r>
              <a:rPr lang="zh-CN" altLang="en-US" sz="1000" b="1"/>
              <a:t>精度限制</a:t>
            </a:r>
          </a:p>
        </p:txBody>
      </p:sp>
      <p:pic>
        <p:nvPicPr>
          <p:cNvPr id="137" name="图片 136" descr="趋势"/>
          <p:cNvPicPr>
            <a:picLocks noChangeAspect="1"/>
          </p:cNvPicPr>
          <p:nvPr>
            <p:custDataLst>
              <p:tags r:id="rId105"/>
            </p:custDataLst>
          </p:nvPr>
        </p:nvPicPr>
        <p:blipFill>
          <a:blip r:embed="rId130">
            <a:extLst>
              <a:ext uri="{96DAC541-7B7A-43D3-8B79-37D633B846F1}">
                <asvg:svgBlip xmlns:asvg="http://schemas.microsoft.com/office/drawing/2016/SVG/main" r:embed="rId131"/>
              </a:ext>
            </a:extLst>
          </a:blip>
          <a:stretch>
            <a:fillRect/>
          </a:stretch>
        </p:blipFill>
        <p:spPr>
          <a:xfrm>
            <a:off x="690880" y="2276475"/>
            <a:ext cx="457835" cy="457835"/>
          </a:xfrm>
          <a:prstGeom prst="rect">
            <a:avLst/>
          </a:prstGeom>
        </p:spPr>
      </p:pic>
      <p:sp>
        <p:nvSpPr>
          <p:cNvPr id="138" name="文本框 137"/>
          <p:cNvSpPr txBox="1"/>
          <p:nvPr>
            <p:custDataLst>
              <p:tags r:id="rId106"/>
            </p:custDataLst>
          </p:nvPr>
        </p:nvSpPr>
        <p:spPr>
          <a:xfrm>
            <a:off x="344805" y="2157095"/>
            <a:ext cx="311785" cy="577215"/>
          </a:xfrm>
          <a:prstGeom prst="rect">
            <a:avLst/>
          </a:prstGeom>
          <a:noFill/>
        </p:spPr>
        <p:txBody>
          <a:bodyPr wrap="square" rtlCol="0">
            <a:noAutofit/>
          </a:bodyPr>
          <a:lstStyle/>
          <a:p>
            <a:r>
              <a:rPr lang="zh-CN" altLang="en-US" sz="900" b="1"/>
              <a:t>预测场景</a:t>
            </a:r>
          </a:p>
        </p:txBody>
      </p:sp>
      <p:pic>
        <p:nvPicPr>
          <p:cNvPr id="139" name="图片 138" descr="书包"/>
          <p:cNvPicPr>
            <a:picLocks noChangeAspect="1"/>
          </p:cNvPicPr>
          <p:nvPr>
            <p:custDataLst>
              <p:tags r:id="rId107"/>
            </p:custDataLst>
          </p:nvPr>
        </p:nvPicPr>
        <p:blipFill>
          <a:blip r:embed="rId132">
            <a:extLst>
              <a:ext uri="{96DAC541-7B7A-43D3-8B79-37D633B846F1}">
                <asvg:svgBlip xmlns:asvg="http://schemas.microsoft.com/office/drawing/2016/SVG/main" r:embed="rId133"/>
              </a:ext>
            </a:extLst>
          </a:blip>
          <a:stretch>
            <a:fillRect/>
          </a:stretch>
        </p:blipFill>
        <p:spPr>
          <a:xfrm>
            <a:off x="655320" y="1333500"/>
            <a:ext cx="492760" cy="373380"/>
          </a:xfrm>
          <a:prstGeom prst="rect">
            <a:avLst/>
          </a:prstGeom>
        </p:spPr>
      </p:pic>
      <p:sp>
        <p:nvSpPr>
          <p:cNvPr id="140" name="文本框 139"/>
          <p:cNvSpPr txBox="1"/>
          <p:nvPr>
            <p:custDataLst>
              <p:tags r:id="rId108"/>
            </p:custDataLst>
          </p:nvPr>
        </p:nvSpPr>
        <p:spPr>
          <a:xfrm>
            <a:off x="344170" y="1227455"/>
            <a:ext cx="311785" cy="577215"/>
          </a:xfrm>
          <a:prstGeom prst="rect">
            <a:avLst/>
          </a:prstGeom>
          <a:noFill/>
        </p:spPr>
        <p:txBody>
          <a:bodyPr wrap="square" rtlCol="0">
            <a:noAutofit/>
          </a:bodyPr>
          <a:lstStyle/>
          <a:p>
            <a:r>
              <a:rPr lang="zh-CN" altLang="en-US" sz="900" b="1"/>
              <a:t>工程领域</a:t>
            </a:r>
          </a:p>
        </p:txBody>
      </p:sp>
      <p:pic>
        <p:nvPicPr>
          <p:cNvPr id="141" name="图片 140" descr="工具"/>
          <p:cNvPicPr>
            <a:picLocks noChangeAspect="1"/>
          </p:cNvPicPr>
          <p:nvPr>
            <p:custDataLst>
              <p:tags r:id="rId109"/>
            </p:custDataLst>
          </p:nvPr>
        </p:nvPicPr>
        <p:blipFill>
          <a:blip r:embed="rId134">
            <a:extLst>
              <a:ext uri="{96DAC541-7B7A-43D3-8B79-37D633B846F1}">
                <asvg:svgBlip xmlns:asvg="http://schemas.microsoft.com/office/drawing/2016/SVG/main" r:embed="rId135"/>
              </a:ext>
            </a:extLst>
          </a:blip>
          <a:stretch>
            <a:fillRect/>
          </a:stretch>
        </p:blipFill>
        <p:spPr>
          <a:xfrm>
            <a:off x="690880" y="4193540"/>
            <a:ext cx="411480" cy="396240"/>
          </a:xfrm>
          <a:prstGeom prst="rect">
            <a:avLst/>
          </a:prstGeom>
        </p:spPr>
      </p:pic>
      <p:sp>
        <p:nvSpPr>
          <p:cNvPr id="142" name="文本框 141"/>
          <p:cNvSpPr txBox="1"/>
          <p:nvPr>
            <p:custDataLst>
              <p:tags r:id="rId110"/>
            </p:custDataLst>
          </p:nvPr>
        </p:nvSpPr>
        <p:spPr>
          <a:xfrm>
            <a:off x="346710" y="4070350"/>
            <a:ext cx="311785" cy="577215"/>
          </a:xfrm>
          <a:prstGeom prst="rect">
            <a:avLst/>
          </a:prstGeom>
          <a:noFill/>
        </p:spPr>
        <p:txBody>
          <a:bodyPr wrap="square" rtlCol="0">
            <a:noAutofit/>
          </a:bodyPr>
          <a:lstStyle/>
          <a:p>
            <a:r>
              <a:rPr lang="zh-CN" altLang="en-US" sz="900" b="1"/>
              <a:t>算法模型</a:t>
            </a:r>
          </a:p>
        </p:txBody>
      </p:sp>
      <p:pic>
        <p:nvPicPr>
          <p:cNvPr id="143" name="图片 142" descr="太阳"/>
          <p:cNvPicPr>
            <a:picLocks noChangeAspect="1"/>
          </p:cNvPicPr>
          <p:nvPr>
            <p:custDataLst>
              <p:tags r:id="rId111"/>
            </p:custDataLst>
          </p:nvPr>
        </p:nvPicPr>
        <p:blipFill>
          <a:blip r:embed="rId136">
            <a:extLst>
              <a:ext uri="{96DAC541-7B7A-43D3-8B79-37D633B846F1}">
                <asvg:svgBlip xmlns:asvg="http://schemas.microsoft.com/office/drawing/2016/SVG/main" r:embed="rId137"/>
              </a:ext>
            </a:extLst>
          </a:blip>
          <a:stretch>
            <a:fillRect/>
          </a:stretch>
        </p:blipFill>
        <p:spPr>
          <a:xfrm>
            <a:off x="690880" y="6299200"/>
            <a:ext cx="457200" cy="457200"/>
          </a:xfrm>
          <a:prstGeom prst="rect">
            <a:avLst/>
          </a:prstGeom>
        </p:spPr>
      </p:pic>
      <p:sp>
        <p:nvSpPr>
          <p:cNvPr id="144" name="文本框 143"/>
          <p:cNvSpPr txBox="1"/>
          <p:nvPr>
            <p:custDataLst>
              <p:tags r:id="rId112"/>
            </p:custDataLst>
          </p:nvPr>
        </p:nvSpPr>
        <p:spPr>
          <a:xfrm>
            <a:off x="344170" y="6170295"/>
            <a:ext cx="311785" cy="577215"/>
          </a:xfrm>
          <a:prstGeom prst="rect">
            <a:avLst/>
          </a:prstGeom>
          <a:noFill/>
        </p:spPr>
        <p:txBody>
          <a:bodyPr wrap="square" rtlCol="0">
            <a:noAutofit/>
          </a:bodyPr>
          <a:lstStyle/>
          <a:p>
            <a:r>
              <a:rPr lang="zh-CN" altLang="en-US" sz="900" b="1"/>
              <a:t>影响因素</a:t>
            </a:r>
          </a:p>
        </p:txBody>
      </p:sp>
      <p:pic>
        <p:nvPicPr>
          <p:cNvPr id="145" name="图片 144" descr="感叹号"/>
          <p:cNvPicPr>
            <a:picLocks noChangeAspect="1"/>
          </p:cNvPicPr>
          <p:nvPr>
            <p:custDataLst>
              <p:tags r:id="rId113"/>
            </p:custDataLst>
          </p:nvPr>
        </p:nvPicPr>
        <p:blipFill>
          <a:blip r:embed="rId138">
            <a:extLst>
              <a:ext uri="{96DAC541-7B7A-43D3-8B79-37D633B846F1}">
                <asvg:svgBlip xmlns:asvg="http://schemas.microsoft.com/office/drawing/2016/SVG/main" r:embed="rId139"/>
              </a:ext>
            </a:extLst>
          </a:blip>
          <a:stretch>
            <a:fillRect/>
          </a:stretch>
        </p:blipFill>
        <p:spPr>
          <a:xfrm>
            <a:off x="10205720" y="6497955"/>
            <a:ext cx="426720" cy="295910"/>
          </a:xfrm>
          <a:prstGeom prst="rect">
            <a:avLst/>
          </a:prstGeom>
        </p:spPr>
      </p:pic>
      <p:pic>
        <p:nvPicPr>
          <p:cNvPr id="146" name="图片 145" descr="手电筒"/>
          <p:cNvPicPr>
            <a:picLocks noChangeAspect="1"/>
          </p:cNvPicPr>
          <p:nvPr>
            <p:custDataLst>
              <p:tags r:id="rId114"/>
            </p:custDataLst>
          </p:nvPr>
        </p:nvPicPr>
        <p:blipFill>
          <a:blip r:embed="rId140">
            <a:extLst>
              <a:ext uri="{96DAC541-7B7A-43D3-8B79-37D633B846F1}">
                <asvg:svgBlip xmlns:asvg="http://schemas.microsoft.com/office/drawing/2016/SVG/main" r:embed="rId141"/>
              </a:ext>
            </a:extLst>
          </a:blip>
          <a:stretch>
            <a:fillRect/>
          </a:stretch>
        </p:blipFill>
        <p:spPr>
          <a:xfrm>
            <a:off x="10168890" y="926465"/>
            <a:ext cx="401955" cy="401955"/>
          </a:xfrm>
          <a:prstGeom prst="rect">
            <a:avLst/>
          </a:prstGeom>
        </p:spPr>
      </p:pic>
      <p:sp>
        <p:nvSpPr>
          <p:cNvPr id="147" name="文本框 146"/>
          <p:cNvSpPr txBox="1"/>
          <p:nvPr>
            <p:custDataLst>
              <p:tags r:id="rId115"/>
            </p:custDataLst>
          </p:nvPr>
        </p:nvSpPr>
        <p:spPr>
          <a:xfrm>
            <a:off x="9566275" y="6545580"/>
            <a:ext cx="774065" cy="229870"/>
          </a:xfrm>
          <a:prstGeom prst="rect">
            <a:avLst/>
          </a:prstGeom>
          <a:noFill/>
        </p:spPr>
        <p:txBody>
          <a:bodyPr wrap="square" rtlCol="0">
            <a:spAutoFit/>
          </a:bodyPr>
          <a:lstStyle/>
          <a:p>
            <a:r>
              <a:rPr lang="zh-CN" altLang="en-US" sz="900" b="1"/>
              <a:t>问题与不足</a:t>
            </a:r>
          </a:p>
        </p:txBody>
      </p:sp>
      <p:sp>
        <p:nvSpPr>
          <p:cNvPr id="148" name="文本框 147"/>
          <p:cNvSpPr txBox="1"/>
          <p:nvPr>
            <p:custDataLst>
              <p:tags r:id="rId116"/>
            </p:custDataLst>
          </p:nvPr>
        </p:nvSpPr>
        <p:spPr>
          <a:xfrm>
            <a:off x="9559290" y="1029335"/>
            <a:ext cx="774065" cy="229870"/>
          </a:xfrm>
          <a:prstGeom prst="rect">
            <a:avLst/>
          </a:prstGeom>
          <a:noFill/>
        </p:spPr>
        <p:txBody>
          <a:bodyPr wrap="square" rtlCol="0">
            <a:spAutoFit/>
          </a:bodyPr>
          <a:lstStyle/>
          <a:p>
            <a:r>
              <a:rPr lang="zh-CN" altLang="en-US" sz="900" b="1"/>
              <a:t>技术展望</a:t>
            </a:r>
          </a:p>
        </p:txBody>
      </p:sp>
      <p:sp>
        <p:nvSpPr>
          <p:cNvPr id="149" name="燕尾形箭头 148"/>
          <p:cNvSpPr/>
          <p:nvPr>
            <p:custDataLst>
              <p:tags r:id="rId117"/>
            </p:custDataLst>
          </p:nvPr>
        </p:nvSpPr>
        <p:spPr>
          <a:xfrm rot="16200000">
            <a:off x="4601210" y="2921635"/>
            <a:ext cx="163195" cy="127635"/>
          </a:xfrm>
          <a:prstGeom prst="notch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b="1"/>
          </a:p>
        </p:txBody>
      </p:sp>
      <p:sp>
        <p:nvSpPr>
          <p:cNvPr id="150" name="燕尾形箭头 149"/>
          <p:cNvSpPr/>
          <p:nvPr>
            <p:custDataLst>
              <p:tags r:id="rId118"/>
            </p:custDataLst>
          </p:nvPr>
        </p:nvSpPr>
        <p:spPr>
          <a:xfrm rot="16200000">
            <a:off x="4602480" y="3620770"/>
            <a:ext cx="163195" cy="127635"/>
          </a:xfrm>
          <a:prstGeom prst="notch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b="1"/>
          </a:p>
        </p:txBody>
      </p:sp>
      <p:sp>
        <p:nvSpPr>
          <p:cNvPr id="151" name="燕尾形箭头 150"/>
          <p:cNvSpPr/>
          <p:nvPr>
            <p:custDataLst>
              <p:tags r:id="rId119"/>
            </p:custDataLst>
          </p:nvPr>
        </p:nvSpPr>
        <p:spPr>
          <a:xfrm rot="16200000">
            <a:off x="4602480" y="5939155"/>
            <a:ext cx="163195" cy="127635"/>
          </a:xfrm>
          <a:prstGeom prst="notch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b="1"/>
          </a:p>
        </p:txBody>
      </p:sp>
      <p:pic>
        <p:nvPicPr>
          <p:cNvPr id="4" name="图片 3"/>
          <p:cNvPicPr>
            <a:picLocks noChangeAspect="1"/>
          </p:cNvPicPr>
          <p:nvPr/>
        </p:nvPicPr>
        <p:blipFill>
          <a:blip r:embed="rId142"/>
          <a:stretch>
            <a:fillRect/>
          </a:stretch>
        </p:blipFill>
        <p:spPr>
          <a:xfrm>
            <a:off x="8376920" y="-7620"/>
            <a:ext cx="3823970" cy="887730"/>
          </a:xfrm>
          <a:prstGeom prst="rect">
            <a:avLst/>
          </a:prstGeom>
        </p:spPr>
      </p:pic>
      <p:sp>
        <p:nvSpPr>
          <p:cNvPr id="5" name="矩形 4"/>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Rectangle 2"/>
          <p:cNvSpPr>
            <a:spLocks noGrp="1" noChangeArrowheads="1"/>
          </p:cNvSpPr>
          <p:nvPr/>
        </p:nvSpPr>
        <p:spPr>
          <a:xfrm>
            <a:off x="140335" y="5715"/>
            <a:ext cx="2910840"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1.3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研究现状</a:t>
            </a:r>
          </a:p>
        </p:txBody>
      </p:sp>
      <p:sp>
        <p:nvSpPr>
          <p:cNvPr id="7" name="矩形 6"/>
          <p:cNvSpPr/>
          <p:nvPr>
            <p:custDataLst>
              <p:tags r:id="rId120"/>
            </p:custDataLst>
          </p:nvPr>
        </p:nvSpPr>
        <p:spPr>
          <a:xfrm>
            <a:off x="6831965" y="4237990"/>
            <a:ext cx="873125" cy="2419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经验小波变换</a:t>
            </a:r>
          </a:p>
        </p:txBody>
      </p:sp>
      <p:sp>
        <p:nvSpPr>
          <p:cNvPr id="2" name="矩形 1"/>
          <p:cNvSpPr/>
          <p:nvPr>
            <p:custDataLst>
              <p:tags r:id="rId121"/>
            </p:custDataLst>
          </p:nvPr>
        </p:nvSpPr>
        <p:spPr>
          <a:xfrm>
            <a:off x="4604385" y="6299200"/>
            <a:ext cx="239395"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云量</a:t>
            </a:r>
          </a:p>
        </p:txBody>
      </p:sp>
      <p:sp>
        <p:nvSpPr>
          <p:cNvPr id="9" name="矩形 8"/>
          <p:cNvSpPr/>
          <p:nvPr>
            <p:custDataLst>
              <p:tags r:id="rId122"/>
            </p:custDataLst>
          </p:nvPr>
        </p:nvSpPr>
        <p:spPr>
          <a:xfrm>
            <a:off x="4960620" y="6299200"/>
            <a:ext cx="239395"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风速</a:t>
            </a:r>
          </a:p>
        </p:txBody>
      </p:sp>
      <p:sp>
        <p:nvSpPr>
          <p:cNvPr id="16" name="矩形 15"/>
          <p:cNvSpPr/>
          <p:nvPr>
            <p:custDataLst>
              <p:tags r:id="rId123"/>
            </p:custDataLst>
          </p:nvPr>
        </p:nvSpPr>
        <p:spPr>
          <a:xfrm>
            <a:off x="5307965" y="6298565"/>
            <a:ext cx="239395" cy="343535"/>
          </a:xfrm>
          <a:prstGeom prst="rect">
            <a:avLst/>
          </a:prstGeom>
          <a:noFill/>
          <a:ln>
            <a:solidFill>
              <a:schemeClr val="tx1"/>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a:solidFill>
                  <a:schemeClr val="tx1"/>
                </a:solidFill>
              </a:rPr>
              <a:t>风向</a:t>
            </a:r>
          </a:p>
        </p:txBody>
      </p:sp>
      <p:pic>
        <p:nvPicPr>
          <p:cNvPr id="17" name="图片 16"/>
          <p:cNvPicPr>
            <a:picLocks noChangeAspect="1"/>
          </p:cNvPicPr>
          <p:nvPr/>
        </p:nvPicPr>
        <p:blipFill>
          <a:blip r:embed="rId143"/>
          <a:stretch>
            <a:fillRect/>
          </a:stretch>
        </p:blipFill>
        <p:spPr>
          <a:xfrm>
            <a:off x="11079480" y="4875530"/>
            <a:ext cx="356235" cy="356235"/>
          </a:xfrm>
          <a:prstGeom prst="rect">
            <a:avLst/>
          </a:prstGeom>
        </p:spPr>
      </p:pic>
      <p:pic>
        <p:nvPicPr>
          <p:cNvPr id="18" name="图片 17"/>
          <p:cNvPicPr>
            <a:picLocks noChangeAspect="1"/>
          </p:cNvPicPr>
          <p:nvPr/>
        </p:nvPicPr>
        <p:blipFill>
          <a:blip r:embed="rId144"/>
          <a:stretch>
            <a:fillRect/>
          </a:stretch>
        </p:blipFill>
        <p:spPr>
          <a:xfrm>
            <a:off x="11074400" y="5441315"/>
            <a:ext cx="360045" cy="322580"/>
          </a:xfrm>
          <a:prstGeom prst="rect">
            <a:avLst/>
          </a:prstGeom>
        </p:spPr>
      </p:pic>
      <p:pic>
        <p:nvPicPr>
          <p:cNvPr id="30" name="图片 29"/>
          <p:cNvPicPr>
            <a:picLocks noChangeAspect="1"/>
          </p:cNvPicPr>
          <p:nvPr/>
        </p:nvPicPr>
        <p:blipFill>
          <a:blip r:embed="rId144"/>
          <a:stretch>
            <a:fillRect/>
          </a:stretch>
        </p:blipFill>
        <p:spPr>
          <a:xfrm>
            <a:off x="11074400" y="4577715"/>
            <a:ext cx="356235" cy="318770"/>
          </a:xfrm>
          <a:prstGeom prst="rect">
            <a:avLst/>
          </a:prstGeom>
        </p:spPr>
      </p:pic>
      <p:pic>
        <p:nvPicPr>
          <p:cNvPr id="50" name="图片 49"/>
          <p:cNvPicPr>
            <a:picLocks noChangeAspect="1"/>
          </p:cNvPicPr>
          <p:nvPr/>
        </p:nvPicPr>
        <p:blipFill>
          <a:blip r:embed="rId143"/>
          <a:stretch>
            <a:fillRect/>
          </a:stretch>
        </p:blipFill>
        <p:spPr>
          <a:xfrm>
            <a:off x="11079480" y="6049645"/>
            <a:ext cx="356235" cy="356235"/>
          </a:xfrm>
          <a:prstGeom prst="rect">
            <a:avLst/>
          </a:prstGeom>
        </p:spPr>
      </p:pic>
      <p:pic>
        <p:nvPicPr>
          <p:cNvPr id="51" name="图片 50"/>
          <p:cNvPicPr>
            <a:picLocks noChangeAspect="1"/>
          </p:cNvPicPr>
          <p:nvPr/>
        </p:nvPicPr>
        <p:blipFill>
          <a:blip r:embed="rId143"/>
          <a:stretch>
            <a:fillRect/>
          </a:stretch>
        </p:blipFill>
        <p:spPr>
          <a:xfrm>
            <a:off x="11079480" y="5731510"/>
            <a:ext cx="356235" cy="356235"/>
          </a:xfrm>
          <a:prstGeom prst="rect">
            <a:avLst/>
          </a:prstGeom>
        </p:spPr>
      </p:pic>
      <p:sp>
        <p:nvSpPr>
          <p:cNvPr id="3" name="矩形 2"/>
          <p:cNvSpPr/>
          <p:nvPr/>
        </p:nvSpPr>
        <p:spPr>
          <a:xfrm>
            <a:off x="1237488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4" name="矩形 53"/>
          <p:cNvSpPr/>
          <p:nvPr/>
        </p:nvSpPr>
        <p:spPr>
          <a:xfrm>
            <a:off x="1237488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55" name="组合 54"/>
          <p:cNvGrpSpPr/>
          <p:nvPr/>
        </p:nvGrpSpPr>
        <p:grpSpPr>
          <a:xfrm>
            <a:off x="-12832080" y="2153285"/>
            <a:ext cx="12192000" cy="2778760"/>
            <a:chOff x="0" y="3391"/>
            <a:chExt cx="19200" cy="4376"/>
          </a:xfrm>
        </p:grpSpPr>
        <p:sp>
          <p:nvSpPr>
            <p:cNvPr id="57"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60" name="文本框 59"/>
            <p:cNvSpPr txBox="1"/>
            <p:nvPr/>
          </p:nvSpPr>
          <p:spPr>
            <a:xfrm>
              <a:off x="3010" y="6017"/>
              <a:ext cx="2811" cy="725"/>
            </a:xfrm>
            <a:prstGeom prst="rect">
              <a:avLst/>
            </a:prstGeom>
            <a:noFill/>
          </p:spPr>
          <p:txBody>
            <a:bodyPr wrap="none" rtlCol="0">
              <a:spAutoFit/>
            </a:bodyPr>
            <a:lstStyle/>
            <a:p>
              <a:r>
                <a:rPr lang="en-US" altLang="zh-CN" sz="24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TWO</a:t>
              </a:r>
            </a:p>
          </p:txBody>
        </p:sp>
        <p:sp>
          <p:nvSpPr>
            <p:cNvPr id="61" name="文本框 60"/>
            <p:cNvSpPr txBox="1"/>
            <p:nvPr/>
          </p:nvSpPr>
          <p:spPr>
            <a:xfrm>
              <a:off x="7699"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课题研究目标和内容</a:t>
              </a:r>
            </a:p>
          </p:txBody>
        </p:sp>
        <p:sp>
          <p:nvSpPr>
            <p:cNvPr id="62" name="文本框 61"/>
            <p:cNvSpPr txBox="1"/>
            <p:nvPr/>
          </p:nvSpPr>
          <p:spPr>
            <a:xfrm>
              <a:off x="3277" y="4133"/>
              <a:ext cx="2068" cy="2082"/>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02</a:t>
              </a:r>
            </a:p>
          </p:txBody>
        </p:sp>
        <p:pic>
          <p:nvPicPr>
            <p:cNvPr id="98" name="图片 9"/>
            <p:cNvPicPr>
              <a:picLocks noChangeAspect="1"/>
            </p:cNvPicPr>
            <p:nvPr>
              <p:custDataLst>
                <p:tags r:id="rId127"/>
              </p:custDataLst>
            </p:nvPr>
          </p:nvPicPr>
          <p:blipFill>
            <a:blip r:embed="rId145"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 name="椭圆 108"/>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11" name="文本框 110"/>
          <p:cNvSpPr txBox="1"/>
          <p:nvPr/>
        </p:nvSpPr>
        <p:spPr>
          <a:xfrm>
            <a:off x="52705" y="5278755"/>
            <a:ext cx="628650" cy="245110"/>
          </a:xfrm>
          <a:prstGeom prst="rect">
            <a:avLst/>
          </a:prstGeom>
          <a:noFill/>
        </p:spPr>
        <p:txBody>
          <a:bodyPr wrap="square" rtlCol="0">
            <a:spAutoFit/>
          </a:bodyPr>
          <a:lstStyle/>
          <a:p>
            <a:r>
              <a:rPr lang="zh-CN" altLang="en-US" sz="1000" b="1">
                <a:solidFill>
                  <a:schemeClr val="accent5">
                    <a:lumMod val="75000"/>
                  </a:schemeClr>
                </a:solidFill>
                <a:latin typeface="黑体" panose="02010609060101010101" charset="-122"/>
                <a:ea typeface="黑体" panose="02010609060101010101" charset="-122"/>
              </a:rPr>
              <a:t>输入</a:t>
            </a:r>
          </a:p>
        </p:txBody>
      </p:sp>
      <p:sp>
        <p:nvSpPr>
          <p:cNvPr id="112" name="文本框 111"/>
          <p:cNvSpPr txBox="1"/>
          <p:nvPr/>
        </p:nvSpPr>
        <p:spPr>
          <a:xfrm>
            <a:off x="20320" y="3358515"/>
            <a:ext cx="831215" cy="245110"/>
          </a:xfrm>
          <a:prstGeom prst="rect">
            <a:avLst/>
          </a:prstGeom>
          <a:noFill/>
        </p:spPr>
        <p:txBody>
          <a:bodyPr wrap="square" rtlCol="0">
            <a:spAutoFit/>
          </a:bodyPr>
          <a:lstStyle/>
          <a:p>
            <a:pPr lvl="0" algn="l">
              <a:buClrTx/>
              <a:buSzTx/>
              <a:buFontTx/>
            </a:pPr>
            <a:r>
              <a:rPr lang="zh-CN" altLang="en-US" sz="1000" b="1">
                <a:solidFill>
                  <a:schemeClr val="accent5">
                    <a:lumMod val="75000"/>
                  </a:schemeClr>
                </a:solidFill>
                <a:latin typeface="黑体" panose="02010609060101010101" charset="-122"/>
                <a:ea typeface="黑体" panose="02010609060101010101" charset="-122"/>
                <a:sym typeface="+mn-ea"/>
              </a:rPr>
              <a:t>结合到</a:t>
            </a:r>
          </a:p>
        </p:txBody>
      </p:sp>
      <p:sp>
        <p:nvSpPr>
          <p:cNvPr id="113" name="文本框 112"/>
          <p:cNvSpPr txBox="1"/>
          <p:nvPr/>
        </p:nvSpPr>
        <p:spPr>
          <a:xfrm>
            <a:off x="37465" y="1883410"/>
            <a:ext cx="628650" cy="245110"/>
          </a:xfrm>
          <a:prstGeom prst="rect">
            <a:avLst/>
          </a:prstGeom>
          <a:noFill/>
        </p:spPr>
        <p:txBody>
          <a:bodyPr wrap="square" rtlCol="0">
            <a:spAutoFit/>
          </a:bodyPr>
          <a:lstStyle/>
          <a:p>
            <a:pPr lvl="0" algn="l">
              <a:buClrTx/>
              <a:buSzTx/>
              <a:buFontTx/>
            </a:pPr>
            <a:r>
              <a:rPr lang="zh-CN" altLang="en-US" sz="1000" b="1">
                <a:solidFill>
                  <a:schemeClr val="accent5">
                    <a:lumMod val="75000"/>
                  </a:schemeClr>
                </a:solidFill>
                <a:latin typeface="黑体" panose="02010609060101010101" charset="-122"/>
                <a:ea typeface="黑体" panose="02010609060101010101" charset="-122"/>
                <a:sym typeface="+mn-ea"/>
              </a:rPr>
              <a:t>应用</a:t>
            </a:r>
          </a:p>
        </p:txBody>
      </p:sp>
      <p:sp>
        <p:nvSpPr>
          <p:cNvPr id="114" name="燕尾形箭头 113"/>
          <p:cNvSpPr/>
          <p:nvPr>
            <p:custDataLst>
              <p:tags r:id="rId124"/>
            </p:custDataLst>
          </p:nvPr>
        </p:nvSpPr>
        <p:spPr>
          <a:xfrm rot="16200000">
            <a:off x="666115" y="5273040"/>
            <a:ext cx="432435" cy="271780"/>
          </a:xfrm>
          <a:prstGeom prst="notchedRightArrow">
            <a:avLst>
              <a:gd name="adj1" fmla="val 52102"/>
              <a:gd name="adj2" fmla="val 70537"/>
            </a:avLst>
          </a:prstGeom>
          <a:solidFill>
            <a:schemeClr val="accent1">
              <a:lumMod val="60000"/>
              <a:lumOff val="40000"/>
            </a:schemeClr>
          </a:solidFill>
          <a:ln w="63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b="1"/>
          </a:p>
        </p:txBody>
      </p:sp>
      <p:sp>
        <p:nvSpPr>
          <p:cNvPr id="115" name="燕尾形箭头 114"/>
          <p:cNvSpPr/>
          <p:nvPr>
            <p:custDataLst>
              <p:tags r:id="rId125"/>
            </p:custDataLst>
          </p:nvPr>
        </p:nvSpPr>
        <p:spPr>
          <a:xfrm rot="16200000">
            <a:off x="666115" y="3310890"/>
            <a:ext cx="432435" cy="271780"/>
          </a:xfrm>
          <a:prstGeom prst="notchedRightArrow">
            <a:avLst>
              <a:gd name="adj1" fmla="val 52102"/>
              <a:gd name="adj2" fmla="val 70537"/>
            </a:avLst>
          </a:prstGeom>
          <a:solidFill>
            <a:schemeClr val="accent1">
              <a:lumMod val="60000"/>
              <a:lumOff val="40000"/>
            </a:schemeClr>
          </a:solidFill>
          <a:ln w="63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b="1"/>
          </a:p>
        </p:txBody>
      </p:sp>
      <p:sp>
        <p:nvSpPr>
          <p:cNvPr id="130" name="燕尾形箭头 129"/>
          <p:cNvSpPr/>
          <p:nvPr>
            <p:custDataLst>
              <p:tags r:id="rId126"/>
            </p:custDataLst>
          </p:nvPr>
        </p:nvSpPr>
        <p:spPr>
          <a:xfrm rot="16200000">
            <a:off x="660400" y="1894205"/>
            <a:ext cx="432435" cy="271780"/>
          </a:xfrm>
          <a:prstGeom prst="notchedRightArrow">
            <a:avLst>
              <a:gd name="adj1" fmla="val 52102"/>
              <a:gd name="adj2" fmla="val 70537"/>
            </a:avLst>
          </a:prstGeom>
          <a:solidFill>
            <a:schemeClr val="accent1">
              <a:lumMod val="60000"/>
              <a:lumOff val="40000"/>
            </a:schemeClr>
          </a:solidFill>
          <a:ln w="63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b="1"/>
          </a:p>
        </p:txBody>
      </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p:cNvGrpSpPr/>
          <p:nvPr/>
        </p:nvGrpSpPr>
        <p:grpSpPr>
          <a:xfrm>
            <a:off x="0" y="2153285"/>
            <a:ext cx="12192000" cy="2779395"/>
            <a:chOff x="0" y="3391"/>
            <a:chExt cx="19200" cy="4377"/>
          </a:xfrm>
        </p:grpSpPr>
        <p:sp>
          <p:nvSpPr>
            <p:cNvPr id="16"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8" name="文本框 17"/>
            <p:cNvSpPr txBox="1"/>
            <p:nvPr/>
          </p:nvSpPr>
          <p:spPr>
            <a:xfrm>
              <a:off x="3010" y="6017"/>
              <a:ext cx="2811" cy="725"/>
            </a:xfrm>
            <a:prstGeom prst="rect">
              <a:avLst/>
            </a:prstGeom>
            <a:noFill/>
          </p:spPr>
          <p:txBody>
            <a:bodyPr wrap="none" rtlCol="0">
              <a:spAutoFit/>
            </a:bodyPr>
            <a:lstStyle/>
            <a:p>
              <a:r>
                <a:rPr lang="en-US" altLang="zh-CN" sz="24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TWO</a:t>
              </a:r>
            </a:p>
          </p:txBody>
        </p:sp>
        <p:sp>
          <p:nvSpPr>
            <p:cNvPr id="14" name="文本框 13"/>
            <p:cNvSpPr txBox="1"/>
            <p:nvPr/>
          </p:nvSpPr>
          <p:spPr>
            <a:xfrm>
              <a:off x="6931"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课题研究目标和内容</a:t>
              </a:r>
            </a:p>
          </p:txBody>
        </p:sp>
        <p:sp>
          <p:nvSpPr>
            <p:cNvPr id="23" name="文本框 22"/>
            <p:cNvSpPr txBox="1"/>
            <p:nvPr/>
          </p:nvSpPr>
          <p:spPr>
            <a:xfrm>
              <a:off x="3277" y="4133"/>
              <a:ext cx="2068" cy="2082"/>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02</a:t>
              </a:r>
            </a:p>
          </p:txBody>
        </p:sp>
        <p:pic>
          <p:nvPicPr>
            <p:cNvPr id="5" name="图片 9"/>
            <p:cNvPicPr>
              <a:picLocks noChangeAspect="1"/>
            </p:cNvPicPr>
            <p:nvPr>
              <p:custDataLst>
                <p:tags r:id="rId1"/>
              </p:custDataLst>
            </p:nvPr>
          </p:nvPicPr>
          <p:blipFill>
            <a:blip r:embed="rId3"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rcRect b="8786"/>
          <a:stretch>
            <a:fillRect/>
          </a:stretch>
        </p:blipFill>
        <p:spPr>
          <a:xfrm>
            <a:off x="4445" y="881380"/>
            <a:ext cx="770255" cy="717550"/>
          </a:xfrm>
          <a:prstGeom prst="rect">
            <a:avLst/>
          </a:prstGeom>
        </p:spPr>
      </p:pic>
      <p:sp>
        <p:nvSpPr>
          <p:cNvPr id="30" name="圆角矩形 29"/>
          <p:cNvSpPr/>
          <p:nvPr/>
        </p:nvSpPr>
        <p:spPr>
          <a:xfrm>
            <a:off x="6610985" y="1522730"/>
            <a:ext cx="5464175" cy="1938655"/>
          </a:xfrm>
          <a:prstGeom prst="roundRect">
            <a:avLst/>
          </a:prstGeom>
          <a:solidFill>
            <a:schemeClr val="accent5">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29" name="圆角矩形 28"/>
          <p:cNvSpPr/>
          <p:nvPr/>
        </p:nvSpPr>
        <p:spPr>
          <a:xfrm>
            <a:off x="140335" y="1530985"/>
            <a:ext cx="6179185" cy="1945005"/>
          </a:xfrm>
          <a:prstGeom prst="roundRect">
            <a:avLst/>
          </a:prstGeom>
          <a:solidFill>
            <a:schemeClr val="accent4">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pic>
        <p:nvPicPr>
          <p:cNvPr id="2" name="图片 1"/>
          <p:cNvPicPr>
            <a:picLocks noChangeAspect="1"/>
          </p:cNvPicPr>
          <p:nvPr/>
        </p:nvPicPr>
        <p:blipFill>
          <a:blip r:embed="rId4"/>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2.1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研究目标</a:t>
            </a:r>
          </a:p>
        </p:txBody>
      </p:sp>
      <p:sp>
        <p:nvSpPr>
          <p:cNvPr id="3" name="文本框 2"/>
          <p:cNvSpPr txBox="1"/>
          <p:nvPr/>
        </p:nvSpPr>
        <p:spPr>
          <a:xfrm>
            <a:off x="784860" y="1045845"/>
            <a:ext cx="4999355" cy="398780"/>
          </a:xfrm>
          <a:prstGeom prst="rect">
            <a:avLst/>
          </a:prstGeom>
          <a:noFill/>
        </p:spPr>
        <p:txBody>
          <a:bodyPr wrap="square" rtlCol="0" anchor="t">
            <a:spAutoFit/>
          </a:bodyPr>
          <a:lstStyle/>
          <a:p>
            <a:r>
              <a:rPr lang="en-US" altLang="zh-CN" sz="2000" b="1">
                <a:solidFill>
                  <a:schemeClr val="accent6">
                    <a:lumMod val="75000"/>
                  </a:schemeClr>
                </a:solidFill>
                <a:latin typeface="楷体" panose="02010609060101010101" charset="-122"/>
                <a:ea typeface="楷体" panose="02010609060101010101" charset="-122"/>
              </a:rPr>
              <a:t>2.1 </a:t>
            </a:r>
            <a:r>
              <a:rPr lang="zh-CN" altLang="en-US" sz="2000" b="1">
                <a:solidFill>
                  <a:schemeClr val="accent6">
                    <a:lumMod val="75000"/>
                  </a:schemeClr>
                </a:solidFill>
                <a:latin typeface="楷体" panose="02010609060101010101" charset="-122"/>
                <a:ea typeface="楷体" panose="02010609060101010101" charset="-122"/>
              </a:rPr>
              <a:t>关于风电功率预测研究的具体目标</a:t>
            </a:r>
          </a:p>
        </p:txBody>
      </p:sp>
      <p:sp>
        <p:nvSpPr>
          <p:cNvPr id="18" name="文本框 17"/>
          <p:cNvSpPr txBox="1"/>
          <p:nvPr/>
        </p:nvSpPr>
        <p:spPr>
          <a:xfrm>
            <a:off x="6504305" y="1522730"/>
            <a:ext cx="5732145" cy="1938020"/>
          </a:xfrm>
          <a:prstGeom prst="rect">
            <a:avLst/>
          </a:prstGeom>
        </p:spPr>
        <p:txBody>
          <a:bodyPr wrap="square">
            <a:spAutoFit/>
          </a:bodyPr>
          <a:lstStyle/>
          <a:p>
            <a:pPr marL="133350" indent="304800" algn="l" defTabSz="266700">
              <a:spcBef>
                <a:spcPct val="50000"/>
              </a:spcBef>
              <a:spcAft>
                <a:spcPts val="600"/>
              </a:spcAft>
            </a:pPr>
            <a:r>
              <a:rPr lang="zh-CN" altLang="en-US" sz="2400" b="1">
                <a:latin typeface="楷体" panose="02010609060101010101" charset="-122"/>
                <a:ea typeface="楷体" panose="02010609060101010101" charset="-122"/>
                <a:cs typeface="楷体" panose="02010609060101010101" charset="-122"/>
              </a:rPr>
              <a:t>具体目标包括：提高预测模型对风电功率的预测准确性；通过优化算法</a:t>
            </a:r>
            <a:r>
              <a:rPr lang="zh-CN" altLang="en-US" sz="2400" b="1">
                <a:solidFill>
                  <a:srgbClr val="FF0000"/>
                </a:solidFill>
                <a:latin typeface="楷体" panose="02010609060101010101" charset="-122"/>
                <a:ea typeface="楷体" panose="02010609060101010101" charset="-122"/>
                <a:cs typeface="楷体" panose="02010609060101010101" charset="-122"/>
              </a:rPr>
              <a:t>提高分解模型的分解性能和预测模型的训练效率</a:t>
            </a:r>
            <a:r>
              <a:rPr lang="zh-CN" altLang="en-US" sz="2400" b="1">
                <a:latin typeface="楷体" panose="02010609060101010101" charset="-122"/>
                <a:ea typeface="楷体" panose="02010609060101010101" charset="-122"/>
                <a:cs typeface="楷体" panose="02010609060101010101" charset="-122"/>
              </a:rPr>
              <a:t>；实现对复杂气象变化和风电场特性的有效建模。</a:t>
            </a:r>
          </a:p>
        </p:txBody>
      </p:sp>
      <p:sp>
        <p:nvSpPr>
          <p:cNvPr id="20" name="文本框 19"/>
          <p:cNvSpPr txBox="1"/>
          <p:nvPr/>
        </p:nvSpPr>
        <p:spPr>
          <a:xfrm>
            <a:off x="187960" y="1867535"/>
            <a:ext cx="6096000" cy="832485"/>
          </a:xfrm>
          <a:prstGeom prst="rect">
            <a:avLst/>
          </a:prstGeom>
          <a:noFill/>
        </p:spPr>
        <p:txBody>
          <a:bodyPr wrap="square" rtlCol="0" anchor="t">
            <a:noAutofit/>
          </a:bodyPr>
          <a:lstStyle/>
          <a:p>
            <a:r>
              <a:rPr lang="en-US" altLang="zh-CN" b="1">
                <a:latin typeface="楷体" panose="02010609060101010101" charset="-122"/>
                <a:ea typeface="楷体" panose="02010609060101010101" charset="-122"/>
                <a:cs typeface="楷体" panose="02010609060101010101" charset="-122"/>
                <a:sym typeface="+mn-ea"/>
              </a:rPr>
              <a:t>  </a:t>
            </a:r>
            <a:r>
              <a:rPr lang="zh-CN" altLang="en-US" sz="2400" b="1">
                <a:latin typeface="楷体" panose="02010609060101010101" charset="-122"/>
                <a:ea typeface="楷体" panose="02010609060101010101" charset="-122"/>
                <a:cs typeface="楷体" panose="02010609060101010101" charset="-122"/>
                <a:sym typeface="+mn-ea"/>
              </a:rPr>
              <a:t>本研究旨在通过引入先进的</a:t>
            </a:r>
            <a:r>
              <a:rPr lang="zh-CN" altLang="en-US" sz="2400" b="1">
                <a:solidFill>
                  <a:srgbClr val="FF0000"/>
                </a:solidFill>
                <a:latin typeface="楷体" panose="02010609060101010101" charset="-122"/>
                <a:ea typeface="楷体" panose="02010609060101010101" charset="-122"/>
                <a:cs typeface="楷体" panose="02010609060101010101" charset="-122"/>
                <a:sym typeface="+mn-ea"/>
              </a:rPr>
              <a:t>人工神经网络</a:t>
            </a:r>
            <a:r>
              <a:rPr lang="zh-CN" altLang="en-US" sz="2400" b="1">
                <a:latin typeface="楷体" panose="02010609060101010101" charset="-122"/>
                <a:ea typeface="楷体" panose="02010609060101010101" charset="-122"/>
                <a:cs typeface="楷体" panose="02010609060101010101" charset="-122"/>
                <a:sym typeface="+mn-ea"/>
              </a:rPr>
              <a:t>，结合</a:t>
            </a:r>
            <a:r>
              <a:rPr lang="zh-CN" altLang="en-US" sz="2400" b="1">
                <a:solidFill>
                  <a:srgbClr val="FF0000"/>
                </a:solidFill>
                <a:latin typeface="楷体" panose="02010609060101010101" charset="-122"/>
                <a:ea typeface="楷体" panose="02010609060101010101" charset="-122"/>
                <a:cs typeface="楷体" panose="02010609060101010101" charset="-122"/>
                <a:sym typeface="+mn-ea"/>
              </a:rPr>
              <a:t>多重分解方法</a:t>
            </a:r>
            <a:r>
              <a:rPr lang="zh-CN" altLang="en-US" sz="2400" b="1">
                <a:latin typeface="楷体" panose="02010609060101010101" charset="-122"/>
                <a:ea typeface="楷体" panose="02010609060101010101" charset="-122"/>
                <a:cs typeface="楷体" panose="02010609060101010101" charset="-122"/>
                <a:sym typeface="+mn-ea"/>
              </a:rPr>
              <a:t>和</a:t>
            </a:r>
            <a:r>
              <a:rPr lang="zh-CN" altLang="en-US" sz="2400" b="1">
                <a:solidFill>
                  <a:srgbClr val="FF0000"/>
                </a:solidFill>
                <a:latin typeface="楷体" panose="02010609060101010101" charset="-122"/>
                <a:ea typeface="楷体" panose="02010609060101010101" charset="-122"/>
                <a:cs typeface="楷体" panose="02010609060101010101" charset="-122"/>
                <a:sym typeface="+mn-ea"/>
              </a:rPr>
              <a:t>智能优化算法</a:t>
            </a:r>
            <a:r>
              <a:rPr lang="zh-CN" altLang="en-US" sz="2400" b="1">
                <a:latin typeface="楷体" panose="02010609060101010101" charset="-122"/>
                <a:ea typeface="楷体" panose="02010609060101010101" charset="-122"/>
                <a:cs typeface="楷体" panose="02010609060101010101" charset="-122"/>
                <a:sym typeface="+mn-ea"/>
              </a:rPr>
              <a:t>，搭建一个高精度的风电功率预测模型。</a:t>
            </a:r>
          </a:p>
        </p:txBody>
      </p:sp>
      <p:graphicFrame>
        <p:nvGraphicFramePr>
          <p:cNvPr id="27" name="对象 26"/>
          <p:cNvGraphicFramePr/>
          <p:nvPr/>
        </p:nvGraphicFramePr>
        <p:xfrm>
          <a:off x="257175" y="3653155"/>
          <a:ext cx="5951855" cy="3082290"/>
        </p:xfrm>
        <a:graphic>
          <a:graphicData uri="http://schemas.openxmlformats.org/presentationml/2006/ole">
            <mc:AlternateContent xmlns:mc="http://schemas.openxmlformats.org/markup-compatibility/2006">
              <mc:Choice xmlns:v="urn:schemas-microsoft-com:vml" Requires="v">
                <p:oleObj r:id="rId5" imgW="11636375" imgH="5383530" progId="Visio.Drawing.15">
                  <p:embed/>
                </p:oleObj>
              </mc:Choice>
              <mc:Fallback>
                <p:oleObj r:id="rId5" imgW="11636375" imgH="5383530" progId="Visio.Drawing.15">
                  <p:embed/>
                  <p:pic>
                    <p:nvPicPr>
                      <p:cNvPr id="0" name="图片 27"/>
                      <p:cNvPicPr/>
                      <p:nvPr/>
                    </p:nvPicPr>
                    <p:blipFill>
                      <a:blip r:embed="rId6"/>
                      <a:stretch>
                        <a:fillRect/>
                      </a:stretch>
                    </p:blipFill>
                    <p:spPr>
                      <a:xfrm>
                        <a:off x="257175" y="3653155"/>
                        <a:ext cx="5951855" cy="3082290"/>
                      </a:xfrm>
                      <a:prstGeom prst="rect">
                        <a:avLst/>
                      </a:prstGeom>
                    </p:spPr>
                  </p:pic>
                </p:oleObj>
              </mc:Fallback>
            </mc:AlternateContent>
          </a:graphicData>
        </a:graphic>
      </p:graphicFrame>
      <p:sp>
        <p:nvSpPr>
          <p:cNvPr id="6" name="矩形 5"/>
          <p:cNvSpPr/>
          <p:nvPr/>
        </p:nvSpPr>
        <p:spPr>
          <a:xfrm>
            <a:off x="-12787630" y="5715"/>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nvSpPr>
        <p:spPr>
          <a:xfrm>
            <a:off x="-12787630" y="4938395"/>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9" name="组合 8"/>
          <p:cNvGrpSpPr/>
          <p:nvPr/>
        </p:nvGrpSpPr>
        <p:grpSpPr>
          <a:xfrm>
            <a:off x="12366625" y="2153285"/>
            <a:ext cx="12192000" cy="2778760"/>
            <a:chOff x="0" y="3391"/>
            <a:chExt cx="19200" cy="4376"/>
          </a:xfrm>
        </p:grpSpPr>
        <p:sp>
          <p:nvSpPr>
            <p:cNvPr id="16"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1" name="文本框 10"/>
            <p:cNvSpPr txBox="1"/>
            <p:nvPr/>
          </p:nvSpPr>
          <p:spPr>
            <a:xfrm>
              <a:off x="3010" y="6017"/>
              <a:ext cx="2811" cy="725"/>
            </a:xfrm>
            <a:prstGeom prst="rect">
              <a:avLst/>
            </a:prstGeom>
            <a:noFill/>
          </p:spPr>
          <p:txBody>
            <a:bodyPr wrap="none" rtlCol="0">
              <a:spAutoFit/>
            </a:bodyPr>
            <a:lstStyle/>
            <a:p>
              <a:r>
                <a:rPr lang="en-US" altLang="zh-CN" sz="24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TWO</a:t>
              </a:r>
            </a:p>
          </p:txBody>
        </p:sp>
        <p:sp>
          <p:nvSpPr>
            <p:cNvPr id="14" name="文本框 13"/>
            <p:cNvSpPr txBox="1"/>
            <p:nvPr/>
          </p:nvSpPr>
          <p:spPr>
            <a:xfrm>
              <a:off x="7699"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课题研究目标和内容</a:t>
              </a:r>
            </a:p>
          </p:txBody>
        </p:sp>
        <p:sp>
          <p:nvSpPr>
            <p:cNvPr id="23" name="文本框 22"/>
            <p:cNvSpPr txBox="1"/>
            <p:nvPr/>
          </p:nvSpPr>
          <p:spPr>
            <a:xfrm>
              <a:off x="3277" y="4133"/>
              <a:ext cx="2068" cy="2082"/>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02</a:t>
              </a:r>
            </a:p>
          </p:txBody>
        </p:sp>
        <p:pic>
          <p:nvPicPr>
            <p:cNvPr id="12" name="图片 9"/>
            <p:cNvPicPr>
              <a:picLocks noChangeAspect="1"/>
            </p:cNvPicPr>
            <p:nvPr>
              <p:custDataLst>
                <p:tags r:id="rId1"/>
              </p:custDataLst>
            </p:nvPr>
          </p:nvPicPr>
          <p:blipFill>
            <a:blip r:embed="rId7"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椭圆 12"/>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17" name="图片 16" descr="草地上的风车&#10;&#10;描述已自动生成">
            <a:extLst>
              <a:ext uri="{FF2B5EF4-FFF2-40B4-BE49-F238E27FC236}">
                <a16:creationId xmlns:a16="http://schemas.microsoft.com/office/drawing/2014/main" id="{C5D076BF-1066-9735-58C7-742E091A817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67663" y="3753995"/>
            <a:ext cx="4762913" cy="288061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3"/>
          <a:stretch>
            <a:fillRect/>
          </a:stretch>
        </p:blipFill>
        <p:spPr>
          <a:xfrm>
            <a:off x="2318385" y="3703955"/>
            <a:ext cx="3207385" cy="2349500"/>
          </a:xfrm>
          <a:prstGeom prst="rect">
            <a:avLst/>
          </a:prstGeom>
          <a:ln w="12700">
            <a:noFill/>
          </a:ln>
          <a:effectLst>
            <a:outerShdw blurRad="50800" dist="38100" algn="l" rotWithShape="0">
              <a:prstClr val="black">
                <a:alpha val="40000"/>
              </a:prstClr>
            </a:outerShdw>
          </a:effectLst>
        </p:spPr>
      </p:pic>
      <p:pic>
        <p:nvPicPr>
          <p:cNvPr id="5" name="图片 4"/>
          <p:cNvPicPr>
            <a:picLocks noChangeAspect="1"/>
          </p:cNvPicPr>
          <p:nvPr/>
        </p:nvPicPr>
        <p:blipFill>
          <a:blip r:embed="rId4"/>
          <a:srcRect b="8786"/>
          <a:stretch>
            <a:fillRect/>
          </a:stretch>
        </p:blipFill>
        <p:spPr>
          <a:xfrm>
            <a:off x="4445" y="850900"/>
            <a:ext cx="770255" cy="717550"/>
          </a:xfrm>
          <a:prstGeom prst="rect">
            <a:avLst/>
          </a:prstGeom>
        </p:spPr>
      </p:pic>
      <p:sp>
        <p:nvSpPr>
          <p:cNvPr id="12" name="圆角矩形 11"/>
          <p:cNvSpPr/>
          <p:nvPr/>
        </p:nvSpPr>
        <p:spPr>
          <a:xfrm>
            <a:off x="200025" y="2466975"/>
            <a:ext cx="11843385" cy="803910"/>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9" name="圆角矩形 8"/>
          <p:cNvSpPr/>
          <p:nvPr/>
        </p:nvSpPr>
        <p:spPr>
          <a:xfrm>
            <a:off x="200025" y="1553210"/>
            <a:ext cx="11843385" cy="799465"/>
          </a:xfrm>
          <a:prstGeom prst="roundRect">
            <a:avLst/>
          </a:prstGeom>
          <a:solidFill>
            <a:schemeClr val="accent6">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pic>
        <p:nvPicPr>
          <p:cNvPr id="2" name="图片 1"/>
          <p:cNvPicPr>
            <a:picLocks noChangeAspect="1"/>
          </p:cNvPicPr>
          <p:nvPr/>
        </p:nvPicPr>
        <p:blipFill>
          <a:blip r:embed="rId5"/>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2.2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研究内容</a:t>
            </a:r>
          </a:p>
        </p:txBody>
      </p:sp>
      <p:sp>
        <p:nvSpPr>
          <p:cNvPr id="7" name="文本框 6"/>
          <p:cNvSpPr txBox="1"/>
          <p:nvPr/>
        </p:nvSpPr>
        <p:spPr>
          <a:xfrm>
            <a:off x="320040" y="1588770"/>
            <a:ext cx="11550650" cy="706755"/>
          </a:xfrm>
          <a:prstGeom prst="rect">
            <a:avLst/>
          </a:prstGeom>
          <a:noFill/>
        </p:spPr>
        <p:txBody>
          <a:bodyPr wrap="square" rtlCol="0">
            <a:spAutoFit/>
          </a:bodyPr>
          <a:lstStyle/>
          <a:p>
            <a:r>
              <a:rPr lang="en-US" altLang="zh-CN" sz="2000" b="1">
                <a:latin typeface="楷体" panose="02010609060101010101" charset="-122"/>
                <a:ea typeface="楷体" panose="02010609060101010101" charset="-122"/>
                <a:cs typeface="楷体" panose="02010609060101010101" charset="-122"/>
              </a:rPr>
              <a:t> </a:t>
            </a:r>
            <a:r>
              <a:rPr lang="zh-CN" altLang="en-US" sz="2000" b="1">
                <a:latin typeface="楷体" panose="02010609060101010101" charset="-122"/>
                <a:ea typeface="楷体" panose="02010609060101010101" charset="-122"/>
                <a:cs typeface="楷体" panose="02010609060101010101" charset="-122"/>
              </a:rPr>
              <a:t>一些专家学者于2017年提出了一种带有监督机制的前馈神经网络，即</a:t>
            </a:r>
            <a:r>
              <a:rPr lang="zh-CN" altLang="en-US" sz="2000" b="1">
                <a:solidFill>
                  <a:srgbClr val="FF0000"/>
                </a:solidFill>
                <a:latin typeface="楷体" panose="02010609060101010101" charset="-122"/>
                <a:ea typeface="楷体" panose="02010609060101010101" charset="-122"/>
                <a:cs typeface="楷体" panose="02010609060101010101" charset="-122"/>
              </a:rPr>
              <a:t>随机配置网络</a:t>
            </a:r>
            <a:r>
              <a:rPr lang="zh-CN" altLang="en-US" sz="2000" b="1">
                <a:latin typeface="楷体" panose="02010609060101010101" charset="-122"/>
                <a:ea typeface="楷体" panose="02010609060101010101" charset="-122"/>
                <a:cs typeface="楷体" panose="02010609060101010101" charset="-122"/>
              </a:rPr>
              <a:t>。</a:t>
            </a:r>
            <a:r>
              <a:rPr lang="zh-CN" altLang="en-US" sz="2000" b="1">
                <a:latin typeface="Times New Roman" panose="02020603050405020304" pitchFamily="18" charset="0"/>
                <a:ea typeface="楷体" panose="02010609060101010101" charset="-122"/>
                <a:cs typeface="Times New Roman" panose="02020603050405020304" pitchFamily="18" charset="0"/>
              </a:rPr>
              <a:t>SCNs</a:t>
            </a:r>
            <a:r>
              <a:rPr lang="zh-CN" altLang="en-US" sz="2000" b="1">
                <a:latin typeface="楷体" panose="02010609060101010101" charset="-122"/>
                <a:ea typeface="楷体" panose="02010609060101010101" charset="-122"/>
                <a:cs typeface="楷体" panose="02010609060101010101" charset="-122"/>
              </a:rPr>
              <a:t>对于输入权值的不等式约束保证了网络的通用逼近性能。</a:t>
            </a:r>
          </a:p>
        </p:txBody>
      </p:sp>
      <p:sp>
        <p:nvSpPr>
          <p:cNvPr id="11" name="文本框 10"/>
          <p:cNvSpPr txBox="1"/>
          <p:nvPr/>
        </p:nvSpPr>
        <p:spPr>
          <a:xfrm>
            <a:off x="300355" y="2520315"/>
            <a:ext cx="11570335" cy="706755"/>
          </a:xfrm>
          <a:prstGeom prst="rect">
            <a:avLst/>
          </a:prstGeom>
          <a:noFill/>
        </p:spPr>
        <p:txBody>
          <a:bodyPr wrap="square" rtlCol="0" anchor="t">
            <a:spAutoFit/>
          </a:bodyPr>
          <a:lstStyle/>
          <a:p>
            <a:r>
              <a:rPr lang="en-US" altLang="zh-CN" sz="2000" b="1">
                <a:latin typeface="楷体" panose="02010609060101010101" charset="-122"/>
                <a:ea typeface="楷体" panose="02010609060101010101" charset="-122"/>
                <a:cs typeface="楷体" panose="02010609060101010101" charset="-122"/>
              </a:rPr>
              <a:t>  </a:t>
            </a:r>
            <a:r>
              <a:rPr lang="zh-CN" altLang="en-US" sz="2000" b="1">
                <a:latin typeface="Times New Roman" panose="02020603050405020304" pitchFamily="18" charset="0"/>
                <a:ea typeface="楷体" panose="02010609060101010101" charset="-122"/>
                <a:cs typeface="Times New Roman" panose="02020603050405020304" pitchFamily="18" charset="0"/>
              </a:rPr>
              <a:t>SCN</a:t>
            </a:r>
            <a:r>
              <a:rPr lang="en-US" altLang="zh-CN" sz="2000" b="1">
                <a:latin typeface="Times New Roman" panose="02020603050405020304" pitchFamily="18" charset="0"/>
                <a:ea typeface="楷体" panose="02010609060101010101" charset="-122"/>
                <a:cs typeface="Times New Roman" panose="02020603050405020304" pitchFamily="18" charset="0"/>
              </a:rPr>
              <a:t>s</a:t>
            </a:r>
            <a:r>
              <a:rPr lang="zh-CN" altLang="en-US" sz="2000" b="1">
                <a:latin typeface="楷体" panose="02010609060101010101" charset="-122"/>
                <a:ea typeface="楷体" panose="02010609060101010101" charset="-122"/>
                <a:cs typeface="楷体" panose="02010609060101010101" charset="-122"/>
              </a:rPr>
              <a:t>自提出以来, 已经逐渐应用于</a:t>
            </a:r>
            <a:r>
              <a:rPr lang="zh-CN" altLang="en-US" sz="2000" b="1">
                <a:solidFill>
                  <a:srgbClr val="FF0000"/>
                </a:solidFill>
                <a:latin typeface="楷体" panose="02010609060101010101" charset="-122"/>
                <a:ea typeface="楷体" panose="02010609060101010101" charset="-122"/>
                <a:cs typeface="楷体" panose="02010609060101010101" charset="-122"/>
              </a:rPr>
              <a:t>计算机视觉、医学数据分析、故障检测与诊断以及各类系统建模预测</a:t>
            </a:r>
            <a:r>
              <a:rPr lang="zh-CN" altLang="en-US" sz="2000" b="1">
                <a:latin typeface="楷体" panose="02010609060101010101" charset="-122"/>
                <a:ea typeface="楷体" panose="02010609060101010101" charset="-122"/>
                <a:cs typeface="楷体" panose="02010609060101010101" charset="-122"/>
              </a:rPr>
              <a:t>等领域, 并取得了巨大的成功</a:t>
            </a:r>
            <a:r>
              <a:rPr lang="zh-CN" altLang="en-US" b="1">
                <a:latin typeface="楷体" panose="02010609060101010101" charset="-122"/>
                <a:ea typeface="楷体" panose="02010609060101010101" charset="-122"/>
                <a:cs typeface="楷体" panose="02010609060101010101" charset="-122"/>
              </a:rPr>
              <a:t>。</a:t>
            </a:r>
          </a:p>
        </p:txBody>
      </p:sp>
      <p:pic>
        <p:nvPicPr>
          <p:cNvPr id="17" name="图片 16"/>
          <p:cNvPicPr>
            <a:picLocks noChangeAspect="1"/>
          </p:cNvPicPr>
          <p:nvPr/>
        </p:nvPicPr>
        <p:blipFill>
          <a:blip r:embed="rId6"/>
          <a:stretch>
            <a:fillRect/>
          </a:stretch>
        </p:blipFill>
        <p:spPr>
          <a:xfrm>
            <a:off x="5609590" y="3361055"/>
            <a:ext cx="2017395" cy="2820670"/>
          </a:xfrm>
          <a:prstGeom prst="rect">
            <a:avLst/>
          </a:prstGeom>
          <a:ln w="12700">
            <a:solidFill>
              <a:schemeClr val="accent6"/>
            </a:solidFill>
          </a:ln>
          <a:effectLst>
            <a:outerShdw blurRad="50800" dist="38100" algn="l" rotWithShape="0">
              <a:prstClr val="black">
                <a:alpha val="40000"/>
              </a:prstClr>
            </a:outerShdw>
          </a:effectLst>
        </p:spPr>
      </p:pic>
      <p:pic>
        <p:nvPicPr>
          <p:cNvPr id="32" name="图片 31"/>
          <p:cNvPicPr>
            <a:picLocks noChangeAspect="1"/>
          </p:cNvPicPr>
          <p:nvPr/>
        </p:nvPicPr>
        <p:blipFill>
          <a:blip r:embed="rId7"/>
          <a:stretch>
            <a:fillRect/>
          </a:stretch>
        </p:blipFill>
        <p:spPr>
          <a:xfrm>
            <a:off x="229235" y="3402330"/>
            <a:ext cx="2031365" cy="2779395"/>
          </a:xfrm>
          <a:prstGeom prst="rect">
            <a:avLst/>
          </a:prstGeom>
          <a:ln w="12700">
            <a:solidFill>
              <a:schemeClr val="accent6"/>
            </a:solidFill>
          </a:ln>
          <a:effectLst>
            <a:outerShdw blurRad="50800" dist="38100" algn="l" rotWithShape="0">
              <a:prstClr val="black">
                <a:alpha val="40000"/>
              </a:prstClr>
            </a:outerShdw>
          </a:effectLst>
        </p:spPr>
      </p:pic>
      <p:pic>
        <p:nvPicPr>
          <p:cNvPr id="18" name="图片 17"/>
          <p:cNvPicPr/>
          <p:nvPr/>
        </p:nvPicPr>
        <p:blipFill>
          <a:blip r:embed="rId8"/>
          <a:stretch>
            <a:fillRect/>
          </a:stretch>
        </p:blipFill>
        <p:spPr>
          <a:xfrm>
            <a:off x="7822565" y="3373120"/>
            <a:ext cx="2052955" cy="2820670"/>
          </a:xfrm>
          <a:prstGeom prst="rect">
            <a:avLst/>
          </a:prstGeom>
          <a:ln w="12700">
            <a:solidFill>
              <a:schemeClr val="accent6"/>
            </a:solidFill>
          </a:ln>
          <a:effectLst>
            <a:outerShdw blurRad="50800" dist="38100" algn="l" rotWithShape="0">
              <a:prstClr val="black">
                <a:alpha val="40000"/>
              </a:prstClr>
            </a:outerShdw>
          </a:effectLst>
        </p:spPr>
      </p:pic>
      <p:pic>
        <p:nvPicPr>
          <p:cNvPr id="20" name="图片 19"/>
          <p:cNvPicPr/>
          <p:nvPr/>
        </p:nvPicPr>
        <p:blipFill>
          <a:blip r:embed="rId9"/>
          <a:stretch>
            <a:fillRect/>
          </a:stretch>
        </p:blipFill>
        <p:spPr>
          <a:xfrm>
            <a:off x="10088245" y="3362325"/>
            <a:ext cx="1934210" cy="2820035"/>
          </a:xfrm>
          <a:prstGeom prst="rect">
            <a:avLst/>
          </a:prstGeom>
          <a:ln w="12700">
            <a:solidFill>
              <a:schemeClr val="accent6"/>
            </a:solidFill>
          </a:ln>
          <a:effectLst>
            <a:outerShdw blurRad="50800" dist="38100" algn="l" rotWithShape="0">
              <a:prstClr val="black">
                <a:alpha val="40000"/>
              </a:prstClr>
            </a:outerShdw>
          </a:effectLst>
        </p:spPr>
      </p:pic>
      <p:sp>
        <p:nvSpPr>
          <p:cNvPr id="22" name="文本框 21"/>
          <p:cNvSpPr txBox="1"/>
          <p:nvPr/>
        </p:nvSpPr>
        <p:spPr>
          <a:xfrm>
            <a:off x="784860" y="1025525"/>
            <a:ext cx="5111750" cy="398780"/>
          </a:xfrm>
          <a:prstGeom prst="rect">
            <a:avLst/>
          </a:prstGeom>
          <a:noFill/>
        </p:spPr>
        <p:txBody>
          <a:bodyPr wrap="square" rtlCol="0" anchor="t">
            <a:spAutoFit/>
          </a:bodyPr>
          <a:lstStyle/>
          <a:p>
            <a:r>
              <a:rPr lang="en-US" altLang="zh-CN" sz="2000" b="1">
                <a:solidFill>
                  <a:schemeClr val="accent6">
                    <a:lumMod val="75000"/>
                  </a:schemeClr>
                </a:solidFill>
                <a:latin typeface="楷体" panose="02010609060101010101" charset="-122"/>
                <a:ea typeface="楷体" panose="02010609060101010101" charset="-122"/>
                <a:sym typeface="+mn-ea"/>
              </a:rPr>
              <a:t>2.2.1 </a:t>
            </a:r>
            <a:r>
              <a:rPr lang="zh-CN" altLang="en-US" sz="2000" b="1">
                <a:solidFill>
                  <a:schemeClr val="accent6">
                    <a:lumMod val="75000"/>
                  </a:schemeClr>
                </a:solidFill>
                <a:latin typeface="楷体" panose="02010609060101010101" charset="-122"/>
                <a:ea typeface="楷体" panose="02010609060101010101" charset="-122"/>
                <a:sym typeface="+mn-ea"/>
              </a:rPr>
              <a:t>随机配置网络的应用及参数优化</a:t>
            </a:r>
            <a:endParaRPr lang="zh-CN" altLang="en-US" sz="2000" b="1">
              <a:solidFill>
                <a:schemeClr val="accent6">
                  <a:lumMod val="75000"/>
                </a:schemeClr>
              </a:solidFill>
              <a:latin typeface="楷体" panose="02010609060101010101" charset="-122"/>
              <a:ea typeface="楷体" panose="02010609060101010101" charset="-122"/>
            </a:endParaRPr>
          </a:p>
        </p:txBody>
      </p:sp>
      <p:sp>
        <p:nvSpPr>
          <p:cNvPr id="24" name="圆角矩形 23"/>
          <p:cNvSpPr/>
          <p:nvPr/>
        </p:nvSpPr>
        <p:spPr>
          <a:xfrm>
            <a:off x="1152525" y="6261100"/>
            <a:ext cx="2541905" cy="509905"/>
          </a:xfrm>
          <a:prstGeom prst="roundRect">
            <a:avLst>
              <a:gd name="adj" fmla="val 9357"/>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latin typeface="微软雅黑" panose="020B0503020204020204" charset="-122"/>
                <a:ea typeface="微软雅黑" panose="020B0503020204020204" charset="-122"/>
                <a:cs typeface="微软雅黑" panose="020B0503020204020204" charset="-122"/>
                <a:sym typeface="+mn-ea"/>
              </a:rPr>
              <a:t>        Applied Energy</a:t>
            </a:r>
          </a:p>
        </p:txBody>
      </p:sp>
      <p:sp>
        <p:nvSpPr>
          <p:cNvPr id="25" name="圆角矩形 24"/>
          <p:cNvSpPr/>
          <p:nvPr/>
        </p:nvSpPr>
        <p:spPr>
          <a:xfrm>
            <a:off x="5452110" y="6263640"/>
            <a:ext cx="2305685" cy="509905"/>
          </a:xfrm>
          <a:prstGeom prst="roundRect">
            <a:avLst>
              <a:gd name="adj" fmla="val 9357"/>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latin typeface="微软雅黑" panose="020B0503020204020204" charset="-122"/>
                <a:ea typeface="微软雅黑" panose="020B0503020204020204" charset="-122"/>
                <a:cs typeface="微软雅黑" panose="020B0503020204020204" charset="-122"/>
                <a:sym typeface="+mn-ea"/>
              </a:rPr>
              <a:t>        INFORMATION</a:t>
            </a:r>
          </a:p>
          <a:p>
            <a:pPr algn="ctr"/>
            <a:r>
              <a:rPr lang="en-US" sz="1600" b="1">
                <a:latin typeface="微软雅黑" panose="020B0503020204020204" charset="-122"/>
                <a:ea typeface="微软雅黑" panose="020B0503020204020204" charset="-122"/>
                <a:cs typeface="微软雅黑" panose="020B0503020204020204" charset="-122"/>
                <a:sym typeface="+mn-ea"/>
              </a:rPr>
              <a:t>         SCIENCES</a:t>
            </a:r>
          </a:p>
        </p:txBody>
      </p:sp>
      <p:sp>
        <p:nvSpPr>
          <p:cNvPr id="26" name="圆角矩形 25"/>
          <p:cNvSpPr/>
          <p:nvPr/>
        </p:nvSpPr>
        <p:spPr>
          <a:xfrm>
            <a:off x="10107295" y="6265545"/>
            <a:ext cx="1900555" cy="509905"/>
          </a:xfrm>
          <a:prstGeom prst="roundRect">
            <a:avLst>
              <a:gd name="adj" fmla="val 9357"/>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latin typeface="微软雅黑" panose="020B0503020204020204" charset="-122"/>
                <a:ea typeface="微软雅黑" panose="020B0503020204020204" charset="-122"/>
                <a:cs typeface="微软雅黑" panose="020B0503020204020204" charset="-122"/>
                <a:sym typeface="+mn-ea"/>
              </a:rPr>
              <a:t>     ENERGY</a:t>
            </a:r>
          </a:p>
        </p:txBody>
      </p:sp>
      <p:sp>
        <p:nvSpPr>
          <p:cNvPr id="27" name="圆角矩形 26"/>
          <p:cNvSpPr/>
          <p:nvPr/>
        </p:nvSpPr>
        <p:spPr>
          <a:xfrm>
            <a:off x="7956550" y="6256655"/>
            <a:ext cx="1921510" cy="509905"/>
          </a:xfrm>
          <a:prstGeom prst="roundRect">
            <a:avLst>
              <a:gd name="adj" fmla="val 9357"/>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a:latin typeface="微软雅黑" panose="020B0503020204020204" charset="-122"/>
                <a:ea typeface="微软雅黑" panose="020B0503020204020204" charset="-122"/>
                <a:cs typeface="微软雅黑" panose="020B0503020204020204" charset="-122"/>
                <a:sym typeface="+mn-ea"/>
              </a:rPr>
              <a:t>       </a:t>
            </a:r>
            <a:r>
              <a:rPr lang="zh-CN" altLang="en-US" sz="1600" b="1">
                <a:latin typeface="微软雅黑" panose="020B0503020204020204" charset="-122"/>
                <a:ea typeface="微软雅黑" panose="020B0503020204020204" charset="-122"/>
                <a:cs typeface="微软雅黑" panose="020B0503020204020204" charset="-122"/>
                <a:sym typeface="+mn-ea"/>
              </a:rPr>
              <a:t>自动化学报</a:t>
            </a:r>
          </a:p>
        </p:txBody>
      </p:sp>
      <p:pic>
        <p:nvPicPr>
          <p:cNvPr id="28" name="图片 27"/>
          <p:cNvPicPr>
            <a:picLocks noChangeAspect="1"/>
          </p:cNvPicPr>
          <p:nvPr/>
        </p:nvPicPr>
        <p:blipFill>
          <a:blip r:embed="rId10"/>
          <a:stretch>
            <a:fillRect/>
          </a:stretch>
        </p:blipFill>
        <p:spPr>
          <a:xfrm>
            <a:off x="1211580" y="6309995"/>
            <a:ext cx="468630" cy="412750"/>
          </a:xfrm>
          <a:prstGeom prst="rect">
            <a:avLst/>
          </a:prstGeom>
        </p:spPr>
      </p:pic>
      <p:pic>
        <p:nvPicPr>
          <p:cNvPr id="30" name="图片 29"/>
          <p:cNvPicPr>
            <a:picLocks noChangeAspect="1"/>
          </p:cNvPicPr>
          <p:nvPr/>
        </p:nvPicPr>
        <p:blipFill>
          <a:blip r:embed="rId10"/>
          <a:stretch>
            <a:fillRect/>
          </a:stretch>
        </p:blipFill>
        <p:spPr>
          <a:xfrm>
            <a:off x="5516880" y="6309995"/>
            <a:ext cx="468630" cy="412750"/>
          </a:xfrm>
          <a:prstGeom prst="rect">
            <a:avLst/>
          </a:prstGeom>
        </p:spPr>
      </p:pic>
      <p:pic>
        <p:nvPicPr>
          <p:cNvPr id="31" name="图片 30"/>
          <p:cNvPicPr>
            <a:picLocks noChangeAspect="1"/>
          </p:cNvPicPr>
          <p:nvPr/>
        </p:nvPicPr>
        <p:blipFill>
          <a:blip r:embed="rId10"/>
          <a:stretch>
            <a:fillRect/>
          </a:stretch>
        </p:blipFill>
        <p:spPr>
          <a:xfrm>
            <a:off x="8042275" y="6308090"/>
            <a:ext cx="468630" cy="412750"/>
          </a:xfrm>
          <a:prstGeom prst="rect">
            <a:avLst/>
          </a:prstGeom>
        </p:spPr>
      </p:pic>
      <p:pic>
        <p:nvPicPr>
          <p:cNvPr id="33" name="图片 32"/>
          <p:cNvPicPr>
            <a:picLocks noChangeAspect="1"/>
          </p:cNvPicPr>
          <p:nvPr/>
        </p:nvPicPr>
        <p:blipFill>
          <a:blip r:embed="rId10"/>
          <a:stretch>
            <a:fillRect/>
          </a:stretch>
        </p:blipFill>
        <p:spPr>
          <a:xfrm>
            <a:off x="10207625" y="6315710"/>
            <a:ext cx="468630" cy="4127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rcRect b="8786"/>
          <a:stretch>
            <a:fillRect/>
          </a:stretch>
        </p:blipFill>
        <p:spPr>
          <a:xfrm>
            <a:off x="4445" y="782320"/>
            <a:ext cx="770255" cy="717550"/>
          </a:xfrm>
          <a:prstGeom prst="rect">
            <a:avLst/>
          </a:prstGeom>
        </p:spPr>
      </p:pic>
      <p:pic>
        <p:nvPicPr>
          <p:cNvPr id="2" name="图片 1"/>
          <p:cNvPicPr>
            <a:picLocks noChangeAspect="1"/>
          </p:cNvPicPr>
          <p:nvPr/>
        </p:nvPicPr>
        <p:blipFill>
          <a:blip r:embed="rId3"/>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2.2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研究内容</a:t>
            </a:r>
          </a:p>
        </p:txBody>
      </p:sp>
      <p:sp>
        <p:nvSpPr>
          <p:cNvPr id="3" name="文本框 2"/>
          <p:cNvSpPr txBox="1"/>
          <p:nvPr/>
        </p:nvSpPr>
        <p:spPr>
          <a:xfrm>
            <a:off x="784860" y="932815"/>
            <a:ext cx="4735195" cy="398780"/>
          </a:xfrm>
          <a:prstGeom prst="rect">
            <a:avLst/>
          </a:prstGeom>
          <a:noFill/>
        </p:spPr>
        <p:txBody>
          <a:bodyPr wrap="square" rtlCol="0" anchor="t">
            <a:spAutoFit/>
          </a:bodyPr>
          <a:lstStyle/>
          <a:p>
            <a:r>
              <a:rPr lang="en-US" altLang="zh-CN" sz="2000" b="1">
                <a:solidFill>
                  <a:schemeClr val="accent6">
                    <a:lumMod val="75000"/>
                  </a:schemeClr>
                </a:solidFill>
                <a:latin typeface="楷体" panose="02010609060101010101" charset="-122"/>
                <a:ea typeface="楷体" panose="02010609060101010101" charset="-122"/>
              </a:rPr>
              <a:t>2.2.1 </a:t>
            </a:r>
            <a:r>
              <a:rPr lang="zh-CN" altLang="en-US" sz="2000" b="1">
                <a:solidFill>
                  <a:schemeClr val="accent6">
                    <a:lumMod val="75000"/>
                  </a:schemeClr>
                </a:solidFill>
                <a:latin typeface="楷体" panose="02010609060101010101" charset="-122"/>
                <a:ea typeface="楷体" panose="02010609060101010101" charset="-122"/>
              </a:rPr>
              <a:t>随机配置网络的应用及参数优化</a:t>
            </a:r>
          </a:p>
        </p:txBody>
      </p:sp>
      <p:sp>
        <p:nvSpPr>
          <p:cNvPr id="6" name="文本框 5"/>
          <p:cNvSpPr txBox="1"/>
          <p:nvPr/>
        </p:nvSpPr>
        <p:spPr>
          <a:xfrm>
            <a:off x="1040765" y="3792220"/>
            <a:ext cx="709930" cy="337185"/>
          </a:xfrm>
          <a:prstGeom prst="rect">
            <a:avLst/>
          </a:prstGeom>
          <a:noFill/>
        </p:spPr>
        <p:txBody>
          <a:bodyPr wrap="square" rtlCol="0">
            <a:spAutoFit/>
          </a:bodyPr>
          <a:lstStyle/>
          <a:p>
            <a:r>
              <a:rPr lang="en-US" altLang="zh-CN" sz="1600" b="1">
                <a:latin typeface="Times New Roman" panose="02020603050405020304" pitchFamily="18" charset="0"/>
                <a:ea typeface="楷体" panose="02010609060101010101" charset="-122"/>
                <a:cs typeface="Times New Roman" panose="02020603050405020304" pitchFamily="18" charset="0"/>
              </a:rPr>
              <a:t>Input</a:t>
            </a:r>
          </a:p>
        </p:txBody>
      </p:sp>
      <p:sp>
        <p:nvSpPr>
          <p:cNvPr id="7" name="文本框 6"/>
          <p:cNvSpPr txBox="1"/>
          <p:nvPr/>
        </p:nvSpPr>
        <p:spPr>
          <a:xfrm>
            <a:off x="10366375" y="3112770"/>
            <a:ext cx="859790" cy="337185"/>
          </a:xfrm>
          <a:prstGeom prst="rect">
            <a:avLst/>
          </a:prstGeom>
          <a:noFill/>
        </p:spPr>
        <p:txBody>
          <a:bodyPr wrap="square" rtlCol="0">
            <a:spAutoFit/>
          </a:bodyPr>
          <a:lstStyle/>
          <a:p>
            <a:r>
              <a:rPr lang="en-US" altLang="zh-CN" sz="1600" b="1">
                <a:latin typeface="Times New Roman" panose="02020603050405020304" pitchFamily="18" charset="0"/>
                <a:ea typeface="楷体" panose="02010609060101010101" charset="-122"/>
                <a:cs typeface="Times New Roman" panose="02020603050405020304" pitchFamily="18" charset="0"/>
              </a:rPr>
              <a:t>Output</a:t>
            </a:r>
          </a:p>
        </p:txBody>
      </p:sp>
      <p:sp>
        <p:nvSpPr>
          <p:cNvPr id="9" name="圆角右箭头 8"/>
          <p:cNvSpPr/>
          <p:nvPr/>
        </p:nvSpPr>
        <p:spPr>
          <a:xfrm>
            <a:off x="1344930" y="3375660"/>
            <a:ext cx="396875" cy="368300"/>
          </a:xfrm>
          <a:prstGeom prst="bentArrow">
            <a:avLst/>
          </a:prstGeom>
          <a:solidFill>
            <a:schemeClr val="accent6">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1" name="圆角右箭头 10"/>
          <p:cNvSpPr/>
          <p:nvPr/>
        </p:nvSpPr>
        <p:spPr>
          <a:xfrm flipH="1" flipV="1">
            <a:off x="10454640" y="3485515"/>
            <a:ext cx="396875" cy="368300"/>
          </a:xfrm>
          <a:prstGeom prst="bentArrow">
            <a:avLst/>
          </a:prstGeom>
          <a:solidFill>
            <a:schemeClr val="bg2"/>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graphicFrame>
        <p:nvGraphicFramePr>
          <p:cNvPr id="12" name="对象 11"/>
          <p:cNvGraphicFramePr/>
          <p:nvPr/>
        </p:nvGraphicFramePr>
        <p:xfrm>
          <a:off x="490220" y="1266825"/>
          <a:ext cx="11191240" cy="4648200"/>
        </p:xfrm>
        <a:graphic>
          <a:graphicData uri="http://schemas.openxmlformats.org/presentationml/2006/ole">
            <mc:AlternateContent xmlns:mc="http://schemas.openxmlformats.org/markup-compatibility/2006">
              <mc:Choice xmlns:v="urn:schemas-microsoft-com:vml" Requires="v">
                <p:oleObj r:id="rId4" imgW="9478645" imgH="4018280" progId="Visio.Drawing.15">
                  <p:embed/>
                </p:oleObj>
              </mc:Choice>
              <mc:Fallback>
                <p:oleObj r:id="rId4" imgW="9478645" imgH="4018280" progId="Visio.Drawing.15">
                  <p:embed/>
                  <p:pic>
                    <p:nvPicPr>
                      <p:cNvPr id="0" name="图片 12"/>
                      <p:cNvPicPr/>
                      <p:nvPr/>
                    </p:nvPicPr>
                    <p:blipFill>
                      <a:blip r:embed="rId5"/>
                      <a:stretch>
                        <a:fillRect/>
                      </a:stretch>
                    </p:blipFill>
                    <p:spPr>
                      <a:xfrm>
                        <a:off x="490220" y="1266825"/>
                        <a:ext cx="11191240" cy="4648200"/>
                      </a:xfrm>
                      <a:prstGeom prst="rect">
                        <a:avLst/>
                      </a:prstGeom>
                    </p:spPr>
                  </p:pic>
                </p:oleObj>
              </mc:Fallback>
            </mc:AlternateContent>
          </a:graphicData>
        </a:graphic>
      </p:graphicFrame>
      <p:sp>
        <p:nvSpPr>
          <p:cNvPr id="29" name="圆角矩形 28"/>
          <p:cNvSpPr/>
          <p:nvPr/>
        </p:nvSpPr>
        <p:spPr>
          <a:xfrm>
            <a:off x="240030" y="5831205"/>
            <a:ext cx="11704955" cy="973455"/>
          </a:xfrm>
          <a:prstGeom prst="roundRect">
            <a:avLst/>
          </a:prstGeom>
          <a:solidFill>
            <a:schemeClr val="accent4">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14" name="文本框 13"/>
          <p:cNvSpPr txBox="1"/>
          <p:nvPr/>
        </p:nvSpPr>
        <p:spPr>
          <a:xfrm>
            <a:off x="239395" y="5840730"/>
            <a:ext cx="11889740" cy="1014730"/>
          </a:xfrm>
          <a:prstGeom prst="rect">
            <a:avLst/>
          </a:prstGeom>
          <a:noFill/>
        </p:spPr>
        <p:txBody>
          <a:bodyPr wrap="square" rtlCol="0">
            <a:spAutoFit/>
          </a:bodyPr>
          <a:lstStyle/>
          <a:p>
            <a:r>
              <a:rPr lang="zh-CN" altLang="en-US" sz="2000" b="1">
                <a:latin typeface="Times New Roman" panose="02020603050405020304" pitchFamily="18" charset="0"/>
                <a:ea typeface="楷体" panose="02010609060101010101" charset="-122"/>
                <a:cs typeface="Times New Roman" panose="02020603050405020304" pitchFamily="18" charset="0"/>
              </a:rPr>
              <a:t>SCNs</a:t>
            </a:r>
            <a:r>
              <a:rPr lang="en-US" altLang="zh-CN" sz="2000" b="1">
                <a:latin typeface="Times New Roman" panose="02020603050405020304" pitchFamily="18" charset="0"/>
                <a:ea typeface="楷体" panose="02010609060101010101" charset="-122"/>
                <a:cs typeface="Times New Roman" panose="02020603050405020304" pitchFamily="18" charset="0"/>
              </a:rPr>
              <a:t> </a:t>
            </a:r>
            <a:r>
              <a:rPr lang="zh-CN" altLang="en-US" sz="2000" b="1">
                <a:latin typeface="楷体" panose="02010609060101010101" charset="-122"/>
                <a:ea typeface="楷体" panose="02010609060101010101" charset="-122"/>
                <a:cs typeface="楷体" panose="02010609060101010101" charset="-122"/>
              </a:rPr>
              <a:t>是</a:t>
            </a:r>
            <a:r>
              <a:rPr lang="zh-CN" altLang="en-US" sz="2000" b="1">
                <a:solidFill>
                  <a:srgbClr val="FF0000"/>
                </a:solidFill>
                <a:latin typeface="楷体" panose="02010609060101010101" charset="-122"/>
                <a:ea typeface="楷体" panose="02010609060101010101" charset="-122"/>
                <a:cs typeface="楷体" panose="02010609060101010101" charset="-122"/>
              </a:rPr>
              <a:t>一种具有监督机制的点增量式随机学习模型</a:t>
            </a:r>
            <a:r>
              <a:rPr lang="zh-CN" altLang="en-US" sz="2000" b="1">
                <a:latin typeface="楷体" panose="02010609060101010101" charset="-122"/>
                <a:ea typeface="楷体" panose="02010609060101010101" charset="-122"/>
                <a:cs typeface="楷体" panose="02010609060101010101" charset="-122"/>
              </a:rPr>
              <a:t>，与传统前馈神经网络不同，</a:t>
            </a:r>
            <a:r>
              <a:rPr lang="zh-CN" altLang="en-US" sz="2000" b="1">
                <a:latin typeface="Times New Roman" panose="02020603050405020304" pitchFamily="18" charset="0"/>
                <a:ea typeface="楷体" panose="02010609060101010101" charset="-122"/>
                <a:cs typeface="Times New Roman" panose="02020603050405020304" pitchFamily="18" charset="0"/>
              </a:rPr>
              <a:t>SCNs</a:t>
            </a:r>
            <a:r>
              <a:rPr lang="en-US" altLang="zh-CN" sz="2000" b="1">
                <a:latin typeface="Times New Roman" panose="02020603050405020304" pitchFamily="18" charset="0"/>
                <a:ea typeface="楷体" panose="02010609060101010101" charset="-122"/>
                <a:cs typeface="Times New Roman" panose="02020603050405020304" pitchFamily="18" charset="0"/>
              </a:rPr>
              <a:t> </a:t>
            </a:r>
            <a:r>
              <a:rPr lang="zh-CN" altLang="en-US" sz="2000" b="1">
                <a:latin typeface="楷体" panose="02010609060101010101" charset="-122"/>
                <a:ea typeface="楷体" panose="02010609060101010101" charset="-122"/>
                <a:cs typeface="楷体" panose="02010609060101010101" charset="-122"/>
              </a:rPr>
              <a:t>从一个小规模网络开始，在固定概率分布下逐步增加隐含层节点，以最大化</a:t>
            </a:r>
            <a:r>
              <a:rPr lang="zh-CN" altLang="en-US" sz="2000" b="1" i="1">
                <a:latin typeface="Times New Roman" panose="02020603050405020304" pitchFamily="18" charset="0"/>
                <a:ea typeface="楷体" panose="02010609060101010101" charset="-122"/>
                <a:cs typeface="Times New Roman" panose="02020603050405020304" pitchFamily="18" charset="0"/>
              </a:rPr>
              <a:t>ξ</a:t>
            </a:r>
            <a:r>
              <a:rPr lang="zh-CN" altLang="en-US" sz="2000" b="1">
                <a:latin typeface="楷体" panose="02010609060101010101" charset="-122"/>
                <a:ea typeface="楷体" panose="02010609060101010101" charset="-122"/>
                <a:cs typeface="楷体" panose="02010609060101010101" charset="-122"/>
              </a:rPr>
              <a:t>为目标网格搜索输入权值与偏置，直到网络达到可接受的误差</a:t>
            </a:r>
            <a:r>
              <a:rPr lang="zh-CN" altLang="en-US" b="1">
                <a:latin typeface="楷体" panose="02010609060101010101" charset="-122"/>
                <a:ea typeface="楷体" panose="02010609060101010101" charset="-122"/>
                <a:cs typeface="楷体" panose="02010609060101010101" charset="-122"/>
              </a:rPr>
              <a:t>。</a:t>
            </a:r>
          </a:p>
        </p:txBody>
      </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p:cNvSpPr/>
          <p:nvPr/>
        </p:nvSpPr>
        <p:spPr>
          <a:xfrm>
            <a:off x="204470" y="4193540"/>
            <a:ext cx="6024245" cy="2432050"/>
          </a:xfrm>
          <a:prstGeom prst="roundRect">
            <a:avLst/>
          </a:prstGeom>
          <a:solidFill>
            <a:schemeClr val="accent5">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5" name="图片 4"/>
          <p:cNvPicPr>
            <a:picLocks noChangeAspect="1"/>
          </p:cNvPicPr>
          <p:nvPr/>
        </p:nvPicPr>
        <p:blipFill>
          <a:blip r:embed="rId3"/>
          <a:srcRect b="8786"/>
          <a:stretch>
            <a:fillRect/>
          </a:stretch>
        </p:blipFill>
        <p:spPr>
          <a:xfrm>
            <a:off x="4445" y="923290"/>
            <a:ext cx="770255" cy="717550"/>
          </a:xfrm>
          <a:prstGeom prst="rect">
            <a:avLst/>
          </a:prstGeom>
        </p:spPr>
      </p:pic>
      <p:sp>
        <p:nvSpPr>
          <p:cNvPr id="13" name="圆角矩形 12"/>
          <p:cNvSpPr/>
          <p:nvPr/>
        </p:nvSpPr>
        <p:spPr>
          <a:xfrm>
            <a:off x="205105" y="1658620"/>
            <a:ext cx="6024245" cy="2310130"/>
          </a:xfrm>
          <a:prstGeom prst="roundRect">
            <a:avLst/>
          </a:prstGeom>
          <a:solidFill>
            <a:schemeClr val="accent6">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2" name="图片 1"/>
          <p:cNvPicPr>
            <a:picLocks noChangeAspect="1"/>
          </p:cNvPicPr>
          <p:nvPr/>
        </p:nvPicPr>
        <p:blipFill>
          <a:blip r:embed="rId4"/>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2.2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研究内容</a:t>
            </a:r>
          </a:p>
        </p:txBody>
      </p:sp>
      <p:sp>
        <p:nvSpPr>
          <p:cNvPr id="3" name="文本框 2"/>
          <p:cNvSpPr txBox="1"/>
          <p:nvPr/>
        </p:nvSpPr>
        <p:spPr>
          <a:xfrm>
            <a:off x="784860" y="1097915"/>
            <a:ext cx="5111750" cy="398780"/>
          </a:xfrm>
          <a:prstGeom prst="rect">
            <a:avLst/>
          </a:prstGeom>
          <a:noFill/>
        </p:spPr>
        <p:txBody>
          <a:bodyPr wrap="square" rtlCol="0" anchor="t">
            <a:spAutoFit/>
          </a:bodyPr>
          <a:lstStyle/>
          <a:p>
            <a:r>
              <a:rPr lang="en-US" altLang="zh-CN" sz="2000" b="1">
                <a:solidFill>
                  <a:schemeClr val="accent6">
                    <a:lumMod val="75000"/>
                  </a:schemeClr>
                </a:solidFill>
                <a:latin typeface="楷体" panose="02010609060101010101" charset="-122"/>
                <a:ea typeface="楷体" panose="02010609060101010101" charset="-122"/>
                <a:sym typeface="+mn-ea"/>
              </a:rPr>
              <a:t>2.2.1 </a:t>
            </a:r>
            <a:r>
              <a:rPr lang="zh-CN" altLang="en-US" sz="2000" b="1">
                <a:solidFill>
                  <a:schemeClr val="accent6">
                    <a:lumMod val="75000"/>
                  </a:schemeClr>
                </a:solidFill>
                <a:latin typeface="楷体" panose="02010609060101010101" charset="-122"/>
                <a:ea typeface="楷体" panose="02010609060101010101" charset="-122"/>
                <a:sym typeface="+mn-ea"/>
              </a:rPr>
              <a:t>随机配置网络的应用及参数优化</a:t>
            </a:r>
            <a:endParaRPr lang="zh-CN" altLang="en-US" sz="2000" b="1">
              <a:solidFill>
                <a:schemeClr val="accent6">
                  <a:lumMod val="75000"/>
                </a:schemeClr>
              </a:solidFill>
              <a:latin typeface="楷体" panose="02010609060101010101" charset="-122"/>
              <a:ea typeface="楷体" panose="02010609060101010101" charset="-122"/>
            </a:endParaRPr>
          </a:p>
        </p:txBody>
      </p:sp>
      <p:sp>
        <p:nvSpPr>
          <p:cNvPr id="6" name="文本框 5"/>
          <p:cNvSpPr txBox="1"/>
          <p:nvPr/>
        </p:nvSpPr>
        <p:spPr>
          <a:xfrm>
            <a:off x="295910" y="1697990"/>
            <a:ext cx="5773420" cy="2306955"/>
          </a:xfrm>
          <a:prstGeom prst="rect">
            <a:avLst/>
          </a:prstGeom>
          <a:noFill/>
        </p:spPr>
        <p:txBody>
          <a:bodyPr wrap="square" rtlCol="0">
            <a:spAutoFit/>
          </a:bodyPr>
          <a:lstStyle/>
          <a:p>
            <a:r>
              <a:rPr lang="en-US" altLang="zh-CN" b="1">
                <a:latin typeface="楷体" panose="02010609060101010101" charset="-122"/>
                <a:ea typeface="楷体" panose="02010609060101010101" charset="-122"/>
                <a:cs typeface="楷体" panose="02010609060101010101" charset="-122"/>
              </a:rPr>
              <a:t>  </a:t>
            </a:r>
            <a:r>
              <a:rPr lang="zh-CN" altLang="en-US" b="1">
                <a:latin typeface="Times New Roman" panose="02020603050405020304" pitchFamily="18" charset="0"/>
                <a:ea typeface="楷体" panose="02010609060101010101" charset="-122"/>
                <a:cs typeface="Times New Roman" panose="02020603050405020304" pitchFamily="18" charset="0"/>
              </a:rPr>
              <a:t>SCNs</a:t>
            </a:r>
            <a:r>
              <a:rPr lang="zh-CN" altLang="en-US" b="1">
                <a:latin typeface="楷体" panose="02010609060101010101" charset="-122"/>
                <a:ea typeface="楷体" panose="02010609060101010101" charset="-122"/>
                <a:cs typeface="楷体" panose="02010609060101010101" charset="-122"/>
              </a:rPr>
              <a:t>仍然存在两个公开问题：首先隐含层的节点数量必须足够大才能达到良好的性能，所以在处理大数据集时，会受到计算复杂度和最小二乘数值扩展性的限制；其次</a:t>
            </a:r>
            <a:r>
              <a:rPr lang="zh-CN" altLang="en-US" b="1">
                <a:latin typeface="Times New Roman" panose="02020603050405020304" pitchFamily="18" charset="0"/>
                <a:ea typeface="楷体" panose="02010609060101010101" charset="-122"/>
                <a:cs typeface="Times New Roman" panose="02020603050405020304" pitchFamily="18" charset="0"/>
              </a:rPr>
              <a:t>SCNs</a:t>
            </a:r>
            <a:r>
              <a:rPr lang="zh-CN" altLang="en-US" b="1">
                <a:latin typeface="楷体" panose="02010609060101010101" charset="-122"/>
                <a:ea typeface="楷体" panose="02010609060101010101" charset="-122"/>
                <a:cs typeface="楷体" panose="02010609060101010101" charset="-122"/>
              </a:rPr>
              <a:t>的性能对参数设置很敏感，包括其</a:t>
            </a:r>
            <a:r>
              <a:rPr lang="zh-CN" altLang="en-US" b="1">
                <a:solidFill>
                  <a:srgbClr val="FF0000"/>
                </a:solidFill>
                <a:latin typeface="楷体" panose="02010609060101010101" charset="-122"/>
                <a:ea typeface="楷体" panose="02010609060101010101" charset="-122"/>
                <a:cs typeface="楷体" panose="02010609060101010101" charset="-122"/>
              </a:rPr>
              <a:t>正则化参数</a:t>
            </a:r>
            <a:r>
              <a:rPr lang="en-US" altLang="zh-CN" b="1">
                <a:solidFill>
                  <a:srgbClr val="FF0000"/>
                </a:solidFill>
                <a:latin typeface="楷体" panose="02010609060101010101" charset="-122"/>
                <a:ea typeface="楷体" panose="02010609060101010101" charset="-122"/>
                <a:cs typeface="楷体" panose="02010609060101010101" charset="-122"/>
              </a:rPr>
              <a:t>(</a:t>
            </a:r>
            <a:r>
              <a:rPr lang="zh-CN" altLang="en-US" b="1" i="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r</a:t>
            </a:r>
            <a:r>
              <a:rPr lang="en-US" altLang="zh-CN" b="1">
                <a:solidFill>
                  <a:srgbClr val="FF0000"/>
                </a:solidFill>
                <a:latin typeface="楷体" panose="02010609060101010101" charset="-122"/>
                <a:ea typeface="楷体" panose="02010609060101010101" charset="-122"/>
                <a:cs typeface="楷体" panose="02010609060101010101" charset="-122"/>
              </a:rPr>
              <a:t>)</a:t>
            </a:r>
            <a:r>
              <a:rPr lang="zh-CN" altLang="en-US" b="1">
                <a:latin typeface="楷体" panose="02010609060101010101" charset="-122"/>
                <a:ea typeface="楷体" panose="02010609060101010101" charset="-122"/>
                <a:cs typeface="楷体" panose="02010609060101010101" charset="-122"/>
              </a:rPr>
              <a:t>和</a:t>
            </a:r>
            <a:r>
              <a:rPr lang="zh-CN" altLang="en-US" b="1">
                <a:solidFill>
                  <a:srgbClr val="FF0000"/>
                </a:solidFill>
                <a:latin typeface="楷体" panose="02010609060101010101" charset="-122"/>
                <a:ea typeface="楷体" panose="02010609060101010101" charset="-122"/>
                <a:cs typeface="楷体" panose="02010609060101010101" charset="-122"/>
              </a:rPr>
              <a:t>尺度因子</a:t>
            </a:r>
            <a:r>
              <a:rPr lang="en-US" altLang="zh-CN" b="1">
                <a:solidFill>
                  <a:srgbClr val="FF0000"/>
                </a:solidFill>
                <a:latin typeface="楷体" panose="02010609060101010101" charset="-122"/>
                <a:ea typeface="楷体" panose="02010609060101010101" charset="-122"/>
                <a:cs typeface="楷体" panose="02010609060101010101" charset="-122"/>
              </a:rPr>
              <a:t>(</a:t>
            </a:r>
            <a:r>
              <a:rPr lang="en-US" altLang="zh-CN" b="1" i="1">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λ</a:t>
            </a:r>
            <a:r>
              <a:rPr lang="en-US" altLang="zh-CN" b="1">
                <a:solidFill>
                  <a:srgbClr val="FF0000"/>
                </a:solidFill>
                <a:latin typeface="楷体" panose="02010609060101010101" charset="-122"/>
                <a:ea typeface="楷体" panose="02010609060101010101" charset="-122"/>
                <a:cs typeface="楷体" panose="02010609060101010101" charset="-122"/>
              </a:rPr>
              <a:t>)</a:t>
            </a:r>
            <a:r>
              <a:rPr lang="en-US" altLang="zh-CN" b="1" i="1">
                <a:solidFill>
                  <a:srgbClr val="FF0000"/>
                </a:solidFill>
                <a:latin typeface="Times New Roman" panose="02020603050405020304" pitchFamily="18" charset="0"/>
                <a:ea typeface="楷体" panose="02010609060101010101" charset="-122"/>
                <a:cs typeface="Times New Roman" panose="02020603050405020304" pitchFamily="18" charset="0"/>
              </a:rPr>
              <a:t> </a:t>
            </a:r>
            <a:r>
              <a:rPr lang="zh-CN" altLang="en-US" b="1">
                <a:latin typeface="楷体" panose="02010609060101010101" charset="-122"/>
                <a:ea typeface="楷体" panose="02010609060101010101" charset="-122"/>
                <a:cs typeface="楷体" panose="02010609060101010101" charset="-122"/>
              </a:rPr>
              <a:t>。寻求更优的参数使网络结构轻量化对于提高</a:t>
            </a:r>
            <a:r>
              <a:rPr lang="zh-CN" altLang="en-US" b="1">
                <a:latin typeface="Times New Roman" panose="02020603050405020304" pitchFamily="18" charset="0"/>
                <a:ea typeface="楷体" panose="02010609060101010101" charset="-122"/>
                <a:cs typeface="Times New Roman" panose="02020603050405020304" pitchFamily="18" charset="0"/>
              </a:rPr>
              <a:t>SCNs</a:t>
            </a:r>
            <a:r>
              <a:rPr lang="zh-CN" altLang="en-US" b="1">
                <a:latin typeface="楷体" panose="02010609060101010101" charset="-122"/>
                <a:ea typeface="楷体" panose="02010609060101010101" charset="-122"/>
                <a:cs typeface="楷体" panose="02010609060101010101" charset="-122"/>
              </a:rPr>
              <a:t>的有效性至关重要。本研究从提高建模性能和参数优化的角度出发，对</a:t>
            </a:r>
            <a:r>
              <a:rPr lang="zh-CN" altLang="en-US" b="1">
                <a:latin typeface="Times New Roman" panose="02020603050405020304" pitchFamily="18" charset="0"/>
                <a:ea typeface="楷体" panose="02010609060101010101" charset="-122"/>
                <a:cs typeface="Times New Roman" panose="02020603050405020304" pitchFamily="18" charset="0"/>
              </a:rPr>
              <a:t>SCN</a:t>
            </a:r>
            <a:r>
              <a:rPr lang="zh-CN" altLang="en-US" b="1">
                <a:latin typeface="楷体" panose="02010609060101010101" charset="-122"/>
                <a:ea typeface="楷体" panose="02010609060101010101" charset="-122"/>
                <a:cs typeface="楷体" panose="02010609060101010101" charset="-122"/>
              </a:rPr>
              <a:t>存在的问题进行研究。</a:t>
            </a:r>
          </a:p>
        </p:txBody>
      </p:sp>
      <p:graphicFrame>
        <p:nvGraphicFramePr>
          <p:cNvPr id="11" name="对象 10"/>
          <p:cNvGraphicFramePr/>
          <p:nvPr/>
        </p:nvGraphicFramePr>
        <p:xfrm>
          <a:off x="1770380" y="5067300"/>
          <a:ext cx="2825115" cy="760095"/>
        </p:xfrm>
        <a:graphic>
          <a:graphicData uri="http://schemas.openxmlformats.org/presentationml/2006/ole">
            <mc:AlternateContent xmlns:mc="http://schemas.openxmlformats.org/markup-compatibility/2006">
              <mc:Choice xmlns:v="urn:schemas-microsoft-com:vml" Requires="v">
                <p:oleObj r:id="rId5" imgW="2717165" imgH="669925" progId="Visio.Drawing.15">
                  <p:embed/>
                </p:oleObj>
              </mc:Choice>
              <mc:Fallback>
                <p:oleObj r:id="rId5" imgW="2717165" imgH="669925" progId="Visio.Drawing.15">
                  <p:embed/>
                  <p:pic>
                    <p:nvPicPr>
                      <p:cNvPr id="0" name="图片 11"/>
                      <p:cNvPicPr/>
                      <p:nvPr/>
                    </p:nvPicPr>
                    <p:blipFill>
                      <a:blip r:embed="rId6"/>
                      <a:stretch>
                        <a:fillRect/>
                      </a:stretch>
                    </p:blipFill>
                    <p:spPr>
                      <a:xfrm>
                        <a:off x="1770380" y="5067300"/>
                        <a:ext cx="2825115" cy="760095"/>
                      </a:xfrm>
                      <a:prstGeom prst="rect">
                        <a:avLst/>
                      </a:prstGeom>
                    </p:spPr>
                  </p:pic>
                </p:oleObj>
              </mc:Fallback>
            </mc:AlternateContent>
          </a:graphicData>
        </a:graphic>
      </p:graphicFrame>
      <p:pic>
        <p:nvPicPr>
          <p:cNvPr id="15" name="图片 14"/>
          <p:cNvPicPr>
            <a:picLocks noChangeAspect="1"/>
          </p:cNvPicPr>
          <p:nvPr/>
        </p:nvPicPr>
        <p:blipFill>
          <a:blip r:embed="rId7">
            <a:clrChange>
              <a:clrFrom>
                <a:srgbClr val="FFFFFF"/>
              </a:clrFrom>
              <a:clrTo>
                <a:srgbClr val="FFFFFF">
                  <a:alpha val="0"/>
                </a:srgbClr>
              </a:clrTo>
            </a:clrChange>
          </a:blip>
          <a:stretch>
            <a:fillRect/>
          </a:stretch>
        </p:blipFill>
        <p:spPr>
          <a:xfrm>
            <a:off x="1610360" y="5817235"/>
            <a:ext cx="3217545" cy="588645"/>
          </a:xfrm>
          <a:prstGeom prst="rect">
            <a:avLst/>
          </a:prstGeom>
          <a:noFill/>
          <a:ln w="9525">
            <a:noFill/>
          </a:ln>
        </p:spPr>
      </p:pic>
      <p:pic>
        <p:nvPicPr>
          <p:cNvPr id="16" name="图片 15"/>
          <p:cNvPicPr>
            <a:picLocks noChangeAspect="1"/>
          </p:cNvPicPr>
          <p:nvPr/>
        </p:nvPicPr>
        <p:blipFill>
          <a:blip r:embed="rId8"/>
          <a:stretch>
            <a:fillRect/>
          </a:stretch>
        </p:blipFill>
        <p:spPr>
          <a:xfrm>
            <a:off x="6273165" y="942340"/>
            <a:ext cx="5854065" cy="5897245"/>
          </a:xfrm>
          <a:prstGeom prst="rect">
            <a:avLst/>
          </a:prstGeom>
          <a:noFill/>
          <a:ln w="9525">
            <a:noFill/>
          </a:ln>
        </p:spPr>
      </p:pic>
      <p:sp>
        <p:nvSpPr>
          <p:cNvPr id="17" name="文本框 16"/>
          <p:cNvSpPr txBox="1"/>
          <p:nvPr/>
        </p:nvSpPr>
        <p:spPr>
          <a:xfrm>
            <a:off x="176530" y="4316730"/>
            <a:ext cx="6235065" cy="868045"/>
          </a:xfrm>
          <a:prstGeom prst="rect">
            <a:avLst/>
          </a:prstGeom>
          <a:noFill/>
        </p:spPr>
        <p:txBody>
          <a:bodyPr wrap="square" rtlCol="0">
            <a:noAutofit/>
          </a:bodyPr>
          <a:lstStyle/>
          <a:p>
            <a:r>
              <a:rPr lang="zh-CN" altLang="en-US" b="1">
                <a:latin typeface="楷体" panose="02010609060101010101" charset="-122"/>
                <a:ea typeface="楷体" panose="02010609060101010101" charset="-122"/>
                <a:cs typeface="楷体" panose="02010609060101010101" charset="-122"/>
              </a:rPr>
              <a:t>对于</a:t>
            </a:r>
            <a:r>
              <a:rPr lang="zh-CN" altLang="en-US" b="1">
                <a:solidFill>
                  <a:schemeClr val="tx1"/>
                </a:solidFill>
                <a:latin typeface="楷体" panose="02010609060101010101" charset="-122"/>
                <a:ea typeface="楷体" panose="02010609060101010101" charset="-122"/>
                <a:cs typeface="楷体" panose="02010609060101010101" charset="-122"/>
              </a:rPr>
              <a:t>参数</a:t>
            </a:r>
            <a:r>
              <a:rPr lang="en-US" altLang="zh-CN" b="1" i="1">
                <a:solidFill>
                  <a:schemeClr val="tx1"/>
                </a:solidFill>
                <a:latin typeface="Times New Roman" panose="02020603050405020304" pitchFamily="18" charset="0"/>
                <a:ea typeface="楷体" panose="02010609060101010101" charset="-122"/>
                <a:cs typeface="Times New Roman" panose="02020603050405020304" pitchFamily="18" charset="0"/>
                <a:sym typeface="+mn-ea"/>
              </a:rPr>
              <a:t>λ</a:t>
            </a:r>
            <a:r>
              <a:rPr lang="zh-CN" altLang="en-US" b="1">
                <a:latin typeface="楷体" panose="02010609060101010101" charset="-122"/>
                <a:ea typeface="楷体" panose="02010609060101010101" charset="-122"/>
                <a:cs typeface="楷体" panose="02010609060101010101" charset="-122"/>
              </a:rPr>
              <a:t>，其设置决定了</a:t>
            </a:r>
            <a:r>
              <a:rPr lang="zh-CN" altLang="en-US" b="1">
                <a:solidFill>
                  <a:srgbClr val="FF0000"/>
                </a:solidFill>
                <a:latin typeface="楷体" panose="02010609060101010101" charset="-122"/>
                <a:ea typeface="楷体" panose="02010609060101010101" charset="-122"/>
                <a:cs typeface="楷体" panose="02010609060101010101" charset="-122"/>
              </a:rPr>
              <a:t>网络参数的搜索范围和泛化性能</a:t>
            </a:r>
            <a:r>
              <a:rPr lang="zh-CN" altLang="en-US" b="1">
                <a:latin typeface="楷体" panose="02010609060101010101" charset="-122"/>
                <a:ea typeface="楷体" panose="02010609060101010101" charset="-122"/>
                <a:cs typeface="楷体" panose="02010609060101010101" charset="-122"/>
              </a:rPr>
              <a:t>。</a:t>
            </a:r>
          </a:p>
          <a:p>
            <a:r>
              <a:rPr lang="zh-CN" altLang="en-US" b="1">
                <a:latin typeface="楷体" panose="02010609060101010101" charset="-122"/>
                <a:ea typeface="楷体" panose="02010609060101010101" charset="-122"/>
                <a:cs typeface="楷体" panose="02010609060101010101" charset="-122"/>
                <a:sym typeface="+mn-ea"/>
              </a:rPr>
              <a:t>对于参数</a:t>
            </a:r>
            <a:r>
              <a:rPr lang="zh-CN" altLang="en-US" b="1" i="1">
                <a:solidFill>
                  <a:schemeClr val="tx1"/>
                </a:solidFill>
                <a:latin typeface="Times New Roman" panose="02020603050405020304" pitchFamily="18" charset="0"/>
                <a:ea typeface="楷体" panose="02010609060101010101" charset="-122"/>
                <a:cs typeface="Times New Roman" panose="02020603050405020304" pitchFamily="18" charset="0"/>
                <a:sym typeface="+mn-ea"/>
              </a:rPr>
              <a:t>r</a:t>
            </a:r>
            <a:r>
              <a:rPr lang="zh-CN" altLang="en-US" b="1">
                <a:solidFill>
                  <a:schemeClr val="tx1"/>
                </a:solidFill>
                <a:latin typeface="楷体" panose="02010609060101010101" charset="-122"/>
                <a:ea typeface="楷体" panose="02010609060101010101" charset="-122"/>
                <a:cs typeface="楷体" panose="02010609060101010101" charset="-122"/>
                <a:sym typeface="+mn-ea"/>
              </a:rPr>
              <a:t>，</a:t>
            </a:r>
            <a:r>
              <a:rPr lang="zh-CN" altLang="en-US" b="1">
                <a:latin typeface="楷体" panose="02010609060101010101" charset="-122"/>
                <a:ea typeface="楷体" panose="02010609060101010101" charset="-122"/>
                <a:cs typeface="楷体" panose="02010609060101010101" charset="-122"/>
                <a:sym typeface="+mn-ea"/>
              </a:rPr>
              <a:t>其设置决定了</a:t>
            </a:r>
            <a:r>
              <a:rPr lang="zh-CN" altLang="en-US" b="1">
                <a:solidFill>
                  <a:srgbClr val="FF0000"/>
                </a:solidFill>
                <a:latin typeface="楷体" panose="02010609060101010101" charset="-122"/>
                <a:ea typeface="楷体" panose="02010609060101010101" charset="-122"/>
                <a:cs typeface="楷体" panose="02010609060101010101" charset="-122"/>
                <a:sym typeface="+mn-ea"/>
              </a:rPr>
              <a:t>残差的收敛速率</a:t>
            </a:r>
            <a:r>
              <a:rPr lang="zh-CN" altLang="en-US" b="1">
                <a:latin typeface="楷体" panose="02010609060101010101" charset="-122"/>
                <a:ea typeface="楷体" panose="02010609060101010101" charset="-122"/>
                <a:cs typeface="楷体" panose="02010609060101010101" charset="-122"/>
                <a:sym typeface="+mn-ea"/>
              </a:rPr>
              <a:t>。</a:t>
            </a:r>
          </a:p>
        </p:txBody>
      </p:sp>
      <p:sp>
        <p:nvSpPr>
          <p:cNvPr id="19" name="燕尾形 18"/>
          <p:cNvSpPr/>
          <p:nvPr/>
        </p:nvSpPr>
        <p:spPr>
          <a:xfrm>
            <a:off x="1069340" y="5147310"/>
            <a:ext cx="462915" cy="208280"/>
          </a:xfrm>
          <a:prstGeom prst="chevron">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燕尾形 19"/>
          <p:cNvSpPr/>
          <p:nvPr/>
        </p:nvSpPr>
        <p:spPr>
          <a:xfrm>
            <a:off x="1060450" y="5572125"/>
            <a:ext cx="462915" cy="208280"/>
          </a:xfrm>
          <a:prstGeom prst="chevron">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燕尾形 20"/>
          <p:cNvSpPr/>
          <p:nvPr/>
        </p:nvSpPr>
        <p:spPr>
          <a:xfrm>
            <a:off x="1051560" y="6016625"/>
            <a:ext cx="462915" cy="208280"/>
          </a:xfrm>
          <a:prstGeom prst="chevron">
            <a:avLst/>
          </a:prstGeom>
          <a:solidFill>
            <a:schemeClr val="bg1">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a:blip r:embed="rId3"/>
          <a:stretch>
            <a:fillRect/>
          </a:stretch>
        </p:blipFill>
        <p:spPr>
          <a:xfrm>
            <a:off x="7051675" y="4996180"/>
            <a:ext cx="1352550" cy="1718945"/>
          </a:xfrm>
          <a:prstGeom prst="rect">
            <a:avLst/>
          </a:prstGeom>
        </p:spPr>
      </p:pic>
      <p:pic>
        <p:nvPicPr>
          <p:cNvPr id="6" name="图片 5"/>
          <p:cNvPicPr>
            <a:picLocks noChangeAspect="1"/>
          </p:cNvPicPr>
          <p:nvPr/>
        </p:nvPicPr>
        <p:blipFill>
          <a:blip r:embed="rId4"/>
          <a:srcRect b="8786"/>
          <a:stretch>
            <a:fillRect/>
          </a:stretch>
        </p:blipFill>
        <p:spPr>
          <a:xfrm>
            <a:off x="4445" y="812800"/>
            <a:ext cx="770255" cy="717550"/>
          </a:xfrm>
          <a:prstGeom prst="rect">
            <a:avLst/>
          </a:prstGeom>
        </p:spPr>
      </p:pic>
      <p:sp>
        <p:nvSpPr>
          <p:cNvPr id="19" name="圆角矩形 18"/>
          <p:cNvSpPr/>
          <p:nvPr/>
        </p:nvSpPr>
        <p:spPr>
          <a:xfrm>
            <a:off x="168910" y="1385570"/>
            <a:ext cx="11815445" cy="1308735"/>
          </a:xfrm>
          <a:prstGeom prst="roundRect">
            <a:avLst/>
          </a:prstGeom>
          <a:solidFill>
            <a:schemeClr val="accent2">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pic>
        <p:nvPicPr>
          <p:cNvPr id="14" name="图片 13"/>
          <p:cNvPicPr>
            <a:picLocks noChangeAspect="1"/>
          </p:cNvPicPr>
          <p:nvPr/>
        </p:nvPicPr>
        <p:blipFill>
          <a:blip r:embed="rId5"/>
          <a:srcRect l="2416" t="8408" r="24611" b="24654"/>
          <a:stretch>
            <a:fillRect/>
          </a:stretch>
        </p:blipFill>
        <p:spPr>
          <a:xfrm>
            <a:off x="382270" y="4969510"/>
            <a:ext cx="6789420" cy="1718945"/>
          </a:xfrm>
          <a:prstGeom prst="rect">
            <a:avLst/>
          </a:prstGeom>
        </p:spPr>
      </p:pic>
      <p:pic>
        <p:nvPicPr>
          <p:cNvPr id="3" name="图片 2"/>
          <p:cNvPicPr>
            <a:picLocks noChangeAspect="1"/>
          </p:cNvPicPr>
          <p:nvPr/>
        </p:nvPicPr>
        <p:blipFill>
          <a:blip r:embed="rId6"/>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2.2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研究内容</a:t>
            </a:r>
          </a:p>
        </p:txBody>
      </p:sp>
      <p:sp>
        <p:nvSpPr>
          <p:cNvPr id="5" name="文本框 4"/>
          <p:cNvSpPr txBox="1"/>
          <p:nvPr/>
        </p:nvSpPr>
        <p:spPr>
          <a:xfrm>
            <a:off x="784860" y="955675"/>
            <a:ext cx="4374515" cy="398780"/>
          </a:xfrm>
          <a:prstGeom prst="rect">
            <a:avLst/>
          </a:prstGeom>
          <a:noFill/>
        </p:spPr>
        <p:txBody>
          <a:bodyPr wrap="square" rtlCol="0" anchor="t">
            <a:spAutoFit/>
          </a:bodyPr>
          <a:lstStyle/>
          <a:p>
            <a:r>
              <a:rPr lang="en-US" altLang="zh-CN" sz="2000" b="1">
                <a:solidFill>
                  <a:schemeClr val="accent6">
                    <a:lumMod val="75000"/>
                  </a:schemeClr>
                </a:solidFill>
                <a:latin typeface="楷体" panose="02010609060101010101" charset="-122"/>
                <a:ea typeface="楷体" panose="02010609060101010101" charset="-122"/>
                <a:sym typeface="+mn-ea"/>
              </a:rPr>
              <a:t>2.2.2 </a:t>
            </a:r>
            <a:r>
              <a:rPr lang="zh-CN" altLang="en-US" sz="2000" b="1">
                <a:solidFill>
                  <a:schemeClr val="accent6">
                    <a:lumMod val="75000"/>
                  </a:schemeClr>
                </a:solidFill>
                <a:latin typeface="楷体" panose="02010609060101010101" charset="-122"/>
                <a:ea typeface="楷体" panose="02010609060101010101" charset="-122"/>
                <a:sym typeface="+mn-ea"/>
              </a:rPr>
              <a:t>开普勒智能优化算法</a:t>
            </a:r>
            <a:r>
              <a:rPr lang="en-US" altLang="zh-CN" sz="2000" b="1">
                <a:solidFill>
                  <a:schemeClr val="accent6">
                    <a:lumMod val="75000"/>
                  </a:schemeClr>
                </a:solidFill>
                <a:latin typeface="楷体" panose="02010609060101010101" charset="-122"/>
                <a:ea typeface="楷体" panose="02010609060101010101" charset="-122"/>
                <a:sym typeface="+mn-ea"/>
              </a:rPr>
              <a:t>(KOA)</a:t>
            </a:r>
          </a:p>
        </p:txBody>
      </p:sp>
      <p:sp>
        <p:nvSpPr>
          <p:cNvPr id="9" name="文本框 8"/>
          <p:cNvSpPr txBox="1"/>
          <p:nvPr/>
        </p:nvSpPr>
        <p:spPr>
          <a:xfrm>
            <a:off x="284480" y="1372235"/>
            <a:ext cx="11624945" cy="1322070"/>
          </a:xfrm>
          <a:prstGeom prst="rect">
            <a:avLst/>
          </a:prstGeom>
          <a:noFill/>
        </p:spPr>
        <p:txBody>
          <a:bodyPr wrap="square" rtlCol="0">
            <a:spAutoFit/>
          </a:bodyPr>
          <a:lstStyle/>
          <a:p>
            <a:r>
              <a:rPr lang="en-US" sz="2000" b="1">
                <a:solidFill>
                  <a:srgbClr val="FF0000"/>
                </a:solidFill>
                <a:latin typeface="Times New Roman" panose="02020603050405020304" pitchFamily="18" charset="0"/>
                <a:ea typeface="楷体" panose="02010609060101010101" charset="-122"/>
                <a:cs typeface="Times New Roman" panose="02020603050405020304" pitchFamily="18" charset="0"/>
              </a:rPr>
              <a:t>     </a:t>
            </a:r>
            <a:r>
              <a:rPr sz="2000" b="1">
                <a:solidFill>
                  <a:srgbClr val="FF0000"/>
                </a:solidFill>
                <a:latin typeface="Times New Roman" panose="02020603050405020304" pitchFamily="18" charset="0"/>
                <a:ea typeface="楷体" panose="02010609060101010101" charset="-122"/>
                <a:cs typeface="Times New Roman" panose="02020603050405020304" pitchFamily="18" charset="0"/>
              </a:rPr>
              <a:t>Kepler</a:t>
            </a:r>
            <a:r>
              <a:rPr sz="2000" b="1">
                <a:solidFill>
                  <a:srgbClr val="FF0000"/>
                </a:solidFill>
                <a:ea typeface="楷体" panose="02010609060101010101" charset="-122"/>
              </a:rPr>
              <a:t>优化算法</a:t>
            </a:r>
            <a:r>
              <a:rPr lang="en-US" sz="2000" b="1">
                <a:solidFill>
                  <a:srgbClr val="FF0000"/>
                </a:solidFill>
                <a:ea typeface="楷体" panose="02010609060101010101" charset="-122"/>
              </a:rPr>
              <a:t>(</a:t>
            </a:r>
            <a:r>
              <a:rPr sz="2000" b="1">
                <a:solidFill>
                  <a:srgbClr val="FF0000"/>
                </a:solidFill>
                <a:latin typeface="Times New Roman" panose="02020603050405020304" pitchFamily="18" charset="0"/>
                <a:ea typeface="楷体" panose="02010609060101010101" charset="-122"/>
                <a:cs typeface="Times New Roman" panose="02020603050405020304" pitchFamily="18" charset="0"/>
              </a:rPr>
              <a:t>KOA</a:t>
            </a:r>
            <a:r>
              <a:rPr lang="en-US" sz="2000" b="1">
                <a:solidFill>
                  <a:srgbClr val="FF0000"/>
                </a:solidFill>
                <a:ea typeface="楷体" panose="02010609060101010101" charset="-122"/>
              </a:rPr>
              <a:t>)</a:t>
            </a:r>
            <a:r>
              <a:rPr sz="2000" b="1">
                <a:solidFill>
                  <a:srgbClr val="24292F"/>
                </a:solidFill>
                <a:ea typeface="楷体" panose="02010609060101010101" charset="-122"/>
              </a:rPr>
              <a:t>是一种创新</a:t>
            </a:r>
            <a:r>
              <a:rPr lang="zh-CN" sz="2000" b="1">
                <a:solidFill>
                  <a:srgbClr val="24292F"/>
                </a:solidFill>
                <a:ea typeface="楷体" panose="02010609060101010101" charset="-122"/>
              </a:rPr>
              <a:t>型</a:t>
            </a:r>
            <a:r>
              <a:rPr sz="2000" b="1">
                <a:solidFill>
                  <a:srgbClr val="24292F"/>
                </a:solidFill>
                <a:ea typeface="楷体" panose="02010609060101010101" charset="-122"/>
              </a:rPr>
              <a:t>的基于物理的元启发式方法，用于解决连续优化问题。基于开普勒行星运动定律，</a:t>
            </a:r>
            <a:r>
              <a:rPr sz="2000" b="1">
                <a:solidFill>
                  <a:srgbClr val="24292F"/>
                </a:solidFill>
                <a:latin typeface="Times New Roman" panose="02020603050405020304" pitchFamily="18" charset="0"/>
                <a:ea typeface="楷体" panose="02010609060101010101" charset="-122"/>
                <a:cs typeface="Times New Roman" panose="02020603050405020304" pitchFamily="18" charset="0"/>
              </a:rPr>
              <a:t>KOA</a:t>
            </a:r>
            <a:r>
              <a:rPr sz="2000" b="1">
                <a:solidFill>
                  <a:srgbClr val="24292F"/>
                </a:solidFill>
                <a:ea typeface="楷体" panose="02010609060101010101" charset="-122"/>
              </a:rPr>
              <a:t> 使用四个基本变量控制行星围绕太阳的轨道：</a:t>
            </a:r>
            <a:r>
              <a:rPr sz="2000" b="1">
                <a:solidFill>
                  <a:srgbClr val="FF0000"/>
                </a:solidFill>
                <a:ea typeface="楷体" panose="02010609060101010101" charset="-122"/>
              </a:rPr>
              <a:t>行星位置、质量、引力和行星速度</a:t>
            </a:r>
            <a:r>
              <a:rPr sz="2000" b="1">
                <a:solidFill>
                  <a:srgbClr val="24292F"/>
                </a:solidFill>
                <a:ea typeface="楷体" panose="02010609060101010101" charset="-122"/>
              </a:rPr>
              <a:t>。</a:t>
            </a:r>
            <a:r>
              <a:rPr sz="2000" b="1">
                <a:solidFill>
                  <a:srgbClr val="24292F"/>
                </a:solidFill>
                <a:latin typeface="Times New Roman" panose="02020603050405020304" pitchFamily="18" charset="0"/>
                <a:ea typeface="楷体" panose="02010609060101010101" charset="-122"/>
                <a:cs typeface="Times New Roman" panose="02020603050405020304" pitchFamily="18" charset="0"/>
              </a:rPr>
              <a:t>KOA</a:t>
            </a:r>
            <a:r>
              <a:rPr lang="zh-CN" altLang="en-US" sz="2000" b="1">
                <a:solidFill>
                  <a:srgbClr val="24292F"/>
                </a:solidFill>
                <a:ea typeface="楷体" panose="02010609060101010101" charset="-122"/>
              </a:rPr>
              <a:t>内部的</a:t>
            </a:r>
            <a:r>
              <a:rPr sz="2000" b="1">
                <a:solidFill>
                  <a:srgbClr val="24292F"/>
                </a:solidFill>
                <a:ea typeface="楷体" panose="02010609060101010101" charset="-122"/>
              </a:rPr>
              <a:t>变量</a:t>
            </a:r>
            <a:r>
              <a:rPr lang="zh-CN" sz="2000" b="1">
                <a:solidFill>
                  <a:srgbClr val="24292F"/>
                </a:solidFill>
                <a:ea typeface="楷体" panose="02010609060101010101" charset="-122"/>
              </a:rPr>
              <a:t>控制</a:t>
            </a:r>
            <a:r>
              <a:rPr sz="2000" b="1">
                <a:solidFill>
                  <a:srgbClr val="24292F"/>
                </a:solidFill>
                <a:ea typeface="楷体" panose="02010609060101010101" charset="-122"/>
                <a:sym typeface="+mn-ea"/>
              </a:rPr>
              <a:t>当前解集和</a:t>
            </a:r>
            <a:r>
              <a:rPr lang="zh-CN" sz="2000" b="1">
                <a:solidFill>
                  <a:srgbClr val="24292F"/>
                </a:solidFill>
                <a:ea typeface="楷体" panose="02010609060101010101" charset="-122"/>
                <a:sym typeface="+mn-ea"/>
              </a:rPr>
              <a:t>最优解</a:t>
            </a:r>
            <a:r>
              <a:rPr sz="2000" b="1">
                <a:solidFill>
                  <a:srgbClr val="24292F"/>
                </a:solidFill>
                <a:ea typeface="楷体" panose="02010609060101010101" charset="-122"/>
                <a:sym typeface="+mn-ea"/>
              </a:rPr>
              <a:t>在不同时期</a:t>
            </a:r>
            <a:r>
              <a:rPr sz="2000" b="1">
                <a:solidFill>
                  <a:srgbClr val="24292F"/>
                </a:solidFill>
                <a:ea typeface="楷体" panose="02010609060101010101" charset="-122"/>
              </a:rPr>
              <a:t>的</a:t>
            </a:r>
            <a:r>
              <a:rPr lang="zh-CN" sz="2000" b="1">
                <a:solidFill>
                  <a:srgbClr val="24292F"/>
                </a:solidFill>
                <a:ea typeface="楷体" panose="02010609060101010101" charset="-122"/>
              </a:rPr>
              <a:t>位置</a:t>
            </a:r>
            <a:r>
              <a:rPr sz="2000" b="1">
                <a:solidFill>
                  <a:srgbClr val="24292F"/>
                </a:solidFill>
                <a:ea typeface="楷体" panose="02010609060101010101" charset="-122"/>
              </a:rPr>
              <a:t>关系</a:t>
            </a:r>
            <a:r>
              <a:rPr lang="zh-CN" sz="2000" b="1">
                <a:solidFill>
                  <a:srgbClr val="24292F"/>
                </a:solidFill>
                <a:ea typeface="楷体" panose="02010609060101010101" charset="-122"/>
              </a:rPr>
              <a:t>，</a:t>
            </a:r>
            <a:r>
              <a:rPr sz="2000" b="1">
                <a:solidFill>
                  <a:srgbClr val="24292F"/>
                </a:solidFill>
                <a:ea typeface="楷体" panose="02010609060101010101" charset="-122"/>
              </a:rPr>
              <a:t>使</a:t>
            </a:r>
            <a:r>
              <a:rPr lang="zh-CN" sz="2000" b="1">
                <a:solidFill>
                  <a:srgbClr val="24292F"/>
                </a:solidFill>
                <a:ea typeface="楷体" panose="02010609060101010101" charset="-122"/>
              </a:rPr>
              <a:t>其</a:t>
            </a:r>
            <a:r>
              <a:rPr sz="2000" b="1">
                <a:solidFill>
                  <a:srgbClr val="24292F"/>
                </a:solidFill>
                <a:ea typeface="楷体" panose="02010609060101010101" charset="-122"/>
              </a:rPr>
              <a:t>能够更有效地探索和利用搜索空间，以寻求最佳解决方案。</a:t>
            </a:r>
          </a:p>
        </p:txBody>
      </p:sp>
      <p:pic>
        <p:nvPicPr>
          <p:cNvPr id="11" name="图片 10"/>
          <p:cNvPicPr>
            <a:picLocks noChangeAspect="1"/>
          </p:cNvPicPr>
          <p:nvPr/>
        </p:nvPicPr>
        <p:blipFill>
          <a:blip r:embed="rId7"/>
          <a:stretch>
            <a:fillRect/>
          </a:stretch>
        </p:blipFill>
        <p:spPr>
          <a:xfrm>
            <a:off x="7457440" y="2790190"/>
            <a:ext cx="4387850" cy="3970020"/>
          </a:xfrm>
          <a:prstGeom prst="rect">
            <a:avLst/>
          </a:prstGeom>
          <a:noFill/>
          <a:ln w="9525">
            <a:noFill/>
          </a:ln>
        </p:spPr>
      </p:pic>
      <p:graphicFrame>
        <p:nvGraphicFramePr>
          <p:cNvPr id="18" name="对象 17"/>
          <p:cNvGraphicFramePr/>
          <p:nvPr/>
        </p:nvGraphicFramePr>
        <p:xfrm>
          <a:off x="248920" y="2771775"/>
          <a:ext cx="6924040" cy="2076450"/>
        </p:xfrm>
        <a:graphic>
          <a:graphicData uri="http://schemas.openxmlformats.org/presentationml/2006/ole">
            <mc:AlternateContent xmlns:mc="http://schemas.openxmlformats.org/markup-compatibility/2006">
              <mc:Choice xmlns:v="urn:schemas-microsoft-com:vml" Requires="v">
                <p:oleObj r:id="rId8" imgW="5872480" imgH="1783715" progId="Visio.Drawing.15">
                  <p:embed/>
                </p:oleObj>
              </mc:Choice>
              <mc:Fallback>
                <p:oleObj r:id="rId8" imgW="5872480" imgH="1783715" progId="Visio.Drawing.15">
                  <p:embed/>
                  <p:pic>
                    <p:nvPicPr>
                      <p:cNvPr id="0" name="图片 19"/>
                      <p:cNvPicPr/>
                      <p:nvPr/>
                    </p:nvPicPr>
                    <p:blipFill>
                      <a:blip r:embed="rId9"/>
                      <a:stretch>
                        <a:fillRect/>
                      </a:stretch>
                    </p:blipFill>
                    <p:spPr>
                      <a:xfrm>
                        <a:off x="248920" y="2771775"/>
                        <a:ext cx="6924040" cy="2076450"/>
                      </a:xfrm>
                      <a:prstGeom prst="rect">
                        <a:avLst/>
                      </a:prstGeom>
                    </p:spPr>
                  </p:pic>
                </p:oleObj>
              </mc:Fallback>
            </mc:AlternateContent>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5"/>
          <a:srcRect b="8786"/>
          <a:stretch>
            <a:fillRect/>
          </a:stretch>
        </p:blipFill>
        <p:spPr>
          <a:xfrm>
            <a:off x="4445" y="932180"/>
            <a:ext cx="770255" cy="717550"/>
          </a:xfrm>
          <a:prstGeom prst="rect">
            <a:avLst/>
          </a:prstGeom>
        </p:spPr>
      </p:pic>
      <p:cxnSp>
        <p:nvCxnSpPr>
          <p:cNvPr id="17" name="直接连接符 16"/>
          <p:cNvCxnSpPr/>
          <p:nvPr>
            <p:custDataLst>
              <p:tags r:id="rId1"/>
            </p:custDataLst>
          </p:nvPr>
        </p:nvCxnSpPr>
        <p:spPr>
          <a:xfrm>
            <a:off x="1456055" y="5640705"/>
            <a:ext cx="0" cy="441325"/>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9" name="直接连接符 18"/>
          <p:cNvCxnSpPr/>
          <p:nvPr>
            <p:custDataLst>
              <p:tags r:id="rId2"/>
            </p:custDataLst>
          </p:nvPr>
        </p:nvCxnSpPr>
        <p:spPr>
          <a:xfrm>
            <a:off x="2643505" y="5711190"/>
            <a:ext cx="0" cy="370205"/>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32" name="直接连接符 131"/>
          <p:cNvCxnSpPr/>
          <p:nvPr>
            <p:custDataLst>
              <p:tags r:id="rId3"/>
            </p:custDataLst>
          </p:nvPr>
        </p:nvCxnSpPr>
        <p:spPr>
          <a:xfrm>
            <a:off x="4304665" y="5714365"/>
            <a:ext cx="0" cy="370205"/>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59" name="直接连接符 158"/>
          <p:cNvCxnSpPr/>
          <p:nvPr>
            <p:custDataLst>
              <p:tags r:id="rId4"/>
            </p:custDataLst>
          </p:nvPr>
        </p:nvCxnSpPr>
        <p:spPr>
          <a:xfrm>
            <a:off x="5910580" y="5777230"/>
            <a:ext cx="0" cy="308610"/>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64" name="直接连接符 163"/>
          <p:cNvCxnSpPr/>
          <p:nvPr>
            <p:custDataLst>
              <p:tags r:id="rId5"/>
            </p:custDataLst>
          </p:nvPr>
        </p:nvCxnSpPr>
        <p:spPr>
          <a:xfrm>
            <a:off x="7517130" y="5823585"/>
            <a:ext cx="0" cy="247015"/>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70" name="直接连接符 169"/>
          <p:cNvCxnSpPr/>
          <p:nvPr>
            <p:custDataLst>
              <p:tags r:id="rId6"/>
            </p:custDataLst>
          </p:nvPr>
        </p:nvCxnSpPr>
        <p:spPr>
          <a:xfrm>
            <a:off x="8661400" y="5574030"/>
            <a:ext cx="0" cy="502920"/>
          </a:xfrm>
          <a:prstGeom prst="line">
            <a:avLst/>
          </a:prstGeom>
          <a:ln w="12700"/>
        </p:spPr>
        <p:style>
          <a:lnRef idx="1">
            <a:schemeClr val="accent4"/>
          </a:lnRef>
          <a:fillRef idx="0">
            <a:schemeClr val="accent4"/>
          </a:fillRef>
          <a:effectRef idx="0">
            <a:schemeClr val="accent4"/>
          </a:effectRef>
          <a:fontRef idx="minor">
            <a:schemeClr val="tx1"/>
          </a:fontRef>
        </p:style>
      </p:cxnSp>
      <p:cxnSp>
        <p:nvCxnSpPr>
          <p:cNvPr id="172" name="直接连接符 171"/>
          <p:cNvCxnSpPr/>
          <p:nvPr>
            <p:custDataLst>
              <p:tags r:id="rId7"/>
            </p:custDataLst>
          </p:nvPr>
        </p:nvCxnSpPr>
        <p:spPr>
          <a:xfrm>
            <a:off x="10053955" y="5617210"/>
            <a:ext cx="0" cy="462915"/>
          </a:xfrm>
          <a:prstGeom prst="line">
            <a:avLst/>
          </a:prstGeom>
          <a:ln w="12700"/>
        </p:spPr>
        <p:style>
          <a:lnRef idx="1">
            <a:schemeClr val="accent4"/>
          </a:lnRef>
          <a:fillRef idx="0">
            <a:schemeClr val="accent4"/>
          </a:fillRef>
          <a:effectRef idx="0">
            <a:schemeClr val="accent4"/>
          </a:effectRef>
          <a:fontRef idx="minor">
            <a:schemeClr val="tx1"/>
          </a:fontRef>
        </p:style>
      </p:cxnSp>
      <p:sp>
        <p:nvSpPr>
          <p:cNvPr id="28" name="圆角矩形 27"/>
          <p:cNvSpPr/>
          <p:nvPr/>
        </p:nvSpPr>
        <p:spPr>
          <a:xfrm>
            <a:off x="2193290" y="5080635"/>
            <a:ext cx="965835" cy="831850"/>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9" name="圆角矩形 28"/>
          <p:cNvSpPr/>
          <p:nvPr/>
        </p:nvSpPr>
        <p:spPr>
          <a:xfrm>
            <a:off x="3641090" y="5009515"/>
            <a:ext cx="1351915" cy="765175"/>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1" name="圆角矩形 30"/>
          <p:cNvSpPr/>
          <p:nvPr/>
        </p:nvSpPr>
        <p:spPr>
          <a:xfrm>
            <a:off x="5327650" y="5034915"/>
            <a:ext cx="1119505" cy="785495"/>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2" name="圆角矩形 31"/>
          <p:cNvSpPr/>
          <p:nvPr/>
        </p:nvSpPr>
        <p:spPr>
          <a:xfrm>
            <a:off x="6739890" y="5188585"/>
            <a:ext cx="1398905" cy="730885"/>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3" name="圆角矩形 32"/>
          <p:cNvSpPr/>
          <p:nvPr/>
        </p:nvSpPr>
        <p:spPr>
          <a:xfrm>
            <a:off x="8185785" y="5037455"/>
            <a:ext cx="935355" cy="642620"/>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34" name="圆角矩形 33"/>
          <p:cNvSpPr/>
          <p:nvPr/>
        </p:nvSpPr>
        <p:spPr>
          <a:xfrm>
            <a:off x="9368155" y="4793615"/>
            <a:ext cx="1360170" cy="868680"/>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6" name="圆角矩形 25"/>
          <p:cNvSpPr/>
          <p:nvPr/>
        </p:nvSpPr>
        <p:spPr>
          <a:xfrm>
            <a:off x="861695" y="4747260"/>
            <a:ext cx="1254125" cy="963930"/>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4" name="圆角矩形 23"/>
          <p:cNvSpPr/>
          <p:nvPr/>
        </p:nvSpPr>
        <p:spPr>
          <a:xfrm>
            <a:off x="583565" y="2950210"/>
            <a:ext cx="10681335" cy="1130300"/>
          </a:xfrm>
          <a:prstGeom prst="roundRect">
            <a:avLst/>
          </a:prstGeom>
          <a:solidFill>
            <a:schemeClr val="accent5">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23" name="圆角矩形 22"/>
          <p:cNvSpPr/>
          <p:nvPr/>
        </p:nvSpPr>
        <p:spPr>
          <a:xfrm>
            <a:off x="590550" y="1631950"/>
            <a:ext cx="10681335" cy="1130300"/>
          </a:xfrm>
          <a:prstGeom prst="roundRect">
            <a:avLst/>
          </a:prstGeom>
          <a:solidFill>
            <a:schemeClr val="accent6">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pic>
        <p:nvPicPr>
          <p:cNvPr id="2" name="图片 1"/>
          <p:cNvPicPr>
            <a:picLocks noChangeAspect="1"/>
          </p:cNvPicPr>
          <p:nvPr/>
        </p:nvPicPr>
        <p:blipFill>
          <a:blip r:embed="rId26"/>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2.2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研究内容</a:t>
            </a:r>
          </a:p>
        </p:txBody>
      </p:sp>
      <p:sp>
        <p:nvSpPr>
          <p:cNvPr id="3" name="文本框 2"/>
          <p:cNvSpPr txBox="1"/>
          <p:nvPr/>
        </p:nvSpPr>
        <p:spPr>
          <a:xfrm>
            <a:off x="784860" y="1106805"/>
            <a:ext cx="5111750" cy="398780"/>
          </a:xfrm>
          <a:prstGeom prst="rect">
            <a:avLst/>
          </a:prstGeom>
          <a:noFill/>
        </p:spPr>
        <p:txBody>
          <a:bodyPr wrap="square" rtlCol="0" anchor="t">
            <a:spAutoFit/>
          </a:bodyPr>
          <a:lstStyle/>
          <a:p>
            <a:r>
              <a:rPr lang="en-US" altLang="zh-CN" sz="2000" b="1">
                <a:solidFill>
                  <a:schemeClr val="accent6">
                    <a:lumMod val="75000"/>
                  </a:schemeClr>
                </a:solidFill>
                <a:latin typeface="楷体" panose="02010609060101010101" charset="-122"/>
                <a:ea typeface="楷体" panose="02010609060101010101" charset="-122"/>
                <a:sym typeface="+mn-ea"/>
              </a:rPr>
              <a:t>2.2.3 </a:t>
            </a:r>
            <a:r>
              <a:rPr lang="zh-CN" altLang="en-US" sz="2000" b="1">
                <a:solidFill>
                  <a:schemeClr val="accent6">
                    <a:lumMod val="75000"/>
                  </a:schemeClr>
                </a:solidFill>
                <a:latin typeface="楷体" panose="02010609060101010101" charset="-122"/>
                <a:ea typeface="楷体" panose="02010609060101010101" charset="-122"/>
                <a:sym typeface="+mn-ea"/>
              </a:rPr>
              <a:t>时间序列的分解及分解模型的优化</a:t>
            </a:r>
          </a:p>
        </p:txBody>
      </p:sp>
      <p:sp>
        <p:nvSpPr>
          <p:cNvPr id="6" name="文本框 5"/>
          <p:cNvSpPr txBox="1"/>
          <p:nvPr/>
        </p:nvSpPr>
        <p:spPr>
          <a:xfrm>
            <a:off x="628650" y="1691640"/>
            <a:ext cx="10534015" cy="1014730"/>
          </a:xfrm>
          <a:prstGeom prst="rect">
            <a:avLst/>
          </a:prstGeom>
        </p:spPr>
        <p:txBody>
          <a:bodyPr wrap="square">
            <a:spAutoFit/>
          </a:bodyPr>
          <a:lstStyle/>
          <a:p>
            <a:pPr marL="0" indent="0"/>
            <a:r>
              <a:rPr lang="en-US" altLang="zh-CN" sz="2000" b="1" i="0">
                <a:solidFill>
                  <a:srgbClr val="FF0000"/>
                </a:solidFill>
                <a:latin typeface="楷体" panose="02010609060101010101" charset="-122"/>
                <a:ea typeface="楷体" panose="02010609060101010101" charset="-122"/>
                <a:cs typeface="楷体" panose="02010609060101010101" charset="-122"/>
              </a:rPr>
              <a:t>  </a:t>
            </a:r>
            <a:r>
              <a:rPr lang="zh-CN" altLang="en-US" sz="2000" b="1" i="0">
                <a:solidFill>
                  <a:srgbClr val="FF0000"/>
                </a:solidFill>
                <a:latin typeface="楷体" panose="02010609060101010101" charset="-122"/>
                <a:ea typeface="楷体" panose="02010609060101010101" charset="-122"/>
                <a:cs typeface="楷体" panose="02010609060101010101" charset="-122"/>
              </a:rPr>
              <a:t>变量模态分解</a:t>
            </a:r>
            <a:r>
              <a:rPr lang="en-US" altLang="zh-CN" sz="2000" b="1" i="0">
                <a:solidFill>
                  <a:srgbClr val="FF0000"/>
                </a:solidFill>
                <a:latin typeface="楷体" panose="02010609060101010101" charset="-122"/>
                <a:ea typeface="楷体" panose="02010609060101010101" charset="-122"/>
                <a:cs typeface="楷体" panose="02010609060101010101" charset="-122"/>
              </a:rPr>
              <a:t>(</a:t>
            </a:r>
            <a:r>
              <a:rPr lang="en-US" altLang="zh-CN" sz="2000" b="1" i="0">
                <a:solidFill>
                  <a:srgbClr val="FF0000"/>
                </a:solidFill>
                <a:latin typeface="Times New Roman" panose="02020603050405020304" pitchFamily="18" charset="0"/>
                <a:ea typeface="楷体" panose="02010609060101010101" charset="-122"/>
                <a:cs typeface="Times New Roman" panose="02020603050405020304" pitchFamily="18" charset="0"/>
              </a:rPr>
              <a:t>VMD</a:t>
            </a:r>
            <a:r>
              <a:rPr lang="en-US" altLang="zh-CN" sz="2000" b="1" i="0">
                <a:solidFill>
                  <a:srgbClr val="FF0000"/>
                </a:solidFill>
                <a:latin typeface="楷体" panose="02010609060101010101" charset="-122"/>
                <a:ea typeface="楷体" panose="02010609060101010101" charset="-122"/>
                <a:cs typeface="楷体" panose="02010609060101010101" charset="-122"/>
              </a:rPr>
              <a:t>)</a:t>
            </a:r>
            <a:r>
              <a:rPr lang="en-US" altLang="zh-CN" sz="2000" b="1" i="0">
                <a:solidFill>
                  <a:srgbClr val="24292F"/>
                </a:solidFill>
                <a:latin typeface="楷体" panose="02010609060101010101" charset="-122"/>
                <a:ea typeface="楷体" panose="02010609060101010101" charset="-122"/>
                <a:cs typeface="楷体" panose="02010609060101010101" charset="-122"/>
              </a:rPr>
              <a:t>将原始信号分解成若干个具有不同中心频率和带宽的子信号</a:t>
            </a:r>
            <a:r>
              <a:rPr lang="zh-CN" altLang="en-US" sz="2000" b="1" i="0">
                <a:solidFill>
                  <a:srgbClr val="24292F"/>
                </a:solidFill>
                <a:latin typeface="楷体" panose="02010609060101010101" charset="-122"/>
                <a:ea typeface="楷体" panose="02010609060101010101" charset="-122"/>
                <a:cs typeface="楷体" panose="02010609060101010101" charset="-122"/>
              </a:rPr>
              <a:t>。</a:t>
            </a:r>
            <a:r>
              <a:rPr lang="zh-CN" altLang="en-US" sz="2000" b="1" i="0">
                <a:solidFill>
                  <a:srgbClr val="24292F"/>
                </a:solidFill>
                <a:latin typeface="Times New Roman" panose="02020603050405020304" pitchFamily="18" charset="0"/>
                <a:ea typeface="楷体" panose="02010609060101010101" charset="-122"/>
                <a:cs typeface="Times New Roman" panose="02020603050405020304" pitchFamily="18" charset="0"/>
              </a:rPr>
              <a:t>VMD</a:t>
            </a:r>
            <a:r>
              <a:rPr lang="zh-CN" altLang="en-US" sz="2000" b="1" i="0">
                <a:solidFill>
                  <a:srgbClr val="24292F"/>
                </a:solidFill>
                <a:latin typeface="楷体" panose="02010609060101010101" charset="-122"/>
                <a:ea typeface="楷体" panose="02010609060101010101" charset="-122"/>
                <a:cs typeface="楷体" panose="02010609060101010101" charset="-122"/>
              </a:rPr>
              <a:t>是一种强大而灵活的信号分解方法，能够有效地处理和分析复杂信号中的</a:t>
            </a:r>
            <a:r>
              <a:rPr lang="zh-CN" altLang="en-US" sz="2000" b="1" i="0">
                <a:solidFill>
                  <a:srgbClr val="FF0000"/>
                </a:solidFill>
                <a:latin typeface="楷体" panose="02010609060101010101" charset="-122"/>
                <a:ea typeface="楷体" panose="02010609060101010101" charset="-122"/>
                <a:cs typeface="楷体" panose="02010609060101010101" charset="-122"/>
              </a:rPr>
              <a:t>不同频率成分</a:t>
            </a:r>
            <a:r>
              <a:rPr lang="zh-CN" altLang="en-US" sz="2000" b="1" i="0">
                <a:solidFill>
                  <a:srgbClr val="24292F"/>
                </a:solidFill>
                <a:latin typeface="楷体" panose="02010609060101010101" charset="-122"/>
                <a:ea typeface="楷体" panose="02010609060101010101" charset="-122"/>
                <a:cs typeface="楷体" panose="02010609060101010101" charset="-122"/>
              </a:rPr>
              <a:t>，使得分解结果更接近真实的信号。</a:t>
            </a:r>
          </a:p>
        </p:txBody>
      </p:sp>
      <p:sp>
        <p:nvSpPr>
          <p:cNvPr id="7" name="文本框 6"/>
          <p:cNvSpPr txBox="1"/>
          <p:nvPr/>
        </p:nvSpPr>
        <p:spPr>
          <a:xfrm>
            <a:off x="725805" y="3003550"/>
            <a:ext cx="10311130" cy="1014730"/>
          </a:xfrm>
          <a:prstGeom prst="rect">
            <a:avLst/>
          </a:prstGeom>
          <a:noFill/>
        </p:spPr>
        <p:txBody>
          <a:bodyPr wrap="square" rtlCol="0">
            <a:spAutoFit/>
          </a:bodyPr>
          <a:lstStyle/>
          <a:p>
            <a:r>
              <a:rPr lang="en-US" altLang="zh-CN" sz="2000" b="1" dirty="0">
                <a:solidFill>
                  <a:srgbClr val="FF0000"/>
                </a:solidFill>
                <a:latin typeface="Times New Roman" panose="02020603050405020304" pitchFamily="18" charset="0"/>
                <a:ea typeface="楷体" panose="02010609060101010101" charset="-122"/>
                <a:cs typeface="Times New Roman" panose="02020603050405020304" pitchFamily="18" charset="0"/>
              </a:rPr>
              <a:t>    </a:t>
            </a:r>
            <a:r>
              <a:rPr lang="zh-CN" altLang="en-US" sz="2000" b="1" dirty="0">
                <a:solidFill>
                  <a:srgbClr val="FF0000"/>
                </a:solidFill>
                <a:latin typeface="Times New Roman" panose="02020603050405020304" pitchFamily="18" charset="0"/>
                <a:ea typeface="楷体" panose="02010609060101010101" charset="-122"/>
                <a:cs typeface="Times New Roman" panose="02020603050405020304" pitchFamily="18" charset="0"/>
              </a:rPr>
              <a:t>CEEMDAN</a:t>
            </a:r>
            <a:r>
              <a:rPr lang="zh-CN" altLang="en-US" sz="2000" b="1" dirty="0">
                <a:solidFill>
                  <a:srgbClr val="24292F"/>
                </a:solidFill>
                <a:latin typeface="楷体" panose="02010609060101010101" charset="-122"/>
                <a:ea typeface="楷体" panose="02010609060101010101" charset="-122"/>
                <a:cs typeface="楷体" panose="02010609060101010101" charset="-122"/>
              </a:rPr>
              <a:t>是一种改进的经验模态分解</a:t>
            </a:r>
            <a:r>
              <a:rPr lang="en-US" altLang="zh-CN" sz="2000" b="1" dirty="0">
                <a:solidFill>
                  <a:srgbClr val="24292F"/>
                </a:solidFill>
                <a:latin typeface="楷体" panose="02010609060101010101" charset="-122"/>
                <a:ea typeface="楷体" panose="02010609060101010101" charset="-122"/>
                <a:cs typeface="楷体" panose="02010609060101010101" charset="-122"/>
              </a:rPr>
              <a:t>(</a:t>
            </a:r>
            <a:r>
              <a:rPr lang="zh-CN" altLang="en-US" sz="2000" b="1" dirty="0">
                <a:solidFill>
                  <a:srgbClr val="24292F"/>
                </a:solidFill>
                <a:latin typeface="Times New Roman" panose="02020603050405020304" pitchFamily="18" charset="0"/>
                <a:ea typeface="楷体" panose="02010609060101010101" charset="-122"/>
                <a:cs typeface="Times New Roman" panose="02020603050405020304" pitchFamily="18" charset="0"/>
              </a:rPr>
              <a:t>EMD</a:t>
            </a:r>
            <a:r>
              <a:rPr lang="en-US" altLang="zh-CN" sz="2000" b="1" dirty="0">
                <a:solidFill>
                  <a:srgbClr val="24292F"/>
                </a:solidFill>
                <a:latin typeface="Times New Roman" panose="02020603050405020304" pitchFamily="18" charset="0"/>
                <a:ea typeface="楷体" panose="02010609060101010101" charset="-122"/>
                <a:cs typeface="Times New Roman" panose="02020603050405020304" pitchFamily="18" charset="0"/>
              </a:rPr>
              <a:t>)</a:t>
            </a:r>
            <a:r>
              <a:rPr lang="zh-CN" altLang="en-US" sz="2000" b="1" dirty="0">
                <a:solidFill>
                  <a:srgbClr val="24292F"/>
                </a:solidFill>
                <a:latin typeface="楷体" panose="02010609060101010101" charset="-122"/>
                <a:ea typeface="楷体" panose="02010609060101010101" charset="-122"/>
                <a:cs typeface="楷体" panose="02010609060101010101" charset="-122"/>
              </a:rPr>
              <a:t>方法，用于信号的自适应分解。它在</a:t>
            </a:r>
            <a:r>
              <a:rPr lang="zh-CN" altLang="en-US" sz="2000" b="1" dirty="0">
                <a:solidFill>
                  <a:srgbClr val="24292F"/>
                </a:solidFill>
                <a:latin typeface="Times New Roman" panose="02020603050405020304" pitchFamily="18" charset="0"/>
                <a:ea typeface="楷体" panose="02010609060101010101" charset="-122"/>
                <a:cs typeface="Times New Roman" panose="02020603050405020304" pitchFamily="18" charset="0"/>
              </a:rPr>
              <a:t>EMD</a:t>
            </a:r>
            <a:r>
              <a:rPr lang="zh-CN" altLang="en-US" sz="2000" b="1" dirty="0">
                <a:solidFill>
                  <a:srgbClr val="24292F"/>
                </a:solidFill>
                <a:latin typeface="楷体" panose="02010609060101010101" charset="-122"/>
                <a:ea typeface="楷体" panose="02010609060101010101" charset="-122"/>
                <a:cs typeface="楷体" panose="02010609060101010101" charset="-122"/>
              </a:rPr>
              <a:t>的基础上引入了</a:t>
            </a:r>
            <a:r>
              <a:rPr lang="zh-CN" altLang="en-US" sz="2000" b="1" dirty="0">
                <a:solidFill>
                  <a:srgbClr val="FF0000"/>
                </a:solidFill>
                <a:latin typeface="楷体" panose="02010609060101010101" charset="-122"/>
                <a:ea typeface="楷体" panose="02010609060101010101" charset="-122"/>
                <a:cs typeface="楷体" panose="02010609060101010101" charset="-122"/>
              </a:rPr>
              <a:t>完全集成</a:t>
            </a:r>
            <a:r>
              <a:rPr lang="zh-CN" altLang="en-US" sz="2000" b="1" dirty="0">
                <a:solidFill>
                  <a:srgbClr val="24292F"/>
                </a:solidFill>
                <a:latin typeface="楷体" panose="02010609060101010101" charset="-122"/>
                <a:ea typeface="楷体" panose="02010609060101010101" charset="-122"/>
                <a:cs typeface="楷体" panose="02010609060101010101" charset="-122"/>
              </a:rPr>
              <a:t>的</a:t>
            </a:r>
            <a:r>
              <a:rPr lang="zh-CN" altLang="en-US" sz="2000" b="1" dirty="0">
                <a:solidFill>
                  <a:srgbClr val="FF0000"/>
                </a:solidFill>
                <a:latin typeface="楷体" panose="02010609060101010101" charset="-122"/>
                <a:ea typeface="楷体" panose="02010609060101010101" charset="-122"/>
                <a:cs typeface="楷体" panose="02010609060101010101" charset="-122"/>
              </a:rPr>
              <a:t>自适应噪声</a:t>
            </a:r>
            <a:r>
              <a:rPr lang="zh-CN" altLang="en-US" sz="2000" b="1" dirty="0">
                <a:solidFill>
                  <a:srgbClr val="24292F"/>
                </a:solidFill>
                <a:latin typeface="楷体" panose="02010609060101010101" charset="-122"/>
                <a:ea typeface="楷体" panose="02010609060101010101" charset="-122"/>
                <a:cs typeface="楷体" panose="02010609060101010101" charset="-122"/>
              </a:rPr>
              <a:t>，能够自动分解</a:t>
            </a:r>
            <a:r>
              <a:rPr lang="zh-CN" altLang="en-US" sz="2000" b="1" dirty="0">
                <a:solidFill>
                  <a:schemeClr val="tx1"/>
                </a:solidFill>
                <a:latin typeface="楷体" panose="02010609060101010101" charset="-122"/>
                <a:ea typeface="楷体" panose="02010609060101010101" charset="-122"/>
                <a:cs typeface="楷体" panose="02010609060101010101" charset="-122"/>
              </a:rPr>
              <a:t>得到</a:t>
            </a:r>
            <a:r>
              <a:rPr lang="zh-CN" altLang="en-US" sz="2000" b="1" dirty="0">
                <a:solidFill>
                  <a:srgbClr val="FF0000"/>
                </a:solidFill>
                <a:latin typeface="楷体" panose="02010609060101010101" charset="-122"/>
                <a:ea typeface="楷体" panose="02010609060101010101" charset="-122"/>
                <a:cs typeface="楷体" panose="02010609060101010101" charset="-122"/>
              </a:rPr>
              <a:t>适合的子序列模态数量</a:t>
            </a:r>
            <a:r>
              <a:rPr lang="zh-CN" altLang="en-US" sz="2000" b="1" dirty="0">
                <a:solidFill>
                  <a:srgbClr val="24292F"/>
                </a:solidFill>
                <a:latin typeface="楷体" panose="02010609060101010101" charset="-122"/>
                <a:ea typeface="楷体" panose="02010609060101010101" charset="-122"/>
                <a:cs typeface="楷体" panose="02010609060101010101" charset="-122"/>
              </a:rPr>
              <a:t>，以提高分解的稳定性和准确性</a:t>
            </a:r>
            <a:r>
              <a:rPr lang="en-US" altLang="zh-CN" sz="2000" b="1" dirty="0">
                <a:solidFill>
                  <a:srgbClr val="24292F"/>
                </a:solidFill>
                <a:latin typeface="楷体" panose="02010609060101010101" charset="-122"/>
                <a:ea typeface="楷体" panose="02010609060101010101" charset="-122"/>
                <a:cs typeface="楷体" panose="02010609060101010101" charset="-122"/>
              </a:rPr>
              <a:t>.</a:t>
            </a:r>
          </a:p>
        </p:txBody>
      </p:sp>
      <p:cxnSp>
        <p:nvCxnSpPr>
          <p:cNvPr id="11" name="直接连接符 10"/>
          <p:cNvCxnSpPr/>
          <p:nvPr>
            <p:custDataLst>
              <p:tags r:id="rId8"/>
            </p:custDataLst>
          </p:nvPr>
        </p:nvCxnSpPr>
        <p:spPr>
          <a:xfrm>
            <a:off x="767715" y="6112510"/>
            <a:ext cx="10190480" cy="0"/>
          </a:xfrm>
          <a:prstGeom prst="line">
            <a:avLst/>
          </a:prstGeom>
          <a:ln w="57150">
            <a:gradFill>
              <a:gsLst>
                <a:gs pos="0">
                  <a:srgbClr val="7B32B2"/>
                </a:gs>
                <a:gs pos="100000">
                  <a:srgbClr val="401A5D"/>
                </a:gs>
              </a:gsLst>
            </a:gra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custDataLst>
              <p:tags r:id="rId9"/>
            </p:custDataLst>
          </p:nvPr>
        </p:nvSpPr>
        <p:spPr>
          <a:xfrm>
            <a:off x="1135380" y="6167755"/>
            <a:ext cx="647065" cy="290195"/>
          </a:xfrm>
          <a:prstGeom prst="rect">
            <a:avLst/>
          </a:prstGeom>
          <a:noFill/>
        </p:spPr>
        <p:txBody>
          <a:bodyPr wrap="square" rtlCol="0">
            <a:noAutofit/>
          </a:bodyPr>
          <a:lstStyle/>
          <a:p>
            <a:r>
              <a:rPr lang="en-US" altLang="zh-CN" sz="1600" b="1">
                <a:solidFill>
                  <a:srgbClr val="00B050"/>
                </a:solidFill>
                <a:latin typeface="Times New Roman" panose="02020603050405020304" pitchFamily="18" charset="0"/>
                <a:ea typeface="微软雅黑" panose="020B0503020204020204" charset="-122"/>
                <a:cs typeface="Times New Roman" panose="02020603050405020304" pitchFamily="18" charset="0"/>
              </a:rPr>
              <a:t>1992</a:t>
            </a:r>
          </a:p>
        </p:txBody>
      </p:sp>
      <p:sp>
        <p:nvSpPr>
          <p:cNvPr id="18" name="文本框 17"/>
          <p:cNvSpPr txBox="1"/>
          <p:nvPr>
            <p:custDataLst>
              <p:tags r:id="rId10"/>
            </p:custDataLst>
          </p:nvPr>
        </p:nvSpPr>
        <p:spPr>
          <a:xfrm>
            <a:off x="2140585" y="5233670"/>
            <a:ext cx="1036320" cy="549275"/>
          </a:xfrm>
          <a:prstGeom prst="rect">
            <a:avLst/>
          </a:prstGeom>
          <a:noFill/>
        </p:spPr>
        <p:txBody>
          <a:bodyPr wrap="square" rtlCol="0">
            <a:noAutofit/>
          </a:bodyPr>
          <a:lstStyle/>
          <a:p>
            <a:pPr indent="0" algn="ctr" fontAlgn="auto">
              <a:lnSpc>
                <a:spcPct val="100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EMD</a:t>
            </a:r>
          </a:p>
          <a:p>
            <a:pPr indent="0" algn="ctr" fontAlgn="auto">
              <a:lnSpc>
                <a:spcPct val="100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1998,</a:t>
            </a:r>
            <a:r>
              <a:rPr lang="zh-CN" altLang="en-US"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黄锷</a:t>
            </a:r>
          </a:p>
        </p:txBody>
      </p:sp>
      <p:sp>
        <p:nvSpPr>
          <p:cNvPr id="16" name="文本框 15"/>
          <p:cNvSpPr txBox="1"/>
          <p:nvPr>
            <p:custDataLst>
              <p:tags r:id="rId11"/>
            </p:custDataLst>
          </p:nvPr>
        </p:nvSpPr>
        <p:spPr>
          <a:xfrm>
            <a:off x="2341880" y="6167755"/>
            <a:ext cx="647065" cy="290195"/>
          </a:xfrm>
          <a:prstGeom prst="rect">
            <a:avLst/>
          </a:prstGeom>
          <a:noFill/>
        </p:spPr>
        <p:txBody>
          <a:bodyPr wrap="square" rtlCol="0">
            <a:noAutofit/>
          </a:bodyPr>
          <a:lstStyle/>
          <a:p>
            <a:r>
              <a:rPr lang="en-US" altLang="zh-CN" sz="1600" b="1">
                <a:solidFill>
                  <a:srgbClr val="00B050"/>
                </a:solidFill>
                <a:latin typeface="Times New Roman" panose="02020603050405020304" pitchFamily="18" charset="0"/>
                <a:ea typeface="微软雅黑" panose="020B0503020204020204" charset="-122"/>
                <a:cs typeface="Times New Roman" panose="02020603050405020304" pitchFamily="18" charset="0"/>
              </a:rPr>
              <a:t>1998</a:t>
            </a:r>
          </a:p>
        </p:txBody>
      </p:sp>
      <p:sp>
        <p:nvSpPr>
          <p:cNvPr id="30" name="文本框 29"/>
          <p:cNvSpPr txBox="1"/>
          <p:nvPr>
            <p:custDataLst>
              <p:tags r:id="rId12"/>
            </p:custDataLst>
          </p:nvPr>
        </p:nvSpPr>
        <p:spPr>
          <a:xfrm>
            <a:off x="628015" y="4747895"/>
            <a:ext cx="1724660" cy="642620"/>
          </a:xfrm>
          <a:prstGeom prst="rect">
            <a:avLst/>
          </a:prstGeom>
          <a:noFill/>
        </p:spPr>
        <p:txBody>
          <a:bodyPr wrap="square" rtlCol="0">
            <a:noAutofit/>
          </a:bodyPr>
          <a:lstStyle/>
          <a:p>
            <a:pPr indent="0" algn="ctr" fontAlgn="auto">
              <a:lnSpc>
                <a:spcPts val="2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WPA</a:t>
            </a:r>
          </a:p>
          <a:p>
            <a:pPr indent="0" algn="ctr" fontAlgn="auto">
              <a:lnSpc>
                <a:spcPts val="2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1992,Coifman,</a:t>
            </a:r>
          </a:p>
          <a:p>
            <a:pPr indent="0" algn="ctr" fontAlgn="auto">
              <a:lnSpc>
                <a:spcPts val="2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Meyer</a:t>
            </a:r>
          </a:p>
        </p:txBody>
      </p:sp>
      <p:sp>
        <p:nvSpPr>
          <p:cNvPr id="130" name="文本框 129"/>
          <p:cNvSpPr txBox="1"/>
          <p:nvPr>
            <p:custDataLst>
              <p:tags r:id="rId13"/>
            </p:custDataLst>
          </p:nvPr>
        </p:nvSpPr>
        <p:spPr>
          <a:xfrm>
            <a:off x="4003040" y="6167755"/>
            <a:ext cx="647065" cy="290195"/>
          </a:xfrm>
          <a:prstGeom prst="rect">
            <a:avLst/>
          </a:prstGeom>
          <a:noFill/>
        </p:spPr>
        <p:txBody>
          <a:bodyPr wrap="square" rtlCol="0">
            <a:noAutofit/>
          </a:bodyPr>
          <a:lstStyle/>
          <a:p>
            <a:r>
              <a:rPr lang="en-US" altLang="zh-CN" sz="1600" b="1">
                <a:solidFill>
                  <a:srgbClr val="00B050"/>
                </a:solidFill>
                <a:latin typeface="Times New Roman" panose="02020603050405020304" pitchFamily="18" charset="0"/>
                <a:ea typeface="微软雅黑" panose="020B0503020204020204" charset="-122"/>
                <a:cs typeface="Times New Roman" panose="02020603050405020304" pitchFamily="18" charset="0"/>
              </a:rPr>
              <a:t>2009</a:t>
            </a:r>
          </a:p>
        </p:txBody>
      </p:sp>
      <p:sp>
        <p:nvSpPr>
          <p:cNvPr id="154" name="文本框 153"/>
          <p:cNvSpPr txBox="1"/>
          <p:nvPr>
            <p:custDataLst>
              <p:tags r:id="rId14"/>
            </p:custDataLst>
          </p:nvPr>
        </p:nvSpPr>
        <p:spPr>
          <a:xfrm>
            <a:off x="7841615" y="5095240"/>
            <a:ext cx="1624330" cy="447675"/>
          </a:xfrm>
          <a:prstGeom prst="rect">
            <a:avLst/>
          </a:prstGeom>
          <a:noFill/>
        </p:spPr>
        <p:txBody>
          <a:bodyPr wrap="square" rtlCol="0">
            <a:noAutofit/>
          </a:bodyPr>
          <a:lstStyle/>
          <a:p>
            <a:pPr indent="0" algn="ctr" fontAlgn="auto">
              <a:lnSpc>
                <a:spcPct val="100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EWT</a:t>
            </a:r>
          </a:p>
          <a:p>
            <a:pPr indent="0" algn="ctr" fontAlgn="auto">
              <a:lnSpc>
                <a:spcPct val="100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2013,Gilles</a:t>
            </a:r>
          </a:p>
        </p:txBody>
      </p:sp>
      <p:sp>
        <p:nvSpPr>
          <p:cNvPr id="155" name="文本框 154"/>
          <p:cNvSpPr txBox="1"/>
          <p:nvPr>
            <p:custDataLst>
              <p:tags r:id="rId15"/>
            </p:custDataLst>
          </p:nvPr>
        </p:nvSpPr>
        <p:spPr>
          <a:xfrm>
            <a:off x="5637530" y="6174740"/>
            <a:ext cx="647065" cy="290195"/>
          </a:xfrm>
          <a:prstGeom prst="rect">
            <a:avLst/>
          </a:prstGeom>
          <a:noFill/>
        </p:spPr>
        <p:txBody>
          <a:bodyPr wrap="square" rtlCol="0">
            <a:noAutofit/>
          </a:bodyPr>
          <a:lstStyle/>
          <a:p>
            <a:r>
              <a:rPr lang="en-US" altLang="zh-CN" sz="1600" b="1">
                <a:solidFill>
                  <a:srgbClr val="00B050"/>
                </a:solidFill>
                <a:latin typeface="Times New Roman" panose="02020603050405020304" pitchFamily="18" charset="0"/>
                <a:ea typeface="微软雅黑" panose="020B0503020204020204" charset="-122"/>
                <a:cs typeface="Times New Roman" panose="02020603050405020304" pitchFamily="18" charset="0"/>
              </a:rPr>
              <a:t>2010</a:t>
            </a:r>
          </a:p>
        </p:txBody>
      </p:sp>
      <p:sp>
        <p:nvSpPr>
          <p:cNvPr id="163" name="文本框 162"/>
          <p:cNvSpPr txBox="1"/>
          <p:nvPr>
            <p:custDataLst>
              <p:tags r:id="rId16"/>
            </p:custDataLst>
          </p:nvPr>
        </p:nvSpPr>
        <p:spPr>
          <a:xfrm>
            <a:off x="7231380" y="6176645"/>
            <a:ext cx="647065" cy="290195"/>
          </a:xfrm>
          <a:prstGeom prst="rect">
            <a:avLst/>
          </a:prstGeom>
          <a:noFill/>
        </p:spPr>
        <p:txBody>
          <a:bodyPr wrap="square" rtlCol="0">
            <a:noAutofit/>
          </a:bodyPr>
          <a:lstStyle/>
          <a:p>
            <a:r>
              <a:rPr lang="en-US" altLang="zh-CN" sz="1600" b="1">
                <a:solidFill>
                  <a:srgbClr val="00B050"/>
                </a:solidFill>
                <a:latin typeface="Times New Roman" panose="02020603050405020304" pitchFamily="18" charset="0"/>
                <a:ea typeface="微软雅黑" panose="020B0503020204020204" charset="-122"/>
                <a:cs typeface="Times New Roman" panose="02020603050405020304" pitchFamily="18" charset="0"/>
              </a:rPr>
              <a:t>2011</a:t>
            </a:r>
          </a:p>
        </p:txBody>
      </p:sp>
      <p:sp>
        <p:nvSpPr>
          <p:cNvPr id="165" name="文本框 164"/>
          <p:cNvSpPr txBox="1"/>
          <p:nvPr>
            <p:custDataLst>
              <p:tags r:id="rId17"/>
            </p:custDataLst>
          </p:nvPr>
        </p:nvSpPr>
        <p:spPr>
          <a:xfrm>
            <a:off x="9229725" y="4833620"/>
            <a:ext cx="1663700" cy="700405"/>
          </a:xfrm>
          <a:prstGeom prst="rect">
            <a:avLst/>
          </a:prstGeom>
          <a:noFill/>
        </p:spPr>
        <p:txBody>
          <a:bodyPr wrap="square" rtlCol="0">
            <a:noAutofit/>
          </a:bodyPr>
          <a:lstStyle/>
          <a:p>
            <a:pPr indent="0" algn="ctr" fontAlgn="auto">
              <a:lnSpc>
                <a:spcPct val="100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VMD</a:t>
            </a:r>
          </a:p>
          <a:p>
            <a:pPr indent="0" algn="ctr" fontAlgn="auto">
              <a:lnSpc>
                <a:spcPct val="100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2014,Dragomiret</a:t>
            </a:r>
          </a:p>
          <a:p>
            <a:pPr indent="0" algn="ctr" fontAlgn="auto">
              <a:lnSpc>
                <a:spcPct val="100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skiy, K </a:t>
            </a:r>
          </a:p>
        </p:txBody>
      </p:sp>
      <p:sp>
        <p:nvSpPr>
          <p:cNvPr id="169" name="文本框 168"/>
          <p:cNvSpPr txBox="1"/>
          <p:nvPr>
            <p:custDataLst>
              <p:tags r:id="rId18"/>
            </p:custDataLst>
          </p:nvPr>
        </p:nvSpPr>
        <p:spPr>
          <a:xfrm>
            <a:off x="8356600" y="6167755"/>
            <a:ext cx="647065" cy="290195"/>
          </a:xfrm>
          <a:prstGeom prst="rect">
            <a:avLst/>
          </a:prstGeom>
          <a:noFill/>
        </p:spPr>
        <p:txBody>
          <a:bodyPr wrap="square" rtlCol="0">
            <a:noAutofit/>
          </a:bodyPr>
          <a:lstStyle/>
          <a:p>
            <a:r>
              <a:rPr lang="en-US" altLang="zh-CN" sz="1600" b="1">
                <a:solidFill>
                  <a:srgbClr val="00B050"/>
                </a:solidFill>
                <a:latin typeface="Times New Roman" panose="02020603050405020304" pitchFamily="18" charset="0"/>
                <a:ea typeface="微软雅黑" panose="020B0503020204020204" charset="-122"/>
                <a:cs typeface="Times New Roman" panose="02020603050405020304" pitchFamily="18" charset="0"/>
              </a:rPr>
              <a:t>2013</a:t>
            </a:r>
          </a:p>
        </p:txBody>
      </p:sp>
      <p:sp>
        <p:nvSpPr>
          <p:cNvPr id="173" name="文本框 172"/>
          <p:cNvSpPr txBox="1"/>
          <p:nvPr>
            <p:custDataLst>
              <p:tags r:id="rId19"/>
            </p:custDataLst>
          </p:nvPr>
        </p:nvSpPr>
        <p:spPr>
          <a:xfrm>
            <a:off x="9772650" y="6163310"/>
            <a:ext cx="647065" cy="290195"/>
          </a:xfrm>
          <a:prstGeom prst="rect">
            <a:avLst/>
          </a:prstGeom>
          <a:noFill/>
        </p:spPr>
        <p:txBody>
          <a:bodyPr wrap="square" rtlCol="0">
            <a:noAutofit/>
          </a:bodyPr>
          <a:lstStyle/>
          <a:p>
            <a:r>
              <a:rPr lang="en-US" altLang="zh-CN" sz="1600" b="1">
                <a:solidFill>
                  <a:srgbClr val="00B050"/>
                </a:solidFill>
                <a:latin typeface="Times New Roman" panose="02020603050405020304" pitchFamily="18" charset="0"/>
                <a:ea typeface="微软雅黑" panose="020B0503020204020204" charset="-122"/>
                <a:cs typeface="Times New Roman" panose="02020603050405020304" pitchFamily="18" charset="0"/>
              </a:rPr>
              <a:t>2014</a:t>
            </a:r>
          </a:p>
        </p:txBody>
      </p:sp>
      <p:sp>
        <p:nvSpPr>
          <p:cNvPr id="20" name="文本框 19"/>
          <p:cNvSpPr txBox="1"/>
          <p:nvPr>
            <p:custDataLst>
              <p:tags r:id="rId20"/>
            </p:custDataLst>
          </p:nvPr>
        </p:nvSpPr>
        <p:spPr>
          <a:xfrm>
            <a:off x="3517265" y="5046345"/>
            <a:ext cx="1582420" cy="585470"/>
          </a:xfrm>
          <a:prstGeom prst="rect">
            <a:avLst/>
          </a:prstGeom>
          <a:noFill/>
        </p:spPr>
        <p:txBody>
          <a:bodyPr wrap="square" rtlCol="0">
            <a:noAutofit/>
          </a:bodyPr>
          <a:lstStyle/>
          <a:p>
            <a:pPr indent="0" algn="ctr" fontAlgn="auto">
              <a:lnSpc>
                <a:spcPts val="2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EEMD</a:t>
            </a:r>
          </a:p>
          <a:p>
            <a:pPr indent="0" algn="ctr" fontAlgn="auto">
              <a:lnSpc>
                <a:spcPts val="2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2009</a:t>
            </a:r>
            <a:r>
              <a:rPr lang="zh-CN" altLang="en-US"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a:t>
            </a: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Huang.el</a:t>
            </a:r>
          </a:p>
        </p:txBody>
      </p:sp>
      <p:sp>
        <p:nvSpPr>
          <p:cNvPr id="21" name="文本框 20"/>
          <p:cNvSpPr txBox="1"/>
          <p:nvPr>
            <p:custDataLst>
              <p:tags r:id="rId21"/>
            </p:custDataLst>
          </p:nvPr>
        </p:nvSpPr>
        <p:spPr>
          <a:xfrm>
            <a:off x="5202555" y="5121275"/>
            <a:ext cx="1369060" cy="559435"/>
          </a:xfrm>
          <a:prstGeom prst="rect">
            <a:avLst/>
          </a:prstGeom>
          <a:noFill/>
        </p:spPr>
        <p:txBody>
          <a:bodyPr wrap="square" rtlCol="0">
            <a:noAutofit/>
          </a:bodyPr>
          <a:lstStyle/>
          <a:p>
            <a:pPr indent="0" algn="ctr" fontAlgn="auto">
              <a:lnSpc>
                <a:spcPts val="2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CEEMD</a:t>
            </a:r>
          </a:p>
          <a:p>
            <a:pPr indent="0" algn="ctr" fontAlgn="auto">
              <a:lnSpc>
                <a:spcPts val="2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2010</a:t>
            </a:r>
          </a:p>
        </p:txBody>
      </p:sp>
      <p:sp>
        <p:nvSpPr>
          <p:cNvPr id="22" name="文本框 21"/>
          <p:cNvSpPr txBox="1"/>
          <p:nvPr>
            <p:custDataLst>
              <p:tags r:id="rId22"/>
            </p:custDataLst>
          </p:nvPr>
        </p:nvSpPr>
        <p:spPr>
          <a:xfrm>
            <a:off x="6506845" y="5217795"/>
            <a:ext cx="1859915" cy="564515"/>
          </a:xfrm>
          <a:prstGeom prst="rect">
            <a:avLst/>
          </a:prstGeom>
          <a:noFill/>
        </p:spPr>
        <p:txBody>
          <a:bodyPr wrap="square" rtlCol="0">
            <a:noAutofit/>
          </a:bodyPr>
          <a:lstStyle/>
          <a:p>
            <a:pPr indent="0" algn="ctr" fontAlgn="auto">
              <a:lnSpc>
                <a:spcPts val="2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CEEMDAN</a:t>
            </a:r>
          </a:p>
          <a:p>
            <a:pPr indent="0" algn="ctr" fontAlgn="auto">
              <a:lnSpc>
                <a:spcPts val="2000"/>
              </a:lnSpc>
            </a:pP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2011</a:t>
            </a:r>
            <a:r>
              <a:rPr lang="zh-CN" altLang="en-US"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a:t>
            </a:r>
            <a:r>
              <a:rPr lang="en-US" altLang="zh-CN" sz="1400" b="1">
                <a:solidFill>
                  <a:schemeClr val="tx1"/>
                </a:solidFill>
                <a:latin typeface="Times New Roman" panose="02020603050405020304" pitchFamily="18" charset="0"/>
                <a:ea typeface="微软雅黑" panose="020B0503020204020204" charset="-122"/>
                <a:cs typeface="Times New Roman" panose="02020603050405020304" pitchFamily="18" charset="0"/>
              </a:rPr>
              <a:t>Torres ME</a:t>
            </a:r>
          </a:p>
        </p:txBody>
      </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782955" y="5653405"/>
            <a:ext cx="10681335" cy="941705"/>
          </a:xfrm>
          <a:prstGeom prst="roundRect">
            <a:avLst/>
          </a:prstGeom>
          <a:solidFill>
            <a:schemeClr val="accent4">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24" name="圆角矩形 23"/>
          <p:cNvSpPr/>
          <p:nvPr/>
        </p:nvSpPr>
        <p:spPr>
          <a:xfrm>
            <a:off x="757555" y="4405630"/>
            <a:ext cx="10681335" cy="1130300"/>
          </a:xfrm>
          <a:prstGeom prst="roundRect">
            <a:avLst/>
          </a:prstGeom>
          <a:solidFill>
            <a:schemeClr val="accent5">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pic>
        <p:nvPicPr>
          <p:cNvPr id="5" name="图片 4"/>
          <p:cNvPicPr>
            <a:picLocks noChangeAspect="1"/>
          </p:cNvPicPr>
          <p:nvPr/>
        </p:nvPicPr>
        <p:blipFill>
          <a:blip r:embed="rId3"/>
          <a:srcRect b="8786"/>
          <a:stretch>
            <a:fillRect/>
          </a:stretch>
        </p:blipFill>
        <p:spPr>
          <a:xfrm>
            <a:off x="4445" y="878840"/>
            <a:ext cx="770255" cy="717550"/>
          </a:xfrm>
          <a:prstGeom prst="rect">
            <a:avLst/>
          </a:prstGeom>
        </p:spPr>
      </p:pic>
      <p:pic>
        <p:nvPicPr>
          <p:cNvPr id="2" name="图片 1"/>
          <p:cNvPicPr>
            <a:picLocks noChangeAspect="1"/>
          </p:cNvPicPr>
          <p:nvPr/>
        </p:nvPicPr>
        <p:blipFill>
          <a:blip r:embed="rId4"/>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2.2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研究内容</a:t>
            </a:r>
          </a:p>
        </p:txBody>
      </p:sp>
      <p:sp>
        <p:nvSpPr>
          <p:cNvPr id="3" name="文本框 2"/>
          <p:cNvSpPr txBox="1"/>
          <p:nvPr/>
        </p:nvSpPr>
        <p:spPr>
          <a:xfrm>
            <a:off x="784860" y="1053465"/>
            <a:ext cx="5111750" cy="398780"/>
          </a:xfrm>
          <a:prstGeom prst="rect">
            <a:avLst/>
          </a:prstGeom>
          <a:noFill/>
        </p:spPr>
        <p:txBody>
          <a:bodyPr wrap="square" rtlCol="0" anchor="t">
            <a:spAutoFit/>
          </a:bodyPr>
          <a:lstStyle/>
          <a:p>
            <a:r>
              <a:rPr lang="en-US" altLang="zh-CN" sz="2000" b="1">
                <a:solidFill>
                  <a:schemeClr val="accent6">
                    <a:lumMod val="75000"/>
                  </a:schemeClr>
                </a:solidFill>
                <a:latin typeface="楷体" panose="02010609060101010101" charset="-122"/>
                <a:ea typeface="楷体" panose="02010609060101010101" charset="-122"/>
                <a:sym typeface="+mn-ea"/>
              </a:rPr>
              <a:t>2.2.3 </a:t>
            </a:r>
            <a:r>
              <a:rPr lang="zh-CN" altLang="en-US" sz="2000" b="1">
                <a:solidFill>
                  <a:schemeClr val="accent6">
                    <a:lumMod val="75000"/>
                  </a:schemeClr>
                </a:solidFill>
                <a:latin typeface="楷体" panose="02010609060101010101" charset="-122"/>
                <a:ea typeface="楷体" panose="02010609060101010101" charset="-122"/>
                <a:sym typeface="+mn-ea"/>
              </a:rPr>
              <a:t>时间序列的分解及分解模型的优化</a:t>
            </a:r>
          </a:p>
        </p:txBody>
      </p:sp>
      <p:sp>
        <p:nvSpPr>
          <p:cNvPr id="6" name="文本框 5"/>
          <p:cNvSpPr txBox="1"/>
          <p:nvPr/>
        </p:nvSpPr>
        <p:spPr>
          <a:xfrm>
            <a:off x="782955" y="4494530"/>
            <a:ext cx="10744835" cy="1014730"/>
          </a:xfrm>
          <a:prstGeom prst="rect">
            <a:avLst/>
          </a:prstGeom>
        </p:spPr>
        <p:txBody>
          <a:bodyPr wrap="square">
            <a:spAutoFit/>
          </a:bodyPr>
          <a:lstStyle/>
          <a:p>
            <a:pPr marL="0" indent="0"/>
            <a:r>
              <a:rPr lang="en-US" altLang="zh-CN" sz="2000" b="1" i="0">
                <a:solidFill>
                  <a:srgbClr val="FF0000"/>
                </a:solidFill>
                <a:ea typeface="楷体" panose="02010609060101010101" charset="-122"/>
              </a:rPr>
              <a:t>    </a:t>
            </a:r>
            <a:r>
              <a:rPr lang="zh-CN" sz="2000" b="1" i="0">
                <a:solidFill>
                  <a:srgbClr val="FF0000"/>
                </a:solidFill>
                <a:ea typeface="楷体" panose="02010609060101010101" charset="-122"/>
              </a:rPr>
              <a:t>基础</a:t>
            </a:r>
            <a:r>
              <a:rPr sz="2000" b="1" i="0">
                <a:solidFill>
                  <a:srgbClr val="FF0000"/>
                </a:solidFill>
                <a:ea typeface="楷体" panose="02010609060101010101" charset="-122"/>
              </a:rPr>
              <a:t>的 </a:t>
            </a:r>
            <a:r>
              <a:rPr sz="2000" b="1" i="0">
                <a:solidFill>
                  <a:srgbClr val="FF0000"/>
                </a:solidFill>
                <a:latin typeface="Times New Roman" panose="02020603050405020304" pitchFamily="18" charset="0"/>
                <a:ea typeface="楷体" panose="02010609060101010101" charset="-122"/>
                <a:cs typeface="Times New Roman" panose="02020603050405020304" pitchFamily="18" charset="0"/>
              </a:rPr>
              <a:t>VMD</a:t>
            </a:r>
            <a:r>
              <a:rPr sz="2000" b="1" i="0">
                <a:solidFill>
                  <a:srgbClr val="24292F"/>
                </a:solidFill>
                <a:ea typeface="楷体" panose="02010609060101010101" charset="-122"/>
              </a:rPr>
              <a:t> 模型需要人工选择</a:t>
            </a:r>
            <a:r>
              <a:rPr lang="zh-CN" sz="2000" b="1" i="0">
                <a:solidFill>
                  <a:srgbClr val="24292F"/>
                </a:solidFill>
                <a:ea typeface="楷体" panose="02010609060101010101" charset="-122"/>
              </a:rPr>
              <a:t>内置</a:t>
            </a:r>
            <a:r>
              <a:rPr sz="2000" b="1" i="0">
                <a:solidFill>
                  <a:srgbClr val="FF0000"/>
                </a:solidFill>
                <a:ea typeface="楷体" panose="02010609060101010101" charset="-122"/>
              </a:rPr>
              <a:t>参数 </a:t>
            </a:r>
            <a:r>
              <a:rPr sz="2000" b="1" i="1">
                <a:solidFill>
                  <a:srgbClr val="FF0000"/>
                </a:solidFill>
                <a:latin typeface="Times New Roman" panose="02020603050405020304" pitchFamily="18" charset="0"/>
                <a:ea typeface="楷体" panose="02010609060101010101" charset="-122"/>
                <a:cs typeface="Times New Roman" panose="02020603050405020304" pitchFamily="18" charset="0"/>
              </a:rPr>
              <a:t>K</a:t>
            </a:r>
            <a:r>
              <a:rPr sz="2000" b="1" i="0">
                <a:solidFill>
                  <a:srgbClr val="FF0000"/>
                </a:solidFill>
                <a:ea typeface="楷体" panose="02010609060101010101" charset="-122"/>
              </a:rPr>
              <a:t> 和 </a:t>
            </a:r>
            <a:r>
              <a:rPr sz="2000" b="1" i="1">
                <a:solidFill>
                  <a:srgbClr val="FF0000"/>
                </a:solidFill>
                <a:latin typeface="Times New Roman" panose="02020603050405020304" pitchFamily="18" charset="0"/>
                <a:ea typeface="楷体" panose="02010609060101010101" charset="-122"/>
                <a:cs typeface="Times New Roman" panose="02020603050405020304" pitchFamily="18" charset="0"/>
              </a:rPr>
              <a:t>α</a:t>
            </a:r>
            <a:r>
              <a:rPr sz="2000" b="1" i="0">
                <a:solidFill>
                  <a:srgbClr val="24292F"/>
                </a:solidFill>
                <a:ea typeface="楷体" panose="02010609060101010101" charset="-122"/>
              </a:rPr>
              <a:t>，参数 </a:t>
            </a:r>
            <a:r>
              <a:rPr sz="2000" b="1" i="1">
                <a:solidFill>
                  <a:srgbClr val="24292F"/>
                </a:solidFill>
                <a:latin typeface="Times New Roman" panose="02020603050405020304" pitchFamily="18" charset="0"/>
                <a:ea typeface="楷体" panose="02010609060101010101" charset="-122"/>
                <a:cs typeface="Times New Roman" panose="02020603050405020304" pitchFamily="18" charset="0"/>
                <a:sym typeface="+mn-ea"/>
              </a:rPr>
              <a:t>K</a:t>
            </a:r>
            <a:r>
              <a:rPr sz="2000" b="1" i="0">
                <a:solidFill>
                  <a:srgbClr val="24292F"/>
                </a:solidFill>
                <a:ea typeface="楷体" panose="02010609060101010101" charset="-122"/>
              </a:rPr>
              <a:t> 的设置直接影响</a:t>
            </a:r>
            <a:r>
              <a:rPr sz="2000" b="1" i="0">
                <a:solidFill>
                  <a:srgbClr val="FF0000"/>
                </a:solidFill>
                <a:ea typeface="楷体" panose="02010609060101010101" charset="-122"/>
              </a:rPr>
              <a:t>分解序列的数量</a:t>
            </a:r>
            <a:r>
              <a:rPr lang="zh-CN" sz="2000" b="1" i="0">
                <a:solidFill>
                  <a:srgbClr val="24292F"/>
                </a:solidFill>
                <a:ea typeface="楷体" panose="02010609060101010101" charset="-122"/>
              </a:rPr>
              <a:t>，增广拉格朗日公式中的惩罚因子</a:t>
            </a:r>
            <a:r>
              <a:rPr lang="en-US" altLang="zh-CN" sz="2000" b="1" i="0">
                <a:solidFill>
                  <a:srgbClr val="24292F"/>
                </a:solidFill>
                <a:ea typeface="楷体" panose="02010609060101010101" charset="-122"/>
              </a:rPr>
              <a:t> </a:t>
            </a:r>
            <a:r>
              <a:rPr sz="2000" b="1" i="1">
                <a:solidFill>
                  <a:srgbClr val="24292F"/>
                </a:solidFill>
                <a:latin typeface="Times New Roman" panose="02020603050405020304" pitchFamily="18" charset="0"/>
                <a:ea typeface="楷体" panose="02010609060101010101" charset="-122"/>
                <a:cs typeface="Times New Roman" panose="02020603050405020304" pitchFamily="18" charset="0"/>
                <a:sym typeface="+mn-ea"/>
              </a:rPr>
              <a:t>α</a:t>
            </a:r>
            <a:r>
              <a:rPr lang="en-US" sz="2000" b="1" i="1">
                <a:solidFill>
                  <a:srgbClr val="24292F"/>
                </a:solidFill>
                <a:latin typeface="Times New Roman" panose="02020603050405020304" pitchFamily="18" charset="0"/>
                <a:ea typeface="楷体" panose="02010609060101010101" charset="-122"/>
                <a:cs typeface="Times New Roman" panose="02020603050405020304" pitchFamily="18" charset="0"/>
                <a:sym typeface="+mn-ea"/>
              </a:rPr>
              <a:t> </a:t>
            </a:r>
            <a:r>
              <a:rPr lang="zh-CN" sz="2000" b="1" i="0">
                <a:solidFill>
                  <a:srgbClr val="24292F"/>
                </a:solidFill>
                <a:ea typeface="楷体" panose="02010609060101010101" charset="-122"/>
              </a:rPr>
              <a:t>对</a:t>
            </a:r>
            <a:r>
              <a:rPr lang="zh-CN" sz="2000" b="1" i="0">
                <a:solidFill>
                  <a:srgbClr val="FF0000"/>
                </a:solidFill>
                <a:ea typeface="楷体" panose="02010609060101010101" charset="-122"/>
              </a:rPr>
              <a:t>各种模态的带宽施加约束</a:t>
            </a:r>
            <a:r>
              <a:rPr lang="zh-CN" sz="2000" b="1" i="0">
                <a:solidFill>
                  <a:srgbClr val="24292F"/>
                </a:solidFill>
                <a:ea typeface="楷体" panose="02010609060101010101" charset="-122"/>
              </a:rPr>
              <a:t>，</a:t>
            </a:r>
            <a:r>
              <a:rPr sz="2000" b="1" i="0">
                <a:solidFill>
                  <a:srgbClr val="24292F"/>
                </a:solidFill>
                <a:ea typeface="楷体" panose="02010609060101010101" charset="-122"/>
              </a:rPr>
              <a:t>不同的初始参数会导致分解结果的显着变化。</a:t>
            </a:r>
          </a:p>
        </p:txBody>
      </p:sp>
      <p:sp>
        <p:nvSpPr>
          <p:cNvPr id="7" name="文本框 6"/>
          <p:cNvSpPr txBox="1"/>
          <p:nvPr/>
        </p:nvSpPr>
        <p:spPr>
          <a:xfrm>
            <a:off x="793115" y="5773420"/>
            <a:ext cx="10530840" cy="706755"/>
          </a:xfrm>
          <a:prstGeom prst="rect">
            <a:avLst/>
          </a:prstGeom>
        </p:spPr>
        <p:txBody>
          <a:bodyPr wrap="square">
            <a:spAutoFit/>
          </a:bodyPr>
          <a:lstStyle/>
          <a:p>
            <a:pPr marL="0" indent="0"/>
            <a:r>
              <a:rPr lang="en-US" sz="2000" b="1" i="0">
                <a:solidFill>
                  <a:srgbClr val="FF0000"/>
                </a:solidFill>
                <a:ea typeface="楷体" panose="02010609060101010101" charset="-122"/>
              </a:rPr>
              <a:t>   </a:t>
            </a:r>
            <a:r>
              <a:rPr sz="2000" b="1" i="0">
                <a:solidFill>
                  <a:srgbClr val="FF0000"/>
                </a:solidFill>
                <a:ea typeface="楷体" panose="02010609060101010101" charset="-122"/>
              </a:rPr>
              <a:t> </a:t>
            </a:r>
            <a:r>
              <a:rPr lang="en-US" sz="2000" b="1" i="0">
                <a:solidFill>
                  <a:srgbClr val="FF0000"/>
                </a:solidFill>
                <a:latin typeface="Times New Roman" panose="02020603050405020304" pitchFamily="18" charset="0"/>
                <a:ea typeface="楷体" panose="02010609060101010101" charset="-122"/>
                <a:cs typeface="Times New Roman" panose="02020603050405020304" pitchFamily="18" charset="0"/>
              </a:rPr>
              <a:t>CEEMDAN</a:t>
            </a:r>
            <a:r>
              <a:rPr sz="2000" b="1" i="0">
                <a:solidFill>
                  <a:srgbClr val="24292F"/>
                </a:solidFill>
                <a:ea typeface="楷体" panose="02010609060101010101" charset="-122"/>
              </a:rPr>
              <a:t> </a:t>
            </a:r>
            <a:r>
              <a:rPr lang="zh-CN" sz="2000" b="1" i="0">
                <a:solidFill>
                  <a:srgbClr val="24292F"/>
                </a:solidFill>
                <a:ea typeface="楷体" panose="02010609060101010101" charset="-122"/>
              </a:rPr>
              <a:t>能够自适应的确定模态数量，但基础</a:t>
            </a:r>
            <a:r>
              <a:rPr sz="2000" b="1" i="0">
                <a:solidFill>
                  <a:srgbClr val="24292F"/>
                </a:solidFill>
                <a:ea typeface="楷体" panose="02010609060101010101" charset="-122"/>
              </a:rPr>
              <a:t>模型</a:t>
            </a:r>
            <a:r>
              <a:rPr lang="zh-CN" sz="2000" b="1" i="0">
                <a:solidFill>
                  <a:srgbClr val="24292F"/>
                </a:solidFill>
                <a:ea typeface="楷体" panose="02010609060101010101" charset="-122"/>
              </a:rPr>
              <a:t>的</a:t>
            </a:r>
            <a:r>
              <a:rPr lang="zh-CN" sz="2000" b="1">
                <a:solidFill>
                  <a:srgbClr val="FF0000"/>
                </a:solidFill>
                <a:latin typeface="Times New Roman" panose="02020603050405020304" pitchFamily="18" charset="0"/>
                <a:ea typeface="楷体" panose="02010609060101010101" charset="-122"/>
                <a:cs typeface="Times New Roman" panose="02020603050405020304" pitchFamily="18" charset="0"/>
              </a:rPr>
              <a:t>噪声幅值权重</a:t>
            </a:r>
            <a:r>
              <a:rPr lang="en-US" altLang="zh-CN" sz="2000" b="1">
                <a:solidFill>
                  <a:srgbClr val="FF0000"/>
                </a:solidFill>
                <a:latin typeface="Times New Roman" panose="02020603050405020304" pitchFamily="18" charset="0"/>
                <a:ea typeface="楷体" panose="02010609060101010101" charset="-122"/>
                <a:cs typeface="Times New Roman" panose="02020603050405020304" pitchFamily="18" charset="0"/>
              </a:rPr>
              <a:t>Nstd</a:t>
            </a:r>
            <a:r>
              <a:rPr lang="zh-CN" altLang="en-US" sz="2000" b="1">
                <a:solidFill>
                  <a:srgbClr val="FF0000"/>
                </a:solidFill>
                <a:latin typeface="Times New Roman" panose="02020603050405020304" pitchFamily="18" charset="0"/>
                <a:ea typeface="楷体" panose="02010609060101010101" charset="-122"/>
                <a:cs typeface="Times New Roman" panose="02020603050405020304" pitchFamily="18" charset="0"/>
              </a:rPr>
              <a:t>和噪声添加次数</a:t>
            </a:r>
            <a:r>
              <a:rPr lang="en-US" altLang="zh-CN" sz="2000" b="1">
                <a:solidFill>
                  <a:srgbClr val="FF0000"/>
                </a:solidFill>
                <a:latin typeface="Times New Roman" panose="02020603050405020304" pitchFamily="18" charset="0"/>
                <a:ea typeface="楷体" panose="02010609060101010101" charset="-122"/>
                <a:cs typeface="Times New Roman" panose="02020603050405020304" pitchFamily="18" charset="0"/>
              </a:rPr>
              <a:t>NR</a:t>
            </a:r>
            <a:r>
              <a:rPr lang="zh-CN" altLang="en-US" sz="2000" b="1">
                <a:solidFill>
                  <a:schemeClr val="tx1"/>
                </a:solidFill>
                <a:latin typeface="Times New Roman" panose="02020603050405020304" pitchFamily="18" charset="0"/>
                <a:ea typeface="楷体" panose="02010609060101010101" charset="-122"/>
                <a:cs typeface="Times New Roman" panose="02020603050405020304" pitchFamily="18" charset="0"/>
              </a:rPr>
              <a:t>仍需要手动设置</a:t>
            </a:r>
            <a:r>
              <a:rPr sz="2000" b="1" i="0">
                <a:solidFill>
                  <a:srgbClr val="24292F"/>
                </a:solidFill>
                <a:ea typeface="楷体" panose="02010609060101010101" charset="-122"/>
              </a:rPr>
              <a:t>，以便在减少模式混叠和保持信号特征之间找到平衡</a:t>
            </a:r>
            <a:r>
              <a:rPr lang="zh-CN" sz="2000" b="1" i="0">
                <a:solidFill>
                  <a:srgbClr val="24292F"/>
                </a:solidFill>
                <a:ea typeface="楷体" panose="02010609060101010101" charset="-122"/>
              </a:rPr>
              <a:t>。</a:t>
            </a:r>
          </a:p>
        </p:txBody>
      </p:sp>
      <p:graphicFrame>
        <p:nvGraphicFramePr>
          <p:cNvPr id="17" name="对象 16"/>
          <p:cNvGraphicFramePr/>
          <p:nvPr/>
        </p:nvGraphicFramePr>
        <p:xfrm>
          <a:off x="140335" y="1460500"/>
          <a:ext cx="11911330" cy="2901950"/>
        </p:xfrm>
        <a:graphic>
          <a:graphicData uri="http://schemas.openxmlformats.org/presentationml/2006/ole">
            <mc:AlternateContent xmlns:mc="http://schemas.openxmlformats.org/markup-compatibility/2006">
              <mc:Choice xmlns:v="urn:schemas-microsoft-com:vml" Requires="v">
                <p:oleObj r:id="rId5" imgW="17611725" imgH="3780155" progId="Visio.Drawing.15">
                  <p:embed/>
                </p:oleObj>
              </mc:Choice>
              <mc:Fallback>
                <p:oleObj r:id="rId5" imgW="17611725" imgH="3780155" progId="Visio.Drawing.15">
                  <p:embed/>
                  <p:pic>
                    <p:nvPicPr>
                      <p:cNvPr id="0" name="图片 17"/>
                      <p:cNvPicPr/>
                      <p:nvPr/>
                    </p:nvPicPr>
                    <p:blipFill>
                      <a:blip r:embed="rId6"/>
                      <a:stretch>
                        <a:fillRect/>
                      </a:stretch>
                    </p:blipFill>
                    <p:spPr>
                      <a:xfrm>
                        <a:off x="140335" y="1460500"/>
                        <a:ext cx="11911330" cy="290195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7897495" y="1031240"/>
            <a:ext cx="4179570" cy="562229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a:srcRect b="8786"/>
          <a:stretch>
            <a:fillRect/>
          </a:stretch>
        </p:blipFill>
        <p:spPr>
          <a:xfrm>
            <a:off x="4445" y="946150"/>
            <a:ext cx="770255" cy="717550"/>
          </a:xfrm>
          <a:prstGeom prst="rect">
            <a:avLst/>
          </a:prstGeom>
        </p:spPr>
      </p:pic>
      <p:sp>
        <p:nvSpPr>
          <p:cNvPr id="21" name="圆角矩形 20"/>
          <p:cNvSpPr/>
          <p:nvPr/>
        </p:nvSpPr>
        <p:spPr>
          <a:xfrm>
            <a:off x="725170" y="5248910"/>
            <a:ext cx="7113270" cy="1004570"/>
          </a:xfrm>
          <a:prstGeom prst="roundRect">
            <a:avLst/>
          </a:prstGeom>
          <a:solidFill>
            <a:schemeClr val="accent4">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20" name="圆角矩形 19"/>
          <p:cNvSpPr/>
          <p:nvPr/>
        </p:nvSpPr>
        <p:spPr>
          <a:xfrm>
            <a:off x="732790" y="4323715"/>
            <a:ext cx="7110730" cy="709930"/>
          </a:xfrm>
          <a:prstGeom prst="roundRect">
            <a:avLst/>
          </a:prstGeom>
          <a:solidFill>
            <a:schemeClr val="accent1">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19" name="圆角矩形 18"/>
          <p:cNvSpPr/>
          <p:nvPr/>
        </p:nvSpPr>
        <p:spPr>
          <a:xfrm>
            <a:off x="740410" y="3042920"/>
            <a:ext cx="7098030" cy="1102995"/>
          </a:xfrm>
          <a:prstGeom prst="roundRect">
            <a:avLst/>
          </a:prstGeom>
          <a:solidFill>
            <a:schemeClr val="accent2">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23" name="圆角矩形 22"/>
          <p:cNvSpPr/>
          <p:nvPr/>
        </p:nvSpPr>
        <p:spPr>
          <a:xfrm>
            <a:off x="740410" y="1631950"/>
            <a:ext cx="7098030" cy="1292860"/>
          </a:xfrm>
          <a:prstGeom prst="roundRect">
            <a:avLst/>
          </a:prstGeom>
          <a:solidFill>
            <a:schemeClr val="accent6">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pic>
        <p:nvPicPr>
          <p:cNvPr id="2" name="图片 1"/>
          <p:cNvPicPr>
            <a:picLocks noChangeAspect="1"/>
          </p:cNvPicPr>
          <p:nvPr/>
        </p:nvPicPr>
        <p:blipFill>
          <a:blip r:embed="rId4"/>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2.2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研究内容</a:t>
            </a:r>
          </a:p>
        </p:txBody>
      </p:sp>
      <p:sp>
        <p:nvSpPr>
          <p:cNvPr id="3" name="文本框 2"/>
          <p:cNvSpPr txBox="1"/>
          <p:nvPr/>
        </p:nvSpPr>
        <p:spPr>
          <a:xfrm>
            <a:off x="784860" y="1120775"/>
            <a:ext cx="5111750" cy="398780"/>
          </a:xfrm>
          <a:prstGeom prst="rect">
            <a:avLst/>
          </a:prstGeom>
          <a:noFill/>
        </p:spPr>
        <p:txBody>
          <a:bodyPr wrap="square" rtlCol="0" anchor="t">
            <a:spAutoFit/>
          </a:bodyPr>
          <a:lstStyle/>
          <a:p>
            <a:r>
              <a:rPr lang="en-US" altLang="zh-CN" sz="2000" b="1">
                <a:solidFill>
                  <a:schemeClr val="accent6">
                    <a:lumMod val="75000"/>
                  </a:schemeClr>
                </a:solidFill>
                <a:latin typeface="楷体" panose="02010609060101010101" charset="-122"/>
                <a:ea typeface="楷体" panose="02010609060101010101" charset="-122"/>
                <a:sym typeface="+mn-ea"/>
              </a:rPr>
              <a:t>2.2.3 </a:t>
            </a:r>
            <a:r>
              <a:rPr lang="zh-CN" altLang="en-US" sz="2000" b="1">
                <a:solidFill>
                  <a:schemeClr val="accent6">
                    <a:lumMod val="75000"/>
                  </a:schemeClr>
                </a:solidFill>
                <a:latin typeface="楷体" panose="02010609060101010101" charset="-122"/>
                <a:ea typeface="楷体" panose="02010609060101010101" charset="-122"/>
                <a:sym typeface="+mn-ea"/>
              </a:rPr>
              <a:t>时间序列的分解及分解模型的优化</a:t>
            </a:r>
          </a:p>
        </p:txBody>
      </p:sp>
      <p:sp>
        <p:nvSpPr>
          <p:cNvPr id="6" name="文本框 5"/>
          <p:cNvSpPr txBox="1"/>
          <p:nvPr/>
        </p:nvSpPr>
        <p:spPr>
          <a:xfrm>
            <a:off x="807720" y="1638935"/>
            <a:ext cx="7004685" cy="1495425"/>
          </a:xfrm>
          <a:prstGeom prst="rect">
            <a:avLst/>
          </a:prstGeom>
        </p:spPr>
        <p:txBody>
          <a:bodyPr wrap="square">
            <a:noAutofit/>
          </a:bodyPr>
          <a:lstStyle/>
          <a:p>
            <a:pPr marL="0" indent="0"/>
            <a:r>
              <a:rPr lang="en-US" sz="2000" b="1">
                <a:solidFill>
                  <a:srgbClr val="24292F"/>
                </a:solidFill>
                <a:ea typeface="楷体" panose="02010609060101010101" charset="-122"/>
                <a:sym typeface="+mn-ea"/>
              </a:rPr>
              <a:t>    </a:t>
            </a:r>
            <a:r>
              <a:rPr sz="2000" b="1">
                <a:solidFill>
                  <a:srgbClr val="24292F"/>
                </a:solidFill>
                <a:ea typeface="楷体" panose="02010609060101010101" charset="-122"/>
                <a:sym typeface="+mn-ea"/>
              </a:rPr>
              <a:t>在信号处理过程中，</a:t>
            </a:r>
            <a:r>
              <a:rPr lang="zh-CN" sz="2000" b="1">
                <a:solidFill>
                  <a:srgbClr val="24292F"/>
                </a:solidFill>
                <a:ea typeface="楷体" panose="02010609060101010101" charset="-122"/>
                <a:sym typeface="+mn-ea"/>
              </a:rPr>
              <a:t>例如</a:t>
            </a:r>
            <a:r>
              <a:rPr sz="2000" b="1">
                <a:solidFill>
                  <a:srgbClr val="24292F"/>
                </a:solidFill>
                <a:ea typeface="楷体" panose="02010609060101010101" charset="-122"/>
                <a:sym typeface="+mn-ea"/>
              </a:rPr>
              <a:t>在应用变分模态分解</a:t>
            </a:r>
            <a:r>
              <a:rPr lang="en-US" sz="2000" b="1">
                <a:solidFill>
                  <a:srgbClr val="24292F"/>
                </a:solidFill>
                <a:ea typeface="楷体" panose="02010609060101010101" charset="-122"/>
                <a:sym typeface="+mn-ea"/>
              </a:rPr>
              <a:t>(</a:t>
            </a:r>
            <a:r>
              <a:rPr lang="en-US" altLang="zh-CN" sz="2000" b="1">
                <a:solidFill>
                  <a:srgbClr val="24292F"/>
                </a:solidFill>
                <a:latin typeface="Times New Roman" panose="02020603050405020304" pitchFamily="18" charset="0"/>
                <a:ea typeface="楷体" panose="02010609060101010101" charset="-122"/>
                <a:cs typeface="Times New Roman" panose="02020603050405020304" pitchFamily="18" charset="0"/>
                <a:sym typeface="+mn-ea"/>
              </a:rPr>
              <a:t>VMD</a:t>
            </a:r>
            <a:r>
              <a:rPr lang="en-US" sz="2000" b="1">
                <a:solidFill>
                  <a:srgbClr val="24292F"/>
                </a:solidFill>
                <a:ea typeface="楷体" panose="02010609060101010101" charset="-122"/>
                <a:sym typeface="+mn-ea"/>
              </a:rPr>
              <a:t>)</a:t>
            </a:r>
            <a:r>
              <a:rPr sz="2000" b="1">
                <a:solidFill>
                  <a:srgbClr val="24292F"/>
                </a:solidFill>
                <a:ea typeface="楷体" panose="02010609060101010101" charset="-122"/>
                <a:sym typeface="+mn-ea"/>
              </a:rPr>
              <a:t>和经验模态分解</a:t>
            </a:r>
            <a:r>
              <a:rPr lang="en-US" sz="2000" b="1">
                <a:solidFill>
                  <a:srgbClr val="24292F"/>
                </a:solidFill>
                <a:ea typeface="楷体" panose="02010609060101010101" charset="-122"/>
                <a:sym typeface="+mn-ea"/>
              </a:rPr>
              <a:t>(</a:t>
            </a:r>
            <a:r>
              <a:rPr lang="en-US" altLang="zh-CN" sz="2000" b="1">
                <a:solidFill>
                  <a:srgbClr val="24292F"/>
                </a:solidFill>
                <a:latin typeface="Times New Roman" panose="02020603050405020304" pitchFamily="18" charset="0"/>
                <a:ea typeface="楷体" panose="02010609060101010101" charset="-122"/>
                <a:cs typeface="Times New Roman" panose="02020603050405020304" pitchFamily="18" charset="0"/>
                <a:sym typeface="+mn-ea"/>
              </a:rPr>
              <a:t>EMD</a:t>
            </a:r>
            <a:r>
              <a:rPr lang="en-US" sz="2000" b="1">
                <a:solidFill>
                  <a:srgbClr val="24292F"/>
                </a:solidFill>
                <a:ea typeface="楷体" panose="02010609060101010101" charset="-122"/>
                <a:sym typeface="+mn-ea"/>
              </a:rPr>
              <a:t>)</a:t>
            </a:r>
            <a:r>
              <a:rPr sz="2000" b="1">
                <a:solidFill>
                  <a:srgbClr val="24292F"/>
                </a:solidFill>
                <a:ea typeface="楷体" panose="02010609060101010101" charset="-122"/>
                <a:sym typeface="+mn-ea"/>
              </a:rPr>
              <a:t>等方法时，</a:t>
            </a:r>
            <a:r>
              <a:rPr sz="2000" b="1">
                <a:solidFill>
                  <a:srgbClr val="FF0000"/>
                </a:solidFill>
                <a:ea typeface="楷体" panose="02010609060101010101" charset="-122"/>
                <a:sym typeface="+mn-ea"/>
              </a:rPr>
              <a:t>单次分解有时不足以完全捕捉信号的复杂特征</a:t>
            </a:r>
            <a:r>
              <a:rPr sz="2000" b="1">
                <a:solidFill>
                  <a:srgbClr val="24292F"/>
                </a:solidFill>
                <a:ea typeface="楷体" panose="02010609060101010101" charset="-122"/>
                <a:sym typeface="+mn-ea"/>
              </a:rPr>
              <a:t>。为此，可以采用多层次分解和重组的方法，以更全面地分析信号。</a:t>
            </a:r>
            <a:endParaRPr sz="2000" b="1" i="0">
              <a:solidFill>
                <a:srgbClr val="24292F"/>
              </a:solidFill>
              <a:ea typeface="楷体" panose="02010609060101010101" charset="-122"/>
            </a:endParaRPr>
          </a:p>
        </p:txBody>
      </p:sp>
      <p:sp>
        <p:nvSpPr>
          <p:cNvPr id="7" name="文本框 6"/>
          <p:cNvSpPr txBox="1"/>
          <p:nvPr/>
        </p:nvSpPr>
        <p:spPr>
          <a:xfrm>
            <a:off x="800100" y="3073400"/>
            <a:ext cx="6921500" cy="1014730"/>
          </a:xfrm>
          <a:prstGeom prst="rect">
            <a:avLst/>
          </a:prstGeom>
        </p:spPr>
        <p:txBody>
          <a:bodyPr wrap="square">
            <a:spAutoFit/>
          </a:bodyPr>
          <a:lstStyle/>
          <a:p>
            <a:pPr marL="0" indent="0"/>
            <a:r>
              <a:rPr lang="en-US" altLang="zh-CN" sz="2000" b="1">
                <a:solidFill>
                  <a:srgbClr val="24292F"/>
                </a:solidFill>
                <a:ea typeface="楷体" panose="02010609060101010101" charset="-122"/>
                <a:sym typeface="+mn-ea"/>
              </a:rPr>
              <a:t>    </a:t>
            </a:r>
            <a:r>
              <a:rPr lang="zh-CN" sz="2000" b="1">
                <a:solidFill>
                  <a:srgbClr val="24292F"/>
                </a:solidFill>
                <a:ea typeface="楷体" panose="02010609060101010101" charset="-122"/>
                <a:sym typeface="+mn-ea"/>
              </a:rPr>
              <a:t>首先，对原始风电数据采用</a:t>
            </a:r>
            <a:r>
              <a:rPr lang="en-US" altLang="zh-CN" sz="2000" b="1">
                <a:solidFill>
                  <a:srgbClr val="24292F"/>
                </a:solidFill>
                <a:latin typeface="Times New Roman" panose="02020603050405020304" pitchFamily="18" charset="0"/>
                <a:ea typeface="楷体" panose="02010609060101010101" charset="-122"/>
                <a:cs typeface="Times New Roman" panose="02020603050405020304" pitchFamily="18" charset="0"/>
                <a:sym typeface="+mn-ea"/>
              </a:rPr>
              <a:t>KOA-VMD</a:t>
            </a:r>
            <a:r>
              <a:rPr lang="zh-CN" altLang="en-US" sz="2000" b="1">
                <a:solidFill>
                  <a:srgbClr val="24292F"/>
                </a:solidFill>
                <a:ea typeface="楷体" panose="02010609060101010101" charset="-122"/>
                <a:sym typeface="+mn-ea"/>
              </a:rPr>
              <a:t>进行分解，由于非线性系统造成的风电数据随机行、波动性，简单的一次分解</a:t>
            </a:r>
            <a:r>
              <a:rPr lang="zh-CN" altLang="en-US" sz="2000" b="1">
                <a:solidFill>
                  <a:srgbClr val="FF0000"/>
                </a:solidFill>
                <a:ea typeface="楷体" panose="02010609060101010101" charset="-122"/>
                <a:sym typeface="+mn-ea"/>
              </a:rPr>
              <a:t>难以完全捕捉信号的所有特征</a:t>
            </a:r>
            <a:r>
              <a:rPr lang="zh-CN" altLang="en-US" sz="2000" b="1">
                <a:solidFill>
                  <a:srgbClr val="24292F"/>
                </a:solidFill>
                <a:ea typeface="楷体" panose="02010609060101010101" charset="-122"/>
                <a:sym typeface="+mn-ea"/>
              </a:rPr>
              <a:t>。</a:t>
            </a:r>
          </a:p>
        </p:txBody>
      </p:sp>
      <p:sp>
        <p:nvSpPr>
          <p:cNvPr id="9" name="文本框 8"/>
          <p:cNvSpPr txBox="1"/>
          <p:nvPr/>
        </p:nvSpPr>
        <p:spPr>
          <a:xfrm>
            <a:off x="800100" y="4316730"/>
            <a:ext cx="7012305" cy="706755"/>
          </a:xfrm>
          <a:prstGeom prst="rect">
            <a:avLst/>
          </a:prstGeom>
        </p:spPr>
        <p:txBody>
          <a:bodyPr wrap="square">
            <a:spAutoFit/>
          </a:bodyPr>
          <a:lstStyle/>
          <a:p>
            <a:pPr marL="0" indent="0"/>
            <a:r>
              <a:rPr lang="en-US" altLang="zh-CN" sz="2000" b="1">
                <a:solidFill>
                  <a:srgbClr val="24292F"/>
                </a:solidFill>
                <a:ea typeface="楷体" panose="02010609060101010101" charset="-122"/>
                <a:sym typeface="+mn-ea"/>
              </a:rPr>
              <a:t>    </a:t>
            </a:r>
            <a:r>
              <a:rPr lang="zh-CN" sz="2000" b="1">
                <a:solidFill>
                  <a:srgbClr val="24292F"/>
                </a:solidFill>
                <a:ea typeface="楷体" panose="02010609060101010101" charset="-122"/>
                <a:sym typeface="+mn-ea"/>
              </a:rPr>
              <a:t>随后，将一次分解子分量重构成</a:t>
            </a:r>
            <a:r>
              <a:rPr lang="zh-CN" sz="2000" b="1">
                <a:solidFill>
                  <a:srgbClr val="FF0000"/>
                </a:solidFill>
                <a:ea typeface="楷体" panose="02010609060101010101" charset="-122"/>
                <a:sym typeface="+mn-ea"/>
              </a:rPr>
              <a:t>高频分量和低频分量</a:t>
            </a:r>
            <a:r>
              <a:rPr lang="zh-CN" sz="2000" b="1">
                <a:solidFill>
                  <a:srgbClr val="24292F"/>
                </a:solidFill>
                <a:ea typeface="楷体" panose="02010609060101010101" charset="-122"/>
                <a:sym typeface="+mn-ea"/>
              </a:rPr>
              <a:t>；并保留低频分量。</a:t>
            </a:r>
          </a:p>
        </p:txBody>
      </p:sp>
      <p:sp>
        <p:nvSpPr>
          <p:cNvPr id="11" name="文本框 10"/>
          <p:cNvSpPr txBox="1"/>
          <p:nvPr/>
        </p:nvSpPr>
        <p:spPr>
          <a:xfrm>
            <a:off x="799465" y="5238750"/>
            <a:ext cx="6923405" cy="1014730"/>
          </a:xfrm>
          <a:prstGeom prst="rect">
            <a:avLst/>
          </a:prstGeom>
        </p:spPr>
        <p:txBody>
          <a:bodyPr wrap="square">
            <a:spAutoFit/>
          </a:bodyPr>
          <a:lstStyle/>
          <a:p>
            <a:pPr marL="0" indent="0"/>
            <a:r>
              <a:rPr lang="en-US" altLang="zh-CN" sz="2000" b="1">
                <a:solidFill>
                  <a:srgbClr val="24292F"/>
                </a:solidFill>
                <a:ea typeface="楷体" panose="02010609060101010101" charset="-122"/>
                <a:sym typeface="+mn-ea"/>
              </a:rPr>
              <a:t>    </a:t>
            </a:r>
            <a:r>
              <a:rPr lang="zh-CN" sz="2000" b="1">
                <a:solidFill>
                  <a:srgbClr val="24292F"/>
                </a:solidFill>
                <a:ea typeface="楷体" panose="02010609060101010101" charset="-122"/>
                <a:sym typeface="+mn-ea"/>
              </a:rPr>
              <a:t>高频分量仍存在一定噪声并带有强非线性，随即采用</a:t>
            </a:r>
            <a:r>
              <a:rPr lang="en-US" altLang="zh-CN" sz="2000" b="1">
                <a:solidFill>
                  <a:srgbClr val="24292F"/>
                </a:solidFill>
                <a:latin typeface="Times New Roman" panose="02020603050405020304" pitchFamily="18" charset="0"/>
                <a:ea typeface="楷体" panose="02010609060101010101" charset="-122"/>
                <a:cs typeface="Times New Roman" panose="02020603050405020304" pitchFamily="18" charset="0"/>
                <a:sym typeface="+mn-ea"/>
              </a:rPr>
              <a:t>KOA-CEEMDAN</a:t>
            </a:r>
            <a:r>
              <a:rPr lang="zh-CN" altLang="en-US" sz="2000" b="1">
                <a:solidFill>
                  <a:srgbClr val="24292F"/>
                </a:solidFill>
                <a:ea typeface="楷体" panose="02010609060101010101" charset="-122"/>
                <a:sym typeface="+mn-ea"/>
              </a:rPr>
              <a:t>对高频分量进行二次分解，有助于</a:t>
            </a:r>
            <a:r>
              <a:rPr lang="zh-CN" altLang="en-US" sz="2000" b="1">
                <a:solidFill>
                  <a:srgbClr val="FF0000"/>
                </a:solidFill>
                <a:ea typeface="楷体" panose="02010609060101010101" charset="-122"/>
                <a:sym typeface="+mn-ea"/>
              </a:rPr>
              <a:t>进一步提取和分析信号的细节</a:t>
            </a:r>
            <a:r>
              <a:rPr lang="zh-CN" altLang="en-US" sz="2000" b="1">
                <a:solidFill>
                  <a:srgbClr val="24292F"/>
                </a:solidFill>
                <a:ea typeface="楷体" panose="02010609060101010101" charset="-122"/>
                <a:sym typeface="+mn-ea"/>
              </a:rPr>
              <a:t>。</a:t>
            </a:r>
          </a:p>
        </p:txBody>
      </p:sp>
      <p:graphicFrame>
        <p:nvGraphicFramePr>
          <p:cNvPr id="16" name="对象 15"/>
          <p:cNvGraphicFramePr/>
          <p:nvPr/>
        </p:nvGraphicFramePr>
        <p:xfrm>
          <a:off x="7630795" y="932180"/>
          <a:ext cx="4813300" cy="5716905"/>
        </p:xfrm>
        <a:graphic>
          <a:graphicData uri="http://schemas.openxmlformats.org/presentationml/2006/ole">
            <mc:AlternateContent xmlns:mc="http://schemas.openxmlformats.org/markup-compatibility/2006">
              <mc:Choice xmlns:v="urn:schemas-microsoft-com:vml" Requires="v">
                <p:oleObj r:id="rId5" imgW="4088765" imgH="5525135" progId="Visio.Drawing.15">
                  <p:embed/>
                </p:oleObj>
              </mc:Choice>
              <mc:Fallback>
                <p:oleObj r:id="rId5" imgW="4088765" imgH="5525135" progId="Visio.Drawing.15">
                  <p:embed/>
                  <p:pic>
                    <p:nvPicPr>
                      <p:cNvPr id="0" name="图片 16"/>
                      <p:cNvPicPr/>
                      <p:nvPr/>
                    </p:nvPicPr>
                    <p:blipFill>
                      <a:blip r:embed="rId6"/>
                      <a:stretch>
                        <a:fillRect/>
                      </a:stretch>
                    </p:blipFill>
                    <p:spPr>
                      <a:xfrm>
                        <a:off x="7630795" y="932180"/>
                        <a:ext cx="4813300" cy="5716905"/>
                      </a:xfrm>
                      <a:prstGeom prst="rect">
                        <a:avLst/>
                      </a:prstGeom>
                    </p:spPr>
                  </p:pic>
                </p:oleObj>
              </mc:Fallback>
            </mc:AlternateContent>
          </a:graphicData>
        </a:graphic>
      </p:graphicFrame>
      <p:pic>
        <p:nvPicPr>
          <p:cNvPr id="24" name="图片 23" descr="序号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3505" y="3271520"/>
            <a:ext cx="593725" cy="593725"/>
          </a:xfrm>
          <a:prstGeom prst="rect">
            <a:avLst/>
          </a:prstGeom>
        </p:spPr>
      </p:pic>
      <p:pic>
        <p:nvPicPr>
          <p:cNvPr id="25" name="图片 24" descr="序号2"/>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4615" y="4389120"/>
            <a:ext cx="592455" cy="592455"/>
          </a:xfrm>
          <a:prstGeom prst="rect">
            <a:avLst/>
          </a:prstGeom>
        </p:spPr>
      </p:pic>
      <p:pic>
        <p:nvPicPr>
          <p:cNvPr id="26" name="图片 25" descr="序号3"/>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265" y="5430520"/>
            <a:ext cx="592455" cy="592455"/>
          </a:xfrm>
          <a:prstGeom prst="rect">
            <a:avLst/>
          </a:prstGeom>
        </p:spPr>
      </p:pic>
      <p:sp>
        <p:nvSpPr>
          <p:cNvPr id="27" name="矩形 26"/>
          <p:cNvSpPr/>
          <p:nvPr/>
        </p:nvSpPr>
        <p:spPr>
          <a:xfrm>
            <a:off x="1271016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矩形 27"/>
          <p:cNvSpPr/>
          <p:nvPr/>
        </p:nvSpPr>
        <p:spPr>
          <a:xfrm>
            <a:off x="1271016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9" name="组合 28"/>
          <p:cNvGrpSpPr/>
          <p:nvPr/>
        </p:nvGrpSpPr>
        <p:grpSpPr>
          <a:xfrm>
            <a:off x="-12929870" y="2153285"/>
            <a:ext cx="12192000" cy="2778760"/>
            <a:chOff x="0" y="3391"/>
            <a:chExt cx="19200" cy="4376"/>
          </a:xfrm>
        </p:grpSpPr>
        <p:sp>
          <p:nvSpPr>
            <p:cNvPr id="30"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31" name="文本框 30"/>
            <p:cNvSpPr txBox="1"/>
            <p:nvPr/>
          </p:nvSpPr>
          <p:spPr>
            <a:xfrm>
              <a:off x="3010" y="6017"/>
              <a:ext cx="2561" cy="580"/>
            </a:xfrm>
            <a:prstGeom prst="rect">
              <a:avLst/>
            </a:prstGeom>
            <a:noFill/>
          </p:spPr>
          <p:txBody>
            <a:bodyPr wrap="none" rtlCol="0">
              <a:spAutoFit/>
            </a:bodyPr>
            <a:lstStyle/>
            <a:p>
              <a:r>
                <a:rPr lang="en-US" altLang="zh-CN"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THREE</a:t>
              </a:r>
            </a:p>
          </p:txBody>
        </p:sp>
        <p:sp>
          <p:nvSpPr>
            <p:cNvPr id="32" name="文本框 31"/>
            <p:cNvSpPr txBox="1"/>
            <p:nvPr/>
          </p:nvSpPr>
          <p:spPr>
            <a:xfrm>
              <a:off x="7699"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研究路线与研究方法</a:t>
              </a:r>
            </a:p>
          </p:txBody>
        </p:sp>
        <p:sp>
          <p:nvSpPr>
            <p:cNvPr id="33" name="文本框 32"/>
            <p:cNvSpPr txBox="1"/>
            <p:nvPr/>
          </p:nvSpPr>
          <p:spPr>
            <a:xfrm>
              <a:off x="3277" y="4133"/>
              <a:ext cx="2068" cy="2082"/>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03</a:t>
              </a:r>
            </a:p>
          </p:txBody>
        </p:sp>
        <p:pic>
          <p:nvPicPr>
            <p:cNvPr id="34" name="图片 9"/>
            <p:cNvPicPr>
              <a:picLocks noChangeAspect="1"/>
            </p:cNvPicPr>
            <p:nvPr>
              <p:custDataLst>
                <p:tags r:id="rId1"/>
              </p:custDataLst>
            </p:nvPr>
          </p:nvPicPr>
          <p:blipFill>
            <a:blip r:embed="rId13"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椭圆 34"/>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p:cNvGrpSpPr/>
          <p:nvPr/>
        </p:nvGrpSpPr>
        <p:grpSpPr>
          <a:xfrm>
            <a:off x="0" y="2153285"/>
            <a:ext cx="12192000" cy="2779395"/>
            <a:chOff x="0" y="3244"/>
            <a:chExt cx="19200" cy="4377"/>
          </a:xfrm>
        </p:grpSpPr>
        <p:sp>
          <p:nvSpPr>
            <p:cNvPr id="16"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8" name="文本框 17"/>
            <p:cNvSpPr txBox="1"/>
            <p:nvPr/>
          </p:nvSpPr>
          <p:spPr>
            <a:xfrm>
              <a:off x="3010" y="6017"/>
              <a:ext cx="2561" cy="580"/>
            </a:xfrm>
            <a:prstGeom prst="rect">
              <a:avLst/>
            </a:prstGeom>
            <a:noFill/>
          </p:spPr>
          <p:txBody>
            <a:bodyPr wrap="none" rtlCol="0">
              <a:spAutoFit/>
            </a:bodyPr>
            <a:lstStyle/>
            <a:p>
              <a:r>
                <a:rPr lang="en-US" altLang="zh-CN"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THREE</a:t>
              </a:r>
            </a:p>
          </p:txBody>
        </p:sp>
        <p:sp>
          <p:nvSpPr>
            <p:cNvPr id="14" name="文本框 13"/>
            <p:cNvSpPr txBox="1"/>
            <p:nvPr/>
          </p:nvSpPr>
          <p:spPr>
            <a:xfrm>
              <a:off x="7331"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研究路线与研究方法</a:t>
              </a:r>
            </a:p>
          </p:txBody>
        </p:sp>
        <p:sp>
          <p:nvSpPr>
            <p:cNvPr id="23" name="文本框 22"/>
            <p:cNvSpPr txBox="1"/>
            <p:nvPr/>
          </p:nvSpPr>
          <p:spPr>
            <a:xfrm>
              <a:off x="3277" y="4133"/>
              <a:ext cx="2068" cy="2082"/>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03</a:t>
              </a:r>
            </a:p>
          </p:txBody>
        </p:sp>
        <p:pic>
          <p:nvPicPr>
            <p:cNvPr id="5" name="图片 9"/>
            <p:cNvPicPr>
              <a:picLocks noChangeAspect="1"/>
            </p:cNvPicPr>
            <p:nvPr>
              <p:custDataLst>
                <p:tags r:id="rId1"/>
              </p:custDataLst>
            </p:nvPr>
          </p:nvPicPr>
          <p:blipFill>
            <a:blip r:embed="rId3" cstate="print">
              <a:alphaModFix amt="25000"/>
            </a:blip>
            <a:srcRect t="36440" b="5407"/>
            <a:stretch>
              <a:fillRect/>
            </a:stretch>
          </p:blipFill>
          <p:spPr bwMode="auto">
            <a:xfrm>
              <a:off x="0" y="3244"/>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圆角矩形 23"/>
          <p:cNvSpPr/>
          <p:nvPr/>
        </p:nvSpPr>
        <p:spPr>
          <a:xfrm>
            <a:off x="777875" y="1755140"/>
            <a:ext cx="521335" cy="2052955"/>
          </a:xfrm>
          <a:prstGeom prst="roundRect">
            <a:avLst/>
          </a:prstGeom>
          <a:noFill/>
          <a:ln w="19050">
            <a:solidFill>
              <a:schemeClr val="accent1"/>
            </a:solidFill>
          </a:ln>
          <a:extLst>
            <a:ext uri="{909E8E84-426E-40DD-AFC4-6F175D3DCCD1}">
              <a14:hiddenFill xmlns:a14="http://schemas.microsoft.com/office/drawing/2010/main">
                <a:solidFill>
                  <a:schemeClr val="accent5">
                    <a:lumMod val="40000"/>
                    <a:lumOff val="6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b="1"/>
          </a:p>
        </p:txBody>
      </p:sp>
      <p:sp>
        <p:nvSpPr>
          <p:cNvPr id="18" name="圆角矩形 17"/>
          <p:cNvSpPr/>
          <p:nvPr/>
        </p:nvSpPr>
        <p:spPr>
          <a:xfrm>
            <a:off x="1619885" y="1076960"/>
            <a:ext cx="9028430" cy="3113405"/>
          </a:xfrm>
          <a:prstGeom prst="roundRect">
            <a:avLst>
              <a:gd name="adj" fmla="val 6446"/>
            </a:avLst>
          </a:prstGeom>
          <a:solidFill>
            <a:schemeClr val="accent6">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pic>
        <p:nvPicPr>
          <p:cNvPr id="2" name="图片 1"/>
          <p:cNvPicPr>
            <a:picLocks noChangeAspect="1"/>
          </p:cNvPicPr>
          <p:nvPr/>
        </p:nvPicPr>
        <p:blipFill>
          <a:blip r:embed="rId4"/>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43815"/>
            <a:ext cx="29108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3.1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研究方法</a:t>
            </a:r>
          </a:p>
        </p:txBody>
      </p:sp>
      <p:sp>
        <p:nvSpPr>
          <p:cNvPr id="7" name="文本框 6"/>
          <p:cNvSpPr txBox="1"/>
          <p:nvPr/>
        </p:nvSpPr>
        <p:spPr>
          <a:xfrm>
            <a:off x="1718945" y="1160780"/>
            <a:ext cx="7962900" cy="460375"/>
          </a:xfrm>
          <a:prstGeom prst="rect">
            <a:avLst/>
          </a:prstGeom>
          <a:noFill/>
        </p:spPr>
        <p:txBody>
          <a:bodyPr wrap="square" rtlCol="0">
            <a:spAutoFit/>
          </a:bodyPr>
          <a:lstStyle/>
          <a:p>
            <a:r>
              <a:rPr sz="2400" b="1" dirty="0">
                <a:latin typeface="楷体" panose="02010609060101010101" charset="-122"/>
                <a:ea typeface="楷体" panose="02010609060101010101" charset="-122"/>
                <a:cs typeface="楷体" panose="02010609060101010101" charset="-122"/>
                <a:sym typeface="+mn-ea"/>
              </a:rPr>
              <a:t>1.</a:t>
            </a:r>
            <a:r>
              <a:rPr lang="zh-CN" sz="2400" b="1" dirty="0">
                <a:latin typeface="楷体" panose="02010609060101010101" charset="-122"/>
                <a:ea typeface="楷体" panose="02010609060101010101" charset="-122"/>
                <a:cs typeface="楷体" panose="02010609060101010101" charset="-122"/>
                <a:sym typeface="+mn-ea"/>
              </a:rPr>
              <a:t>对现有气象及风电功率</a:t>
            </a:r>
            <a:r>
              <a:rPr lang="zh-CN" sz="2400" b="1" dirty="0">
                <a:solidFill>
                  <a:srgbClr val="FF0000"/>
                </a:solidFill>
                <a:latin typeface="楷体" panose="02010609060101010101" charset="-122"/>
                <a:ea typeface="楷体" panose="02010609060101010101" charset="-122"/>
                <a:cs typeface="楷体" panose="02010609060101010101" charset="-122"/>
                <a:sym typeface="+mn-ea"/>
              </a:rPr>
              <a:t>数据进行预处理</a:t>
            </a:r>
            <a:r>
              <a:rPr lang="zh-CN" sz="2400" b="1" dirty="0">
                <a:latin typeface="楷体" panose="02010609060101010101" charset="-122"/>
                <a:ea typeface="楷体" panose="02010609060101010101" charset="-122"/>
                <a:cs typeface="楷体" panose="02010609060101010101" charset="-122"/>
                <a:sym typeface="+mn-ea"/>
              </a:rPr>
              <a:t>，剔除异常数据。</a:t>
            </a:r>
          </a:p>
        </p:txBody>
      </p:sp>
      <p:sp>
        <p:nvSpPr>
          <p:cNvPr id="9" name="文本框 8"/>
          <p:cNvSpPr txBox="1"/>
          <p:nvPr/>
        </p:nvSpPr>
        <p:spPr>
          <a:xfrm>
            <a:off x="1724025" y="1671955"/>
            <a:ext cx="8803005" cy="829945"/>
          </a:xfrm>
          <a:prstGeom prst="rect">
            <a:avLst/>
          </a:prstGeom>
          <a:noFill/>
        </p:spPr>
        <p:txBody>
          <a:bodyPr wrap="square" rtlCol="0">
            <a:spAutoFit/>
          </a:bodyPr>
          <a:lstStyle/>
          <a:p>
            <a:r>
              <a:rPr lang="en-US" sz="2400" b="1" dirty="0">
                <a:latin typeface="楷体" panose="02010609060101010101" charset="-122"/>
                <a:ea typeface="楷体" panose="02010609060101010101" charset="-122"/>
                <a:cs typeface="楷体" panose="02010609060101010101" charset="-122"/>
                <a:sym typeface="+mn-ea"/>
              </a:rPr>
              <a:t>2</a:t>
            </a:r>
            <a:r>
              <a:rPr sz="2400" b="1" dirty="0">
                <a:latin typeface="楷体" panose="02010609060101010101" charset="-122"/>
                <a:ea typeface="楷体" panose="02010609060101010101" charset="-122"/>
                <a:cs typeface="楷体" panose="02010609060101010101" charset="-122"/>
                <a:sym typeface="+mn-ea"/>
              </a:rPr>
              <a:t>.</a:t>
            </a:r>
            <a:r>
              <a:rPr lang="zh-CN" sz="2400" b="1" dirty="0">
                <a:latin typeface="楷体" panose="02010609060101010101" charset="-122"/>
                <a:ea typeface="楷体" panose="02010609060101010101" charset="-122"/>
                <a:cs typeface="楷体" panose="02010609060101010101" charset="-122"/>
                <a:sym typeface="+mn-ea"/>
              </a:rPr>
              <a:t>对现有气象及风电功率数据进行</a:t>
            </a:r>
            <a:r>
              <a:rPr lang="zh-CN" sz="2400" b="1" dirty="0">
                <a:solidFill>
                  <a:srgbClr val="FF0000"/>
                </a:solidFill>
                <a:latin typeface="楷体" panose="02010609060101010101" charset="-122"/>
                <a:ea typeface="楷体" panose="02010609060101010101" charset="-122"/>
                <a:cs typeface="楷体" panose="02010609060101010101" charset="-122"/>
                <a:sym typeface="+mn-ea"/>
              </a:rPr>
              <a:t>相关性分析</a:t>
            </a:r>
            <a:r>
              <a:rPr lang="zh-CN" sz="2400" b="1" dirty="0">
                <a:latin typeface="楷体" panose="02010609060101010101" charset="-122"/>
                <a:ea typeface="楷体" panose="02010609060101010101" charset="-122"/>
                <a:cs typeface="楷体" panose="02010609060101010101" charset="-122"/>
                <a:sym typeface="+mn-ea"/>
              </a:rPr>
              <a:t>，</a:t>
            </a:r>
            <a:r>
              <a:rPr lang="zh-CN" sz="2400" b="1" dirty="0">
                <a:solidFill>
                  <a:srgbClr val="FF0000"/>
                </a:solidFill>
                <a:latin typeface="楷体" panose="02010609060101010101" charset="-122"/>
                <a:ea typeface="楷体" panose="02010609060101010101" charset="-122"/>
                <a:cs typeface="楷体" panose="02010609060101010101" charset="-122"/>
                <a:sym typeface="+mn-ea"/>
              </a:rPr>
              <a:t>确定模型的输入变量</a:t>
            </a:r>
            <a:r>
              <a:rPr lang="zh-CN" sz="2400" b="1" dirty="0">
                <a:latin typeface="楷体" panose="02010609060101010101" charset="-122"/>
                <a:ea typeface="楷体" panose="02010609060101010101" charset="-122"/>
                <a:cs typeface="楷体" panose="02010609060101010101" charset="-122"/>
                <a:sym typeface="+mn-ea"/>
              </a:rPr>
              <a:t>。</a:t>
            </a:r>
          </a:p>
        </p:txBody>
      </p:sp>
      <p:sp>
        <p:nvSpPr>
          <p:cNvPr id="14" name="文本框 13"/>
          <p:cNvSpPr txBox="1"/>
          <p:nvPr/>
        </p:nvSpPr>
        <p:spPr>
          <a:xfrm>
            <a:off x="1724025" y="2534920"/>
            <a:ext cx="8170545" cy="460375"/>
          </a:xfrm>
          <a:prstGeom prst="rect">
            <a:avLst/>
          </a:prstGeom>
          <a:noFill/>
        </p:spPr>
        <p:txBody>
          <a:bodyPr wrap="square" rtlCol="0">
            <a:spAutoFit/>
          </a:bodyPr>
          <a:lstStyle/>
          <a:p>
            <a:r>
              <a:rPr lang="en-US" sz="2400" b="1" dirty="0">
                <a:latin typeface="楷体" panose="02010609060101010101" charset="-122"/>
                <a:ea typeface="楷体" panose="02010609060101010101" charset="-122"/>
                <a:cs typeface="楷体" panose="02010609060101010101" charset="-122"/>
                <a:sym typeface="+mn-ea"/>
              </a:rPr>
              <a:t>3</a:t>
            </a:r>
            <a:r>
              <a:rPr sz="2400" b="1" dirty="0">
                <a:latin typeface="楷体" panose="02010609060101010101" charset="-122"/>
                <a:ea typeface="楷体" panose="02010609060101010101" charset="-122"/>
                <a:cs typeface="楷体" panose="02010609060101010101" charset="-122"/>
                <a:sym typeface="+mn-ea"/>
              </a:rPr>
              <a:t>.</a:t>
            </a:r>
            <a:r>
              <a:rPr lang="zh-CN" sz="2400" b="1" dirty="0">
                <a:latin typeface="楷体" panose="02010609060101010101" charset="-122"/>
                <a:ea typeface="楷体" panose="02010609060101010101" charset="-122"/>
                <a:cs typeface="楷体" panose="02010609060101010101" charset="-122"/>
                <a:sym typeface="+mn-ea"/>
              </a:rPr>
              <a:t>对随机、波动的风电数据进行</a:t>
            </a:r>
            <a:r>
              <a:rPr lang="zh-CN" sz="2400" b="1" dirty="0">
                <a:solidFill>
                  <a:srgbClr val="FF0000"/>
                </a:solidFill>
                <a:latin typeface="楷体" panose="02010609060101010101" charset="-122"/>
                <a:ea typeface="楷体" panose="02010609060101010101" charset="-122"/>
                <a:cs typeface="楷体" panose="02010609060101010101" charset="-122"/>
                <a:sym typeface="+mn-ea"/>
              </a:rPr>
              <a:t>二次分解</a:t>
            </a:r>
            <a:r>
              <a:rPr lang="zh-CN" sz="2400" b="1" dirty="0">
                <a:latin typeface="楷体" panose="02010609060101010101" charset="-122"/>
                <a:ea typeface="楷体" panose="02010609060101010101" charset="-122"/>
                <a:cs typeface="楷体" panose="02010609060101010101" charset="-122"/>
                <a:sym typeface="+mn-ea"/>
              </a:rPr>
              <a:t>，保证数据质量。</a:t>
            </a:r>
          </a:p>
        </p:txBody>
      </p:sp>
      <p:sp>
        <p:nvSpPr>
          <p:cNvPr id="22" name="文本框 21"/>
          <p:cNvSpPr txBox="1"/>
          <p:nvPr/>
        </p:nvSpPr>
        <p:spPr>
          <a:xfrm>
            <a:off x="1718945" y="2985770"/>
            <a:ext cx="8930005" cy="891540"/>
          </a:xfrm>
          <a:prstGeom prst="rect">
            <a:avLst/>
          </a:prstGeom>
          <a:noFill/>
        </p:spPr>
        <p:txBody>
          <a:bodyPr wrap="square" rtlCol="0">
            <a:noAutofit/>
          </a:bodyPr>
          <a:lstStyle/>
          <a:p>
            <a:pPr marL="0" indent="0" latinLnBrk="0">
              <a:lnSpc>
                <a:spcPts val="4000"/>
              </a:lnSpc>
              <a:buClr>
                <a:schemeClr val="tx1"/>
              </a:buClr>
              <a:buFont typeface="Wingdings" panose="05000000000000000000" pitchFamily="2" charset="2"/>
              <a:buNone/>
              <a:defRPr/>
            </a:pPr>
            <a:r>
              <a:rPr lang="en-US" sz="2400" b="1" dirty="0">
                <a:latin typeface="楷体" panose="02010609060101010101" charset="-122"/>
                <a:ea typeface="楷体" panose="02010609060101010101" charset="-122"/>
                <a:cs typeface="楷体" panose="02010609060101010101" charset="-122"/>
                <a:sym typeface="+mn-ea"/>
              </a:rPr>
              <a:t>4</a:t>
            </a:r>
            <a:r>
              <a:rPr sz="2400" b="1" dirty="0">
                <a:latin typeface="楷体" panose="02010609060101010101" charset="-122"/>
                <a:ea typeface="楷体" panose="02010609060101010101" charset="-122"/>
                <a:cs typeface="楷体" panose="02010609060101010101" charset="-122"/>
                <a:sym typeface="+mn-ea"/>
              </a:rPr>
              <a:t>.</a:t>
            </a:r>
            <a:r>
              <a:rPr lang="zh-CN" sz="2400" b="1" dirty="0">
                <a:solidFill>
                  <a:srgbClr val="FF0000"/>
                </a:solidFill>
                <a:latin typeface="楷体" panose="02010609060101010101" charset="-122"/>
                <a:ea typeface="楷体" panose="02010609060101010101" charset="-122"/>
                <a:cs typeface="楷体" panose="02010609060101010101" charset="-122"/>
                <a:sym typeface="+mn-ea"/>
              </a:rPr>
              <a:t>构建基于随机配置网络</a:t>
            </a:r>
            <a:r>
              <a:rPr lang="en-US" altLang="zh-CN" sz="2400" b="1" dirty="0">
                <a:solidFill>
                  <a:srgbClr val="FF0000"/>
                </a:solidFill>
                <a:latin typeface="楷体" panose="02010609060101010101" charset="-122"/>
                <a:ea typeface="楷体" panose="02010609060101010101" charset="-122"/>
                <a:cs typeface="楷体" panose="02010609060101010101" charset="-122"/>
                <a:sym typeface="+mn-ea"/>
              </a:rPr>
              <a:t>(</a:t>
            </a:r>
            <a:r>
              <a:rPr lang="en-US" altLang="zh-CN" sz="2400" b="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SCN</a:t>
            </a:r>
            <a:r>
              <a:rPr lang="en-US" altLang="zh-CN" sz="2400" b="1" dirty="0">
                <a:solidFill>
                  <a:srgbClr val="FF0000"/>
                </a:solidFill>
                <a:latin typeface="楷体" panose="02010609060101010101" charset="-122"/>
                <a:ea typeface="楷体" panose="02010609060101010101" charset="-122"/>
                <a:cs typeface="楷体" panose="02010609060101010101" charset="-122"/>
                <a:sym typeface="+mn-ea"/>
              </a:rPr>
              <a:t>)</a:t>
            </a:r>
            <a:r>
              <a:rPr lang="zh-CN" sz="2400" b="1" dirty="0">
                <a:solidFill>
                  <a:srgbClr val="FF0000"/>
                </a:solidFill>
                <a:latin typeface="楷体" panose="02010609060101010101" charset="-122"/>
                <a:ea typeface="楷体" panose="02010609060101010101" charset="-122"/>
                <a:cs typeface="楷体" panose="02010609060101010101" charset="-122"/>
                <a:sym typeface="+mn-ea"/>
              </a:rPr>
              <a:t>的短期风电</a:t>
            </a:r>
            <a:r>
              <a:rPr sz="2400" b="1" dirty="0">
                <a:solidFill>
                  <a:srgbClr val="FF0000"/>
                </a:solidFill>
                <a:latin typeface="楷体" panose="02010609060101010101" charset="-122"/>
                <a:ea typeface="楷体" panose="02010609060101010101" charset="-122"/>
                <a:cs typeface="楷体" panose="02010609060101010101" charset="-122"/>
                <a:sym typeface="+mn-ea"/>
              </a:rPr>
              <a:t>预测模型</a:t>
            </a:r>
            <a:r>
              <a:rPr lang="zh-CN" sz="2400" b="1" dirty="0">
                <a:latin typeface="楷体" panose="02010609060101010101" charset="-122"/>
                <a:ea typeface="楷体" panose="02010609060101010101" charset="-122"/>
                <a:cs typeface="楷体" panose="02010609060101010101" charset="-122"/>
                <a:sym typeface="+mn-ea"/>
              </a:rPr>
              <a:t>。同时，</a:t>
            </a:r>
            <a:r>
              <a:rPr lang="zh-CN" altLang="en-US" sz="2400" b="1" dirty="0">
                <a:latin typeface="楷体" panose="02010609060101010101" charset="-122"/>
                <a:ea typeface="楷体" panose="02010609060101010101" charset="-122"/>
                <a:cs typeface="楷体" panose="02010609060101010101" charset="-122"/>
                <a:sym typeface="+mn-ea"/>
              </a:rPr>
              <a:t>对</a:t>
            </a:r>
            <a:r>
              <a:rPr lang="en-US" altLang="zh-CN" sz="2400" b="1" dirty="0">
                <a:latin typeface="楷体" panose="02010609060101010101" charset="-122"/>
                <a:ea typeface="楷体" panose="02010609060101010101" charset="-122"/>
                <a:cs typeface="楷体" panose="02010609060101010101" charset="-122"/>
                <a:sym typeface="+mn-ea"/>
              </a:rPr>
              <a:t>SCN</a:t>
            </a:r>
            <a:r>
              <a:rPr lang="zh-CN" altLang="en-US" sz="2400" b="1" dirty="0">
                <a:latin typeface="楷体" panose="02010609060101010101" charset="-122"/>
                <a:ea typeface="楷体" panose="02010609060101010101" charset="-122"/>
                <a:cs typeface="楷体" panose="02010609060101010101" charset="-122"/>
                <a:sym typeface="+mn-ea"/>
              </a:rPr>
              <a:t>模型的内部参数进行优化。</a:t>
            </a:r>
            <a:endParaRPr lang="zh-CN" sz="2400" b="1" dirty="0">
              <a:latin typeface="楷体" panose="02010609060101010101" charset="-122"/>
              <a:ea typeface="楷体" panose="02010609060101010101" charset="-122"/>
              <a:cs typeface="楷体" panose="02010609060101010101" charset="-122"/>
              <a:sym typeface="+mn-ea"/>
            </a:endParaRPr>
          </a:p>
        </p:txBody>
      </p:sp>
      <p:sp>
        <p:nvSpPr>
          <p:cNvPr id="23" name="文本框 22"/>
          <p:cNvSpPr txBox="1"/>
          <p:nvPr/>
        </p:nvSpPr>
        <p:spPr>
          <a:xfrm>
            <a:off x="647065" y="1807845"/>
            <a:ext cx="736600" cy="2053590"/>
          </a:xfrm>
          <a:prstGeom prst="rect">
            <a:avLst/>
          </a:prstGeom>
          <a:noFill/>
        </p:spPr>
        <p:txBody>
          <a:bodyPr vert="eaVert" wrap="square" rtlCol="0">
            <a:spAutoFit/>
          </a:bodyPr>
          <a:lstStyle/>
          <a:p>
            <a:r>
              <a:rPr lang="zh-CN" altLang="en-US" sz="3600" b="1">
                <a:latin typeface="楷体" panose="02010609060101010101" charset="-122"/>
                <a:ea typeface="楷体" panose="02010609060101010101" charset="-122"/>
              </a:rPr>
              <a:t>研究方法</a:t>
            </a:r>
          </a:p>
        </p:txBody>
      </p:sp>
      <p:graphicFrame>
        <p:nvGraphicFramePr>
          <p:cNvPr id="28" name="对象 27"/>
          <p:cNvGraphicFramePr/>
          <p:nvPr/>
        </p:nvGraphicFramePr>
        <p:xfrm>
          <a:off x="52705" y="4180205"/>
          <a:ext cx="12045950" cy="2606040"/>
        </p:xfrm>
        <a:graphic>
          <a:graphicData uri="http://schemas.openxmlformats.org/presentationml/2006/ole">
            <mc:AlternateContent xmlns:mc="http://schemas.openxmlformats.org/markup-compatibility/2006">
              <mc:Choice xmlns:v="urn:schemas-microsoft-com:vml" Requires="v">
                <p:oleObj r:id="rId5" imgW="10200005" imgH="2228215" progId="Visio.Drawing.15">
                  <p:embed/>
                </p:oleObj>
              </mc:Choice>
              <mc:Fallback>
                <p:oleObj r:id="rId5" imgW="10200005" imgH="2228215" progId="Visio.Drawing.15">
                  <p:embed/>
                  <p:pic>
                    <p:nvPicPr>
                      <p:cNvPr id="0" name="图片 28"/>
                      <p:cNvPicPr/>
                      <p:nvPr/>
                    </p:nvPicPr>
                    <p:blipFill>
                      <a:blip r:embed="rId6"/>
                      <a:stretch>
                        <a:fillRect/>
                      </a:stretch>
                    </p:blipFill>
                    <p:spPr>
                      <a:xfrm>
                        <a:off x="52705" y="4180205"/>
                        <a:ext cx="12045950" cy="2606040"/>
                      </a:xfrm>
                      <a:prstGeom prst="rect">
                        <a:avLst/>
                      </a:prstGeom>
                    </p:spPr>
                  </p:pic>
                </p:oleObj>
              </mc:Fallback>
            </mc:AlternateContent>
          </a:graphicData>
        </a:graphic>
      </p:graphicFrame>
      <p:sp>
        <p:nvSpPr>
          <p:cNvPr id="30" name="矩形 29"/>
          <p:cNvSpPr/>
          <p:nvPr/>
        </p:nvSpPr>
        <p:spPr>
          <a:xfrm>
            <a:off x="-12781280" y="5715"/>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1" name="矩形 30"/>
          <p:cNvSpPr/>
          <p:nvPr/>
        </p:nvSpPr>
        <p:spPr>
          <a:xfrm>
            <a:off x="-12781280" y="4938395"/>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32" name="组合 31"/>
          <p:cNvGrpSpPr/>
          <p:nvPr/>
        </p:nvGrpSpPr>
        <p:grpSpPr>
          <a:xfrm>
            <a:off x="12710160" y="2059940"/>
            <a:ext cx="12192000" cy="2778760"/>
            <a:chOff x="0" y="3391"/>
            <a:chExt cx="19200" cy="4376"/>
          </a:xfrm>
        </p:grpSpPr>
        <p:sp>
          <p:nvSpPr>
            <p:cNvPr id="33"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34" name="文本框 33"/>
            <p:cNvSpPr txBox="1"/>
            <p:nvPr/>
          </p:nvSpPr>
          <p:spPr>
            <a:xfrm>
              <a:off x="3010" y="6017"/>
              <a:ext cx="2561" cy="580"/>
            </a:xfrm>
            <a:prstGeom prst="rect">
              <a:avLst/>
            </a:prstGeom>
            <a:noFill/>
          </p:spPr>
          <p:txBody>
            <a:bodyPr wrap="none" rtlCol="0">
              <a:spAutoFit/>
            </a:bodyPr>
            <a:lstStyle/>
            <a:p>
              <a:r>
                <a:rPr lang="en-US" altLang="zh-CN"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THREE</a:t>
              </a:r>
            </a:p>
          </p:txBody>
        </p:sp>
        <p:sp>
          <p:nvSpPr>
            <p:cNvPr id="35" name="文本框 34"/>
            <p:cNvSpPr txBox="1"/>
            <p:nvPr/>
          </p:nvSpPr>
          <p:spPr>
            <a:xfrm>
              <a:off x="7699" y="4686"/>
              <a:ext cx="1000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研究路线与研究方法</a:t>
              </a:r>
            </a:p>
          </p:txBody>
        </p:sp>
        <p:sp>
          <p:nvSpPr>
            <p:cNvPr id="36" name="文本框 35"/>
            <p:cNvSpPr txBox="1"/>
            <p:nvPr/>
          </p:nvSpPr>
          <p:spPr>
            <a:xfrm>
              <a:off x="3277" y="4133"/>
              <a:ext cx="2068" cy="2082"/>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03</a:t>
              </a:r>
            </a:p>
          </p:txBody>
        </p:sp>
        <p:pic>
          <p:nvPicPr>
            <p:cNvPr id="37" name="图片 9"/>
            <p:cNvPicPr>
              <a:picLocks noChangeAspect="1"/>
            </p:cNvPicPr>
            <p:nvPr>
              <p:custDataLst>
                <p:tags r:id="rId1"/>
              </p:custDataLst>
            </p:nvPr>
          </p:nvPicPr>
          <p:blipFill>
            <a:blip r:embed="rId7"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椭圆 37"/>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8376920" y="-7620"/>
            <a:ext cx="3823970" cy="887730"/>
          </a:xfrm>
          <a:prstGeom prst="rect">
            <a:avLst/>
          </a:prstGeom>
        </p:spPr>
      </p:pic>
      <p:sp>
        <p:nvSpPr>
          <p:cNvPr id="5" name="矩形 4"/>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nvSpPr>
        <p:spPr>
          <a:xfrm>
            <a:off x="140335" y="5715"/>
            <a:ext cx="2910840"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技术路线</a:t>
            </a:r>
            <a:endPar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endParaRPr>
          </a:p>
        </p:txBody>
      </p:sp>
      <p:graphicFrame>
        <p:nvGraphicFramePr>
          <p:cNvPr id="9" name="对象 8"/>
          <p:cNvGraphicFramePr/>
          <p:nvPr/>
        </p:nvGraphicFramePr>
        <p:xfrm>
          <a:off x="252095" y="914400"/>
          <a:ext cx="11687175" cy="5949315"/>
        </p:xfrm>
        <a:graphic>
          <a:graphicData uri="http://schemas.openxmlformats.org/presentationml/2006/ole">
            <mc:AlternateContent xmlns:mc="http://schemas.openxmlformats.org/markup-compatibility/2006">
              <mc:Choice xmlns:v="urn:schemas-microsoft-com:vml" Requires="v">
                <p:oleObj r:id="rId3" imgW="14945995" imgH="8087995" progId="Visio.Drawing.15">
                  <p:embed/>
                </p:oleObj>
              </mc:Choice>
              <mc:Fallback>
                <p:oleObj r:id="rId3" imgW="14945995" imgH="8087995" progId="Visio.Drawing.15">
                  <p:embed/>
                  <p:pic>
                    <p:nvPicPr>
                      <p:cNvPr id="0" name="图片 10"/>
                      <p:cNvPicPr/>
                      <p:nvPr/>
                    </p:nvPicPr>
                    <p:blipFill>
                      <a:blip r:embed="rId4"/>
                      <a:stretch>
                        <a:fillRect/>
                      </a:stretch>
                    </p:blipFill>
                    <p:spPr>
                      <a:xfrm>
                        <a:off x="252095" y="914400"/>
                        <a:ext cx="11687175" cy="5949315"/>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786765" y="3916680"/>
            <a:ext cx="11198860" cy="1189355"/>
          </a:xfrm>
          <a:prstGeom prst="roundRect">
            <a:avLst/>
          </a:prstGeom>
          <a:solidFill>
            <a:schemeClr val="accent5">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11" name="圆角矩形 10"/>
          <p:cNvSpPr/>
          <p:nvPr/>
        </p:nvSpPr>
        <p:spPr>
          <a:xfrm>
            <a:off x="786765" y="2249170"/>
            <a:ext cx="11198860" cy="1511300"/>
          </a:xfrm>
          <a:prstGeom prst="roundRect">
            <a:avLst/>
          </a:prstGeom>
          <a:solidFill>
            <a:schemeClr val="accent6">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12" name="圆角矩形 11"/>
          <p:cNvSpPr/>
          <p:nvPr/>
        </p:nvSpPr>
        <p:spPr>
          <a:xfrm>
            <a:off x="786765" y="1292225"/>
            <a:ext cx="11200130" cy="801370"/>
          </a:xfrm>
          <a:prstGeom prst="roundRect">
            <a:avLst/>
          </a:prstGeom>
          <a:solidFill>
            <a:schemeClr val="accent2">
              <a:lumMod val="40000"/>
              <a:lumOff val="6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18" name="圆角矩形 17"/>
          <p:cNvSpPr/>
          <p:nvPr/>
        </p:nvSpPr>
        <p:spPr>
          <a:xfrm>
            <a:off x="786765" y="5306060"/>
            <a:ext cx="11198860" cy="1179195"/>
          </a:xfrm>
          <a:prstGeom prst="roundRect">
            <a:avLst/>
          </a:prstGeom>
          <a:solidFill>
            <a:schemeClr val="accent4">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pic>
        <p:nvPicPr>
          <p:cNvPr id="2" name="图片 1"/>
          <p:cNvPicPr>
            <a:picLocks noChangeAspect="1"/>
          </p:cNvPicPr>
          <p:nvPr/>
        </p:nvPicPr>
        <p:blipFill>
          <a:blip r:embed="rId4"/>
          <a:stretch>
            <a:fillRect/>
          </a:stretch>
        </p:blipFill>
        <p:spPr>
          <a:xfrm>
            <a:off x="8376920" y="-7620"/>
            <a:ext cx="3823970" cy="887730"/>
          </a:xfrm>
          <a:prstGeom prst="rect">
            <a:avLst/>
          </a:prstGeom>
        </p:spPr>
      </p:pic>
      <p:sp>
        <p:nvSpPr>
          <p:cNvPr id="4" name="矩形 3"/>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Rectangle 2"/>
          <p:cNvSpPr>
            <a:spLocks noGrp="1" noChangeArrowheads="1"/>
          </p:cNvSpPr>
          <p:nvPr>
            <p:ph type="title"/>
          </p:nvPr>
        </p:nvSpPr>
        <p:spPr>
          <a:xfrm>
            <a:off x="140335" y="5715"/>
            <a:ext cx="3685540" cy="936625"/>
          </a:xfrm>
        </p:spPr>
        <p:txBody>
          <a:bodyPr>
            <a:normAutofit/>
          </a:body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a:t>
            </a:r>
            <a:r>
              <a:rPr 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3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研究创新点</a:t>
            </a:r>
          </a:p>
        </p:txBody>
      </p:sp>
      <p:sp>
        <p:nvSpPr>
          <p:cNvPr id="3" name="文本框 2"/>
          <p:cNvSpPr txBox="1"/>
          <p:nvPr/>
        </p:nvSpPr>
        <p:spPr>
          <a:xfrm>
            <a:off x="786765" y="1292225"/>
            <a:ext cx="11222355" cy="708660"/>
          </a:xfrm>
          <a:prstGeom prst="rect">
            <a:avLst/>
          </a:prstGeom>
        </p:spPr>
        <p:txBody>
          <a:bodyPr wrap="square">
            <a:noAutofit/>
          </a:bodyPr>
          <a:lstStyle/>
          <a:p>
            <a:pPr marL="0" indent="0"/>
            <a:r>
              <a:rPr lang="en-US" altLang="zh-CN" sz="2400" b="1" i="0" dirty="0">
                <a:latin typeface="楷体" panose="02010609060101010101" charset="-122"/>
                <a:ea typeface="楷体" panose="02010609060101010101" charset="-122"/>
                <a:cs typeface="楷体" panose="02010609060101010101" charset="-122"/>
              </a:rPr>
              <a:t>  </a:t>
            </a:r>
            <a:r>
              <a:rPr lang="zh-CN" sz="2400" b="1" i="0" dirty="0">
                <a:latin typeface="楷体" panose="02010609060101010101" charset="-122"/>
                <a:ea typeface="楷体" panose="02010609060101010101" charset="-122"/>
                <a:cs typeface="楷体" panose="02010609060101010101" charset="-122"/>
              </a:rPr>
              <a:t>本研究对风电功率数据进行了</a:t>
            </a:r>
            <a:r>
              <a:rPr lang="zh-CN" sz="2400" b="1" i="0" dirty="0">
                <a:solidFill>
                  <a:srgbClr val="FF0000"/>
                </a:solidFill>
                <a:latin typeface="楷体" panose="02010609060101010101" charset="-122"/>
                <a:ea typeface="楷体" panose="02010609060101010101" charset="-122"/>
                <a:cs typeface="楷体" panose="02010609060101010101" charset="-122"/>
              </a:rPr>
              <a:t>二次分解</a:t>
            </a:r>
            <a:r>
              <a:rPr lang="zh-CN" sz="2400" b="1" i="0" dirty="0">
                <a:solidFill>
                  <a:schemeClr val="tx1"/>
                </a:solidFill>
                <a:latin typeface="楷体" panose="02010609060101010101" charset="-122"/>
                <a:ea typeface="楷体" panose="02010609060101010101" charset="-122"/>
                <a:cs typeface="楷体" panose="02010609060101010101" charset="-122"/>
              </a:rPr>
              <a:t>方法以</a:t>
            </a:r>
            <a:r>
              <a:rPr lang="zh-CN" sz="2400" b="1" dirty="0">
                <a:latin typeface="楷体" panose="02010609060101010101" charset="-122"/>
                <a:ea typeface="楷体" panose="02010609060101010101" charset="-122"/>
                <a:cs typeface="楷体" panose="02010609060101010101" charset="-122"/>
                <a:sym typeface="+mn-ea"/>
              </a:rPr>
              <a:t>减轻风电功率自身</a:t>
            </a:r>
            <a:r>
              <a:rPr lang="zh-CN" sz="2400" b="1" dirty="0">
                <a:solidFill>
                  <a:srgbClr val="FF0000"/>
                </a:solidFill>
                <a:latin typeface="楷体" panose="02010609060101010101" charset="-122"/>
                <a:ea typeface="楷体" panose="02010609060101010101" charset="-122"/>
                <a:cs typeface="楷体" panose="02010609060101010101" charset="-122"/>
                <a:sym typeface="+mn-ea"/>
              </a:rPr>
              <a:t>间歇性、随机性、波动性</a:t>
            </a:r>
            <a:r>
              <a:rPr lang="zh-CN" sz="2400" b="1" dirty="0">
                <a:solidFill>
                  <a:schemeClr val="tx1"/>
                </a:solidFill>
                <a:latin typeface="楷体" panose="02010609060101010101" charset="-122"/>
                <a:ea typeface="楷体" panose="02010609060101010101" charset="-122"/>
                <a:cs typeface="楷体" panose="02010609060101010101" charset="-122"/>
                <a:sym typeface="+mn-ea"/>
              </a:rPr>
              <a:t>。</a:t>
            </a:r>
            <a:endParaRPr lang="zh-CN" sz="2400" b="1" i="0" dirty="0">
              <a:solidFill>
                <a:schemeClr val="tx1"/>
              </a:solidFill>
              <a:latin typeface="楷体" panose="02010609060101010101" charset="-122"/>
              <a:ea typeface="楷体" panose="02010609060101010101" charset="-122"/>
              <a:cs typeface="楷体" panose="02010609060101010101" charset="-122"/>
              <a:sym typeface="+mn-ea"/>
            </a:endParaRPr>
          </a:p>
        </p:txBody>
      </p:sp>
      <p:sp>
        <p:nvSpPr>
          <p:cNvPr id="5" name="文本框 4"/>
          <p:cNvSpPr txBox="1"/>
          <p:nvPr/>
        </p:nvSpPr>
        <p:spPr>
          <a:xfrm>
            <a:off x="764540" y="2228850"/>
            <a:ext cx="11221720" cy="1487805"/>
          </a:xfrm>
          <a:prstGeom prst="rect">
            <a:avLst/>
          </a:prstGeom>
          <a:noFill/>
        </p:spPr>
        <p:txBody>
          <a:bodyPr wrap="square" rtlCol="0" anchor="t">
            <a:noAutofit/>
          </a:bodyPr>
          <a:lstStyle/>
          <a:p>
            <a:pPr algn="l">
              <a:buClrTx/>
              <a:buSzTx/>
              <a:buFontTx/>
            </a:pPr>
            <a:r>
              <a:rPr lang="en-US" altLang="zh-CN" sz="2400" b="1" dirty="0">
                <a:latin typeface="楷体" panose="02010609060101010101" charset="-122"/>
                <a:ea typeface="楷体" panose="02010609060101010101" charset="-122"/>
                <a:cs typeface="楷体" panose="02010609060101010101" charset="-122"/>
                <a:sym typeface="+mn-ea"/>
              </a:rPr>
              <a:t>  </a:t>
            </a:r>
            <a:r>
              <a:rPr lang="zh-CN" sz="2400" b="1" dirty="0">
                <a:latin typeface="楷体" panose="02010609060101010101" charset="-122"/>
                <a:ea typeface="楷体" panose="02010609060101010101" charset="-122"/>
                <a:cs typeface="楷体" panose="02010609060101010101" charset="-122"/>
                <a:sym typeface="+mn-ea"/>
              </a:rPr>
              <a:t>为解决人为参数设置可能导致的过度分解和模态混合问题，本研究采用开普勒优化算法(</a:t>
            </a:r>
            <a:r>
              <a:rPr lang="zh-CN" sz="2400" b="1" dirty="0">
                <a:latin typeface="Times New Roman" panose="02020603050405020304" pitchFamily="18" charset="0"/>
                <a:ea typeface="楷体" panose="02010609060101010101" charset="-122"/>
                <a:cs typeface="Times New Roman" panose="02020603050405020304" pitchFamily="18" charset="0"/>
                <a:sym typeface="+mn-ea"/>
              </a:rPr>
              <a:t>KOA</a:t>
            </a:r>
            <a:r>
              <a:rPr lang="zh-CN" sz="2400" b="1" dirty="0">
                <a:latin typeface="楷体" panose="02010609060101010101" charset="-122"/>
                <a:ea typeface="楷体" panose="02010609060101010101" charset="-122"/>
                <a:cs typeface="楷体" panose="02010609060101010101" charset="-122"/>
                <a:sym typeface="+mn-ea"/>
              </a:rPr>
              <a:t>)对变分模态分解(</a:t>
            </a:r>
            <a:r>
              <a:rPr lang="zh-CN" sz="2400" b="1" dirty="0">
                <a:latin typeface="Times New Roman" panose="02020603050405020304" pitchFamily="18" charset="0"/>
                <a:ea typeface="楷体" panose="02010609060101010101" charset="-122"/>
                <a:cs typeface="Times New Roman" panose="02020603050405020304" pitchFamily="18" charset="0"/>
                <a:sym typeface="+mn-ea"/>
              </a:rPr>
              <a:t>VMD</a:t>
            </a:r>
            <a:r>
              <a:rPr lang="zh-CN" sz="2400" b="1" dirty="0">
                <a:latin typeface="楷体" panose="02010609060101010101" charset="-122"/>
                <a:ea typeface="楷体" panose="02010609060101010101" charset="-122"/>
                <a:cs typeface="楷体" panose="02010609060101010101" charset="-122"/>
                <a:sym typeface="+mn-ea"/>
              </a:rPr>
              <a:t>)的</a:t>
            </a:r>
            <a:r>
              <a:rPr lang="zh-CN" sz="2400" b="1" dirty="0">
                <a:solidFill>
                  <a:srgbClr val="FF0000"/>
                </a:solidFill>
                <a:latin typeface="楷体" panose="02010609060101010101" charset="-122"/>
                <a:ea typeface="楷体" panose="02010609060101010101" charset="-122"/>
                <a:cs typeface="楷体" panose="02010609060101010101" charset="-122"/>
                <a:sym typeface="+mn-ea"/>
              </a:rPr>
              <a:t>模态分解数量</a:t>
            </a:r>
            <a:r>
              <a:rPr lang="zh-CN" sz="2400" b="1" i="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K</a:t>
            </a:r>
            <a:r>
              <a:rPr lang="zh-CN" sz="2400" b="1" dirty="0">
                <a:latin typeface="楷体" panose="02010609060101010101" charset="-122"/>
                <a:ea typeface="楷体" panose="02010609060101010101" charset="-122"/>
                <a:cs typeface="楷体" panose="02010609060101010101" charset="-122"/>
                <a:sym typeface="+mn-ea"/>
              </a:rPr>
              <a:t>和</a:t>
            </a:r>
            <a:r>
              <a:rPr lang="zh-CN" sz="2400" b="1" dirty="0">
                <a:solidFill>
                  <a:srgbClr val="FF0000"/>
                </a:solidFill>
                <a:latin typeface="楷体" panose="02010609060101010101" charset="-122"/>
                <a:ea typeface="楷体" panose="02010609060101010101" charset="-122"/>
                <a:cs typeface="楷体" panose="02010609060101010101" charset="-122"/>
                <a:sym typeface="+mn-ea"/>
              </a:rPr>
              <a:t>惩罚因子</a:t>
            </a:r>
            <a:r>
              <a:rPr lang="zh-CN" sz="2400" b="1" i="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α</a:t>
            </a:r>
            <a:r>
              <a:rPr lang="zh-CN" sz="2400" b="1" dirty="0">
                <a:latin typeface="楷体" panose="02010609060101010101" charset="-122"/>
                <a:ea typeface="楷体" panose="02010609060101010101" charset="-122"/>
                <a:cs typeface="楷体" panose="02010609060101010101" charset="-122"/>
                <a:sym typeface="+mn-ea"/>
              </a:rPr>
              <a:t>以及完全自适应噪声集合经验模态分解(</a:t>
            </a:r>
            <a:r>
              <a:rPr lang="zh-CN" sz="2400" b="1" dirty="0">
                <a:latin typeface="Times New Roman" panose="02020603050405020304" pitchFamily="18" charset="0"/>
                <a:ea typeface="楷体" panose="02010609060101010101" charset="-122"/>
                <a:cs typeface="Times New Roman" panose="02020603050405020304" pitchFamily="18" charset="0"/>
                <a:sym typeface="+mn-ea"/>
              </a:rPr>
              <a:t>CEEMDAN</a:t>
            </a:r>
            <a:r>
              <a:rPr lang="zh-CN" sz="2400" b="1" dirty="0">
                <a:latin typeface="楷体" panose="02010609060101010101" charset="-122"/>
                <a:ea typeface="楷体" panose="02010609060101010101" charset="-122"/>
                <a:cs typeface="楷体" panose="02010609060101010101" charset="-122"/>
                <a:sym typeface="+mn-ea"/>
              </a:rPr>
              <a:t>)内部</a:t>
            </a:r>
            <a:r>
              <a:rPr lang="zh-CN" sz="2400" b="1" dirty="0">
                <a:solidFill>
                  <a:srgbClr val="FF0000"/>
                </a:solidFill>
                <a:latin typeface="楷体" panose="02010609060101010101" charset="-122"/>
                <a:ea typeface="楷体" panose="02010609060101010101" charset="-122"/>
                <a:cs typeface="楷体" panose="02010609060101010101" charset="-122"/>
                <a:sym typeface="+mn-ea"/>
              </a:rPr>
              <a:t>噪声幅值权重</a:t>
            </a:r>
            <a:r>
              <a:rPr lang="zh-CN" sz="2400" b="1" i="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Nstd</a:t>
            </a:r>
            <a:r>
              <a:rPr lang="zh-CN" sz="2400" b="1" dirty="0">
                <a:latin typeface="楷体" panose="02010609060101010101" charset="-122"/>
                <a:ea typeface="楷体" panose="02010609060101010101" charset="-122"/>
                <a:cs typeface="楷体" panose="02010609060101010101" charset="-122"/>
                <a:sym typeface="+mn-ea"/>
              </a:rPr>
              <a:t>和噪声</a:t>
            </a:r>
            <a:r>
              <a:rPr lang="zh-CN" sz="2400" b="1" dirty="0">
                <a:solidFill>
                  <a:srgbClr val="FF0000"/>
                </a:solidFill>
                <a:latin typeface="楷体" panose="02010609060101010101" charset="-122"/>
                <a:ea typeface="楷体" panose="02010609060101010101" charset="-122"/>
                <a:cs typeface="楷体" panose="02010609060101010101" charset="-122"/>
                <a:sym typeface="+mn-ea"/>
              </a:rPr>
              <a:t>添加次数</a:t>
            </a:r>
            <a:r>
              <a:rPr lang="zh-CN" sz="2400" b="1" i="1" dirty="0">
                <a:solidFill>
                  <a:srgbClr val="FF0000"/>
                </a:solidFill>
                <a:latin typeface="Times New Roman" panose="02020603050405020304" pitchFamily="18" charset="0"/>
                <a:ea typeface="楷体" panose="02010609060101010101" charset="-122"/>
                <a:cs typeface="Times New Roman" panose="02020603050405020304" pitchFamily="18" charset="0"/>
                <a:sym typeface="+mn-ea"/>
              </a:rPr>
              <a:t>NR</a:t>
            </a:r>
            <a:r>
              <a:rPr lang="zh-CN" sz="2400" b="1" dirty="0">
                <a:latin typeface="楷体" panose="02010609060101010101" charset="-122"/>
                <a:ea typeface="楷体" panose="02010609060101010101" charset="-122"/>
                <a:cs typeface="楷体" panose="02010609060101010101" charset="-122"/>
                <a:sym typeface="+mn-ea"/>
              </a:rPr>
              <a:t>进行优化。</a:t>
            </a:r>
          </a:p>
        </p:txBody>
      </p:sp>
      <p:sp>
        <p:nvSpPr>
          <p:cNvPr id="6" name="文本框 5"/>
          <p:cNvSpPr txBox="1"/>
          <p:nvPr/>
        </p:nvSpPr>
        <p:spPr>
          <a:xfrm>
            <a:off x="764540" y="3938270"/>
            <a:ext cx="11221720" cy="1358265"/>
          </a:xfrm>
          <a:prstGeom prst="rect">
            <a:avLst/>
          </a:prstGeom>
        </p:spPr>
        <p:txBody>
          <a:bodyPr wrap="square">
            <a:noAutofit/>
          </a:bodyPr>
          <a:lstStyle/>
          <a:p>
            <a:pPr marL="0" indent="0"/>
            <a:r>
              <a:rPr lang="en-US" altLang="zh-CN" sz="2400" b="1" i="0" dirty="0">
                <a:latin typeface="楷体" panose="02010609060101010101" charset="-122"/>
                <a:ea typeface="楷体" panose="02010609060101010101" charset="-122"/>
                <a:cs typeface="楷体" panose="02010609060101010101" charset="-122"/>
              </a:rPr>
              <a:t>  </a:t>
            </a:r>
            <a:r>
              <a:rPr lang="zh-CN" sz="2400" b="1" i="0" dirty="0">
                <a:latin typeface="楷体" panose="02010609060101010101" charset="-122"/>
                <a:ea typeface="楷体" panose="02010609060101010101" charset="-122"/>
                <a:cs typeface="楷体" panose="02010609060101010101" charset="-122"/>
              </a:rPr>
              <a:t>根据每个子序列的排列熵值，将分解后的信号排列并重构为</a:t>
            </a:r>
            <a:r>
              <a:rPr lang="zh-CN" sz="2400" b="1" i="0" dirty="0">
                <a:solidFill>
                  <a:srgbClr val="FF0000"/>
                </a:solidFill>
                <a:latin typeface="楷体" panose="02010609060101010101" charset="-122"/>
                <a:ea typeface="楷体" panose="02010609060101010101" charset="-122"/>
                <a:cs typeface="楷体" panose="02010609060101010101" charset="-122"/>
              </a:rPr>
              <a:t>高频和低频分量</a:t>
            </a:r>
            <a:r>
              <a:rPr lang="zh-CN" sz="2400" b="1" i="0" dirty="0">
                <a:latin typeface="楷体" panose="02010609060101010101" charset="-122"/>
                <a:ea typeface="楷体" panose="02010609060101010101" charset="-122"/>
                <a:cs typeface="楷体" panose="02010609060101010101" charset="-122"/>
              </a:rPr>
              <a:t>。随后，通过皮尔逊相关系数</a:t>
            </a:r>
            <a:r>
              <a:rPr lang="en-US" altLang="zh-CN" sz="2400" b="1" i="0" dirty="0">
                <a:latin typeface="楷体" panose="02010609060101010101" charset="-122"/>
                <a:ea typeface="楷体" panose="02010609060101010101" charset="-122"/>
                <a:cs typeface="楷体" panose="02010609060101010101" charset="-122"/>
              </a:rPr>
              <a:t>(</a:t>
            </a:r>
            <a:r>
              <a:rPr lang="zh-CN" sz="2400" b="1" i="0" dirty="0">
                <a:latin typeface="Times New Roman" panose="02020603050405020304" pitchFamily="18" charset="0"/>
                <a:ea typeface="楷体" panose="02010609060101010101" charset="-122"/>
                <a:cs typeface="Times New Roman" panose="02020603050405020304" pitchFamily="18" charset="0"/>
              </a:rPr>
              <a:t>PCC</a:t>
            </a:r>
            <a:r>
              <a:rPr lang="en-US" altLang="zh-CN" sz="2400" b="1" i="0" dirty="0">
                <a:latin typeface="Times New Roman" panose="02020603050405020304" pitchFamily="18" charset="0"/>
                <a:ea typeface="楷体" panose="02010609060101010101" charset="-122"/>
                <a:cs typeface="Times New Roman" panose="02020603050405020304" pitchFamily="18" charset="0"/>
              </a:rPr>
              <a:t>)</a:t>
            </a:r>
            <a:r>
              <a:rPr lang="zh-CN" sz="2400" b="1" i="0" dirty="0">
                <a:latin typeface="楷体" panose="02010609060101010101" charset="-122"/>
                <a:ea typeface="楷体" panose="02010609060101010101" charset="-122"/>
                <a:cs typeface="楷体" panose="02010609060101010101" charset="-122"/>
              </a:rPr>
              <a:t>和自相关函数</a:t>
            </a:r>
            <a:r>
              <a:rPr lang="en-US" altLang="zh-CN" sz="2400" b="1" i="0" dirty="0">
                <a:latin typeface="楷体" panose="02010609060101010101" charset="-122"/>
                <a:ea typeface="楷体" panose="02010609060101010101" charset="-122"/>
                <a:cs typeface="楷体" panose="02010609060101010101" charset="-122"/>
              </a:rPr>
              <a:t>(</a:t>
            </a:r>
            <a:r>
              <a:rPr lang="zh-CN" sz="2400" b="1" i="0" dirty="0">
                <a:latin typeface="Times New Roman" panose="02020603050405020304" pitchFamily="18" charset="0"/>
                <a:ea typeface="楷体" panose="02010609060101010101" charset="-122"/>
                <a:cs typeface="Times New Roman" panose="02020603050405020304" pitchFamily="18" charset="0"/>
              </a:rPr>
              <a:t>ACF</a:t>
            </a:r>
            <a:r>
              <a:rPr lang="en-US" altLang="zh-CN" sz="2400" b="1" i="0" dirty="0">
                <a:latin typeface="Times New Roman" panose="02020603050405020304" pitchFamily="18" charset="0"/>
                <a:ea typeface="楷体" panose="02010609060101010101" charset="-122"/>
                <a:cs typeface="Times New Roman" panose="02020603050405020304" pitchFamily="18" charset="0"/>
              </a:rPr>
              <a:t>)</a:t>
            </a:r>
            <a:r>
              <a:rPr lang="zh-CN" sz="2400" b="1" i="0" dirty="0">
                <a:latin typeface="楷体" panose="02010609060101010101" charset="-122"/>
                <a:ea typeface="楷体" panose="02010609060101010101" charset="-122"/>
                <a:cs typeface="楷体" panose="02010609060101010101" charset="-122"/>
              </a:rPr>
              <a:t>分别分析历史数据和低频分量数据，以</a:t>
            </a:r>
            <a:r>
              <a:rPr lang="zh-CN" sz="2400" b="1" i="0" dirty="0">
                <a:solidFill>
                  <a:srgbClr val="FF0000"/>
                </a:solidFill>
                <a:latin typeface="楷体" panose="02010609060101010101" charset="-122"/>
                <a:ea typeface="楷体" panose="02010609060101010101" charset="-122"/>
                <a:cs typeface="楷体" panose="02010609060101010101" charset="-122"/>
              </a:rPr>
              <a:t>确定输入特性</a:t>
            </a:r>
            <a:r>
              <a:rPr lang="zh-CN" sz="2400" b="1" i="0" dirty="0">
                <a:latin typeface="楷体" panose="02010609060101010101" charset="-122"/>
                <a:ea typeface="楷体" panose="02010609060101010101" charset="-122"/>
                <a:cs typeface="楷体" panose="02010609060101010101" charset="-122"/>
              </a:rPr>
              <a:t>，从而提高数据利用效率并降低模型的复杂性。</a:t>
            </a:r>
            <a:endParaRPr lang="zh-CN" altLang="en-US" sz="1600" b="1" i="0" dirty="0">
              <a:solidFill>
                <a:srgbClr val="000000"/>
              </a:solidFill>
              <a:latin typeface="Segoe UI Web (West European)"/>
              <a:ea typeface="Segoe UI Web (West European)"/>
            </a:endParaRPr>
          </a:p>
        </p:txBody>
      </p:sp>
      <p:sp>
        <p:nvSpPr>
          <p:cNvPr id="7" name="文本框 6"/>
          <p:cNvSpPr txBox="1"/>
          <p:nvPr/>
        </p:nvSpPr>
        <p:spPr>
          <a:xfrm>
            <a:off x="764540" y="5335270"/>
            <a:ext cx="11221720" cy="1149350"/>
          </a:xfrm>
          <a:prstGeom prst="rect">
            <a:avLst/>
          </a:prstGeom>
        </p:spPr>
        <p:txBody>
          <a:bodyPr wrap="square">
            <a:noAutofit/>
          </a:bodyPr>
          <a:lstStyle/>
          <a:p>
            <a:pPr marL="0" indent="0"/>
            <a:r>
              <a:rPr lang="en-US" altLang="zh-CN" sz="2400" b="1" i="0" dirty="0">
                <a:latin typeface="楷体" panose="02010609060101010101" charset="-122"/>
                <a:ea typeface="楷体" panose="02010609060101010101" charset="-122"/>
                <a:cs typeface="楷体" panose="02010609060101010101" charset="-122"/>
              </a:rPr>
              <a:t>  </a:t>
            </a:r>
            <a:r>
              <a:rPr lang="zh-CN" sz="2400" b="1" i="0" dirty="0">
                <a:latin typeface="楷体" panose="02010609060101010101" charset="-122"/>
                <a:ea typeface="楷体" panose="02010609060101010101" charset="-122"/>
                <a:cs typeface="楷体" panose="02010609060101010101" charset="-122"/>
              </a:rPr>
              <a:t>本研究</a:t>
            </a:r>
            <a:r>
              <a:rPr lang="zh-CN" sz="2400" b="1" i="0" dirty="0">
                <a:solidFill>
                  <a:srgbClr val="FF0000"/>
                </a:solidFill>
                <a:latin typeface="楷体" panose="02010609060101010101" charset="-122"/>
                <a:ea typeface="楷体" panose="02010609060101010101" charset="-122"/>
                <a:cs typeface="楷体" panose="02010609060101010101" charset="-122"/>
              </a:rPr>
              <a:t>首次</a:t>
            </a:r>
            <a:r>
              <a:rPr lang="zh-CN" sz="2400" b="1" i="0" dirty="0">
                <a:latin typeface="楷体" panose="02010609060101010101" charset="-122"/>
                <a:ea typeface="楷体" panose="02010609060101010101" charset="-122"/>
                <a:cs typeface="楷体" panose="02010609060101010101" charset="-122"/>
              </a:rPr>
              <a:t>将随机配置网络(</a:t>
            </a:r>
            <a:r>
              <a:rPr lang="zh-CN" sz="2400" b="1" i="0" dirty="0">
                <a:latin typeface="Times New Roman" panose="02020603050405020304" pitchFamily="18" charset="0"/>
                <a:ea typeface="楷体" panose="02010609060101010101" charset="-122"/>
                <a:cs typeface="Times New Roman" panose="02020603050405020304" pitchFamily="18" charset="0"/>
              </a:rPr>
              <a:t>SCN</a:t>
            </a:r>
            <a:r>
              <a:rPr lang="zh-CN" sz="2400" b="1" i="0" dirty="0">
                <a:latin typeface="楷体" panose="02010609060101010101" charset="-122"/>
                <a:ea typeface="楷体" panose="02010609060101010101" charset="-122"/>
                <a:cs typeface="楷体" panose="02010609060101010101" charset="-122"/>
              </a:rPr>
              <a:t>)在短期海上风电预测中进行应用。此外，为了解决基础(</a:t>
            </a:r>
            <a:r>
              <a:rPr lang="zh-CN" sz="2400" b="1" i="0" dirty="0">
                <a:latin typeface="Times New Roman" panose="02020603050405020304" pitchFamily="18" charset="0"/>
                <a:ea typeface="楷体" panose="02010609060101010101" charset="-122"/>
                <a:cs typeface="Times New Roman" panose="02020603050405020304" pitchFamily="18" charset="0"/>
              </a:rPr>
              <a:t>SCN</a:t>
            </a:r>
            <a:r>
              <a:rPr lang="zh-CN" sz="2400" b="1" i="0" dirty="0">
                <a:latin typeface="楷体" panose="02010609060101010101" charset="-122"/>
                <a:ea typeface="楷体" panose="02010609060101010101" charset="-122"/>
                <a:cs typeface="楷体" panose="02010609060101010101" charset="-122"/>
              </a:rPr>
              <a:t>)模型参数固定的限制，提出了通过采用</a:t>
            </a:r>
            <a:r>
              <a:rPr lang="zh-CN" sz="2400" b="1" i="0" dirty="0">
                <a:latin typeface="Times New Roman" panose="02020603050405020304" pitchFamily="18" charset="0"/>
                <a:ea typeface="楷体" panose="02010609060101010101" charset="-122"/>
                <a:cs typeface="Times New Roman" panose="02020603050405020304" pitchFamily="18" charset="0"/>
              </a:rPr>
              <a:t>KOA</a:t>
            </a:r>
            <a:r>
              <a:rPr lang="zh-CN" sz="2400" b="1" i="0" dirty="0">
                <a:solidFill>
                  <a:srgbClr val="FF0000"/>
                </a:solidFill>
                <a:latin typeface="楷体" panose="02010609060101010101" charset="-122"/>
                <a:ea typeface="楷体" panose="02010609060101010101" charset="-122"/>
                <a:cs typeface="楷体" panose="02010609060101010101" charset="-122"/>
              </a:rPr>
              <a:t>优化尺度因子</a:t>
            </a:r>
            <a:r>
              <a:rPr lang="zh-CN" sz="2400" b="1" i="1" dirty="0">
                <a:solidFill>
                  <a:srgbClr val="FF0000"/>
                </a:solidFill>
                <a:latin typeface="Times New Roman" panose="02020603050405020304" pitchFamily="18" charset="0"/>
                <a:ea typeface="楷体" panose="02010609060101010101" charset="-122"/>
                <a:cs typeface="Times New Roman" panose="02020603050405020304" pitchFamily="18" charset="0"/>
              </a:rPr>
              <a:t>λ</a:t>
            </a:r>
            <a:r>
              <a:rPr lang="zh-CN" sz="2400" b="1" i="0" dirty="0">
                <a:solidFill>
                  <a:schemeClr val="tx1"/>
                </a:solidFill>
                <a:latin typeface="楷体" panose="02010609060101010101" charset="-122"/>
                <a:ea typeface="楷体" panose="02010609060101010101" charset="-122"/>
                <a:cs typeface="楷体" panose="02010609060101010101" charset="-122"/>
              </a:rPr>
              <a:t>和</a:t>
            </a:r>
            <a:r>
              <a:rPr lang="zh-CN" sz="2400" b="1" i="0" dirty="0">
                <a:solidFill>
                  <a:srgbClr val="FF0000"/>
                </a:solidFill>
                <a:latin typeface="楷体" panose="02010609060101010101" charset="-122"/>
                <a:ea typeface="楷体" panose="02010609060101010101" charset="-122"/>
                <a:cs typeface="楷体" panose="02010609060101010101" charset="-122"/>
              </a:rPr>
              <a:t>正则化参数</a:t>
            </a:r>
            <a:r>
              <a:rPr lang="zh-CN" sz="2400" b="1" i="1" dirty="0">
                <a:solidFill>
                  <a:srgbClr val="FF0000"/>
                </a:solidFill>
                <a:latin typeface="Times New Roman" panose="02020603050405020304" pitchFamily="18" charset="0"/>
                <a:ea typeface="楷体" panose="02010609060101010101" charset="-122"/>
                <a:cs typeface="Times New Roman" panose="02020603050405020304" pitchFamily="18" charset="0"/>
              </a:rPr>
              <a:t>r</a:t>
            </a:r>
            <a:r>
              <a:rPr lang="zh-CN" sz="2400" b="1" i="0" dirty="0">
                <a:latin typeface="楷体" panose="02010609060101010101" charset="-122"/>
                <a:ea typeface="楷体" panose="02010609060101010101" charset="-122"/>
                <a:cs typeface="楷体" panose="02010609060101010101" charset="-122"/>
              </a:rPr>
              <a:t>的创新策略。</a:t>
            </a:r>
          </a:p>
        </p:txBody>
      </p:sp>
      <p:pic>
        <p:nvPicPr>
          <p:cNvPr id="19" name="图片 18" descr="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5580" y="1353185"/>
            <a:ext cx="476885" cy="476885"/>
          </a:xfrm>
          <a:prstGeom prst="rect">
            <a:avLst/>
          </a:prstGeom>
        </p:spPr>
      </p:pic>
      <p:pic>
        <p:nvPicPr>
          <p:cNvPr id="22" name="图片 21" descr="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5580" y="5592445"/>
            <a:ext cx="497205" cy="497205"/>
          </a:xfrm>
          <a:prstGeom prst="rect">
            <a:avLst/>
          </a:prstGeom>
        </p:spPr>
      </p:pic>
      <p:pic>
        <p:nvPicPr>
          <p:cNvPr id="20" name="图片 19" descr="2"/>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5580" y="2656205"/>
            <a:ext cx="491490" cy="491490"/>
          </a:xfrm>
          <a:prstGeom prst="rect">
            <a:avLst/>
          </a:prstGeom>
        </p:spPr>
      </p:pic>
      <p:pic>
        <p:nvPicPr>
          <p:cNvPr id="21" name="图片 20" descr="3"/>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95580" y="4137660"/>
            <a:ext cx="493395" cy="493395"/>
          </a:xfrm>
          <a:prstGeom prst="rect">
            <a:avLst/>
          </a:prstGeom>
        </p:spPr>
      </p:pic>
      <p:sp>
        <p:nvSpPr>
          <p:cNvPr id="26" name="矩形 25"/>
          <p:cNvSpPr/>
          <p:nvPr/>
        </p:nvSpPr>
        <p:spPr>
          <a:xfrm>
            <a:off x="1322832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7" name="矩形 26"/>
          <p:cNvSpPr/>
          <p:nvPr/>
        </p:nvSpPr>
        <p:spPr>
          <a:xfrm>
            <a:off x="1322832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8" name="组合 27"/>
          <p:cNvGrpSpPr/>
          <p:nvPr/>
        </p:nvGrpSpPr>
        <p:grpSpPr>
          <a:xfrm>
            <a:off x="-12984480" y="2153285"/>
            <a:ext cx="12192000" cy="2778760"/>
            <a:chOff x="0" y="3391"/>
            <a:chExt cx="19200" cy="4376"/>
          </a:xfrm>
        </p:grpSpPr>
        <p:sp>
          <p:nvSpPr>
            <p:cNvPr id="29"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30" name="文本框 29"/>
            <p:cNvSpPr txBox="1"/>
            <p:nvPr/>
          </p:nvSpPr>
          <p:spPr>
            <a:xfrm>
              <a:off x="3010" y="6017"/>
              <a:ext cx="2361" cy="580"/>
            </a:xfrm>
            <a:prstGeom prst="rect">
              <a:avLst/>
            </a:prstGeom>
            <a:noFill/>
          </p:spPr>
          <p:txBody>
            <a:bodyPr wrap="none" rtlCol="0">
              <a:spAutoFit/>
            </a:bodyPr>
            <a:lstStyle/>
            <a:p>
              <a:r>
                <a:rPr lang="en-US" altLang="zh-CN"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FOUR</a:t>
              </a:r>
            </a:p>
          </p:txBody>
        </p:sp>
        <p:sp>
          <p:nvSpPr>
            <p:cNvPr id="31" name="文本框 30"/>
            <p:cNvSpPr txBox="1"/>
            <p:nvPr/>
          </p:nvSpPr>
          <p:spPr>
            <a:xfrm>
              <a:off x="7699" y="4686"/>
              <a:ext cx="1108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可行性分析与预期结果</a:t>
              </a:r>
            </a:p>
          </p:txBody>
        </p:sp>
        <p:sp>
          <p:nvSpPr>
            <p:cNvPr id="32" name="文本框 31"/>
            <p:cNvSpPr txBox="1"/>
            <p:nvPr/>
          </p:nvSpPr>
          <p:spPr>
            <a:xfrm>
              <a:off x="3277" y="4133"/>
              <a:ext cx="2068" cy="2082"/>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04</a:t>
              </a:r>
            </a:p>
          </p:txBody>
        </p:sp>
        <p:pic>
          <p:nvPicPr>
            <p:cNvPr id="33" name="图片 9"/>
            <p:cNvPicPr>
              <a:picLocks noChangeAspect="1"/>
            </p:cNvPicPr>
            <p:nvPr>
              <p:custDataLst>
                <p:tags r:id="rId1"/>
              </p:custDataLst>
            </p:nvPr>
          </p:nvPicPr>
          <p:blipFill>
            <a:blip r:embed="rId13"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椭圆 33"/>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a:xfrm>
            <a:off x="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6" name="组合 5"/>
          <p:cNvGrpSpPr/>
          <p:nvPr/>
        </p:nvGrpSpPr>
        <p:grpSpPr>
          <a:xfrm>
            <a:off x="0" y="2153285"/>
            <a:ext cx="12192000" cy="2778760"/>
            <a:chOff x="0" y="3391"/>
            <a:chExt cx="19200" cy="4376"/>
          </a:xfrm>
        </p:grpSpPr>
        <p:sp>
          <p:nvSpPr>
            <p:cNvPr id="16"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18" name="文本框 17"/>
            <p:cNvSpPr txBox="1"/>
            <p:nvPr/>
          </p:nvSpPr>
          <p:spPr>
            <a:xfrm>
              <a:off x="3010" y="6017"/>
              <a:ext cx="2361" cy="580"/>
            </a:xfrm>
            <a:prstGeom prst="rect">
              <a:avLst/>
            </a:prstGeom>
            <a:noFill/>
          </p:spPr>
          <p:txBody>
            <a:bodyPr wrap="none" rtlCol="0">
              <a:spAutoFit/>
            </a:bodyPr>
            <a:lstStyle/>
            <a:p>
              <a:r>
                <a:rPr lang="en-US" altLang="zh-CN"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FOUR</a:t>
              </a:r>
            </a:p>
          </p:txBody>
        </p:sp>
        <p:sp>
          <p:nvSpPr>
            <p:cNvPr id="14" name="文本框 13"/>
            <p:cNvSpPr txBox="1"/>
            <p:nvPr/>
          </p:nvSpPr>
          <p:spPr>
            <a:xfrm>
              <a:off x="6787" y="4686"/>
              <a:ext cx="1108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可行性分析与预期结果</a:t>
              </a:r>
            </a:p>
          </p:txBody>
        </p:sp>
        <p:sp>
          <p:nvSpPr>
            <p:cNvPr id="23" name="文本框 22"/>
            <p:cNvSpPr txBox="1"/>
            <p:nvPr/>
          </p:nvSpPr>
          <p:spPr>
            <a:xfrm>
              <a:off x="3277" y="4133"/>
              <a:ext cx="2068" cy="2082"/>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04</a:t>
              </a:r>
            </a:p>
          </p:txBody>
        </p:sp>
        <p:pic>
          <p:nvPicPr>
            <p:cNvPr id="5" name="图片 9"/>
            <p:cNvPicPr>
              <a:picLocks noChangeAspect="1"/>
            </p:cNvPicPr>
            <p:nvPr>
              <p:custDataLst>
                <p:tags r:id="rId1"/>
              </p:custDataLst>
            </p:nvPr>
          </p:nvPicPr>
          <p:blipFill>
            <a:blip r:embed="rId3"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圆角矩形 12"/>
          <p:cNvSpPr/>
          <p:nvPr/>
        </p:nvSpPr>
        <p:spPr>
          <a:xfrm>
            <a:off x="729615" y="1435100"/>
            <a:ext cx="11200130" cy="801370"/>
          </a:xfrm>
          <a:prstGeom prst="roundRect">
            <a:avLst/>
          </a:prstGeom>
          <a:noFill/>
          <a:ln w="28575">
            <a:solidFill>
              <a:schemeClr val="accent1"/>
            </a:solidFill>
            <a:prstDash val="dash"/>
          </a:ln>
          <a:effectLst/>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14" name="矩形 13"/>
          <p:cNvSpPr/>
          <p:nvPr/>
        </p:nvSpPr>
        <p:spPr>
          <a:xfrm>
            <a:off x="-13037820" y="0"/>
            <a:ext cx="12192000" cy="215328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矩形 14"/>
          <p:cNvSpPr/>
          <p:nvPr/>
        </p:nvSpPr>
        <p:spPr>
          <a:xfrm>
            <a:off x="-13037820" y="4932680"/>
            <a:ext cx="12192000" cy="192532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16" name="组合 15"/>
          <p:cNvGrpSpPr/>
          <p:nvPr/>
        </p:nvGrpSpPr>
        <p:grpSpPr>
          <a:xfrm>
            <a:off x="12893040" y="2153285"/>
            <a:ext cx="12192000" cy="2778760"/>
            <a:chOff x="0" y="3391"/>
            <a:chExt cx="19200" cy="4376"/>
          </a:xfrm>
        </p:grpSpPr>
        <p:sp>
          <p:nvSpPr>
            <p:cNvPr id="17" name="任意多边形: 形状 15"/>
            <p:cNvSpPr/>
            <p:nvPr/>
          </p:nvSpPr>
          <p:spPr>
            <a:xfrm>
              <a:off x="3008" y="3538"/>
              <a:ext cx="4083" cy="4083"/>
            </a:xfrm>
            <a:custGeom>
              <a:avLst/>
              <a:gdLst>
                <a:gd name="connsiteX0" fmla="*/ 1469984 w 2939968"/>
                <a:gd name="connsiteY0" fmla="*/ 0 h 2939968"/>
                <a:gd name="connsiteX1" fmla="*/ 2939968 w 2939968"/>
                <a:gd name="connsiteY1" fmla="*/ 1469984 h 2939968"/>
                <a:gd name="connsiteX2" fmla="*/ 1469984 w 2939968"/>
                <a:gd name="connsiteY2" fmla="*/ 2939968 h 2939968"/>
                <a:gd name="connsiteX3" fmla="*/ 0 w 2939968"/>
                <a:gd name="connsiteY3" fmla="*/ 1469984 h 2939968"/>
                <a:gd name="connsiteX4" fmla="*/ 1469984 w 2939968"/>
                <a:gd name="connsiteY4" fmla="*/ 0 h 2939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968" h="2939968">
                  <a:moveTo>
                    <a:pt x="1469984" y="0"/>
                  </a:moveTo>
                  <a:cubicBezTo>
                    <a:pt x="2281834" y="0"/>
                    <a:pt x="2939968" y="658134"/>
                    <a:pt x="2939968" y="1469984"/>
                  </a:cubicBezTo>
                  <a:cubicBezTo>
                    <a:pt x="2939968" y="2281834"/>
                    <a:pt x="2281834" y="2939968"/>
                    <a:pt x="1469984" y="2939968"/>
                  </a:cubicBezTo>
                  <a:cubicBezTo>
                    <a:pt x="658134" y="2939968"/>
                    <a:pt x="0" y="2281834"/>
                    <a:pt x="0" y="1469984"/>
                  </a:cubicBezTo>
                  <a:cubicBezTo>
                    <a:pt x="0" y="658134"/>
                    <a:pt x="658134" y="0"/>
                    <a:pt x="1469984" y="0"/>
                  </a:cubicBezTo>
                  <a:close/>
                </a:path>
              </a:pathLst>
            </a:cu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微软雅黑" panose="020B0503020204020204" charset="-122"/>
                <a:sym typeface="Arial" panose="020B0604020202020204" pitchFamily="34" charset="0"/>
              </a:endParaRPr>
            </a:p>
          </p:txBody>
        </p:sp>
        <p:sp>
          <p:nvSpPr>
            <p:cNvPr id="23" name="文本框 22"/>
            <p:cNvSpPr txBox="1"/>
            <p:nvPr/>
          </p:nvSpPr>
          <p:spPr>
            <a:xfrm>
              <a:off x="3010" y="6017"/>
              <a:ext cx="2361" cy="580"/>
            </a:xfrm>
            <a:prstGeom prst="rect">
              <a:avLst/>
            </a:prstGeom>
            <a:noFill/>
          </p:spPr>
          <p:txBody>
            <a:bodyPr wrap="none" rtlCol="0">
              <a:spAutoFit/>
            </a:bodyPr>
            <a:lstStyle/>
            <a:p>
              <a:r>
                <a:rPr lang="en-US" altLang="zh-CN"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PART FOUR</a:t>
              </a:r>
            </a:p>
          </p:txBody>
        </p:sp>
        <p:sp>
          <p:nvSpPr>
            <p:cNvPr id="24" name="文本框 23"/>
            <p:cNvSpPr txBox="1"/>
            <p:nvPr/>
          </p:nvSpPr>
          <p:spPr>
            <a:xfrm>
              <a:off x="6787" y="4686"/>
              <a:ext cx="11088" cy="1452"/>
            </a:xfrm>
            <a:prstGeom prst="rect">
              <a:avLst/>
            </a:prstGeom>
            <a:noFill/>
          </p:spPr>
          <p:txBody>
            <a:bodyPr wrap="none" rtlCol="0">
              <a:spAutoFit/>
            </a:bodyPr>
            <a:lstStyle/>
            <a:p>
              <a:r>
                <a:rPr lang="zh-CN" altLang="en-US" sz="5400" b="1" dirty="0">
                  <a:solidFill>
                    <a:schemeClr val="tx1"/>
                  </a:solidFill>
                  <a:latin typeface="Arial" panose="020B0604020202020204" pitchFamily="34" charset="0"/>
                  <a:ea typeface="微软雅黑" panose="020B0503020204020204" charset="-122"/>
                  <a:sym typeface="Arial" panose="020B0604020202020204" pitchFamily="34" charset="0"/>
                </a:rPr>
                <a:t>可行性分析与预期结果</a:t>
              </a:r>
            </a:p>
          </p:txBody>
        </p:sp>
        <p:sp>
          <p:nvSpPr>
            <p:cNvPr id="25" name="文本框 24"/>
            <p:cNvSpPr txBox="1"/>
            <p:nvPr/>
          </p:nvSpPr>
          <p:spPr>
            <a:xfrm>
              <a:off x="3277" y="4133"/>
              <a:ext cx="2068" cy="2082"/>
            </a:xfrm>
            <a:prstGeom prst="rect">
              <a:avLst/>
            </a:prstGeom>
            <a:noFill/>
          </p:spPr>
          <p:txBody>
            <a:bodyPr wrap="none" rtlCol="0">
              <a:spAutoFit/>
            </a:bodyPr>
            <a:lstStyle/>
            <a:p>
              <a:r>
                <a:rPr lang="en-US" altLang="zh-CN" sz="8000" b="1" dirty="0">
                  <a:solidFill>
                    <a:schemeClr val="accent6">
                      <a:lumMod val="75000"/>
                    </a:schemeClr>
                  </a:solidFill>
                  <a:latin typeface="Arial" panose="020B0604020202020204" pitchFamily="34" charset="0"/>
                  <a:ea typeface="微软雅黑" panose="020B0503020204020204" charset="-122"/>
                  <a:sym typeface="Arial" panose="020B0604020202020204" pitchFamily="34" charset="0"/>
                </a:rPr>
                <a:t>04</a:t>
              </a:r>
            </a:p>
          </p:txBody>
        </p:sp>
        <p:pic>
          <p:nvPicPr>
            <p:cNvPr id="35" name="图片 9"/>
            <p:cNvPicPr>
              <a:picLocks noChangeAspect="1"/>
            </p:cNvPicPr>
            <p:nvPr>
              <p:custDataLst>
                <p:tags r:id="rId1"/>
              </p:custDataLst>
            </p:nvPr>
          </p:nvPicPr>
          <p:blipFill>
            <a:blip r:embed="rId4" cstate="print">
              <a:alphaModFix amt="25000"/>
            </a:blip>
            <a:srcRect t="36440" b="5407"/>
            <a:stretch>
              <a:fillRect/>
            </a:stretch>
          </p:blipFill>
          <p:spPr bwMode="auto">
            <a:xfrm>
              <a:off x="0" y="3391"/>
              <a:ext cx="19200" cy="4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椭圆 35"/>
            <p:cNvSpPr/>
            <p:nvPr/>
          </p:nvSpPr>
          <p:spPr>
            <a:xfrm>
              <a:off x="2591" y="3821"/>
              <a:ext cx="3437" cy="3437"/>
            </a:xfrm>
            <a:prstGeom prst="ellipse">
              <a:avLst/>
            </a:prstGeom>
            <a:noFill/>
            <a:ln w="28575">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37" name="图片 36"/>
          <p:cNvPicPr>
            <a:picLocks noChangeAspect="1"/>
          </p:cNvPicPr>
          <p:nvPr/>
        </p:nvPicPr>
        <p:blipFill>
          <a:blip r:embed="rId5"/>
          <a:srcRect b="8786"/>
          <a:stretch>
            <a:fillRect/>
          </a:stretch>
        </p:blipFill>
        <p:spPr>
          <a:xfrm>
            <a:off x="4445" y="811530"/>
            <a:ext cx="770255" cy="717550"/>
          </a:xfrm>
          <a:prstGeom prst="rect">
            <a:avLst/>
          </a:prstGeom>
        </p:spPr>
      </p:pic>
      <p:pic>
        <p:nvPicPr>
          <p:cNvPr id="38" name="图片 37"/>
          <p:cNvPicPr>
            <a:picLocks noChangeAspect="1"/>
          </p:cNvPicPr>
          <p:nvPr/>
        </p:nvPicPr>
        <p:blipFill>
          <a:blip r:embed="rId6"/>
          <a:stretch>
            <a:fillRect/>
          </a:stretch>
        </p:blipFill>
        <p:spPr>
          <a:xfrm>
            <a:off x="8376920" y="-7620"/>
            <a:ext cx="3823970" cy="887730"/>
          </a:xfrm>
          <a:prstGeom prst="rect">
            <a:avLst/>
          </a:prstGeom>
        </p:spPr>
      </p:pic>
      <p:sp>
        <p:nvSpPr>
          <p:cNvPr id="39" name="矩形 38"/>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Rectangle 2"/>
          <p:cNvSpPr>
            <a:spLocks noGrp="1" noChangeArrowheads="1"/>
          </p:cNvSpPr>
          <p:nvPr/>
        </p:nvSpPr>
        <p:spPr>
          <a:xfrm>
            <a:off x="140335" y="5715"/>
            <a:ext cx="3286125"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4.1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可行性分析</a:t>
            </a:r>
          </a:p>
        </p:txBody>
      </p:sp>
      <p:sp>
        <p:nvSpPr>
          <p:cNvPr id="42" name="文本框 41"/>
          <p:cNvSpPr txBox="1"/>
          <p:nvPr/>
        </p:nvSpPr>
        <p:spPr>
          <a:xfrm>
            <a:off x="784860" y="978535"/>
            <a:ext cx="4072255" cy="398780"/>
          </a:xfrm>
          <a:prstGeom prst="rect">
            <a:avLst/>
          </a:prstGeom>
          <a:noFill/>
        </p:spPr>
        <p:txBody>
          <a:bodyPr wrap="square" rtlCol="0" anchor="t">
            <a:spAutoFit/>
          </a:bodyPr>
          <a:lstStyle/>
          <a:p>
            <a:r>
              <a:rPr lang="en-US" altLang="zh-CN" sz="2000" b="1">
                <a:solidFill>
                  <a:schemeClr val="accent6">
                    <a:lumMod val="75000"/>
                  </a:schemeClr>
                </a:solidFill>
                <a:latin typeface="楷体" panose="02010609060101010101" charset="-122"/>
                <a:ea typeface="楷体" panose="02010609060101010101" charset="-122"/>
              </a:rPr>
              <a:t>4.1 </a:t>
            </a:r>
            <a:r>
              <a:rPr lang="zh-CN" altLang="en-US" sz="2000" b="1">
                <a:solidFill>
                  <a:schemeClr val="accent6">
                    <a:lumMod val="75000"/>
                  </a:schemeClr>
                </a:solidFill>
                <a:latin typeface="楷体" panose="02010609060101010101" charset="-122"/>
                <a:ea typeface="楷体" panose="02010609060101010101" charset="-122"/>
              </a:rPr>
              <a:t>理论与研究方法的可行性分析</a:t>
            </a:r>
          </a:p>
        </p:txBody>
      </p:sp>
      <p:sp>
        <p:nvSpPr>
          <p:cNvPr id="43" name="文本框 42"/>
          <p:cNvSpPr txBox="1"/>
          <p:nvPr/>
        </p:nvSpPr>
        <p:spPr>
          <a:xfrm>
            <a:off x="815340" y="1452245"/>
            <a:ext cx="11235055" cy="829945"/>
          </a:xfrm>
          <a:prstGeom prst="rect">
            <a:avLst/>
          </a:prstGeom>
          <a:noFill/>
        </p:spPr>
        <p:txBody>
          <a:bodyPr wrap="square" rtlCol="0">
            <a:spAutoFit/>
          </a:bodyPr>
          <a:lstStyle/>
          <a:p>
            <a:r>
              <a:rPr lang="zh-CN" sz="2400" b="1" dirty="0">
                <a:latin typeface="楷体" panose="02010609060101010101" charset="-122"/>
                <a:ea typeface="楷体" panose="02010609060101010101" charset="-122"/>
                <a:cs typeface="楷体" panose="02010609060101010101" charset="-122"/>
              </a:rPr>
              <a:t>现实意义方面：本研究利用先进技术的优势，更好地</a:t>
            </a:r>
            <a:r>
              <a:rPr lang="zh-CN" sz="2400" b="1" dirty="0">
                <a:solidFill>
                  <a:srgbClr val="FF0000"/>
                </a:solidFill>
                <a:latin typeface="楷体" panose="02010609060101010101" charset="-122"/>
                <a:ea typeface="楷体" panose="02010609060101010101" charset="-122"/>
                <a:cs typeface="楷体" panose="02010609060101010101" charset="-122"/>
              </a:rPr>
              <a:t>处理复杂的非线性环境因素</a:t>
            </a:r>
          </a:p>
          <a:p>
            <a:r>
              <a:rPr lang="zh-CN" sz="2400" b="1" dirty="0">
                <a:solidFill>
                  <a:srgbClr val="FF0000"/>
                </a:solidFill>
                <a:latin typeface="楷体" panose="02010609060101010101" charset="-122"/>
                <a:ea typeface="楷体" panose="02010609060101010101" charset="-122"/>
                <a:cs typeface="楷体" panose="02010609060101010101" charset="-122"/>
              </a:rPr>
              <a:t>和风电出力动态变化的关系</a:t>
            </a:r>
            <a:r>
              <a:rPr lang="zh-CN" sz="2400" b="1" dirty="0">
                <a:latin typeface="楷体" panose="02010609060101010101" charset="-122"/>
                <a:ea typeface="楷体" panose="02010609060101010101" charset="-122"/>
                <a:cs typeface="楷体" panose="02010609060101010101" charset="-122"/>
              </a:rPr>
              <a:t>，从而显著提高风电功率预测的准确性。</a:t>
            </a:r>
          </a:p>
        </p:txBody>
      </p:sp>
      <p:sp>
        <p:nvSpPr>
          <p:cNvPr id="44" name="文本框 43"/>
          <p:cNvSpPr txBox="1"/>
          <p:nvPr/>
        </p:nvSpPr>
        <p:spPr>
          <a:xfrm>
            <a:off x="815340" y="2388235"/>
            <a:ext cx="11144885" cy="1198880"/>
          </a:xfrm>
          <a:prstGeom prst="rect">
            <a:avLst/>
          </a:prstGeom>
          <a:noFill/>
        </p:spPr>
        <p:txBody>
          <a:bodyPr wrap="square" rtlCol="0">
            <a:spAutoFit/>
          </a:bodyPr>
          <a:lstStyle/>
          <a:p>
            <a:pPr algn="l">
              <a:buClrTx/>
              <a:buSzTx/>
              <a:buFontTx/>
            </a:pPr>
            <a:r>
              <a:rPr lang="zh-CN" sz="2400" b="1" dirty="0">
                <a:latin typeface="楷体" panose="02010609060101010101" charset="-122"/>
                <a:ea typeface="楷体" panose="02010609060101010101" charset="-122"/>
                <a:cs typeface="楷体" panose="02010609060101010101" charset="-122"/>
              </a:rPr>
              <a:t>数据方面：在数据方面，已经收集了新疆某地区</a:t>
            </a:r>
            <a:r>
              <a:rPr lang="zh-CN" sz="2400" b="1" dirty="0">
                <a:solidFill>
                  <a:srgbClr val="FF0000"/>
                </a:solidFill>
                <a:latin typeface="楷体" panose="02010609060101010101" charset="-122"/>
                <a:ea typeface="楷体" panose="02010609060101010101" charset="-122"/>
                <a:cs typeface="楷体" panose="02010609060101010101" charset="-122"/>
              </a:rPr>
              <a:t>内陆风电场</a:t>
            </a:r>
            <a:r>
              <a:rPr lang="zh-CN" sz="2400" b="1" dirty="0">
                <a:latin typeface="楷体" panose="02010609060101010101" charset="-122"/>
                <a:ea typeface="楷体" panose="02010609060101010101" charset="-122"/>
                <a:cs typeface="楷体" panose="02010609060101010101" charset="-122"/>
              </a:rPr>
              <a:t>和福建沿海地区某</a:t>
            </a:r>
            <a:r>
              <a:rPr lang="zh-CN" sz="2400" b="1" dirty="0">
                <a:solidFill>
                  <a:srgbClr val="FF0000"/>
                </a:solidFill>
                <a:latin typeface="楷体" panose="02010609060101010101" charset="-122"/>
                <a:ea typeface="楷体" panose="02010609060101010101" charset="-122"/>
                <a:cs typeface="楷体" panose="02010609060101010101" charset="-122"/>
              </a:rPr>
              <a:t>海上风电场</a:t>
            </a:r>
            <a:r>
              <a:rPr lang="zh-CN" sz="2400" b="1" dirty="0">
                <a:latin typeface="楷体" panose="02010609060101010101" charset="-122"/>
                <a:ea typeface="楷体" panose="02010609060101010101" charset="-122"/>
                <a:cs typeface="楷体" panose="02010609060101010101" charset="-122"/>
              </a:rPr>
              <a:t>一年内的风电功率及气象数据。这些数据涵盖了风速、风向、气温、气压等关键气象因素，以及风电功率的实际输出。</a:t>
            </a:r>
          </a:p>
        </p:txBody>
      </p:sp>
      <p:sp>
        <p:nvSpPr>
          <p:cNvPr id="45" name="文本框 44"/>
          <p:cNvSpPr txBox="1"/>
          <p:nvPr/>
        </p:nvSpPr>
        <p:spPr>
          <a:xfrm>
            <a:off x="815340" y="3703320"/>
            <a:ext cx="11126470" cy="1568450"/>
          </a:xfrm>
          <a:prstGeom prst="rect">
            <a:avLst/>
          </a:prstGeom>
          <a:noFill/>
        </p:spPr>
        <p:txBody>
          <a:bodyPr wrap="square" rtlCol="0">
            <a:spAutoFit/>
          </a:bodyPr>
          <a:lstStyle/>
          <a:p>
            <a:r>
              <a:rPr lang="zh-CN" sz="2400" b="1" dirty="0">
                <a:latin typeface="楷体" panose="02010609060101010101" charset="-122"/>
                <a:ea typeface="楷体" panose="02010609060101010101" charset="-122"/>
                <a:cs typeface="楷体" panose="02010609060101010101" charset="-122"/>
              </a:rPr>
              <a:t>理论方面：通过查阅大量国内外风电功率预测领域的文献和资料，掌握了一些基本方法。包括传统的</a:t>
            </a:r>
            <a:r>
              <a:rPr lang="zh-CN" sz="2400" b="1" dirty="0">
                <a:solidFill>
                  <a:srgbClr val="FF0000"/>
                </a:solidFill>
                <a:latin typeface="楷体" panose="02010609060101010101" charset="-122"/>
                <a:ea typeface="楷体" panose="02010609060101010101" charset="-122"/>
                <a:cs typeface="楷体" panose="02010609060101010101" charset="-122"/>
              </a:rPr>
              <a:t>统计方法、时间序列分析、数据预处理方法、以及现代的机器学习算法</a:t>
            </a:r>
            <a:r>
              <a:rPr lang="zh-CN" sz="2400" b="1" dirty="0">
                <a:latin typeface="楷体" panose="02010609060101010101" charset="-122"/>
                <a:ea typeface="楷体" panose="02010609060101010101" charset="-122"/>
                <a:cs typeface="楷体" panose="02010609060101010101" charset="-122"/>
              </a:rPr>
              <a:t>等。当前风电预测领域的研究正在逐渐向智能优化算法和神经网络模型发展，这些方法在提高预测精度和处理复杂数据方面展现了显著优势。</a:t>
            </a:r>
          </a:p>
        </p:txBody>
      </p:sp>
      <p:sp>
        <p:nvSpPr>
          <p:cNvPr id="46" name="文本框 45"/>
          <p:cNvSpPr txBox="1"/>
          <p:nvPr/>
        </p:nvSpPr>
        <p:spPr>
          <a:xfrm>
            <a:off x="815340" y="5414645"/>
            <a:ext cx="11126470" cy="1198880"/>
          </a:xfrm>
          <a:prstGeom prst="rect">
            <a:avLst/>
          </a:prstGeom>
          <a:noFill/>
        </p:spPr>
        <p:txBody>
          <a:bodyPr wrap="square" rtlCol="0">
            <a:spAutoFit/>
          </a:bodyPr>
          <a:lstStyle/>
          <a:p>
            <a:r>
              <a:rPr lang="zh-CN" sz="2400" b="1" dirty="0">
                <a:latin typeface="楷体" panose="02010609060101010101" charset="-122"/>
                <a:ea typeface="楷体" panose="02010609060101010101" charset="-122"/>
                <a:cs typeface="楷体" panose="02010609060101010101" charset="-122"/>
              </a:rPr>
              <a:t>研究方法方面：本实验涉及到的智能优化算法、二次模态分解方法、随机配置网络以及数据预处理方法均具有很强的科学依据。该预测模型</a:t>
            </a:r>
            <a:r>
              <a:rPr lang="zh-CN" sz="2400" b="1" dirty="0">
                <a:solidFill>
                  <a:srgbClr val="FF0000"/>
                </a:solidFill>
                <a:latin typeface="楷体" panose="02010609060101010101" charset="-122"/>
                <a:ea typeface="楷体" panose="02010609060101010101" charset="-122"/>
                <a:cs typeface="楷体" panose="02010609060101010101" charset="-122"/>
              </a:rPr>
              <a:t>已经</a:t>
            </a:r>
            <a:r>
              <a:rPr lang="zh-CN" sz="2400" b="1" dirty="0">
                <a:latin typeface="楷体" panose="02010609060101010101" charset="-122"/>
                <a:ea typeface="楷体" panose="02010609060101010101" charset="-122"/>
                <a:cs typeface="楷体" panose="02010609060101010101" charset="-122"/>
              </a:rPr>
              <a:t>在MATLAB平台上</a:t>
            </a:r>
            <a:r>
              <a:rPr lang="zh-CN" sz="2400" b="1" dirty="0">
                <a:solidFill>
                  <a:srgbClr val="FF0000"/>
                </a:solidFill>
                <a:latin typeface="楷体" panose="02010609060101010101" charset="-122"/>
                <a:ea typeface="楷体" panose="02010609060101010101" charset="-122"/>
                <a:cs typeface="楷体" panose="02010609060101010101" charset="-122"/>
              </a:rPr>
              <a:t>得到了初步实现</a:t>
            </a:r>
            <a:r>
              <a:rPr lang="zh-CN" sz="2400" b="1" dirty="0">
                <a:latin typeface="楷体" panose="02010609060101010101" charset="-122"/>
                <a:ea typeface="楷体" panose="02010609060101010101" charset="-122"/>
                <a:cs typeface="楷体" panose="02010609060101010101" charset="-122"/>
              </a:rPr>
              <a:t>，并且</a:t>
            </a:r>
            <a:r>
              <a:rPr lang="zh-CN" sz="2400" b="1" dirty="0">
                <a:solidFill>
                  <a:srgbClr val="FF0000"/>
                </a:solidFill>
                <a:latin typeface="楷体" panose="02010609060101010101" charset="-122"/>
                <a:ea typeface="楷体" panose="02010609060101010101" charset="-122"/>
                <a:cs typeface="楷体" panose="02010609060101010101" charset="-122"/>
              </a:rPr>
              <a:t>取得了一定的成果</a:t>
            </a:r>
            <a:r>
              <a:rPr lang="zh-CN" sz="2400" b="1" dirty="0">
                <a:latin typeface="楷体" panose="02010609060101010101" charset="-122"/>
                <a:ea typeface="楷体" panose="02010609060101010101" charset="-122"/>
                <a:cs typeface="楷体" panose="02010609060101010101" charset="-122"/>
              </a:rPr>
              <a:t>。</a:t>
            </a:r>
          </a:p>
        </p:txBody>
      </p:sp>
      <p:pic>
        <p:nvPicPr>
          <p:cNvPr id="47" name="图片 46" descr="32313534353139323b32313534353234303bcafdd7d631"/>
          <p:cNvPicPr>
            <a:picLocks noChangeAspect="1"/>
          </p:cNvPicPr>
          <p:nvPr/>
        </p:nvPicPr>
        <p:blipFill>
          <a:blip r:embed="rId7"/>
          <a:stretch>
            <a:fillRect/>
          </a:stretch>
        </p:blipFill>
        <p:spPr>
          <a:xfrm>
            <a:off x="140335" y="1576705"/>
            <a:ext cx="450850" cy="450850"/>
          </a:xfrm>
          <a:prstGeom prst="rect">
            <a:avLst/>
          </a:prstGeom>
        </p:spPr>
      </p:pic>
      <p:pic>
        <p:nvPicPr>
          <p:cNvPr id="48" name="图片 47" descr="32313534353139323b32313534353234323bcafdd7d632"/>
          <p:cNvPicPr>
            <a:picLocks noChangeAspect="1"/>
          </p:cNvPicPr>
          <p:nvPr/>
        </p:nvPicPr>
        <p:blipFill>
          <a:blip r:embed="rId8"/>
          <a:stretch>
            <a:fillRect/>
          </a:stretch>
        </p:blipFill>
        <p:spPr>
          <a:xfrm>
            <a:off x="124460" y="2771140"/>
            <a:ext cx="462280" cy="462280"/>
          </a:xfrm>
          <a:prstGeom prst="rect">
            <a:avLst/>
          </a:prstGeom>
        </p:spPr>
      </p:pic>
      <p:pic>
        <p:nvPicPr>
          <p:cNvPr id="49" name="图片 48" descr="32313534353139323b32313534353234343bcafdd7d633"/>
          <p:cNvPicPr>
            <a:picLocks noChangeAspect="1"/>
          </p:cNvPicPr>
          <p:nvPr/>
        </p:nvPicPr>
        <p:blipFill>
          <a:blip r:embed="rId9"/>
          <a:stretch>
            <a:fillRect/>
          </a:stretch>
        </p:blipFill>
        <p:spPr>
          <a:xfrm>
            <a:off x="140335" y="4217670"/>
            <a:ext cx="450850" cy="450850"/>
          </a:xfrm>
          <a:prstGeom prst="rect">
            <a:avLst/>
          </a:prstGeom>
        </p:spPr>
      </p:pic>
      <p:pic>
        <p:nvPicPr>
          <p:cNvPr id="50" name="图片 49" descr="32313534353139323b32313534353234363bcafdd7d634"/>
          <p:cNvPicPr>
            <a:picLocks noChangeAspect="1"/>
          </p:cNvPicPr>
          <p:nvPr/>
        </p:nvPicPr>
        <p:blipFill>
          <a:blip r:embed="rId10"/>
          <a:stretch>
            <a:fillRect/>
          </a:stretch>
        </p:blipFill>
        <p:spPr>
          <a:xfrm>
            <a:off x="156210" y="5753100"/>
            <a:ext cx="434975" cy="434975"/>
          </a:xfrm>
          <a:prstGeom prst="rect">
            <a:avLst/>
          </a:prstGeom>
        </p:spPr>
      </p:pic>
      <p:sp>
        <p:nvSpPr>
          <p:cNvPr id="51" name="圆角矩形 50"/>
          <p:cNvSpPr/>
          <p:nvPr/>
        </p:nvSpPr>
        <p:spPr>
          <a:xfrm>
            <a:off x="711200" y="2387600"/>
            <a:ext cx="11200130" cy="1198880"/>
          </a:xfrm>
          <a:prstGeom prst="roundRect">
            <a:avLst/>
          </a:prstGeom>
          <a:noFill/>
          <a:ln w="28575">
            <a:solidFill>
              <a:schemeClr val="accent2"/>
            </a:solidFill>
            <a:prstDash val="dash"/>
          </a:ln>
          <a:effectLst/>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52" name="圆角矩形 51"/>
          <p:cNvSpPr/>
          <p:nvPr/>
        </p:nvSpPr>
        <p:spPr>
          <a:xfrm>
            <a:off x="711200" y="3728720"/>
            <a:ext cx="11200130" cy="1530350"/>
          </a:xfrm>
          <a:prstGeom prst="roundRect">
            <a:avLst/>
          </a:prstGeom>
          <a:noFill/>
          <a:ln w="28575">
            <a:solidFill>
              <a:srgbClr val="7030A0"/>
            </a:solidFill>
            <a:prstDash val="dash"/>
          </a:ln>
          <a:effectLst/>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53" name="圆角矩形 52"/>
          <p:cNvSpPr/>
          <p:nvPr/>
        </p:nvSpPr>
        <p:spPr>
          <a:xfrm>
            <a:off x="711200" y="5424170"/>
            <a:ext cx="11200130" cy="1123950"/>
          </a:xfrm>
          <a:prstGeom prst="roundRect">
            <a:avLst/>
          </a:prstGeom>
          <a:noFill/>
          <a:ln w="28575">
            <a:solidFill>
              <a:schemeClr val="accent6"/>
            </a:solidFill>
            <a:prstDash val="dash"/>
          </a:ln>
          <a:effectLst/>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sym typeface="+mn-ea"/>
            </a:endParaRPr>
          </a:p>
        </p:txBody>
      </p:sp>
      <p:sp>
        <p:nvSpPr>
          <p:cNvPr id="54" name="燕尾形 53"/>
          <p:cNvSpPr/>
          <p:nvPr/>
        </p:nvSpPr>
        <p:spPr>
          <a:xfrm>
            <a:off x="9806940" y="946150"/>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55" name="燕尾形 54"/>
          <p:cNvSpPr/>
          <p:nvPr/>
        </p:nvSpPr>
        <p:spPr>
          <a:xfrm>
            <a:off x="10081895" y="946150"/>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56" name="燕尾形 55"/>
          <p:cNvSpPr/>
          <p:nvPr/>
        </p:nvSpPr>
        <p:spPr>
          <a:xfrm>
            <a:off x="10337165" y="946150"/>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57" name="燕尾形 56"/>
          <p:cNvSpPr/>
          <p:nvPr/>
        </p:nvSpPr>
        <p:spPr>
          <a:xfrm>
            <a:off x="10621010" y="946150"/>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58" name="KSO_Shape"/>
          <p:cNvSpPr/>
          <p:nvPr/>
        </p:nvSpPr>
        <p:spPr bwMode="auto">
          <a:xfrm>
            <a:off x="10926445" y="932815"/>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圆角矩形 17"/>
          <p:cNvSpPr/>
          <p:nvPr>
            <p:custDataLst>
              <p:tags r:id="rId1"/>
            </p:custDataLst>
          </p:nvPr>
        </p:nvSpPr>
        <p:spPr>
          <a:xfrm>
            <a:off x="240665" y="5646420"/>
            <a:ext cx="5539740" cy="801370"/>
          </a:xfrm>
          <a:prstGeom prst="roundRect">
            <a:avLst/>
          </a:prstGeom>
          <a:noFill/>
          <a:ln>
            <a:solidFill>
              <a:schemeClr val="accent5"/>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2">
                    <a:lumMod val="40000"/>
                    <a:lumOff val="6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38" name="图片 37"/>
          <p:cNvPicPr>
            <a:picLocks noChangeAspect="1"/>
          </p:cNvPicPr>
          <p:nvPr/>
        </p:nvPicPr>
        <p:blipFill>
          <a:blip r:embed="rId12"/>
          <a:stretch>
            <a:fillRect/>
          </a:stretch>
        </p:blipFill>
        <p:spPr>
          <a:xfrm>
            <a:off x="8376920" y="-7620"/>
            <a:ext cx="3823970" cy="887730"/>
          </a:xfrm>
          <a:prstGeom prst="rect">
            <a:avLst/>
          </a:prstGeom>
        </p:spPr>
      </p:pic>
      <p:sp>
        <p:nvSpPr>
          <p:cNvPr id="39" name="矩形 38"/>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1" name="Rectangle 2"/>
          <p:cNvSpPr>
            <a:spLocks noGrp="1" noChangeArrowheads="1"/>
          </p:cNvSpPr>
          <p:nvPr/>
        </p:nvSpPr>
        <p:spPr>
          <a:xfrm>
            <a:off x="140335" y="5715"/>
            <a:ext cx="5955665"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4.2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研究基础</a:t>
            </a:r>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已完成的工作</a:t>
            </a:r>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a:t>
            </a:r>
          </a:p>
        </p:txBody>
      </p:sp>
      <p:graphicFrame>
        <p:nvGraphicFramePr>
          <p:cNvPr id="6" name="对象 5"/>
          <p:cNvGraphicFramePr/>
          <p:nvPr>
            <p:custDataLst>
              <p:tags r:id="rId2"/>
            </p:custDataLst>
          </p:nvPr>
        </p:nvGraphicFramePr>
        <p:xfrm>
          <a:off x="182880" y="1886585"/>
          <a:ext cx="5549900" cy="3588385"/>
        </p:xfrm>
        <a:graphic>
          <a:graphicData uri="http://schemas.openxmlformats.org/presentationml/2006/ole">
            <mc:AlternateContent xmlns:mc="http://schemas.openxmlformats.org/markup-compatibility/2006">
              <mc:Choice xmlns:v="urn:schemas-microsoft-com:vml" Requires="v">
                <p:oleObj r:id="rId13" imgW="5654040" imgH="3599815" progId="Visio.Drawing.15">
                  <p:embed/>
                </p:oleObj>
              </mc:Choice>
              <mc:Fallback>
                <p:oleObj r:id="rId13" imgW="5654040" imgH="3599815" progId="Visio.Drawing.15">
                  <p:embed/>
                  <p:pic>
                    <p:nvPicPr>
                      <p:cNvPr id="0" name="图片 6"/>
                      <p:cNvPicPr/>
                      <p:nvPr/>
                    </p:nvPicPr>
                    <p:blipFill>
                      <a:blip r:embed="rId14"/>
                      <a:stretch>
                        <a:fillRect/>
                      </a:stretch>
                    </p:blipFill>
                    <p:spPr>
                      <a:xfrm>
                        <a:off x="182880" y="1886585"/>
                        <a:ext cx="5549900" cy="3588385"/>
                      </a:xfrm>
                      <a:prstGeom prst="rect">
                        <a:avLst/>
                      </a:prstGeom>
                    </p:spPr>
                  </p:pic>
                </p:oleObj>
              </mc:Fallback>
            </mc:AlternateContent>
          </a:graphicData>
        </a:graphic>
      </p:graphicFrame>
      <p:graphicFrame>
        <p:nvGraphicFramePr>
          <p:cNvPr id="8" name="对象 7"/>
          <p:cNvGraphicFramePr/>
          <p:nvPr>
            <p:custDataLst>
              <p:tags r:id="rId3"/>
            </p:custDataLst>
          </p:nvPr>
        </p:nvGraphicFramePr>
        <p:xfrm>
          <a:off x="5815330" y="1895475"/>
          <a:ext cx="5765800" cy="3588385"/>
        </p:xfrm>
        <a:graphic>
          <a:graphicData uri="http://schemas.openxmlformats.org/presentationml/2006/ole">
            <mc:AlternateContent xmlns:mc="http://schemas.openxmlformats.org/markup-compatibility/2006">
              <mc:Choice xmlns:v="urn:schemas-microsoft-com:vml" Requires="v">
                <p:oleObj r:id="rId15" imgW="5892165" imgH="3548380" progId="Visio.Drawing.15">
                  <p:embed/>
                </p:oleObj>
              </mc:Choice>
              <mc:Fallback>
                <p:oleObj r:id="rId15" imgW="5892165" imgH="3548380" progId="Visio.Drawing.15">
                  <p:embed/>
                  <p:pic>
                    <p:nvPicPr>
                      <p:cNvPr id="0" name="图片 8"/>
                      <p:cNvPicPr/>
                      <p:nvPr/>
                    </p:nvPicPr>
                    <p:blipFill>
                      <a:blip r:embed="rId16"/>
                      <a:stretch>
                        <a:fillRect/>
                      </a:stretch>
                    </p:blipFill>
                    <p:spPr>
                      <a:xfrm>
                        <a:off x="5815330" y="1895475"/>
                        <a:ext cx="5765800" cy="3588385"/>
                      </a:xfrm>
                      <a:prstGeom prst="rect">
                        <a:avLst/>
                      </a:prstGeom>
                    </p:spPr>
                  </p:pic>
                </p:oleObj>
              </mc:Fallback>
            </mc:AlternateContent>
          </a:graphicData>
        </a:graphic>
      </p:graphicFrame>
      <p:sp>
        <p:nvSpPr>
          <p:cNvPr id="42" name="文本框 41"/>
          <p:cNvSpPr txBox="1"/>
          <p:nvPr/>
        </p:nvSpPr>
        <p:spPr>
          <a:xfrm>
            <a:off x="345440" y="1193800"/>
            <a:ext cx="2476500" cy="398780"/>
          </a:xfrm>
          <a:prstGeom prst="rect">
            <a:avLst/>
          </a:prstGeom>
          <a:noFill/>
        </p:spPr>
        <p:txBody>
          <a:bodyPr wrap="square" rtlCol="0" anchor="t">
            <a:spAutoFit/>
          </a:bodyPr>
          <a:lstStyle/>
          <a:p>
            <a:r>
              <a:rPr lang="en-US" altLang="zh-CN" sz="2000" b="1">
                <a:solidFill>
                  <a:schemeClr val="bg1"/>
                </a:solidFill>
                <a:latin typeface="楷体" panose="02010609060101010101" charset="-122"/>
                <a:ea typeface="楷体" panose="02010609060101010101" charset="-122"/>
              </a:rPr>
              <a:t>4.2.1 </a:t>
            </a:r>
            <a:r>
              <a:rPr lang="zh-CN" altLang="en-US" sz="2000" b="1">
                <a:solidFill>
                  <a:schemeClr val="bg1"/>
                </a:solidFill>
                <a:latin typeface="楷体" panose="02010609060101010101" charset="-122"/>
                <a:ea typeface="楷体" panose="02010609060101010101" charset="-122"/>
              </a:rPr>
              <a:t>数据预处理</a:t>
            </a:r>
          </a:p>
        </p:txBody>
      </p:sp>
      <p:pic>
        <p:nvPicPr>
          <p:cNvPr id="11" name="图片 10" descr="108824604&amp;pky93108824604&amp;"/>
          <p:cNvPicPr>
            <a:picLocks noChangeAspect="1"/>
          </p:cNvPicPr>
          <p:nvPr>
            <p:custDataLst>
              <p:tags r:id="rId4"/>
            </p:custDataLst>
          </p:nvPr>
        </p:nvPicPr>
        <p:blipFill>
          <a:blip r:embed="rId17"/>
          <a:srcRect l="10948" t="22335" r="10689" b="22082"/>
          <a:stretch>
            <a:fillRect/>
          </a:stretch>
        </p:blipFill>
        <p:spPr>
          <a:xfrm>
            <a:off x="294005" y="5768975"/>
            <a:ext cx="710565" cy="518160"/>
          </a:xfrm>
          <a:prstGeom prst="rect">
            <a:avLst/>
          </a:prstGeom>
          <a:noFill/>
        </p:spPr>
      </p:pic>
      <p:sp>
        <p:nvSpPr>
          <p:cNvPr id="21" name="文本框 20"/>
          <p:cNvSpPr txBox="1"/>
          <p:nvPr>
            <p:custDataLst>
              <p:tags r:id="rId5"/>
            </p:custDataLst>
          </p:nvPr>
        </p:nvSpPr>
        <p:spPr>
          <a:xfrm>
            <a:off x="934720" y="5822315"/>
            <a:ext cx="4855845" cy="398780"/>
          </a:xfrm>
          <a:prstGeom prst="rect">
            <a:avLst/>
          </a:prstGeom>
          <a:noFill/>
        </p:spPr>
        <p:txBody>
          <a:bodyPr wrap="square" rtlCol="0" anchor="t">
            <a:spAutoFit/>
          </a:bodyPr>
          <a:lstStyle/>
          <a:p>
            <a:r>
              <a:rPr lang="zh-CN" altLang="en-US" sz="2000" b="1">
                <a:solidFill>
                  <a:schemeClr val="tx1"/>
                </a:solidFill>
                <a:latin typeface="楷体" panose="02010609060101010101" charset="-122"/>
                <a:ea typeface="楷体" panose="02010609060101010101" charset="-122"/>
              </a:rPr>
              <a:t>某月</a:t>
            </a:r>
            <a:r>
              <a:rPr lang="zh-CN" altLang="en-US" sz="2000" b="1">
                <a:solidFill>
                  <a:srgbClr val="FF0000"/>
                </a:solidFill>
                <a:latin typeface="楷体" panose="02010609060101010101" charset="-122"/>
                <a:ea typeface="楷体" panose="02010609060101010101" charset="-122"/>
              </a:rPr>
              <a:t>海上</a:t>
            </a:r>
            <a:r>
              <a:rPr lang="zh-CN" altLang="en-US" sz="2000" b="1">
                <a:solidFill>
                  <a:schemeClr val="tx1"/>
                </a:solidFill>
                <a:latin typeface="楷体" panose="02010609060101010101" charset="-122"/>
                <a:ea typeface="楷体" panose="02010609060101010101" charset="-122"/>
              </a:rPr>
              <a:t>风电功率数据的异常值检测结果</a:t>
            </a:r>
          </a:p>
        </p:txBody>
      </p:sp>
      <p:sp>
        <p:nvSpPr>
          <p:cNvPr id="26" name="圆角矩形 25"/>
          <p:cNvSpPr/>
          <p:nvPr>
            <p:custDataLst>
              <p:tags r:id="rId6"/>
            </p:custDataLst>
          </p:nvPr>
        </p:nvSpPr>
        <p:spPr>
          <a:xfrm>
            <a:off x="6009005" y="5646420"/>
            <a:ext cx="5539740" cy="801370"/>
          </a:xfrm>
          <a:prstGeom prst="roundRect">
            <a:avLst/>
          </a:prstGeom>
          <a:noFill/>
          <a:ln>
            <a:solidFill>
              <a:schemeClr val="accent5"/>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2">
                    <a:lumMod val="40000"/>
                    <a:lumOff val="6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27" name="图片 26" descr="108824604&amp;pky93108824604&amp;"/>
          <p:cNvPicPr>
            <a:picLocks noChangeAspect="1"/>
          </p:cNvPicPr>
          <p:nvPr>
            <p:custDataLst>
              <p:tags r:id="rId7"/>
            </p:custDataLst>
          </p:nvPr>
        </p:nvPicPr>
        <p:blipFill>
          <a:blip r:embed="rId17"/>
          <a:srcRect l="10948" t="22335" r="10689" b="22082"/>
          <a:stretch>
            <a:fillRect/>
          </a:stretch>
        </p:blipFill>
        <p:spPr>
          <a:xfrm>
            <a:off x="6062345" y="5768975"/>
            <a:ext cx="710565" cy="518160"/>
          </a:xfrm>
          <a:prstGeom prst="rect">
            <a:avLst/>
          </a:prstGeom>
          <a:noFill/>
        </p:spPr>
      </p:pic>
      <p:sp>
        <p:nvSpPr>
          <p:cNvPr id="28" name="文本框 27"/>
          <p:cNvSpPr txBox="1"/>
          <p:nvPr>
            <p:custDataLst>
              <p:tags r:id="rId8"/>
            </p:custDataLst>
          </p:nvPr>
        </p:nvSpPr>
        <p:spPr>
          <a:xfrm>
            <a:off x="6703060" y="5822315"/>
            <a:ext cx="4855845" cy="398780"/>
          </a:xfrm>
          <a:prstGeom prst="rect">
            <a:avLst/>
          </a:prstGeom>
          <a:noFill/>
        </p:spPr>
        <p:txBody>
          <a:bodyPr wrap="square" rtlCol="0" anchor="t">
            <a:spAutoFit/>
          </a:bodyPr>
          <a:lstStyle/>
          <a:p>
            <a:r>
              <a:rPr lang="zh-CN" altLang="en-US" sz="2000" b="1">
                <a:solidFill>
                  <a:schemeClr val="tx1"/>
                </a:solidFill>
                <a:latin typeface="楷体" panose="02010609060101010101" charset="-122"/>
                <a:ea typeface="楷体" panose="02010609060101010101" charset="-122"/>
              </a:rPr>
              <a:t>某月</a:t>
            </a:r>
            <a:r>
              <a:rPr lang="zh-CN" altLang="en-US" sz="2000" b="1">
                <a:solidFill>
                  <a:srgbClr val="FF0000"/>
                </a:solidFill>
                <a:latin typeface="楷体" panose="02010609060101010101" charset="-122"/>
                <a:ea typeface="楷体" panose="02010609060101010101" charset="-122"/>
              </a:rPr>
              <a:t>内陆</a:t>
            </a:r>
            <a:r>
              <a:rPr lang="zh-CN" altLang="en-US" sz="2000" b="1">
                <a:solidFill>
                  <a:schemeClr val="tx1"/>
                </a:solidFill>
                <a:latin typeface="楷体" panose="02010609060101010101" charset="-122"/>
                <a:ea typeface="楷体" panose="02010609060101010101" charset="-122"/>
              </a:rPr>
              <a:t>风电功率数据的异常值检测结果</a:t>
            </a:r>
          </a:p>
        </p:txBody>
      </p:sp>
      <p:grpSp>
        <p:nvGrpSpPr>
          <p:cNvPr id="64" name="组合 63"/>
          <p:cNvGrpSpPr/>
          <p:nvPr/>
        </p:nvGrpSpPr>
        <p:grpSpPr>
          <a:xfrm>
            <a:off x="182245" y="1060450"/>
            <a:ext cx="11734165" cy="5580380"/>
            <a:chOff x="287" y="1698"/>
            <a:chExt cx="18479" cy="8788"/>
          </a:xfrm>
        </p:grpSpPr>
        <p:sp>
          <p:nvSpPr>
            <p:cNvPr id="65" name="矩形 64"/>
            <p:cNvSpPr/>
            <p:nvPr>
              <p:custDataLst>
                <p:tags r:id="rId9"/>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66" name="圆角矩形 65"/>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67" name="燕尾形 66"/>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sp>
        <p:nvSpPr>
          <p:cNvPr id="72" name="文本框 71"/>
          <p:cNvSpPr txBox="1"/>
          <p:nvPr/>
        </p:nvSpPr>
        <p:spPr>
          <a:xfrm>
            <a:off x="401320" y="1169670"/>
            <a:ext cx="2476500" cy="398780"/>
          </a:xfrm>
          <a:prstGeom prst="rect">
            <a:avLst/>
          </a:prstGeom>
          <a:noFill/>
        </p:spPr>
        <p:txBody>
          <a:bodyPr wrap="square" rtlCol="0" anchor="t">
            <a:spAutoFit/>
          </a:bodyPr>
          <a:lstStyle/>
          <a:p>
            <a:r>
              <a:rPr lang="en-US" altLang="zh-CN" sz="2000" b="1">
                <a:solidFill>
                  <a:schemeClr val="bg1"/>
                </a:solidFill>
                <a:latin typeface="楷体" panose="02010609060101010101" charset="-122"/>
                <a:ea typeface="楷体" panose="02010609060101010101" charset="-122"/>
              </a:rPr>
              <a:t>4.2.1 </a:t>
            </a:r>
            <a:r>
              <a:rPr lang="zh-CN" altLang="en-US" sz="2000" b="1">
                <a:solidFill>
                  <a:schemeClr val="bg1"/>
                </a:solidFill>
                <a:latin typeface="楷体" panose="02010609060101010101" charset="-122"/>
                <a:ea typeface="楷体" panose="02010609060101010101" charset="-122"/>
              </a:rPr>
              <a:t>数据预处理</a:t>
            </a:r>
          </a:p>
        </p:txBody>
      </p:sp>
      <p:pic>
        <p:nvPicPr>
          <p:cNvPr id="2" name="图片 1"/>
          <p:cNvPicPr>
            <a:picLocks noChangeAspect="1"/>
          </p:cNvPicPr>
          <p:nvPr/>
        </p:nvPicPr>
        <p:blipFill>
          <a:blip r:embed="rId18"/>
          <a:stretch>
            <a:fillRect/>
          </a:stretch>
        </p:blipFill>
        <p:spPr>
          <a:xfrm>
            <a:off x="454660" y="5829300"/>
            <a:ext cx="384810" cy="259080"/>
          </a:xfrm>
          <a:prstGeom prst="rect">
            <a:avLst/>
          </a:prstGeom>
        </p:spPr>
      </p:pic>
      <p:pic>
        <p:nvPicPr>
          <p:cNvPr id="3" name="图片 2"/>
          <p:cNvPicPr>
            <a:picLocks noChangeAspect="1"/>
          </p:cNvPicPr>
          <p:nvPr/>
        </p:nvPicPr>
        <p:blipFill>
          <a:blip r:embed="rId18"/>
          <a:stretch>
            <a:fillRect/>
          </a:stretch>
        </p:blipFill>
        <p:spPr>
          <a:xfrm>
            <a:off x="6224905" y="5829300"/>
            <a:ext cx="384810" cy="2590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p:cNvPicPr>
            <a:picLocks noChangeAspect="1"/>
          </p:cNvPicPr>
          <p:nvPr/>
        </p:nvPicPr>
        <p:blipFill>
          <a:blip r:embed="rId6"/>
          <a:stretch>
            <a:fillRect/>
          </a:stretch>
        </p:blipFill>
        <p:spPr>
          <a:xfrm>
            <a:off x="8376920" y="-7620"/>
            <a:ext cx="3823970" cy="887730"/>
          </a:xfrm>
          <a:prstGeom prst="rect">
            <a:avLst/>
          </a:prstGeom>
        </p:spPr>
      </p:pic>
      <p:sp>
        <p:nvSpPr>
          <p:cNvPr id="39" name="矩形 38"/>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nvSpPr>
        <p:spPr bwMode="auto">
          <a:xfrm>
            <a:off x="4728425" y="6763092"/>
            <a:ext cx="2718639" cy="69507"/>
          </a:xfrm>
          <a:prstGeom prst="rect">
            <a:avLst/>
          </a:prstGeom>
          <a:solidFill>
            <a:srgbClr val="005800"/>
          </a:solidFill>
          <a:ln w="952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aphicFrame>
        <p:nvGraphicFramePr>
          <p:cNvPr id="20" name="对象 19"/>
          <p:cNvGraphicFramePr/>
          <p:nvPr/>
        </p:nvGraphicFramePr>
        <p:xfrm>
          <a:off x="692150" y="1633855"/>
          <a:ext cx="4458970" cy="4378325"/>
        </p:xfrm>
        <a:graphic>
          <a:graphicData uri="http://schemas.openxmlformats.org/presentationml/2006/ole">
            <mc:AlternateContent xmlns:mc="http://schemas.openxmlformats.org/markup-compatibility/2006">
              <mc:Choice xmlns:v="urn:schemas-microsoft-com:vml" Requires="v">
                <p:oleObj r:id="rId7" imgW="4295140" imgH="4378960" progId="Visio.Drawing.15">
                  <p:embed/>
                </p:oleObj>
              </mc:Choice>
              <mc:Fallback>
                <p:oleObj r:id="rId7" imgW="4295140" imgH="4378960" progId="Visio.Drawing.15">
                  <p:embed/>
                  <p:pic>
                    <p:nvPicPr>
                      <p:cNvPr id="0" name="图片 20"/>
                      <p:cNvPicPr/>
                      <p:nvPr/>
                    </p:nvPicPr>
                    <p:blipFill>
                      <a:blip r:embed="rId8"/>
                      <a:stretch>
                        <a:fillRect/>
                      </a:stretch>
                    </p:blipFill>
                    <p:spPr>
                      <a:xfrm>
                        <a:off x="692150" y="1633855"/>
                        <a:ext cx="4458970" cy="4378325"/>
                      </a:xfrm>
                      <a:prstGeom prst="rect">
                        <a:avLst/>
                      </a:prstGeom>
                    </p:spPr>
                  </p:pic>
                </p:oleObj>
              </mc:Fallback>
            </mc:AlternateContent>
          </a:graphicData>
        </a:graphic>
      </p:graphicFrame>
      <p:graphicFrame>
        <p:nvGraphicFramePr>
          <p:cNvPr id="27" name="对象 26"/>
          <p:cNvGraphicFramePr/>
          <p:nvPr/>
        </p:nvGraphicFramePr>
        <p:xfrm>
          <a:off x="6306185" y="1609725"/>
          <a:ext cx="4894580" cy="4377690"/>
        </p:xfrm>
        <a:graphic>
          <a:graphicData uri="http://schemas.openxmlformats.org/presentationml/2006/ole">
            <mc:AlternateContent xmlns:mc="http://schemas.openxmlformats.org/markup-compatibility/2006">
              <mc:Choice xmlns:v="urn:schemas-microsoft-com:vml" Requires="v">
                <p:oleObj r:id="rId9" imgW="3110230" imgH="2755900" progId="Visio.Drawing.15">
                  <p:embed/>
                </p:oleObj>
              </mc:Choice>
              <mc:Fallback>
                <p:oleObj r:id="rId9" imgW="3110230" imgH="2755900" progId="Visio.Drawing.15">
                  <p:embed/>
                  <p:pic>
                    <p:nvPicPr>
                      <p:cNvPr id="0" name="图片 27"/>
                      <p:cNvPicPr/>
                      <p:nvPr/>
                    </p:nvPicPr>
                    <p:blipFill>
                      <a:blip r:embed="rId10"/>
                      <a:stretch>
                        <a:fillRect/>
                      </a:stretch>
                    </p:blipFill>
                    <p:spPr>
                      <a:xfrm>
                        <a:off x="6306185" y="1609725"/>
                        <a:ext cx="4894580" cy="4377690"/>
                      </a:xfrm>
                      <a:prstGeom prst="rect">
                        <a:avLst/>
                      </a:prstGeom>
                    </p:spPr>
                  </p:pic>
                </p:oleObj>
              </mc:Fallback>
            </mc:AlternateContent>
          </a:graphicData>
        </a:graphic>
      </p:graphicFrame>
      <p:pic>
        <p:nvPicPr>
          <p:cNvPr id="47" name="图片 46" descr="v2-74cbb0466cff55b5d9d8772bce171a89_b"/>
          <p:cNvPicPr>
            <a:picLocks noChangeAspect="1"/>
          </p:cNvPicPr>
          <p:nvPr/>
        </p:nvPicPr>
        <p:blipFill>
          <a:blip r:embed="rId11"/>
          <a:stretch>
            <a:fillRect/>
          </a:stretch>
        </p:blipFill>
        <p:spPr>
          <a:xfrm>
            <a:off x="389255" y="5947410"/>
            <a:ext cx="869315" cy="635635"/>
          </a:xfrm>
          <a:prstGeom prst="rect">
            <a:avLst/>
          </a:prstGeom>
        </p:spPr>
      </p:pic>
      <p:sp>
        <p:nvSpPr>
          <p:cNvPr id="48" name="圆角矩形 47"/>
          <p:cNvSpPr/>
          <p:nvPr/>
        </p:nvSpPr>
        <p:spPr>
          <a:xfrm>
            <a:off x="300990" y="5985510"/>
            <a:ext cx="5547360" cy="561975"/>
          </a:xfrm>
          <a:prstGeom prst="roundRect">
            <a:avLst/>
          </a:prstGeom>
          <a:noFill/>
          <a:ln>
            <a:solidFill>
              <a:schemeClr val="accent5"/>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2">
                    <a:lumMod val="40000"/>
                    <a:lumOff val="6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49" name="文本框 48"/>
          <p:cNvSpPr txBox="1"/>
          <p:nvPr>
            <p:custDataLst>
              <p:tags r:id="rId1"/>
            </p:custDataLst>
          </p:nvPr>
        </p:nvSpPr>
        <p:spPr>
          <a:xfrm>
            <a:off x="1266825" y="6062345"/>
            <a:ext cx="4581525" cy="398780"/>
          </a:xfrm>
          <a:prstGeom prst="rect">
            <a:avLst/>
          </a:prstGeom>
          <a:noFill/>
        </p:spPr>
        <p:txBody>
          <a:bodyPr wrap="square" rtlCol="0" anchor="t">
            <a:spAutoFit/>
          </a:bodyPr>
          <a:lstStyle/>
          <a:p>
            <a:r>
              <a:rPr lang="zh-CN" altLang="en-US" sz="2000" b="1">
                <a:solidFill>
                  <a:srgbClr val="FF0000"/>
                </a:solidFill>
                <a:latin typeface="楷体" panose="02010609060101010101" charset="-122"/>
                <a:ea typeface="楷体" panose="02010609060101010101" charset="-122"/>
              </a:rPr>
              <a:t>海上</a:t>
            </a:r>
            <a:r>
              <a:rPr lang="zh-CN" altLang="en-US" sz="2000" b="1">
                <a:solidFill>
                  <a:schemeClr val="tx1"/>
                </a:solidFill>
                <a:latin typeface="楷体" panose="02010609060101010101" charset="-122"/>
                <a:ea typeface="楷体" panose="02010609060101010101" charset="-122"/>
              </a:rPr>
              <a:t>风电功率与气象因素的相关性分析</a:t>
            </a:r>
          </a:p>
        </p:txBody>
      </p:sp>
      <p:pic>
        <p:nvPicPr>
          <p:cNvPr id="53" name="图片 52" descr="v2-74cbb0466cff55b5d9d8772bce171a89_b"/>
          <p:cNvPicPr>
            <a:picLocks noChangeAspect="1"/>
          </p:cNvPicPr>
          <p:nvPr/>
        </p:nvPicPr>
        <p:blipFill>
          <a:blip r:embed="rId11"/>
          <a:stretch>
            <a:fillRect/>
          </a:stretch>
        </p:blipFill>
        <p:spPr>
          <a:xfrm>
            <a:off x="6216015" y="5941695"/>
            <a:ext cx="869315" cy="635635"/>
          </a:xfrm>
          <a:prstGeom prst="rect">
            <a:avLst/>
          </a:prstGeom>
        </p:spPr>
      </p:pic>
      <p:sp>
        <p:nvSpPr>
          <p:cNvPr id="54" name="圆角矩形 53"/>
          <p:cNvSpPr/>
          <p:nvPr/>
        </p:nvSpPr>
        <p:spPr>
          <a:xfrm>
            <a:off x="6127750" y="5979795"/>
            <a:ext cx="5547360" cy="561975"/>
          </a:xfrm>
          <a:prstGeom prst="roundRect">
            <a:avLst/>
          </a:prstGeom>
          <a:noFill/>
          <a:ln>
            <a:solidFill>
              <a:schemeClr val="accent5"/>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2">
                    <a:lumMod val="40000"/>
                    <a:lumOff val="6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55" name="文本框 54"/>
          <p:cNvSpPr txBox="1"/>
          <p:nvPr>
            <p:custDataLst>
              <p:tags r:id="rId2"/>
            </p:custDataLst>
          </p:nvPr>
        </p:nvSpPr>
        <p:spPr>
          <a:xfrm>
            <a:off x="7093585" y="6056630"/>
            <a:ext cx="4581525" cy="398780"/>
          </a:xfrm>
          <a:prstGeom prst="rect">
            <a:avLst/>
          </a:prstGeom>
          <a:noFill/>
        </p:spPr>
        <p:txBody>
          <a:bodyPr wrap="square" rtlCol="0" anchor="t">
            <a:spAutoFit/>
          </a:bodyPr>
          <a:lstStyle/>
          <a:p>
            <a:r>
              <a:rPr lang="zh-CN" altLang="en-US" sz="2000" b="1">
                <a:solidFill>
                  <a:srgbClr val="FF0000"/>
                </a:solidFill>
                <a:latin typeface="楷体" panose="02010609060101010101" charset="-122"/>
                <a:ea typeface="楷体" panose="02010609060101010101" charset="-122"/>
              </a:rPr>
              <a:t>内陆</a:t>
            </a:r>
            <a:r>
              <a:rPr lang="zh-CN" altLang="en-US" sz="2000" b="1">
                <a:solidFill>
                  <a:schemeClr val="tx1"/>
                </a:solidFill>
                <a:latin typeface="楷体" panose="02010609060101010101" charset="-122"/>
                <a:ea typeface="楷体" panose="02010609060101010101" charset="-122"/>
              </a:rPr>
              <a:t>风电功率与气象因素的相关性分析</a:t>
            </a:r>
          </a:p>
        </p:txBody>
      </p:sp>
      <p:grpSp>
        <p:nvGrpSpPr>
          <p:cNvPr id="57" name="组合 56"/>
          <p:cNvGrpSpPr/>
          <p:nvPr/>
        </p:nvGrpSpPr>
        <p:grpSpPr>
          <a:xfrm>
            <a:off x="182245" y="1078230"/>
            <a:ext cx="11734165" cy="5580380"/>
            <a:chOff x="287" y="1698"/>
            <a:chExt cx="18479" cy="8788"/>
          </a:xfrm>
        </p:grpSpPr>
        <p:sp>
          <p:nvSpPr>
            <p:cNvPr id="9" name="矩形 8"/>
            <p:cNvSpPr/>
            <p:nvPr>
              <p:custDataLst>
                <p:tags r:id="rId3"/>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56" name="圆角矩形 55"/>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40" name="矩形 39"/>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345440" y="1193800"/>
            <a:ext cx="2476500" cy="398780"/>
          </a:xfrm>
          <a:prstGeom prst="rect">
            <a:avLst/>
          </a:prstGeom>
          <a:noFill/>
        </p:spPr>
        <p:txBody>
          <a:bodyPr wrap="square" rtlCol="0" anchor="t">
            <a:spAutoFit/>
          </a:bodyPr>
          <a:lstStyle/>
          <a:p>
            <a:r>
              <a:rPr lang="en-US" altLang="zh-CN" sz="2000" b="1">
                <a:solidFill>
                  <a:schemeClr val="bg1"/>
                </a:solidFill>
                <a:latin typeface="楷体" panose="02010609060101010101" charset="-122"/>
                <a:ea typeface="楷体" panose="02010609060101010101" charset="-122"/>
              </a:rPr>
              <a:t>4.2.2 </a:t>
            </a:r>
            <a:r>
              <a:rPr lang="zh-CN" altLang="en-US" sz="2000" b="1">
                <a:solidFill>
                  <a:schemeClr val="bg1"/>
                </a:solidFill>
                <a:latin typeface="楷体" panose="02010609060101010101" charset="-122"/>
                <a:ea typeface="楷体" panose="02010609060101010101" charset="-122"/>
              </a:rPr>
              <a:t>相关性分析</a:t>
            </a:r>
          </a:p>
        </p:txBody>
      </p:sp>
      <p:sp>
        <p:nvSpPr>
          <p:cNvPr id="58" name="Rectangle 2"/>
          <p:cNvSpPr>
            <a:spLocks noGrp="1" noChangeArrowheads="1"/>
          </p:cNvSpPr>
          <p:nvPr/>
        </p:nvSpPr>
        <p:spPr>
          <a:xfrm>
            <a:off x="140335" y="5715"/>
            <a:ext cx="5955665"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4.2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研究基础</a:t>
            </a:r>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已完成的工作</a:t>
            </a:r>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a:t>
            </a:r>
          </a:p>
        </p:txBody>
      </p:sp>
      <p:sp>
        <p:nvSpPr>
          <p:cNvPr id="67" name="燕尾形 66"/>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圆角矩形 23"/>
          <p:cNvSpPr/>
          <p:nvPr/>
        </p:nvSpPr>
        <p:spPr>
          <a:xfrm>
            <a:off x="6901815" y="1890395"/>
            <a:ext cx="4533265" cy="561975"/>
          </a:xfrm>
          <a:prstGeom prst="roundRect">
            <a:avLst/>
          </a:prstGeom>
          <a:solidFill>
            <a:schemeClr val="accent5">
              <a:lumMod val="75000"/>
            </a:schemeClr>
          </a:solidFill>
          <a:ln>
            <a:solidFill>
              <a:schemeClr val="accent5"/>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48" name="圆角矩形 47"/>
          <p:cNvSpPr/>
          <p:nvPr/>
        </p:nvSpPr>
        <p:spPr>
          <a:xfrm>
            <a:off x="812165" y="5906770"/>
            <a:ext cx="4678045" cy="561975"/>
          </a:xfrm>
          <a:prstGeom prst="roundRect">
            <a:avLst/>
          </a:prstGeom>
          <a:solidFill>
            <a:schemeClr val="accent6"/>
          </a:solidFill>
          <a:ln>
            <a:solidFill>
              <a:schemeClr val="accent5"/>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pic>
        <p:nvPicPr>
          <p:cNvPr id="38" name="图片 37"/>
          <p:cNvPicPr>
            <a:picLocks noChangeAspect="1"/>
          </p:cNvPicPr>
          <p:nvPr/>
        </p:nvPicPr>
        <p:blipFill>
          <a:blip r:embed="rId8"/>
          <a:stretch>
            <a:fillRect/>
          </a:stretch>
        </p:blipFill>
        <p:spPr>
          <a:xfrm>
            <a:off x="8376920" y="-7620"/>
            <a:ext cx="3823970" cy="887730"/>
          </a:xfrm>
          <a:prstGeom prst="rect">
            <a:avLst/>
          </a:prstGeom>
        </p:spPr>
      </p:pic>
      <p:sp>
        <p:nvSpPr>
          <p:cNvPr id="39" name="矩形 38"/>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7" name="组合 6"/>
          <p:cNvGrpSpPr/>
          <p:nvPr/>
        </p:nvGrpSpPr>
        <p:grpSpPr>
          <a:xfrm>
            <a:off x="182245" y="1078230"/>
            <a:ext cx="11734165" cy="5580380"/>
            <a:chOff x="287" y="1698"/>
            <a:chExt cx="18479" cy="8788"/>
          </a:xfrm>
        </p:grpSpPr>
        <p:sp>
          <p:nvSpPr>
            <p:cNvPr id="12" name="矩形 11"/>
            <p:cNvSpPr/>
            <p:nvPr>
              <p:custDataLst>
                <p:tags r:id="rId5"/>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3" name="圆角矩形 12"/>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9" name="文本框 18"/>
          <p:cNvSpPr txBox="1"/>
          <p:nvPr/>
        </p:nvSpPr>
        <p:spPr>
          <a:xfrm>
            <a:off x="345440" y="1193800"/>
            <a:ext cx="2476500" cy="398780"/>
          </a:xfrm>
          <a:prstGeom prst="rect">
            <a:avLst/>
          </a:prstGeom>
          <a:noFill/>
        </p:spPr>
        <p:txBody>
          <a:bodyPr wrap="square" rtlCol="0" anchor="t">
            <a:spAutoFit/>
          </a:bodyPr>
          <a:lstStyle/>
          <a:p>
            <a:r>
              <a:rPr lang="en-US" altLang="zh-CN" sz="2000" b="1">
                <a:solidFill>
                  <a:schemeClr val="bg1"/>
                </a:solidFill>
                <a:latin typeface="楷体" panose="02010609060101010101" charset="-122"/>
                <a:ea typeface="楷体" panose="02010609060101010101" charset="-122"/>
              </a:rPr>
              <a:t>4.2.3 </a:t>
            </a:r>
            <a:r>
              <a:rPr lang="zh-CN" altLang="en-US" sz="2000" b="1">
                <a:solidFill>
                  <a:schemeClr val="bg1"/>
                </a:solidFill>
                <a:latin typeface="楷体" panose="02010609060101010101" charset="-122"/>
                <a:ea typeface="楷体" panose="02010609060101010101" charset="-122"/>
              </a:rPr>
              <a:t>数据分解</a:t>
            </a:r>
          </a:p>
        </p:txBody>
      </p:sp>
      <p:graphicFrame>
        <p:nvGraphicFramePr>
          <p:cNvPr id="20" name="对象 19"/>
          <p:cNvGraphicFramePr/>
          <p:nvPr/>
        </p:nvGraphicFramePr>
        <p:xfrm>
          <a:off x="6538595" y="2604135"/>
          <a:ext cx="5001260" cy="3970655"/>
        </p:xfrm>
        <a:graphic>
          <a:graphicData uri="http://schemas.openxmlformats.org/presentationml/2006/ole">
            <mc:AlternateContent xmlns:mc="http://schemas.openxmlformats.org/markup-compatibility/2006">
              <mc:Choice xmlns:v="urn:schemas-microsoft-com:vml" Requires="v">
                <p:oleObj r:id="rId9" imgW="3354705" imgH="2665730" progId="Visio.Drawing.15">
                  <p:embed/>
                </p:oleObj>
              </mc:Choice>
              <mc:Fallback>
                <p:oleObj r:id="rId9" imgW="3354705" imgH="2665730" progId="Visio.Drawing.15">
                  <p:embed/>
                  <p:pic>
                    <p:nvPicPr>
                      <p:cNvPr id="0" name="图片 20"/>
                      <p:cNvPicPr/>
                      <p:nvPr/>
                    </p:nvPicPr>
                    <p:blipFill>
                      <a:blip r:embed="rId10"/>
                      <a:stretch>
                        <a:fillRect/>
                      </a:stretch>
                    </p:blipFill>
                    <p:spPr>
                      <a:xfrm>
                        <a:off x="6538595" y="2604135"/>
                        <a:ext cx="5001260" cy="3970655"/>
                      </a:xfrm>
                      <a:prstGeom prst="rect">
                        <a:avLst/>
                      </a:prstGeom>
                    </p:spPr>
                  </p:pic>
                </p:oleObj>
              </mc:Fallback>
            </mc:AlternateContent>
          </a:graphicData>
        </a:graphic>
      </p:graphicFrame>
      <p:graphicFrame>
        <p:nvGraphicFramePr>
          <p:cNvPr id="22" name="对象 21"/>
          <p:cNvGraphicFramePr/>
          <p:nvPr/>
        </p:nvGraphicFramePr>
        <p:xfrm>
          <a:off x="812165" y="1805305"/>
          <a:ext cx="4743450" cy="3970655"/>
        </p:xfrm>
        <a:graphic>
          <a:graphicData uri="http://schemas.openxmlformats.org/presentationml/2006/ole">
            <mc:AlternateContent xmlns:mc="http://schemas.openxmlformats.org/markup-compatibility/2006">
              <mc:Choice xmlns:v="urn:schemas-microsoft-com:vml" Requires="v">
                <p:oleObj r:id="rId11" imgW="3226435" imgH="2704465" progId="Visio.Drawing.15">
                  <p:embed/>
                </p:oleObj>
              </mc:Choice>
              <mc:Fallback>
                <p:oleObj r:id="rId11" imgW="3226435" imgH="2704465" progId="Visio.Drawing.15">
                  <p:embed/>
                  <p:pic>
                    <p:nvPicPr>
                      <p:cNvPr id="0" name="图片 22"/>
                      <p:cNvPicPr/>
                      <p:nvPr/>
                    </p:nvPicPr>
                    <p:blipFill>
                      <a:blip r:embed="rId12"/>
                      <a:stretch>
                        <a:fillRect/>
                      </a:stretch>
                    </p:blipFill>
                    <p:spPr>
                      <a:xfrm>
                        <a:off x="812165" y="1805305"/>
                        <a:ext cx="4743450" cy="3970655"/>
                      </a:xfrm>
                      <a:prstGeom prst="rect">
                        <a:avLst/>
                      </a:prstGeom>
                    </p:spPr>
                  </p:pic>
                </p:oleObj>
              </mc:Fallback>
            </mc:AlternateContent>
          </a:graphicData>
        </a:graphic>
      </p:graphicFrame>
      <p:pic>
        <p:nvPicPr>
          <p:cNvPr id="141" name="图片 140" descr="工具"/>
          <p:cNvPicPr>
            <a:picLocks noChangeAspect="1"/>
          </p:cNvPicPr>
          <p:nvPr>
            <p:custDataLst>
              <p:tags r:id="rId1"/>
            </p:custDataLst>
          </p:nvPr>
        </p:nvPicPr>
        <p:blipFill>
          <a:blip r:embed="rId13"/>
          <a:stretch>
            <a:fillRect/>
          </a:stretch>
        </p:blipFill>
        <p:spPr>
          <a:xfrm>
            <a:off x="918845" y="5988685"/>
            <a:ext cx="411480" cy="396240"/>
          </a:xfrm>
          <a:prstGeom prst="rect">
            <a:avLst/>
          </a:prstGeom>
        </p:spPr>
      </p:pic>
      <p:pic>
        <p:nvPicPr>
          <p:cNvPr id="137" name="图片 136" descr="趋势"/>
          <p:cNvPicPr>
            <a:picLocks noChangeAspect="1"/>
          </p:cNvPicPr>
          <p:nvPr>
            <p:custDataLst>
              <p:tags r:id="rId2"/>
            </p:custDataLst>
          </p:nvPr>
        </p:nvPicPr>
        <p:blipFill>
          <a:blip r:embed="rId14"/>
          <a:stretch>
            <a:fillRect/>
          </a:stretch>
        </p:blipFill>
        <p:spPr>
          <a:xfrm>
            <a:off x="7809865" y="1927225"/>
            <a:ext cx="457835" cy="457835"/>
          </a:xfrm>
          <a:prstGeom prst="rect">
            <a:avLst/>
          </a:prstGeom>
        </p:spPr>
      </p:pic>
      <p:sp>
        <p:nvSpPr>
          <p:cNvPr id="49" name="文本框 48"/>
          <p:cNvSpPr txBox="1"/>
          <p:nvPr>
            <p:custDataLst>
              <p:tags r:id="rId3"/>
            </p:custDataLst>
          </p:nvPr>
        </p:nvSpPr>
        <p:spPr>
          <a:xfrm>
            <a:off x="1426845" y="5988685"/>
            <a:ext cx="4062730" cy="398780"/>
          </a:xfrm>
          <a:prstGeom prst="rect">
            <a:avLst/>
          </a:prstGeom>
          <a:noFill/>
        </p:spPr>
        <p:txBody>
          <a:bodyPr wrap="square" rtlCol="0" anchor="t">
            <a:spAutoFit/>
          </a:bodyPr>
          <a:lstStyle/>
          <a:p>
            <a:r>
              <a:rPr lang="zh-CN" altLang="en-US" sz="2000" b="1">
                <a:solidFill>
                  <a:schemeClr val="tx1"/>
                </a:solidFill>
                <a:latin typeface="楷体" panose="02010609060101010101" charset="-122"/>
                <a:ea typeface="楷体" panose="02010609060101010101" charset="-122"/>
              </a:rPr>
              <a:t>原始数据与分解后的子分量序列</a:t>
            </a:r>
          </a:p>
        </p:txBody>
      </p:sp>
      <p:sp>
        <p:nvSpPr>
          <p:cNvPr id="25" name="文本框 24"/>
          <p:cNvSpPr txBox="1"/>
          <p:nvPr>
            <p:custDataLst>
              <p:tags r:id="rId4"/>
            </p:custDataLst>
          </p:nvPr>
        </p:nvSpPr>
        <p:spPr>
          <a:xfrm>
            <a:off x="8336915" y="1972310"/>
            <a:ext cx="2533650" cy="398780"/>
          </a:xfrm>
          <a:prstGeom prst="rect">
            <a:avLst/>
          </a:prstGeom>
          <a:noFill/>
        </p:spPr>
        <p:txBody>
          <a:bodyPr wrap="square" rtlCol="0" anchor="t">
            <a:spAutoFit/>
          </a:bodyPr>
          <a:lstStyle/>
          <a:p>
            <a:r>
              <a:rPr lang="zh-CN" altLang="en-US" sz="2000" b="1">
                <a:solidFill>
                  <a:schemeClr val="tx1"/>
                </a:solidFill>
                <a:latin typeface="楷体" panose="02010609060101010101" charset="-122"/>
                <a:ea typeface="楷体" panose="02010609060101010101" charset="-122"/>
              </a:rPr>
              <a:t>子分量序列频谱图</a:t>
            </a:r>
          </a:p>
        </p:txBody>
      </p:sp>
      <p:sp>
        <p:nvSpPr>
          <p:cNvPr id="26" name="圆角矩形 25"/>
          <p:cNvSpPr/>
          <p:nvPr/>
        </p:nvSpPr>
        <p:spPr>
          <a:xfrm>
            <a:off x="711200" y="1810385"/>
            <a:ext cx="5019040" cy="4772025"/>
          </a:xfrm>
          <a:prstGeom prst="roundRect">
            <a:avLst>
              <a:gd name="adj" fmla="val 6720"/>
            </a:avLst>
          </a:prstGeom>
          <a:noFill/>
          <a:ln w="19050">
            <a:solidFill>
              <a:schemeClr val="accent2"/>
            </a:solidFill>
            <a:prstDash val="dash"/>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6"/>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7" name="圆角矩形 26"/>
          <p:cNvSpPr/>
          <p:nvPr/>
        </p:nvSpPr>
        <p:spPr>
          <a:xfrm>
            <a:off x="6520815" y="1810385"/>
            <a:ext cx="5019040" cy="4772025"/>
          </a:xfrm>
          <a:prstGeom prst="roundRect">
            <a:avLst>
              <a:gd name="adj" fmla="val 6720"/>
            </a:avLst>
          </a:prstGeom>
          <a:noFill/>
          <a:ln w="19050">
            <a:solidFill>
              <a:schemeClr val="accent2"/>
            </a:solidFill>
            <a:prstDash val="dash"/>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6"/>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8" name="Rectangle 2"/>
          <p:cNvSpPr>
            <a:spLocks noGrp="1" noChangeArrowheads="1"/>
          </p:cNvSpPr>
          <p:nvPr/>
        </p:nvSpPr>
        <p:spPr>
          <a:xfrm>
            <a:off x="140335" y="5715"/>
            <a:ext cx="5955665"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4.2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研究基础</a:t>
            </a:r>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已完成的工作</a:t>
            </a:r>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a:t>
            </a:r>
          </a:p>
        </p:txBody>
      </p:sp>
      <p:sp>
        <p:nvSpPr>
          <p:cNvPr id="67" name="燕尾形 66"/>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p:cNvPicPr>
            <a:picLocks noChangeAspect="1"/>
          </p:cNvPicPr>
          <p:nvPr/>
        </p:nvPicPr>
        <p:blipFill>
          <a:blip r:embed="rId5"/>
          <a:stretch>
            <a:fillRect/>
          </a:stretch>
        </p:blipFill>
        <p:spPr>
          <a:xfrm>
            <a:off x="8376920" y="-7620"/>
            <a:ext cx="3823970" cy="887730"/>
          </a:xfrm>
          <a:prstGeom prst="rect">
            <a:avLst/>
          </a:prstGeom>
        </p:spPr>
      </p:pic>
      <p:sp>
        <p:nvSpPr>
          <p:cNvPr id="39" name="矩形 38"/>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57" name="组合 56"/>
          <p:cNvGrpSpPr/>
          <p:nvPr/>
        </p:nvGrpSpPr>
        <p:grpSpPr>
          <a:xfrm>
            <a:off x="182245" y="1078230"/>
            <a:ext cx="11734165" cy="5580380"/>
            <a:chOff x="287" y="1698"/>
            <a:chExt cx="18479" cy="8788"/>
          </a:xfrm>
        </p:grpSpPr>
        <p:sp>
          <p:nvSpPr>
            <p:cNvPr id="2" name="矩形 1"/>
            <p:cNvSpPr/>
            <p:nvPr>
              <p:custDataLst>
                <p:tags r:id="rId2"/>
              </p:custDataLst>
            </p:nvPr>
          </p:nvSpPr>
          <p:spPr bwMode="auto">
            <a:xfrm>
              <a:off x="288" y="2248"/>
              <a:ext cx="18478" cy="8238"/>
            </a:xfrm>
            <a:prstGeom prst="rect">
              <a:avLst/>
            </a:prstGeom>
            <a:noFill/>
            <a:ln w="19050" cap="flat" cmpd="sng" algn="ctr">
              <a:solidFill>
                <a:schemeClr val="bg1">
                  <a:lumMod val="65000"/>
                </a:schemeClr>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56" name="圆角矩形 55"/>
            <p:cNvSpPr/>
            <p:nvPr/>
          </p:nvSpPr>
          <p:spPr>
            <a:xfrm>
              <a:off x="287" y="1698"/>
              <a:ext cx="18479" cy="939"/>
            </a:xfrm>
            <a:prstGeom prst="roundRect">
              <a:avLst>
                <a:gd name="adj" fmla="val 18210"/>
              </a:avLst>
            </a:prstGeom>
            <a:solidFill>
              <a:srgbClr val="35772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6" name="文本框 5"/>
          <p:cNvSpPr txBox="1"/>
          <p:nvPr/>
        </p:nvSpPr>
        <p:spPr>
          <a:xfrm>
            <a:off x="345440" y="1193800"/>
            <a:ext cx="3232785" cy="398780"/>
          </a:xfrm>
          <a:prstGeom prst="rect">
            <a:avLst/>
          </a:prstGeom>
          <a:noFill/>
        </p:spPr>
        <p:txBody>
          <a:bodyPr wrap="square" rtlCol="0" anchor="t">
            <a:spAutoFit/>
          </a:bodyPr>
          <a:lstStyle/>
          <a:p>
            <a:r>
              <a:rPr lang="en-US" altLang="zh-CN" sz="2000" b="1">
                <a:solidFill>
                  <a:schemeClr val="bg1"/>
                </a:solidFill>
                <a:latin typeface="楷体" panose="02010609060101010101" charset="-122"/>
                <a:ea typeface="楷体" panose="02010609060101010101" charset="-122"/>
              </a:rPr>
              <a:t>4.2.3 </a:t>
            </a:r>
            <a:r>
              <a:rPr lang="zh-CN" altLang="en-US" sz="2000" b="1">
                <a:solidFill>
                  <a:schemeClr val="bg1"/>
                </a:solidFill>
                <a:latin typeface="楷体" panose="02010609060101010101" charset="-122"/>
                <a:ea typeface="楷体" panose="02010609060101010101" charset="-122"/>
              </a:rPr>
              <a:t>随机配置网络模型</a:t>
            </a:r>
          </a:p>
        </p:txBody>
      </p:sp>
      <p:graphicFrame>
        <p:nvGraphicFramePr>
          <p:cNvPr id="15" name="对象 14"/>
          <p:cNvGraphicFramePr/>
          <p:nvPr/>
        </p:nvGraphicFramePr>
        <p:xfrm>
          <a:off x="499745" y="1742440"/>
          <a:ext cx="4104005" cy="2443480"/>
        </p:xfrm>
        <a:graphic>
          <a:graphicData uri="http://schemas.openxmlformats.org/presentationml/2006/ole">
            <mc:AlternateContent xmlns:mc="http://schemas.openxmlformats.org/markup-compatibility/2006">
              <mc:Choice xmlns:v="urn:schemas-microsoft-com:vml" Requires="v">
                <p:oleObj r:id="rId6" imgW="3921760" imgH="2974975" progId="Visio.Drawing.15">
                  <p:embed/>
                </p:oleObj>
              </mc:Choice>
              <mc:Fallback>
                <p:oleObj r:id="rId6" imgW="3921760" imgH="2974975" progId="Visio.Drawing.15">
                  <p:embed/>
                  <p:pic>
                    <p:nvPicPr>
                      <p:cNvPr id="0" name="图片 15"/>
                      <p:cNvPicPr/>
                      <p:nvPr/>
                    </p:nvPicPr>
                    <p:blipFill>
                      <a:blip r:embed="rId7"/>
                      <a:stretch>
                        <a:fillRect/>
                      </a:stretch>
                    </p:blipFill>
                    <p:spPr>
                      <a:xfrm>
                        <a:off x="499745" y="1742440"/>
                        <a:ext cx="4104005" cy="2443480"/>
                      </a:xfrm>
                      <a:prstGeom prst="rect">
                        <a:avLst/>
                      </a:prstGeom>
                    </p:spPr>
                  </p:pic>
                </p:oleObj>
              </mc:Fallback>
            </mc:AlternateContent>
          </a:graphicData>
        </a:graphic>
      </p:graphicFrame>
      <p:graphicFrame>
        <p:nvGraphicFramePr>
          <p:cNvPr id="17" name="对象 16"/>
          <p:cNvGraphicFramePr/>
          <p:nvPr/>
        </p:nvGraphicFramePr>
        <p:xfrm>
          <a:off x="499745" y="4185920"/>
          <a:ext cx="4104005" cy="2443480"/>
        </p:xfrm>
        <a:graphic>
          <a:graphicData uri="http://schemas.openxmlformats.org/presentationml/2006/ole">
            <mc:AlternateContent xmlns:mc="http://schemas.openxmlformats.org/markup-compatibility/2006">
              <mc:Choice xmlns:v="urn:schemas-microsoft-com:vml" Requires="v">
                <p:oleObj r:id="rId8" imgW="3921760" imgH="2974975" progId="Visio.Drawing.15">
                  <p:embed/>
                </p:oleObj>
              </mc:Choice>
              <mc:Fallback>
                <p:oleObj r:id="rId8" imgW="3921760" imgH="2974975" progId="Visio.Drawing.15">
                  <p:embed/>
                  <p:pic>
                    <p:nvPicPr>
                      <p:cNvPr id="0" name="图片 17"/>
                      <p:cNvPicPr/>
                      <p:nvPr/>
                    </p:nvPicPr>
                    <p:blipFill>
                      <a:blip r:embed="rId9"/>
                      <a:stretch>
                        <a:fillRect/>
                      </a:stretch>
                    </p:blipFill>
                    <p:spPr>
                      <a:xfrm>
                        <a:off x="499745" y="4185920"/>
                        <a:ext cx="4104005" cy="2443480"/>
                      </a:xfrm>
                      <a:prstGeom prst="rect">
                        <a:avLst/>
                      </a:prstGeom>
                    </p:spPr>
                  </p:pic>
                </p:oleObj>
              </mc:Fallback>
            </mc:AlternateContent>
          </a:graphicData>
        </a:graphic>
      </p:graphicFrame>
      <p:graphicFrame>
        <p:nvGraphicFramePr>
          <p:cNvPr id="20" name="对象 19"/>
          <p:cNvGraphicFramePr/>
          <p:nvPr/>
        </p:nvGraphicFramePr>
        <p:xfrm>
          <a:off x="4490085" y="3563620"/>
          <a:ext cx="2122805" cy="1218565"/>
        </p:xfrm>
        <a:graphic>
          <a:graphicData uri="http://schemas.openxmlformats.org/presentationml/2006/ole">
            <mc:AlternateContent xmlns:mc="http://schemas.openxmlformats.org/markup-compatibility/2006">
              <mc:Choice xmlns:v="urn:schemas-microsoft-com:vml" Requires="v">
                <p:oleObj r:id="rId10" imgW="1699895" imgH="1010920" progId="Visio.Drawing.15">
                  <p:embed/>
                </p:oleObj>
              </mc:Choice>
              <mc:Fallback>
                <p:oleObj r:id="rId10" imgW="1699895" imgH="1010920" progId="Visio.Drawing.15">
                  <p:embed/>
                  <p:pic>
                    <p:nvPicPr>
                      <p:cNvPr id="0" name="图片 20"/>
                      <p:cNvPicPr/>
                      <p:nvPr/>
                    </p:nvPicPr>
                    <p:blipFill>
                      <a:blip r:embed="rId11"/>
                      <a:stretch>
                        <a:fillRect/>
                      </a:stretch>
                    </p:blipFill>
                    <p:spPr>
                      <a:xfrm>
                        <a:off x="4490085" y="3563620"/>
                        <a:ext cx="2122805" cy="1218565"/>
                      </a:xfrm>
                      <a:prstGeom prst="rect">
                        <a:avLst/>
                      </a:prstGeom>
                    </p:spPr>
                  </p:pic>
                </p:oleObj>
              </mc:Fallback>
            </mc:AlternateContent>
          </a:graphicData>
        </a:graphic>
      </p:graphicFrame>
      <p:sp>
        <p:nvSpPr>
          <p:cNvPr id="28" name="Rectangle 2"/>
          <p:cNvSpPr>
            <a:spLocks noGrp="1" noChangeArrowheads="1"/>
          </p:cNvSpPr>
          <p:nvPr/>
        </p:nvSpPr>
        <p:spPr>
          <a:xfrm>
            <a:off x="140335" y="5715"/>
            <a:ext cx="5955665"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4.2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研究基础</a:t>
            </a:r>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已完成的工作</a:t>
            </a:r>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a:t>
            </a:r>
          </a:p>
        </p:txBody>
      </p:sp>
      <p:graphicFrame>
        <p:nvGraphicFramePr>
          <p:cNvPr id="3" name="表格 2"/>
          <p:cNvGraphicFramePr/>
          <p:nvPr>
            <p:custDataLst>
              <p:tags r:id="rId1"/>
            </p:custDataLst>
          </p:nvPr>
        </p:nvGraphicFramePr>
        <p:xfrm>
          <a:off x="6255385" y="2324100"/>
          <a:ext cx="5273675" cy="3359785"/>
        </p:xfrm>
        <a:graphic>
          <a:graphicData uri="http://schemas.openxmlformats.org/drawingml/2006/table">
            <a:tbl>
              <a:tblPr firstRow="1" bandRow="1">
                <a:tableStyleId>{5C22544A-7EE6-4342-B048-85BDC9FD1C3A}</a:tableStyleId>
              </a:tblPr>
              <a:tblGrid>
                <a:gridCol w="1800225">
                  <a:extLst>
                    <a:ext uri="{9D8B030D-6E8A-4147-A177-3AD203B41FA5}">
                      <a16:colId xmlns:a16="http://schemas.microsoft.com/office/drawing/2014/main" val="20000"/>
                    </a:ext>
                  </a:extLst>
                </a:gridCol>
                <a:gridCol w="1161415">
                  <a:extLst>
                    <a:ext uri="{9D8B030D-6E8A-4147-A177-3AD203B41FA5}">
                      <a16:colId xmlns:a16="http://schemas.microsoft.com/office/drawing/2014/main" val="20001"/>
                    </a:ext>
                  </a:extLst>
                </a:gridCol>
                <a:gridCol w="1155065">
                  <a:extLst>
                    <a:ext uri="{9D8B030D-6E8A-4147-A177-3AD203B41FA5}">
                      <a16:colId xmlns:a16="http://schemas.microsoft.com/office/drawing/2014/main" val="20002"/>
                    </a:ext>
                  </a:extLst>
                </a:gridCol>
                <a:gridCol w="1156970">
                  <a:extLst>
                    <a:ext uri="{9D8B030D-6E8A-4147-A177-3AD203B41FA5}">
                      <a16:colId xmlns:a16="http://schemas.microsoft.com/office/drawing/2014/main" val="20003"/>
                    </a:ext>
                  </a:extLst>
                </a:gridCol>
              </a:tblGrid>
              <a:tr h="826135">
                <a:tc>
                  <a:txBody>
                    <a:bodyPr/>
                    <a:lstStyle/>
                    <a:p>
                      <a:pPr algn="ctr">
                        <a:buNone/>
                      </a:pPr>
                      <a:r>
                        <a:rPr lang="zh-CN" altLang="en-US"/>
                        <a:t>评价指标</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SCN</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LSTM</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VMD-LSTM</a:t>
                      </a:r>
                    </a:p>
                  </a:txBody>
                  <a:tcPr anchor="ctr"/>
                </a:tc>
                <a:extLst>
                  <a:ext uri="{0D108BD9-81ED-4DB2-BD59-A6C34878D82A}">
                    <a16:rowId xmlns:a16="http://schemas.microsoft.com/office/drawing/2014/main" val="10000"/>
                  </a:ext>
                </a:extLst>
              </a:tr>
              <a:tr h="633730">
                <a:tc>
                  <a:txBody>
                    <a:bodyPr/>
                    <a:lstStyle/>
                    <a:p>
                      <a:pPr algn="ctr">
                        <a:buNone/>
                      </a:pPr>
                      <a:r>
                        <a:rPr lang="en-US" altLang="zh-CN">
                          <a:latin typeface="Times New Roman" panose="02020603050405020304" pitchFamily="18" charset="0"/>
                          <a:cs typeface="Times New Roman" panose="02020603050405020304" pitchFamily="18" charset="0"/>
                        </a:rPr>
                        <a:t>RMSE</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2.2582</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3.3239</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3.1076</a:t>
                      </a:r>
                    </a:p>
                  </a:txBody>
                  <a:tcPr anchor="ctr"/>
                </a:tc>
                <a:extLst>
                  <a:ext uri="{0D108BD9-81ED-4DB2-BD59-A6C34878D82A}">
                    <a16:rowId xmlns:a16="http://schemas.microsoft.com/office/drawing/2014/main" val="10001"/>
                  </a:ext>
                </a:extLst>
              </a:tr>
              <a:tr h="633095">
                <a:tc>
                  <a:txBody>
                    <a:bodyPr/>
                    <a:lstStyle/>
                    <a:p>
                      <a:pPr algn="ctr">
                        <a:buNone/>
                      </a:pPr>
                      <a:r>
                        <a:rPr lang="en-US" altLang="zh-CN">
                          <a:latin typeface="Times New Roman" panose="02020603050405020304" pitchFamily="18" charset="0"/>
                          <a:cs typeface="Times New Roman" panose="02020603050405020304" pitchFamily="18" charset="0"/>
                        </a:rPr>
                        <a:t>MAE</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1.6906</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2.6640</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2.4515</a:t>
                      </a:r>
                    </a:p>
                  </a:txBody>
                  <a:tcPr anchor="ctr"/>
                </a:tc>
                <a:extLst>
                  <a:ext uri="{0D108BD9-81ED-4DB2-BD59-A6C34878D82A}">
                    <a16:rowId xmlns:a16="http://schemas.microsoft.com/office/drawing/2014/main" val="10002"/>
                  </a:ext>
                </a:extLst>
              </a:tr>
              <a:tr h="633730">
                <a:tc>
                  <a:txBody>
                    <a:bodyPr/>
                    <a:lstStyle/>
                    <a:p>
                      <a:pPr algn="ctr">
                        <a:buNone/>
                      </a:pPr>
                      <a:r>
                        <a:rPr lang="en-US" altLang="zh-CN">
                          <a:latin typeface="Times New Roman" panose="02020603050405020304" pitchFamily="18" charset="0"/>
                          <a:cs typeface="Times New Roman" panose="02020603050405020304" pitchFamily="18" charset="0"/>
                        </a:rPr>
                        <a:t>MBE</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0.0998</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0.5103</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0.7177</a:t>
                      </a:r>
                    </a:p>
                  </a:txBody>
                  <a:tcPr anchor="ctr"/>
                </a:tc>
                <a:extLst>
                  <a:ext uri="{0D108BD9-81ED-4DB2-BD59-A6C34878D82A}">
                    <a16:rowId xmlns:a16="http://schemas.microsoft.com/office/drawing/2014/main" val="10003"/>
                  </a:ext>
                </a:extLst>
              </a:tr>
              <a:tr h="633095">
                <a:tc>
                  <a:txBody>
                    <a:bodyPr/>
                    <a:lstStyle/>
                    <a:p>
                      <a:pPr algn="ctr">
                        <a:buNone/>
                      </a:pPr>
                      <a:r>
                        <a:rPr lang="en-US" altLang="zh-CN">
                          <a:latin typeface="Times New Roman" panose="02020603050405020304" pitchFamily="18" charset="0"/>
                          <a:cs typeface="Times New Roman" panose="02020603050405020304" pitchFamily="18" charset="0"/>
                        </a:rPr>
                        <a:t>R²</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0.9514</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0.9051</a:t>
                      </a:r>
                    </a:p>
                  </a:txBody>
                  <a:tcPr anchor="ctr"/>
                </a:tc>
                <a:tc>
                  <a:txBody>
                    <a:bodyPr/>
                    <a:lstStyle/>
                    <a:p>
                      <a:pPr algn="ctr">
                        <a:buNone/>
                      </a:pPr>
                      <a:r>
                        <a:rPr lang="en-US" altLang="zh-CN">
                          <a:latin typeface="Times New Roman" panose="02020603050405020304" pitchFamily="18" charset="0"/>
                          <a:cs typeface="Times New Roman" panose="02020603050405020304" pitchFamily="18" charset="0"/>
                        </a:rPr>
                        <a:t>0.9247</a:t>
                      </a:r>
                    </a:p>
                  </a:txBody>
                  <a:tcPr anchor="ctr"/>
                </a:tc>
                <a:extLst>
                  <a:ext uri="{0D108BD9-81ED-4DB2-BD59-A6C34878D82A}">
                    <a16:rowId xmlns:a16="http://schemas.microsoft.com/office/drawing/2014/main" val="10004"/>
                  </a:ext>
                </a:extLst>
              </a:tr>
            </a:tbl>
          </a:graphicData>
        </a:graphic>
      </p:graphicFrame>
      <p:sp>
        <p:nvSpPr>
          <p:cNvPr id="67" name="燕尾形 66"/>
          <p:cNvSpPr/>
          <p:nvPr/>
        </p:nvSpPr>
        <p:spPr>
          <a:xfrm>
            <a:off x="9845040" y="1157605"/>
            <a:ext cx="305435" cy="405130"/>
          </a:xfrm>
          <a:prstGeom prst="chevron">
            <a:avLst/>
          </a:prstGeom>
          <a:solidFill>
            <a:srgbClr val="E944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8" name="燕尾形 67"/>
          <p:cNvSpPr/>
          <p:nvPr/>
        </p:nvSpPr>
        <p:spPr>
          <a:xfrm>
            <a:off x="10119995" y="1157605"/>
            <a:ext cx="305435" cy="405130"/>
          </a:xfrm>
          <a:prstGeom prst="chevron">
            <a:avLst/>
          </a:prstGeom>
          <a:solidFill>
            <a:srgbClr val="F767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69" name="燕尾形 68"/>
          <p:cNvSpPr/>
          <p:nvPr/>
        </p:nvSpPr>
        <p:spPr>
          <a:xfrm>
            <a:off x="10375265" y="1157605"/>
            <a:ext cx="305435" cy="405130"/>
          </a:xfrm>
          <a:prstGeom prst="chevron">
            <a:avLst/>
          </a:prstGeom>
          <a:solidFill>
            <a:srgbClr val="DE85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a typeface="幼圆" panose="02010509060101010101" pitchFamily="49" charset="-122"/>
            </a:endParaRPr>
          </a:p>
        </p:txBody>
      </p:sp>
      <p:sp>
        <p:nvSpPr>
          <p:cNvPr id="70" name="燕尾形 69"/>
          <p:cNvSpPr/>
          <p:nvPr/>
        </p:nvSpPr>
        <p:spPr>
          <a:xfrm>
            <a:off x="10659110" y="1157605"/>
            <a:ext cx="305435" cy="405130"/>
          </a:xfrm>
          <a:prstGeom prst="chevron">
            <a:avLst/>
          </a:prstGeom>
          <a:solidFill>
            <a:srgbClr val="D8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a typeface="幼圆" panose="02010509060101010101" pitchFamily="49" charset="-122"/>
            </a:endParaRPr>
          </a:p>
        </p:txBody>
      </p:sp>
      <p:sp>
        <p:nvSpPr>
          <p:cNvPr id="71" name="KSO_Shape"/>
          <p:cNvSpPr/>
          <p:nvPr/>
        </p:nvSpPr>
        <p:spPr bwMode="auto">
          <a:xfrm>
            <a:off x="10964545" y="1144270"/>
            <a:ext cx="469900" cy="418465"/>
          </a:xfrm>
          <a:custGeom>
            <a:avLst/>
            <a:gdLst>
              <a:gd name="T0" fmla="*/ 803970 w 12269552"/>
              <a:gd name="T1" fmla="*/ 262762 h 11753851"/>
              <a:gd name="T2" fmla="*/ 1171916 w 12269552"/>
              <a:gd name="T3" fmla="*/ 262762 h 11753851"/>
              <a:gd name="T4" fmla="*/ 1241319 w 12269552"/>
              <a:gd name="T5" fmla="*/ 290855 h 11753851"/>
              <a:gd name="T6" fmla="*/ 1475966 w 12269552"/>
              <a:gd name="T7" fmla="*/ 525518 h 11753851"/>
              <a:gd name="T8" fmla="*/ 1670404 w 12269552"/>
              <a:gd name="T9" fmla="*/ 331067 h 11753851"/>
              <a:gd name="T10" fmla="*/ 1721079 w 12269552"/>
              <a:gd name="T11" fmla="*/ 312889 h 11753851"/>
              <a:gd name="T12" fmla="*/ 1800397 w 12269552"/>
              <a:gd name="T13" fmla="*/ 391661 h 11753851"/>
              <a:gd name="T14" fmla="*/ 1782220 w 12269552"/>
              <a:gd name="T15" fmla="*/ 441238 h 11753851"/>
              <a:gd name="T16" fmla="*/ 1547572 w 12269552"/>
              <a:gd name="T17" fmla="*/ 678105 h 11753851"/>
              <a:gd name="T18" fmla="*/ 1419232 w 12269552"/>
              <a:gd name="T19" fmla="*/ 688571 h 11753851"/>
              <a:gd name="T20" fmla="*/ 1275469 w 12269552"/>
              <a:gd name="T21" fmla="*/ 544247 h 11753851"/>
              <a:gd name="T22" fmla="*/ 1050185 w 12269552"/>
              <a:gd name="T23" fmla="*/ 804250 h 11753851"/>
              <a:gd name="T24" fmla="*/ 1256190 w 12269552"/>
              <a:gd name="T25" fmla="*/ 1010268 h 11753851"/>
              <a:gd name="T26" fmla="*/ 1274918 w 12269552"/>
              <a:gd name="T27" fmla="*/ 1130905 h 11753851"/>
              <a:gd name="T28" fmla="*/ 1159247 w 12269552"/>
              <a:gd name="T29" fmla="*/ 1646503 h 11753851"/>
              <a:gd name="T30" fmla="*/ 1063405 w 12269552"/>
              <a:gd name="T31" fmla="*/ 1724724 h 11753851"/>
              <a:gd name="T32" fmla="*/ 965360 w 12269552"/>
              <a:gd name="T33" fmla="*/ 1626672 h 11753851"/>
              <a:gd name="T34" fmla="*/ 968114 w 12269552"/>
              <a:gd name="T35" fmla="*/ 1601884 h 11753851"/>
              <a:gd name="T36" fmla="*/ 1063405 w 12269552"/>
              <a:gd name="T37" fmla="*/ 1179380 h 11753851"/>
              <a:gd name="T38" fmla="*/ 828757 w 12269552"/>
              <a:gd name="T39" fmla="*/ 951327 h 11753851"/>
              <a:gd name="T40" fmla="*/ 627709 w 12269552"/>
              <a:gd name="T41" fmla="*/ 1176075 h 11753851"/>
              <a:gd name="T42" fmla="*/ 508182 w 12269552"/>
              <a:gd name="T43" fmla="*/ 1213533 h 11753851"/>
              <a:gd name="T44" fmla="*/ 100027 w 12269552"/>
              <a:gd name="T45" fmla="*/ 1214084 h 11753851"/>
              <a:gd name="T46" fmla="*/ 2533 w 12269552"/>
              <a:gd name="T47" fmla="*/ 1137515 h 11753851"/>
              <a:gd name="T48" fmla="*/ 75791 w 12269552"/>
              <a:gd name="T49" fmla="*/ 1020735 h 11753851"/>
              <a:gd name="T50" fmla="*/ 100578 w 12269552"/>
              <a:gd name="T51" fmla="*/ 1018531 h 11753851"/>
              <a:gd name="T52" fmla="*/ 451999 w 12269552"/>
              <a:gd name="T53" fmla="*/ 1019633 h 11753851"/>
              <a:gd name="T54" fmla="*/ 971969 w 12269552"/>
              <a:gd name="T55" fmla="*/ 417001 h 11753851"/>
              <a:gd name="T56" fmla="*/ 835918 w 12269552"/>
              <a:gd name="T57" fmla="*/ 416450 h 11753851"/>
              <a:gd name="T58" fmla="*/ 599617 w 12269552"/>
              <a:gd name="T59" fmla="*/ 689122 h 11753851"/>
              <a:gd name="T60" fmla="*/ 541231 w 12269552"/>
              <a:gd name="T61" fmla="*/ 716664 h 11753851"/>
              <a:gd name="T62" fmla="*/ 464667 w 12269552"/>
              <a:gd name="T63" fmla="*/ 640647 h 11753851"/>
              <a:gd name="T64" fmla="*/ 490556 w 12269552"/>
              <a:gd name="T65" fmla="*/ 583358 h 11753851"/>
              <a:gd name="T66" fmla="*/ 745033 w 12269552"/>
              <a:gd name="T67" fmla="*/ 290304 h 11753851"/>
              <a:gd name="T68" fmla="*/ 803970 w 12269552"/>
              <a:gd name="T69" fmla="*/ 262762 h 11753851"/>
              <a:gd name="T70" fmla="*/ 1357685 w 12269552"/>
              <a:gd name="T71" fmla="*/ 0 h 11753851"/>
              <a:gd name="T72" fmla="*/ 1509449 w 12269552"/>
              <a:gd name="T73" fmla="*/ 151764 h 11753851"/>
              <a:gd name="T74" fmla="*/ 1357685 w 12269552"/>
              <a:gd name="T75" fmla="*/ 303527 h 11753851"/>
              <a:gd name="T76" fmla="*/ 1205921 w 12269552"/>
              <a:gd name="T77" fmla="*/ 151764 h 11753851"/>
              <a:gd name="T78" fmla="*/ 1357685 w 12269552"/>
              <a:gd name="T79" fmla="*/ 0 h 117538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2269552" h="11753851">
                <a:moveTo>
                  <a:pt x="5478990" y="1790700"/>
                </a:moveTo>
                <a:cubicBezTo>
                  <a:pt x="7986505" y="1790700"/>
                  <a:pt x="7986505" y="1790700"/>
                  <a:pt x="7986505" y="1790700"/>
                </a:cubicBezTo>
                <a:cubicBezTo>
                  <a:pt x="8170440" y="1790700"/>
                  <a:pt x="8335605" y="1862026"/>
                  <a:pt x="8459480" y="1982155"/>
                </a:cubicBezTo>
                <a:cubicBezTo>
                  <a:pt x="10058584" y="3581364"/>
                  <a:pt x="10058584" y="3581364"/>
                  <a:pt x="10058584" y="3581364"/>
                </a:cubicBezTo>
                <a:cubicBezTo>
                  <a:pt x="11383663" y="2256197"/>
                  <a:pt x="11383663" y="2256197"/>
                  <a:pt x="11383663" y="2256197"/>
                </a:cubicBezTo>
                <a:cubicBezTo>
                  <a:pt x="11477507" y="2177363"/>
                  <a:pt x="11597628" y="2132315"/>
                  <a:pt x="11729010" y="2132315"/>
                </a:cubicBezTo>
                <a:cubicBezTo>
                  <a:pt x="12029311" y="2132315"/>
                  <a:pt x="12269552" y="2372572"/>
                  <a:pt x="12269552" y="2669139"/>
                </a:cubicBezTo>
                <a:cubicBezTo>
                  <a:pt x="12269552" y="2796776"/>
                  <a:pt x="12220753" y="2916904"/>
                  <a:pt x="12145678" y="3007000"/>
                </a:cubicBezTo>
                <a:cubicBezTo>
                  <a:pt x="10546573" y="4621226"/>
                  <a:pt x="10546573" y="4621226"/>
                  <a:pt x="10546573" y="4621226"/>
                </a:cubicBezTo>
                <a:cubicBezTo>
                  <a:pt x="10062338" y="5105494"/>
                  <a:pt x="9671946" y="4692552"/>
                  <a:pt x="9671946" y="4692552"/>
                </a:cubicBezTo>
                <a:cubicBezTo>
                  <a:pt x="8692213" y="3709001"/>
                  <a:pt x="8692213" y="3709001"/>
                  <a:pt x="8692213" y="3709001"/>
                </a:cubicBezTo>
                <a:cubicBezTo>
                  <a:pt x="7156923" y="5480895"/>
                  <a:pt x="7156923" y="5480895"/>
                  <a:pt x="7156923" y="5480895"/>
                </a:cubicBezTo>
                <a:cubicBezTo>
                  <a:pt x="8560831" y="6884896"/>
                  <a:pt x="8560831" y="6884896"/>
                  <a:pt x="8560831" y="6884896"/>
                </a:cubicBezTo>
                <a:cubicBezTo>
                  <a:pt x="8560831" y="6884896"/>
                  <a:pt x="8857379" y="7158939"/>
                  <a:pt x="8688459" y="7707025"/>
                </a:cubicBezTo>
                <a:cubicBezTo>
                  <a:pt x="7900169" y="11220781"/>
                  <a:pt x="7900169" y="11220781"/>
                  <a:pt x="7900169" y="11220781"/>
                </a:cubicBezTo>
                <a:cubicBezTo>
                  <a:pt x="7840108" y="11524856"/>
                  <a:pt x="7569837" y="11753851"/>
                  <a:pt x="7247013" y="11753851"/>
                </a:cubicBezTo>
                <a:cubicBezTo>
                  <a:pt x="6879144" y="11753851"/>
                  <a:pt x="6578843" y="11453530"/>
                  <a:pt x="6578843" y="11085637"/>
                </a:cubicBezTo>
                <a:cubicBezTo>
                  <a:pt x="6578843" y="11025572"/>
                  <a:pt x="6586351" y="10969262"/>
                  <a:pt x="6597612" y="10916706"/>
                </a:cubicBezTo>
                <a:cubicBezTo>
                  <a:pt x="7247013" y="8037378"/>
                  <a:pt x="7247013" y="8037378"/>
                  <a:pt x="7247013" y="8037378"/>
                </a:cubicBezTo>
                <a:cubicBezTo>
                  <a:pt x="5647909" y="6483216"/>
                  <a:pt x="5647909" y="6483216"/>
                  <a:pt x="5647909" y="6483216"/>
                </a:cubicBezTo>
                <a:cubicBezTo>
                  <a:pt x="4277784" y="8014854"/>
                  <a:pt x="4277784" y="8014854"/>
                  <a:pt x="4277784" y="8014854"/>
                </a:cubicBezTo>
                <a:cubicBezTo>
                  <a:pt x="4277784" y="8014854"/>
                  <a:pt x="4056312" y="8288897"/>
                  <a:pt x="3463217" y="8270127"/>
                </a:cubicBezTo>
                <a:cubicBezTo>
                  <a:pt x="681676" y="8273881"/>
                  <a:pt x="681676" y="8273881"/>
                  <a:pt x="681676" y="8273881"/>
                </a:cubicBezTo>
                <a:cubicBezTo>
                  <a:pt x="370114" y="8277635"/>
                  <a:pt x="88581" y="8067410"/>
                  <a:pt x="17260" y="7752073"/>
                </a:cubicBezTo>
                <a:cubicBezTo>
                  <a:pt x="-65323" y="7391688"/>
                  <a:pt x="156149" y="7038811"/>
                  <a:pt x="516511" y="6956222"/>
                </a:cubicBezTo>
                <a:cubicBezTo>
                  <a:pt x="572817" y="6944960"/>
                  <a:pt x="629124" y="6941206"/>
                  <a:pt x="685430" y="6941206"/>
                </a:cubicBezTo>
                <a:cubicBezTo>
                  <a:pt x="3080333" y="6948714"/>
                  <a:pt x="3080333" y="6948714"/>
                  <a:pt x="3080333" y="6948714"/>
                </a:cubicBezTo>
                <a:cubicBezTo>
                  <a:pt x="6623888" y="2841824"/>
                  <a:pt x="6623888" y="2841824"/>
                  <a:pt x="6623888" y="2841824"/>
                </a:cubicBezTo>
                <a:lnTo>
                  <a:pt x="5696708" y="2838070"/>
                </a:lnTo>
                <a:cubicBezTo>
                  <a:pt x="4086342" y="4696306"/>
                  <a:pt x="4086342" y="4696306"/>
                  <a:pt x="4086342" y="4696306"/>
                </a:cubicBezTo>
                <a:cubicBezTo>
                  <a:pt x="3992498" y="4812681"/>
                  <a:pt x="3849855" y="4884007"/>
                  <a:pt x="3688443" y="4884007"/>
                </a:cubicBezTo>
                <a:cubicBezTo>
                  <a:pt x="3399403" y="4884007"/>
                  <a:pt x="3166669" y="4651258"/>
                  <a:pt x="3166669" y="4365953"/>
                </a:cubicBezTo>
                <a:cubicBezTo>
                  <a:pt x="3166669" y="4208284"/>
                  <a:pt x="3234237" y="4069386"/>
                  <a:pt x="3343097" y="3975536"/>
                </a:cubicBezTo>
                <a:cubicBezTo>
                  <a:pt x="5077337" y="1978401"/>
                  <a:pt x="5077337" y="1978401"/>
                  <a:pt x="5077337" y="1978401"/>
                </a:cubicBezTo>
                <a:cubicBezTo>
                  <a:pt x="5171181" y="1862026"/>
                  <a:pt x="5313824" y="1790700"/>
                  <a:pt x="5478990" y="1790700"/>
                </a:cubicBezTo>
                <a:close/>
                <a:moveTo>
                  <a:pt x="9252509" y="0"/>
                </a:moveTo>
                <a:cubicBezTo>
                  <a:pt x="9823713" y="0"/>
                  <a:pt x="10286766" y="463053"/>
                  <a:pt x="10286766" y="1034257"/>
                </a:cubicBezTo>
                <a:cubicBezTo>
                  <a:pt x="10286766" y="1605461"/>
                  <a:pt x="9823713" y="2068514"/>
                  <a:pt x="9252509" y="2068514"/>
                </a:cubicBezTo>
                <a:cubicBezTo>
                  <a:pt x="8681305" y="2068514"/>
                  <a:pt x="8218252" y="1605461"/>
                  <a:pt x="8218252" y="1034257"/>
                </a:cubicBezTo>
                <a:cubicBezTo>
                  <a:pt x="8218252" y="463053"/>
                  <a:pt x="8681305" y="0"/>
                  <a:pt x="9252509" y="0"/>
                </a:cubicBezTo>
                <a:close/>
              </a:path>
            </a:pathLst>
          </a:custGeom>
          <a:solidFill>
            <a:schemeClr val="accent6">
              <a:lumMod val="60000"/>
              <a:lumOff val="40000"/>
            </a:schemeClr>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ea typeface="幼圆" panose="020105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p:cNvPicPr>
            <a:picLocks noChangeAspect="1"/>
          </p:cNvPicPr>
          <p:nvPr/>
        </p:nvPicPr>
        <p:blipFill>
          <a:blip r:embed="rId20"/>
          <a:stretch>
            <a:fillRect/>
          </a:stretch>
        </p:blipFill>
        <p:spPr>
          <a:xfrm>
            <a:off x="8376920" y="-7620"/>
            <a:ext cx="3823970" cy="887730"/>
          </a:xfrm>
          <a:prstGeom prst="rect">
            <a:avLst/>
          </a:prstGeom>
        </p:spPr>
      </p:pic>
      <p:sp>
        <p:nvSpPr>
          <p:cNvPr id="39" name="矩形 38"/>
          <p:cNvSpPr/>
          <p:nvPr/>
        </p:nvSpPr>
        <p:spPr>
          <a:xfrm flipV="1">
            <a:off x="635" y="838200"/>
            <a:ext cx="12191365" cy="76200"/>
          </a:xfrm>
          <a:prstGeom prst="rect">
            <a:avLst/>
          </a:prstGeom>
          <a:solidFill>
            <a:srgbClr val="006835"/>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0" name="矩形 39"/>
          <p:cNvSpPr/>
          <p:nvPr/>
        </p:nvSpPr>
        <p:spPr>
          <a:xfrm flipV="1">
            <a:off x="0" y="838200"/>
            <a:ext cx="711200" cy="76200"/>
          </a:xfrm>
          <a:prstGeom prst="rect">
            <a:avLst/>
          </a:prstGeom>
          <a:solidFill>
            <a:schemeClr val="accent4">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8" name="Rectangle 2"/>
          <p:cNvSpPr>
            <a:spLocks noGrp="1" noChangeArrowheads="1"/>
          </p:cNvSpPr>
          <p:nvPr/>
        </p:nvSpPr>
        <p:spPr>
          <a:xfrm>
            <a:off x="140335" y="5715"/>
            <a:ext cx="5955665" cy="9366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4.3 </a:t>
            </a:r>
            <a:r>
              <a:rPr lang="zh-CN" altLang="en-US" sz="3200" b="1" kern="1200" dirty="0">
                <a:solidFill>
                  <a:schemeClr val="accent6">
                    <a:lumMod val="75000"/>
                  </a:schemeClr>
                </a:solidFill>
                <a:latin typeface="黑体" panose="02010609060101010101" charset="-122"/>
                <a:ea typeface="黑体" panose="02010609060101010101" charset="-122"/>
                <a:cs typeface="黑体" panose="02010609060101010101" charset="-122"/>
                <a:sym typeface="+mn-ea"/>
              </a:rPr>
              <a:t>研究工作计划</a:t>
            </a:r>
          </a:p>
        </p:txBody>
      </p:sp>
      <p:sp>
        <p:nvSpPr>
          <p:cNvPr id="19" name="圆角矩形 18"/>
          <p:cNvSpPr/>
          <p:nvPr>
            <p:custDataLst>
              <p:tags r:id="rId1"/>
            </p:custDataLst>
          </p:nvPr>
        </p:nvSpPr>
        <p:spPr bwMode="auto">
          <a:xfrm>
            <a:off x="910993" y="1874339"/>
            <a:ext cx="2734945" cy="511810"/>
          </a:xfrm>
          <a:prstGeom prst="roundRect">
            <a:avLst/>
          </a:prstGeom>
          <a:solidFill>
            <a:schemeClr val="accent2">
              <a:lumMod val="60000"/>
              <a:lumOff val="40000"/>
            </a:schemeClr>
          </a:solidFill>
          <a:ln w="952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grpSp>
        <p:nvGrpSpPr>
          <p:cNvPr id="25" name="组合 24"/>
          <p:cNvGrpSpPr/>
          <p:nvPr>
            <p:custDataLst>
              <p:tags r:id="rId2"/>
            </p:custDataLst>
          </p:nvPr>
        </p:nvGrpSpPr>
        <p:grpSpPr>
          <a:xfrm>
            <a:off x="997226" y="1758018"/>
            <a:ext cx="9695815" cy="657225"/>
            <a:chOff x="538821" y="1230484"/>
            <a:chExt cx="9695815" cy="657225"/>
          </a:xfrm>
        </p:grpSpPr>
        <p:sp>
          <p:nvSpPr>
            <p:cNvPr id="26" name="矩形 25"/>
            <p:cNvSpPr/>
            <p:nvPr>
              <p:custDataLst>
                <p:tags r:id="rId16"/>
              </p:custDataLst>
            </p:nvPr>
          </p:nvSpPr>
          <p:spPr>
            <a:xfrm>
              <a:off x="2839426" y="1316844"/>
              <a:ext cx="7395210" cy="570865"/>
            </a:xfrm>
            <a:prstGeom prst="rect">
              <a:avLst/>
            </a:prstGeom>
          </p:spPr>
          <p:txBody>
            <a:bodyPr wrap="square">
              <a:spAutoFit/>
            </a:bodyPr>
            <a:lstStyle/>
            <a:p>
              <a:pPr lvl="1" indent="0" algn="l">
                <a:lnSpc>
                  <a:spcPct val="130000"/>
                </a:lnSpc>
                <a:buFont typeface="Wingdings" panose="05000000000000000000" pitchFamily="2" charset="2"/>
                <a:buNone/>
              </a:pPr>
              <a:r>
                <a:rPr lang="zh-CN" sz="2400" b="1" dirty="0">
                  <a:latin typeface="楷体" panose="02010609060101010101" charset="-122"/>
                  <a:ea typeface="楷体" panose="02010609060101010101" charset="-122"/>
                  <a:sym typeface="+mn-ea"/>
                </a:rPr>
                <a:t>阅读</a:t>
              </a:r>
              <a:r>
                <a:rPr lang="zh-CN" sz="2400" b="1" dirty="0">
                  <a:latin typeface="楷体" panose="02010609060101010101" charset="-122"/>
                  <a:ea typeface="楷体" panose="02010609060101010101" charset="-122"/>
                </a:rPr>
                <a:t>国内外文献，学习仿真建模、收集整理资料。</a:t>
              </a:r>
            </a:p>
          </p:txBody>
        </p:sp>
        <p:sp>
          <p:nvSpPr>
            <p:cNvPr id="27" name="矩形 26"/>
            <p:cNvSpPr/>
            <p:nvPr>
              <p:custDataLst>
                <p:tags r:id="rId17"/>
              </p:custDataLst>
            </p:nvPr>
          </p:nvSpPr>
          <p:spPr>
            <a:xfrm>
              <a:off x="538821" y="1230484"/>
              <a:ext cx="2468880" cy="645160"/>
            </a:xfrm>
            <a:prstGeom prst="rect">
              <a:avLst/>
            </a:prstGeom>
          </p:spPr>
          <p:txBody>
            <a:bodyPr wrap="none">
              <a:spAutoFit/>
            </a:bodyPr>
            <a:lstStyle/>
            <a:p>
              <a:pPr algn="just">
                <a:lnSpc>
                  <a:spcPct val="150000"/>
                </a:lnSpc>
                <a:buClrTx/>
                <a:buSzTx/>
                <a:buFontTx/>
              </a:pPr>
              <a:r>
                <a:rPr lang="en-US" altLang="zh-CN" sz="2400" b="1" dirty="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2023.09—2024.06</a:t>
              </a:r>
            </a:p>
          </p:txBody>
        </p:sp>
      </p:grpSp>
      <p:sp>
        <p:nvSpPr>
          <p:cNvPr id="43" name="文本框 42"/>
          <p:cNvSpPr txBox="1"/>
          <p:nvPr/>
        </p:nvSpPr>
        <p:spPr>
          <a:xfrm>
            <a:off x="3078480" y="3101340"/>
            <a:ext cx="6096000" cy="368300"/>
          </a:xfrm>
          <a:prstGeom prst="rect">
            <a:avLst/>
          </a:prstGeom>
          <a:noFill/>
        </p:spPr>
        <p:txBody>
          <a:bodyPr wrap="square" rtlCol="0" anchor="t">
            <a:spAutoFit/>
          </a:bodyPr>
          <a:lstStyle/>
          <a:p>
            <a:r>
              <a:rPr lang="zh-CN" altLang="en-US"/>
              <a:t> </a:t>
            </a:r>
          </a:p>
        </p:txBody>
      </p:sp>
      <p:grpSp>
        <p:nvGrpSpPr>
          <p:cNvPr id="47" name="组合 46"/>
          <p:cNvGrpSpPr/>
          <p:nvPr>
            <p:custDataLst>
              <p:tags r:id="rId3"/>
            </p:custDataLst>
          </p:nvPr>
        </p:nvGrpSpPr>
        <p:grpSpPr>
          <a:xfrm>
            <a:off x="910993" y="2654003"/>
            <a:ext cx="14812729" cy="645160"/>
            <a:chOff x="545933" y="1429239"/>
            <a:chExt cx="14812729" cy="645160"/>
          </a:xfrm>
        </p:grpSpPr>
        <p:sp>
          <p:nvSpPr>
            <p:cNvPr id="48" name="圆角矩形 47"/>
            <p:cNvSpPr/>
            <p:nvPr>
              <p:custDataLst>
                <p:tags r:id="rId13"/>
              </p:custDataLst>
            </p:nvPr>
          </p:nvSpPr>
          <p:spPr bwMode="auto">
            <a:xfrm>
              <a:off x="545933" y="1556239"/>
              <a:ext cx="2727325" cy="511810"/>
            </a:xfrm>
            <a:prstGeom prst="roundRect">
              <a:avLst/>
            </a:prstGeom>
            <a:solidFill>
              <a:srgbClr val="D2A2D5"/>
            </a:solidFill>
            <a:ln w="952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49" name="矩形 48"/>
            <p:cNvSpPr/>
            <p:nvPr>
              <p:custDataLst>
                <p:tags r:id="rId14"/>
              </p:custDataLst>
            </p:nvPr>
          </p:nvSpPr>
          <p:spPr>
            <a:xfrm>
              <a:off x="618831" y="1429239"/>
              <a:ext cx="2468880" cy="645160"/>
            </a:xfrm>
            <a:prstGeom prst="rect">
              <a:avLst/>
            </a:prstGeom>
          </p:spPr>
          <p:txBody>
            <a:bodyPr wrap="none">
              <a:spAutoFit/>
            </a:bodyPr>
            <a:lstStyle/>
            <a:p>
              <a:pPr algn="just">
                <a:lnSpc>
                  <a:spcPct val="150000"/>
                </a:lnSpc>
                <a:buClrTx/>
                <a:buSzTx/>
                <a:buFontTx/>
              </a:pPr>
              <a:r>
                <a:rPr lang="en-US" altLang="zh-CN" sz="2400" b="1" dirty="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2024.07—2024.09</a:t>
              </a:r>
            </a:p>
          </p:txBody>
        </p:sp>
        <p:sp>
          <p:nvSpPr>
            <p:cNvPr id="50" name="矩形 49"/>
            <p:cNvSpPr/>
            <p:nvPr>
              <p:custDataLst>
                <p:tags r:id="rId15"/>
              </p:custDataLst>
            </p:nvPr>
          </p:nvSpPr>
          <p:spPr>
            <a:xfrm>
              <a:off x="3375304" y="1492855"/>
              <a:ext cx="11983358" cy="570865"/>
            </a:xfrm>
            <a:prstGeom prst="rect">
              <a:avLst/>
            </a:prstGeom>
          </p:spPr>
          <p:txBody>
            <a:bodyPr wrap="square">
              <a:spAutoFit/>
            </a:bodyPr>
            <a:lstStyle/>
            <a:p>
              <a:pPr marL="0" lvl="1" indent="0" algn="just">
                <a:lnSpc>
                  <a:spcPct val="130000"/>
                </a:lnSpc>
                <a:buFont typeface="Wingdings" panose="05000000000000000000" pitchFamily="2" charset="2"/>
                <a:buNone/>
              </a:pPr>
              <a:r>
                <a:rPr lang="zh-CN" altLang="en-US" sz="2400" b="1" dirty="0">
                  <a:latin typeface="楷体" panose="02010609060101010101" charset="-122"/>
                  <a:ea typeface="楷体" panose="02010609060101010101" charset="-122"/>
                  <a:sym typeface="+mn-ea"/>
                </a:rPr>
                <a:t>设计实验方案，数据处理，完成开题报告。</a:t>
              </a:r>
              <a:endParaRPr lang="zh-CN" sz="2400" b="1" dirty="0">
                <a:latin typeface="楷体" panose="02010609060101010101" charset="-122"/>
                <a:ea typeface="楷体" panose="02010609060101010101" charset="-122"/>
              </a:endParaRPr>
            </a:p>
          </p:txBody>
        </p:sp>
      </p:grpSp>
      <p:sp>
        <p:nvSpPr>
          <p:cNvPr id="52" name="矩形 51"/>
          <p:cNvSpPr/>
          <p:nvPr>
            <p:custDataLst>
              <p:tags r:id="rId4"/>
            </p:custDataLst>
          </p:nvPr>
        </p:nvSpPr>
        <p:spPr>
          <a:xfrm>
            <a:off x="3771900" y="4243705"/>
            <a:ext cx="6815455" cy="1050290"/>
          </a:xfrm>
          <a:prstGeom prst="rect">
            <a:avLst/>
          </a:prstGeom>
        </p:spPr>
        <p:txBody>
          <a:bodyPr wrap="square">
            <a:spAutoFit/>
          </a:bodyPr>
          <a:lstStyle/>
          <a:p>
            <a:pPr marL="0" lvl="1" indent="0" algn="just">
              <a:lnSpc>
                <a:spcPct val="130000"/>
              </a:lnSpc>
              <a:buFont typeface="Wingdings" panose="05000000000000000000" pitchFamily="2" charset="2"/>
              <a:buNone/>
            </a:pPr>
            <a:r>
              <a:rPr lang="zh-CN" altLang="en-US" sz="2400" b="1" dirty="0">
                <a:latin typeface="楷体" panose="02010609060101010101" charset="-122"/>
                <a:ea typeface="楷体" panose="02010609060101010101" charset="-122"/>
                <a:cs typeface="楷体" panose="02010609060101010101" charset="-122"/>
                <a:sym typeface="+mn-ea"/>
              </a:rPr>
              <a:t>撰写论文，完成</a:t>
            </a:r>
            <a:r>
              <a:rPr lang="en-US" altLang="zh-CN" sz="2400" b="1" dirty="0">
                <a:latin typeface="楷体" panose="02010609060101010101" charset="-122"/>
                <a:ea typeface="楷体" panose="02010609060101010101" charset="-122"/>
                <a:cs typeface="Times New Roman" panose="02020603050405020304" pitchFamily="18" charset="0"/>
                <a:sym typeface="+mn-ea"/>
              </a:rPr>
              <a:t>SCI</a:t>
            </a:r>
            <a:r>
              <a:rPr lang="zh-CN" altLang="en-US" sz="2400" b="1" dirty="0">
                <a:latin typeface="楷体" panose="02010609060101010101" charset="-122"/>
                <a:ea typeface="楷体" panose="02010609060101010101" charset="-122"/>
                <a:cs typeface="楷体" panose="02010609060101010101" charset="-122"/>
                <a:sym typeface="+mn-ea"/>
              </a:rPr>
              <a:t>论文的发表、专利的申请，</a:t>
            </a:r>
          </a:p>
          <a:p>
            <a:pPr marL="0" lvl="1" indent="0" algn="just">
              <a:lnSpc>
                <a:spcPct val="130000"/>
              </a:lnSpc>
              <a:buFont typeface="Wingdings" panose="05000000000000000000" pitchFamily="2" charset="2"/>
              <a:buNone/>
            </a:pPr>
            <a:r>
              <a:rPr lang="zh-CN" altLang="en-US" sz="2400" b="1" dirty="0">
                <a:latin typeface="楷体" panose="02010609060101010101" charset="-122"/>
                <a:ea typeface="楷体" panose="02010609060101010101" charset="-122"/>
                <a:cs typeface="楷体" panose="02010609060101010101" charset="-122"/>
                <a:sym typeface="+mn-ea"/>
              </a:rPr>
              <a:t>完成中期检查，最终撰写毕业论文并修改。</a:t>
            </a:r>
            <a:endParaRPr lang="zh-CN" sz="2400" b="1" dirty="0">
              <a:latin typeface="楷体" panose="02010609060101010101" charset="-122"/>
              <a:ea typeface="楷体" panose="02010609060101010101" charset="-122"/>
              <a:cs typeface="楷体" panose="02010609060101010101" charset="-122"/>
            </a:endParaRPr>
          </a:p>
        </p:txBody>
      </p:sp>
      <p:sp>
        <p:nvSpPr>
          <p:cNvPr id="54" name="圆角矩形 53"/>
          <p:cNvSpPr/>
          <p:nvPr>
            <p:custDataLst>
              <p:tags r:id="rId5"/>
            </p:custDataLst>
          </p:nvPr>
        </p:nvSpPr>
        <p:spPr bwMode="auto">
          <a:xfrm>
            <a:off x="910993" y="3631384"/>
            <a:ext cx="2734945" cy="511810"/>
          </a:xfrm>
          <a:prstGeom prst="roundRect">
            <a:avLst/>
          </a:prstGeom>
          <a:solidFill>
            <a:schemeClr val="accent5">
              <a:lumMod val="60000"/>
              <a:lumOff val="40000"/>
            </a:schemeClr>
          </a:solidFill>
          <a:ln w="952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55" name="圆角矩形 54"/>
          <p:cNvSpPr/>
          <p:nvPr>
            <p:custDataLst>
              <p:tags r:id="rId6"/>
            </p:custDataLst>
          </p:nvPr>
        </p:nvSpPr>
        <p:spPr bwMode="auto">
          <a:xfrm>
            <a:off x="903373" y="4481649"/>
            <a:ext cx="2734945" cy="511810"/>
          </a:xfrm>
          <a:prstGeom prst="roundRect">
            <a:avLst/>
          </a:prstGeom>
          <a:solidFill>
            <a:schemeClr val="accent4">
              <a:lumMod val="60000"/>
              <a:lumOff val="40000"/>
            </a:schemeClr>
          </a:solidFill>
          <a:ln w="952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58" name="圆角矩形 57"/>
          <p:cNvSpPr/>
          <p:nvPr>
            <p:custDataLst>
              <p:tags r:id="rId7"/>
            </p:custDataLst>
          </p:nvPr>
        </p:nvSpPr>
        <p:spPr bwMode="auto">
          <a:xfrm>
            <a:off x="910993" y="5388429"/>
            <a:ext cx="2734945" cy="511810"/>
          </a:xfrm>
          <a:prstGeom prst="roundRect">
            <a:avLst/>
          </a:prstGeom>
          <a:solidFill>
            <a:schemeClr val="accent6">
              <a:lumMod val="60000"/>
              <a:lumOff val="40000"/>
            </a:schemeClr>
          </a:solidFill>
          <a:ln w="952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t" anchorCtr="0" forceAA="0" compatLnSpc="1">
            <a:noAutofit/>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59" name="文本框 58"/>
          <p:cNvSpPr txBox="1"/>
          <p:nvPr>
            <p:custDataLst>
              <p:tags r:id="rId8"/>
            </p:custDataLst>
          </p:nvPr>
        </p:nvSpPr>
        <p:spPr>
          <a:xfrm>
            <a:off x="3761105" y="3626485"/>
            <a:ext cx="6037580" cy="460375"/>
          </a:xfrm>
          <a:prstGeom prst="rect">
            <a:avLst/>
          </a:prstGeom>
          <a:noFill/>
        </p:spPr>
        <p:txBody>
          <a:bodyPr wrap="square" rtlCol="0">
            <a:spAutoFit/>
          </a:bodyPr>
          <a:lstStyle/>
          <a:p>
            <a:pPr marL="0" lvl="1"/>
            <a:r>
              <a:rPr lang="zh-CN" altLang="en-US" sz="2400" b="1" dirty="0">
                <a:latin typeface="楷体" panose="02010609060101010101" charset="-122"/>
                <a:ea typeface="楷体" panose="02010609060101010101" charset="-122"/>
                <a:sym typeface="+mn-ea"/>
              </a:rPr>
              <a:t>进行仿真实验，实验结果分析，撰写论文。</a:t>
            </a:r>
          </a:p>
        </p:txBody>
      </p:sp>
      <p:sp>
        <p:nvSpPr>
          <p:cNvPr id="60" name="矩形 59"/>
          <p:cNvSpPr/>
          <p:nvPr>
            <p:custDataLst>
              <p:tags r:id="rId9"/>
            </p:custDataLst>
          </p:nvPr>
        </p:nvSpPr>
        <p:spPr>
          <a:xfrm>
            <a:off x="1015006" y="5282268"/>
            <a:ext cx="2468880" cy="645160"/>
          </a:xfrm>
          <a:prstGeom prst="rect">
            <a:avLst/>
          </a:prstGeom>
        </p:spPr>
        <p:txBody>
          <a:bodyPr wrap="none">
            <a:spAutoFit/>
          </a:bodyPr>
          <a:lstStyle/>
          <a:p>
            <a:pPr algn="just">
              <a:lnSpc>
                <a:spcPct val="150000"/>
              </a:lnSpc>
              <a:buClrTx/>
              <a:buSzTx/>
              <a:buFontTx/>
            </a:pPr>
            <a:r>
              <a:rPr lang="en-US" altLang="zh-CN" sz="2400" b="1" dirty="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2026.01—2026.06</a:t>
            </a:r>
          </a:p>
        </p:txBody>
      </p:sp>
      <p:sp>
        <p:nvSpPr>
          <p:cNvPr id="61" name="矩形 60"/>
          <p:cNvSpPr/>
          <p:nvPr>
            <p:custDataLst>
              <p:tags r:id="rId10"/>
            </p:custDataLst>
          </p:nvPr>
        </p:nvSpPr>
        <p:spPr>
          <a:xfrm>
            <a:off x="1024531" y="3522048"/>
            <a:ext cx="2468880" cy="645160"/>
          </a:xfrm>
          <a:prstGeom prst="rect">
            <a:avLst/>
          </a:prstGeom>
        </p:spPr>
        <p:txBody>
          <a:bodyPr wrap="none">
            <a:spAutoFit/>
          </a:bodyPr>
          <a:lstStyle/>
          <a:p>
            <a:pPr algn="just">
              <a:lnSpc>
                <a:spcPct val="150000"/>
              </a:lnSpc>
              <a:buClrTx/>
              <a:buSzTx/>
              <a:buFontTx/>
            </a:pPr>
            <a:r>
              <a:rPr lang="en-US" altLang="zh-CN" sz="2400" b="1" dirty="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2024.10—2024.12</a:t>
            </a:r>
          </a:p>
        </p:txBody>
      </p:sp>
      <p:sp>
        <p:nvSpPr>
          <p:cNvPr id="62" name="矩形 61"/>
          <p:cNvSpPr/>
          <p:nvPr>
            <p:custDataLst>
              <p:tags r:id="rId11"/>
            </p:custDataLst>
          </p:nvPr>
        </p:nvSpPr>
        <p:spPr>
          <a:xfrm>
            <a:off x="1014371" y="4390093"/>
            <a:ext cx="2468880" cy="645160"/>
          </a:xfrm>
          <a:prstGeom prst="rect">
            <a:avLst/>
          </a:prstGeom>
        </p:spPr>
        <p:txBody>
          <a:bodyPr wrap="none">
            <a:spAutoFit/>
          </a:bodyPr>
          <a:lstStyle/>
          <a:p>
            <a:pPr algn="just">
              <a:lnSpc>
                <a:spcPct val="150000"/>
              </a:lnSpc>
              <a:buClrTx/>
              <a:buSzTx/>
              <a:buFontTx/>
            </a:pPr>
            <a:r>
              <a:rPr lang="en-US" altLang="zh-CN" sz="2400" b="1" dirty="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2025.01—2025.12</a:t>
            </a:r>
          </a:p>
        </p:txBody>
      </p:sp>
      <p:sp>
        <p:nvSpPr>
          <p:cNvPr id="65" name="矩形 64"/>
          <p:cNvSpPr/>
          <p:nvPr>
            <p:custDataLst>
              <p:tags r:id="rId12"/>
            </p:custDataLst>
          </p:nvPr>
        </p:nvSpPr>
        <p:spPr>
          <a:xfrm>
            <a:off x="3757295" y="5340985"/>
            <a:ext cx="3749040" cy="570865"/>
          </a:xfrm>
          <a:prstGeom prst="rect">
            <a:avLst/>
          </a:prstGeom>
        </p:spPr>
        <p:txBody>
          <a:bodyPr wrap="square">
            <a:spAutoFit/>
          </a:bodyPr>
          <a:lstStyle/>
          <a:p>
            <a:pPr marL="0" lvl="1" indent="0" algn="just">
              <a:lnSpc>
                <a:spcPct val="130000"/>
              </a:lnSpc>
              <a:buFont typeface="Wingdings" panose="05000000000000000000" pitchFamily="2" charset="2"/>
              <a:buNone/>
            </a:pPr>
            <a:r>
              <a:rPr lang="zh-CN" altLang="en-US" sz="2400" b="1" dirty="0">
                <a:latin typeface="楷体" panose="02010609060101010101" charset="-122"/>
                <a:ea typeface="楷体" panose="02010609060101010101" charset="-122"/>
                <a:cs typeface="楷体" panose="02010609060101010101" charset="-122"/>
                <a:sym typeface="+mn-ea"/>
              </a:rPr>
              <a:t>论文送审，毕业答辩。</a:t>
            </a:r>
            <a:endParaRPr lang="zh-CN" sz="2400" b="1" dirty="0">
              <a:latin typeface="楷体" panose="02010609060101010101" charset="-122"/>
              <a:ea typeface="楷体" panose="02010609060101010101" charset="-122"/>
              <a:cs typeface="楷体" panose="02010609060101010101" charset="-122"/>
            </a:endParaRPr>
          </a:p>
        </p:txBody>
      </p:sp>
      <p:pic>
        <p:nvPicPr>
          <p:cNvPr id="66" name="图片 65" descr="1"/>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34315" y="1862455"/>
            <a:ext cx="476885" cy="476885"/>
          </a:xfrm>
          <a:prstGeom prst="rect">
            <a:avLst/>
          </a:prstGeom>
        </p:spPr>
      </p:pic>
      <p:pic>
        <p:nvPicPr>
          <p:cNvPr id="67" name="图片 66" descr="2"/>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24790" y="2764155"/>
            <a:ext cx="491490" cy="491490"/>
          </a:xfrm>
          <a:prstGeom prst="rect">
            <a:avLst/>
          </a:prstGeom>
        </p:spPr>
      </p:pic>
      <p:pic>
        <p:nvPicPr>
          <p:cNvPr id="68" name="图片 67" descr="3"/>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231140" y="3614420"/>
            <a:ext cx="493395" cy="493395"/>
          </a:xfrm>
          <a:prstGeom prst="rect">
            <a:avLst/>
          </a:prstGeom>
        </p:spPr>
      </p:pic>
      <p:pic>
        <p:nvPicPr>
          <p:cNvPr id="69" name="图片 68" descr="4"/>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227965" y="4451350"/>
            <a:ext cx="497205" cy="497205"/>
          </a:xfrm>
          <a:prstGeom prst="rect">
            <a:avLst/>
          </a:prstGeom>
        </p:spPr>
      </p:pic>
      <p:pic>
        <p:nvPicPr>
          <p:cNvPr id="70" name="图片 69" descr="5"/>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234950" y="5379720"/>
            <a:ext cx="457200" cy="457200"/>
          </a:xfrm>
          <a:prstGeom prst="rect">
            <a:avLst/>
          </a:prstGeom>
        </p:spPr>
      </p:pic>
      <p:pic>
        <p:nvPicPr>
          <p:cNvPr id="3" name="图片 2"/>
          <p:cNvPicPr>
            <a:picLocks noChangeAspect="1"/>
          </p:cNvPicPr>
          <p:nvPr/>
        </p:nvPicPr>
        <p:blipFill>
          <a:blip r:embed="rId31"/>
          <a:stretch>
            <a:fillRect/>
          </a:stretch>
        </p:blipFill>
        <p:spPr>
          <a:xfrm>
            <a:off x="10467340" y="1758315"/>
            <a:ext cx="889635" cy="793750"/>
          </a:xfrm>
          <a:prstGeom prst="rect">
            <a:avLst/>
          </a:prstGeom>
        </p:spPr>
      </p:pic>
      <p:pic>
        <p:nvPicPr>
          <p:cNvPr id="4" name="图片 3"/>
          <p:cNvPicPr>
            <a:picLocks noChangeAspect="1"/>
          </p:cNvPicPr>
          <p:nvPr/>
        </p:nvPicPr>
        <p:blipFill>
          <a:blip r:embed="rId31"/>
          <a:stretch>
            <a:fillRect/>
          </a:stretch>
        </p:blipFill>
        <p:spPr>
          <a:xfrm>
            <a:off x="10467340" y="2618740"/>
            <a:ext cx="889635" cy="7937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8361" y="3016273"/>
            <a:ext cx="5451821" cy="1107996"/>
          </a:xfrm>
          <a:prstGeom prst="rect">
            <a:avLst/>
          </a:prstGeom>
          <a:noFill/>
        </p:spPr>
        <p:txBody>
          <a:bodyPr wrap="square" rtlCol="0">
            <a:spAutoFit/>
          </a:bodyPr>
          <a:lstStyle/>
          <a:p>
            <a:r>
              <a:rPr lang="zh-CN" altLang="en-US" sz="6600" dirty="0">
                <a:solidFill>
                  <a:schemeClr val="tx1">
                    <a:lumMod val="75000"/>
                    <a:lumOff val="25000"/>
                  </a:schemeClr>
                </a:solidFill>
                <a:latin typeface="Noto Sans S Chinese Bold" panose="020B0800000000000000" charset="-122"/>
                <a:ea typeface="Noto Sans S Chinese Bold" panose="020B0800000000000000" charset="-122"/>
              </a:rPr>
              <a:t>感谢您的观看</a:t>
            </a:r>
          </a:p>
        </p:txBody>
      </p:sp>
      <p:cxnSp>
        <p:nvCxnSpPr>
          <p:cNvPr id="11" name="直接连接符 10"/>
          <p:cNvCxnSpPr/>
          <p:nvPr/>
        </p:nvCxnSpPr>
        <p:spPr>
          <a:xfrm>
            <a:off x="516835" y="3016273"/>
            <a:ext cx="2892287" cy="0"/>
          </a:xfrm>
          <a:prstGeom prst="line">
            <a:avLst/>
          </a:prstGeom>
          <a:ln w="38100">
            <a:solidFill>
              <a:srgbClr val="006835"/>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TQ1YmU2MjVkOTJiMzM1YmVjODhkYmU0ZDIxMDhiNDY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38.55,&quot;left&quot;:-361.4,&quot;top&quot;:64.75,&quot;width&quot;:1269.5}"/>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651.1,&quot;left&quot;:-171.1,&quot;top&quot;:-31.15,&quot;width&quot;:1082.9}"/>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91.25,&quot;left&quot;:58.1,&quot;top&quot;:112.15,&quot;width&quot;:850.3047244094489}"/>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91.25,&quot;left&quot;:58.1,&quot;top&quot;:112.15,&quot;width&quot;:850.3047244094489}"/>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04.15,&quot;left&quot;:305.85,&quot;top&quot;:302.35,&quot;width&quot;:390.4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04.15,&quot;left&quot;:305.85,&quot;top&quot;:302.35,&quot;width&quot;:390.4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04.15,&quot;left&quot;:305.85,&quot;top&quot;:302.35,&quot;width&quot;:390.4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04.15,&quot;left&quot;:305.85,&quot;top&quot;:302.35,&quot;width&quot;:390.45}"/>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2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59.15,&quot;left&quot;:14.4,&quot;top&quot;:148.55,&quot;width&quot;:897.5}"/>
</p:tagLst>
</file>

<file path=ppt/tags/tag2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3.xml><?xml version="1.0" encoding="utf-8"?>
<p:tagLst xmlns:a="http://schemas.openxmlformats.org/drawingml/2006/main" xmlns:r="http://schemas.openxmlformats.org/officeDocument/2006/relationships" xmlns:p="http://schemas.openxmlformats.org/presentationml/2006/main">
  <p:tag name="TABLE_ENDDRAG_ORIGIN_RECT" val="415*270"/>
  <p:tag name="TABLE_ENDDRAG_RECT" val="492*184*415*270"/>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220.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221.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ags/tag223.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224.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225.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226.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227.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228.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229.xml><?xml version="1.0" encoding="utf-8"?>
<p:tagLst xmlns:a="http://schemas.openxmlformats.org/drawingml/2006/main" xmlns:r="http://schemas.openxmlformats.org/officeDocument/2006/relationships" xmlns:p="http://schemas.openxmlformats.org/presentationml/2006/main">
  <p:tag name="KSO_WM_BEAUTIFY_FLAG" val=""/>
  <p:tag name="KSO_WM_DIAGRAM_VIRTUALLY_FRAME" val="{&quot;height&quot;:328.3,&quot;left&quot;:68.73173228346457,&quot;top&quot;:138.42661417322833,&quot;width&quot;:1169.3566141732285}"/>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328.3,&quot;left&quot;:68.73173228346457,&quot;top&quot;:138.42661417322833,&quot;width&quot;:1169.356614173228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C9F754DE-2CAD-44b6-B708-469DEB6407EB-1">
      <extobjdata type="C9F754DE-2CAD-44b6-B708-469DEB6407EB" data="ewoJIkZpbGVJZCIgOiAiMjUyODQ4MTYzNDk1IiwKCSJHcm91cElkIiA6ICIyNzc1MTQzNjQiLAoJIkltYWdlIiA6ICJpVkJPUncwS0dnb0FBQUFOU1VoRVVnQUFBOEVBQUFGc0NBWUFBQURzVmJzWkFBQUFDWEJJV1hNQUFBc1RBQUFMRXdFQW1wd1lBQUFnQUVsRVFWUjRuT3pkZVhpTTE5OEc4SHN5a3owU3NpSEV2b2VpQ0dMZjBpb3RSUzIxdmVpQ0pwYWlXbXBwcTJncXNWY1gxYWFpMWdwK0NFbUpJZ1N4UmlLVmxHZ1lJcEpJTXRsbmVmL0lOVTh6TWpPWlNZWmc3czkxNWVwa251M01TTks1bjNQTzk0aFVLcFVLUkVSRVJFUkVSR2JBb3FvYlFFUkVSRVJFUlBTc01BUVRFUkVSRVJHUjJXQUlKaUlpSWlJaUlyUEJFRXhFUkVSRVJFUm1neUdZaUlpSWlJaUl6QVpETUJFUkVSRVJFWmtOaG1BaUlpSWlJaUl5R3d6QlJFUkVSRVJFWkRZWWdvbUlpSWlJaU1oc01BUVRFUkVSRVJHUjJXQUlKaUlpSWlJaUlyUEJFRXhFUkVSRVJFUm1neUdZaUlpSWlJaUl6QVpETUJFUkVSRVJFWmtOaG1BaUlpSWlJaUl5R3d6QlJFUkVSRVJFWkRZWWdvbUlpSWlJaU1oc01BUVRFUkVSRVJHUjJXQUlKaUlpSWlJaUlyUEJFRXhFUkVSRVJFUm1neUdZaUlpSWlJaUl6QVpETUJFUkVSRVJFWmtOaG1BaUlpSWlJaUl5R3d6QlJFUkVSRVJFWkRZWWdvbUlpSWlJaU1oc01BUVRFUkVSRVJHUjJXQUlKaUlpSWlJaUlyUEJFRXhFUkVSRVJFUm1neUdZaUlpSWlJaUl6QVpETUJFUkVSRVJFWmtOaG1BaUlpSWlJaUl5R3d6QlJFUkVSRVJFWkRZWWdvbUlpSWlJaU1oc01BUVRFUkVSRVJHUjJXQUlKaUlpSWlJaUlyUEJFRXhFUkVSRVJFUm1neUdZaUlpSWlJaUl6QVpETUJFUkVSRVJFWmtOaG1BaUlpSWlJaUl5R3d6QlJFUkVSRVJFWkRZWWdvbUlpSWlJaU1oc01BUVRFUkVSRVJHUjJXQUlKaUlpSWlJaUlyUEJFRXhFUkVSRVJFUm1neUdZaUlpSWlJaUl6QVpETUJFUkVSRVJFWmtOaG1BaUlpSWlJaUl5R3d6QlJFUkVSRVJFWkRZWWdvbUlpSWlJaU1oc01BUVRFUkVSRVJHUjJXQUlKaUlpSWlJaUlyUEJFRXhFUkVSRVJFUm1neUdZaUlpSWlJaUl6QVpETUJFUkVSRVJFWmtOaG1BaUlpSWlJaUl5R3d6QlJFUkVSRVJFWkRZWWdvbUlpSWpvcVFzTEM4T3hZOGNxZlB5alI0K1FtcHBxOG4ySnlQeUlWQ3FWcXFvYlFVUkVSRVF2dHdFREJzRFIwUkYvL1BGSGhZNmZQSGt5VWxKU0VCRVJZZEo5eTFOY1hJemZmLzhkcjc3NktscTNiZzJSU0ZUcGN6NHRreWRQUnUzYXRmSDExMTlYZFZPSW5tdVNxbTRBRVJFUkVkSHo2dXJWcXdnSkNjR3hZOGNRSEJ4YzRmTWNQSGdRYTlldXJmRHgwNlpOdzdCaHcvVHVrNUtTb25QYjVNbVQ5UjY3WmN1V0NyVkxtd2NQSGtDcFZLSldyVnF3c09EQVV6V1ZTb1g3OSsvRHdzSUN0V3JWcXVybW1EV0dZQ0lpSWlJaUhjNmVQUXNBOFBYMU5Va3Y4TktsUzFHdlhqMkQ5NzkvL3o0V0xseFk2ZXZxQzhpbUZCWVdocUNnSVBUcjF3K2ZmdnFwVWNkS3BWTDg3My8vdytYTGwzSC8vbjNrNStmRDJ0b2F6czdPYU5hc0dkNS8vMzI0dTd0ajllclZPSHo0TU96czdMQnIxeTVZVzF1WGUrNWx5NWJocjcvK1FvTUdEZkRUVHo4QktCbWRvUGJ1dSs5aTBxUkpCcmYxNHNXTEdxL1BrRkVISXBFSU8zYnNRRmhZR0Q3KytHTU1IRGpRNE91UmFURUVFeEVSRVZHRkJBVUY0ZnIxNndidkw1UEp5dTJSVkRPMFoxTGIrZTdmdjY5elcrdldyZkh4eHg4YmRHNlZTb1dvcUNoWVdGaVlMTEJZV2xyQ3lzcktxUDFOcFdiTm1nZ0pDZEY0YnR5NGNTYWJQMzM3OW0yc1c3Y09IaDRlbUQxN3RsSEhob2FHNHNjZmY0UmNMb2RJSkVLTkdqVmdiMitQN094c1NLVlNTS1ZTREJ3NEVPN3U3dWpmdno4T0h6Nk12THc4bkR0M0RqMTc5dFI3N3J5OFBFUkhSd1BRREw2bEhUcDBDR1BIampYNDMyYlBuajFHdlQ0MWYzOS94TVhGWWQyNmRXamV2RGthTldwVW9mTlE1VEFFRXhFUkVWR0ZwS1dsR2RYRHFGUXFqZHAvenB3NXlNek1CS0E5Mkc3WnNrWHYrYlJ0cTFtelpwbm5kQVdqMGthUEhsM3VQZ0RnNmVtcE44Q2JvbGRYTFR3OEhEZHUzTkI0TGpNelUyUFk5Y3laTTAxMlBYMVVLaFVDQXdNaGw4c3hlL1pzZzNwbjFVNmVQSW52dnZzT0lwRUk0OGFOdzlDaFErSGs1Q1NjOS9idDJ6aDY5S2dRVUZ1M2JvMmFOV3NpTlRVVmtaR1I1WWJnMDZkUG83Q3dFQllXRnVqWHIxK1o3WFoyZHNqS3lzS3hZOGNNdXRtUm5KeU1tSmdZV0Z0Ym83Q3cwT0RYQ1pUYzFQajQ0NDh4YTlZc3JGcTFDaHMzYm55dTU1bS9yQmlDaVlpSWlLaENWcXhZWWZDK0ZTbU1KWlZLOGVqUkk0M25uZ3kyMm9haFZxUXdsa1FpUWUzYXRRM2VYeHREQXY1WFgzMWw5SEJvWGNPS3IxNjlpdkR3Y0kzblpESVpEaDQ4S0h6L3JFTHdpUk1uOFBmZmY4UGIyeHZ0MnJVejZ0Z2RPM1lBQUlZTUdZS0pFeWRxYkJPSlJHalVxQkdtVFp1bThWei8vdjJ4YmRzMm5EOS9Ibmw1ZWJDenM5TjUvdVBIandNQVhuMzFWYmk0dUpUWjNyUnBVMXk5ZWhWNzkrNDFLQVNyZjRZYk5XcFU1aWFFSWJ5OHZPRGo0NE16Wjg3ZytQSGpXb001UFYwTXdVUkVSRVQwWE5xK2ZidncySlFWbjdXcFhidDJwWXRER2RLanZHalJva3BkbzdSNTgrWmgzcng1QUlEbzZHZ3NXclNvM0o3b3AyWDM3dDBBZ0hmZWVjZm9ZNU9Ua3dFQXpabzFNL2dZZFFndUtpckM2ZE9uNGV2cnEzVy9qSXdNWEw1OEdRQjA3dE81YzJkY3UzWU55Y25KdUhqeElqcDA2S0R6dXBtWm1jSlNYMTI3ZHExUUNBWkszcWN6Wjg1Z3o1NDlETUZWZ0NHWWlJaUlpT2dwcTF1M0x2cjE2NGVKRXlmQzNkM2Q0T015TWpMdzg4OC9sOXQ3Zk83Y3VjbzJzY0tTazVPUm1KZ0lOemMzbzN1QmdmK0dJOGZHeGhwMEl3RW9lVDlidEdpQmhJUUVSRVpHNmd5NEowNmNnRktwaEoyZEhYeDhmTFR1NCs3dURoOGZIMFJGUldIdjNyMTZRL0QrL2Z0UlhGeU1EaDA2d01QRHc2QzJhdE82ZFd2VXJsMGJTVWxKU0U1T1JvTUdEU3A4TGpJZVF6QVJFUkVSVlpvaEJhLzBGY1p5Y1hIQnQ5OSthL0QxZHU3Y2lhTkhqMnJkcHE4d2x0cXo2QzM5OE1NUGNldldMWTNuMUwySXhucnl1TkRRVURnNE9BQW9tVGVyTHZ4VUZkUVZ0THQyN1ZxaDQ3dDI3WW9qUjQ0Z0xDd00xYXRYeC9qeDR3MHFDTmEvZjM4a0pDVGc4dVhMeU1yS0V1WVJsNlorMzNyMTZxVnpuckpLcGNMdzRjTVJGUldGQ3hjdTRPN2R1NmhidDI2Wi9Rb0xDNFdoNXNPR0RVTnVicTR4TDdPTUxsMjZJRFEwRk9mT25XTUlmc1lZZ29tSWlJaW8wZ3laRDZ1dk1GWlJVWkZSMTN2OCtIRzUxNnpNc2tDRzlFaVdOL1Q0eXkrL05QcDFHY3JlM2w1NGZPSENCV0h1ZEhGeE1SWXVYSWorL2Z1alQ1OCtUK1hhVDRxUGp3ZFEwcnRaRVpNblQ4YlZxMWR4Ly81OWJOKytIWkdSa1pnd1lRTDY5ZXVuZDUzaDNyMTc0L3Z2djRkY0xzZGZmLzJGdDk1NlMyUDd2WHYzY1BQbVRRRDYvejFWS2hYYXRHbURwazJiSWpFeEVhR2hvZkQzOXkrelgwUkVCTEt5c2xDdlhqMTA2dFFKSjA2Y3FORHJWZlB5OGtKb2FLancvdEd6d3hCTVJFUkVSSldtbnF2NzNYZmZJVFEwRko5OTlobjY5dTFiN25IKy92NUlTRWhBang0OURMNldWQ3BGcjE2OThPR0hIeHEwLzQwYk4yQnRiVzMwY2pUNmltVVpFckJMVjZMT3pNeUVUQ1l6NnZxbE9UZzRvRWFOR2xxM0hUNThHSFhxMU1HOWUvZFFWRlNFdTNmdllzV0tGY2pOemNYZ3dZTXJmRTFEM2JsekJ3QlF2Mzc5Q2gxZm8wWU5yRisvSHF0WHIwWlVWQlFlUEhpQWdJQUFoSVNFWU9MRWlUcC9qcHljbk5DeFkwZEVSMGNqTWpLeVRBaFc5d0xYcWxYTG9JQStZc1FJckZpeEF1SGg0WmcwYVpMUTB3NlVCR1YxUWF4aHc0YVpwS0t6ZW9qN3MxckRtZjdERUV4RVJFVDBFc3JMeThQNTgrZVJsSlNFckt5c2N2ZnYycldyemptVHhuanJyYmV3Yjk4KzdOcTFxOXdRZk9MRUNTUWtKTURCd1FGang0N1Z1VjlxYWlvS0Nnb0FBT1BIajhlREJ3OHdiTmd3dEdqUndxQTJ6Wmd4bzBJRm8vUVZ5ekowN3FyYWI3LzlwbEcxMlZpREJ3L1dXdW41OXUzYk9IUG1ETWFPSFl1UWtCRFkyOXRqK2ZMbG1EbHpKdGF1WFFzbkp5ZDA2OVlOUUVtb2Z4clMwdElBd0tpNXprOXljbkxDMHFWTGNmSGlSZno2NjY5SVNFaUFWQ3JGaWhVckVCWVdoczgrK3d6T3pzNWxqdXZmdnoraW82TVJGeGVIdExRMHVMbTVDZHZVSVhqQWdBRUdoZFpldlhwaDgrYk5TRXRMdzZGRGh6QnExQ2hoMjdsejUzRDM3bDA0T1RrWi9XK3ZpN3F0VDFaQXA2ZVBJWmlJaUlqb0paT1ltSWlJaUFnb0ZBclVybDBiVFpvMEVkWlkxY1hUMDlNazE2NWJ0NjVRWk9qNDhlTTZnM0JHUmdZMmJ0d0lBUGpnZ3c4MGV0MEFvS0NnQUVGQlFZaUxpOFBEaHcrRjUyVXlHZnIyN1l2ZXZYdWJwTDNQbXE3cTFnTUdERUMvZnYyMExvZWtMM1Q5OXR0dkFJRFhYMzhkSVNFaEFFcDZQci8rK212czJyVUxYYnAwRWRheU5XYnRYa01WRnhkRExwY0RBR3hzYkNwOXZnNGRPcUJEaHc2SWlZbkJMNy84Z3BzM2IrTEtsU3VZTldzV05tellBRWRIUjQzOXUzYnRDbnQ3ZStUbTVpSXlNaElqUjQ0RUFDRkVpMFFpZzBPcldDekdrQ0ZEc0huelpodzRjQUR2dlBPT01CeGJYZjE2OE9EQjVmNHVHVXI5ZmhVVUZFQ2xVbkc5NEdlSUlaaUlpSWpvSlpLWW1JZ0RCdzZnV2JObTZOKy9QMnh0Ylo5NUd6NzQ0QU9jTzNjTzMzLy9QVHAxNm9ScTFhcHBiRmNvRkZpNWNpVWVQMzZNN3QyN2ExMmIxY3JLQ24vOTlSZVVTaVhxMXEyTGpJd001T1hsNFk4Ly9vQ0ZoUVdPSGoxcVZDR3QrL2Z2QzRXeUdqZHVqSVVMRjFidVJWYVF2a0IyN05neG93cG5YYnAwQ2FkUG4wYTNidDAwaGw0RFFKTW1UYkJnd1FJQS8vVTBQaGtnVGMyVUlhNWp4NDdvMEtFRGR1M2FoYzJiTitQKy9mdllzbVVMWnMyYXBiR2ZsWlVWZXZic2liQ3dNSTBRckY0YjJNdkx5NmoxbndjTkdvU1FrQkE4ZlBnUXAwNmRRcTlldlpDWW1JaHIxNjVCSXBHVUdYSnRLZ3pBenhaRE1CRVJFZEZMSWk4dkR4RVJFV2pXckJuZWZQUE5LbXVIaDRjSFJvOGVqWkNRRUh6OTlkZFl2bnk1MEtPbVVxbnd6VGZmNFBMbHk2aGZ2ejdtekptajlSd1dGaGFZT25VcTJyZHZqd1lOR21EeTVNbkl5OHNUenBPZG5XM1VYRXE1WEM3c1g3cW8xTE9tN3ExOTByaHg0OUN0V3pkTW16Wk42elp0dG0vZkRwRkloSWtUSitxOXBycGF0cXVyYTdudE03WkgwdExTRW1LeEdBcUZBdm41K1dWNjlDdERKQkpoMUtoUitQZmZmeEVlSG83VHAwK1hDY0ZBeVpEb3NMQXdKQ1VsSVNVbEJYWHExQkdLVnVsYU9ra1hCd2NIdlBiYWE5aS9mejlDUTBQUnExY3ZoSWFHQWdENjl1MnJkVWgyUmVYbDVRRW9XU0tLbmkyR1lDSWlJcUtYeFBuejU2RlFLTkMvZi8rcWJnckdqeCtQcTFldjR1TEZpd2dNRE1TY09YTlFYRnlNYjcvOUZuLzk5UmZjM2QyeFlzVUt2YUhwN2JmZjFybnRuWGZld1R2dnZJUGk0bUtjTzNjTzNidDMxN252Z0FFREtqUW51SFR2c2Fub0ttNEZsUFJxNnR2K3BGZGZmUlYxNnRSQnc0WU45ZTZucnBCc1NPR3FpSWdJbkQ1OUdwTW5Uelo0MlI1WFYxZWtwcVlpTFMzTnBDRllyVzNidGdnUEQwZCtmcjdXN1czYXRFSE5taldSbXBxS3lNaEllSGw1SVRNekU5YlcxdWpWcTVmUjF4czJiQmdPSERpQXVMZzR4TVhGNGVUSmt3Q0E0Y09IVitwMVBFazl6TC8wUEdaNk5oaUNpWWlJaUY0U1NVbEpxRjI3ZHBVTWdYNlNoWVVGUHYvOGM4eVpNd2ZoNGVISXpzNUdSa1lHYnQ2OGlYcjE2bUg1OHVVbStmQWZIQnlNblR0M3d0L2YzK1JEVlV2M0hwdktvRUdEZEc2TGpJeEVaR1Nrd2VkNjdiWFhESnFIZStIQ0JRQkFzMmJOeXQwM0p5Y0haOCtlUmE5ZXZRd093ZlhxMVVOcWFpcVNrNVBMRGVUYXBLU2s2SjJUZnZ2MmJRRFF1bll2VU5KajNMZHZYMnpmdmgyblQ1OFdobi83K1BoVXFKZlZ3OE5EbU5jZUVCQ0F3c0pDdEd2WHp1anE0dVZSVjlWV1Y0bW1aNGNobUlpSWlPZ2xrWldWaFNaTm1sUjFNd1RPenM1WXVYSWxQdmpnQTBSSFJ3TW82ZlVLQ2dxQ2s1T1RTYTd4N3J2djRzeVpNOWk0Y1NQcTFLbUREaDA2bU9TOFFQbnJBQnZEd3NJQ0ZoWVdRaUdySitrYkRqMWh3Z1N0NitVYU1qUTNOVFVWc2JHeHNMR3hNV2lab016TVRBQ0dEWjFXYTlXcUZTNWN1SUQ0K1BnS3JVMzg0WWNmNHJYWFhrUGZ2bjNSc21WTG9ZcDFmbjQrd3NQRHNXL2ZQZ0RRZTVOandJQUIyTDU5TzVLVGs1R2JteXM4VjFIRGh3OUhWRlFVcEZJcGdKTGxrMHp0K3ZYckFFcm1MZE96eFJCTVJFUkU5Qkl4VmVYYXlpb29LTUNmZi82SkhUdDJJQzh2RHlLUkNDcVZDbWxwYWZEMzk4Yzc3N3lEUG4zNlZIcjRySjJkSFJZdFdvVHAwNmZqNjYrL3hpKy8vR0t5Z0cwS09UazVlUHo0TVlZT0hZcWhRNGVpcUtoSTU3NEtoVUxyOXMyYk53UDRiejFaWXlwNTc5cTFDeXFWQ2wyN2RqWG9aMFBkaTJwTUwzM1hybDBSSEJ5TXMyZlA0cU9QUGpMNE9MWGk0bUljUEhnUUJ3OGVoRVFpUWZYcTFRRUE2ZW5wd2h6bEVTTkc0STAzM3RCNURrOVBUelJyMWd3M2I5N0V3NGNQNGV6c1hLa2JJbTNhdEVIejVzM3g5OTkvdzlQVEU5N2UzaFUrbHpZcWxRcm56cDBEQUhUcDBzV2s1NmJ5TVFRVEVSRVJrVWtvRkFyRXhzYmkrUEhqK091dnY0VHcyNmRQSDB5Wk1nVnhjWEZDcGQ5MTY5WmgwNlpOOFBiMlJwY3VYZEMrZmZzeUZZNE4xYkJoUTN6d3dRZXdzN016V1FEV3RaU1JMaXFWU3V2emh3NGR3czgvLzJ6UU9hS2pvNFVlYzFPMExTRWhRVmliZU9qUW9WcjNFWXZGQUVxV3JISjBkRVJjWEJ6RVlyRlJhLzQyYnR3WWpSbzF3cTFidDNEbHloVzBhOWZPNEdNQllQbnk1VGg5K2pRU0V4TngvLzU5WkdSa3dOcmFHdlhyMTRlWGx4Y0dEaHlJNXMyYmwzdWUvdjM3Qy9PZisvWHJwN1gzM0JqRGh3L0g4dVhMTVd6WU1KTlhiNzUwNlJMUzB0TGc1ZVVGRHc4UGs1NmJ5c2NRVEVSRVJFUVZKcFZLY2UzYU5WeTZkQWtYTGx5QVRDWURVRkkxK0xYWFhzUHc0Y09GZWFJMWE5WkU5KzdkY2V6WU1SdzRjQUJKU1VtSWlvcENWRlNVc0YwZHFJWU1HUUtsVW9scTFhb2hKeWNINmVucHdqQlpiZFJGdE9SeXVjWisvL3p6RHdEb1BiWWlzck96WVdGaEFSc2JHNGpGWXFGWDc4bmUxdEdqUjJQMDZOSGxuay9mT3NFVmtaYVdoaSsvL0JKS3BSSStQajVvMWFxVjF2M3ExcTBMcVZTSzk5NTdENWFXbHNqSXlFQzdkdTJNZnI5R2poeUpsU3RYWXZmdTNVYUg0RTZkT3FGVHAwNUdIYVBOMjIrL3JiZVkycFBLdTVuUXAwOGZ2Y083eTl1dWozcmQ0YWN4ekpyS3h4Qk1SRVJFUkJXeVk4ZU9NcjJjTFZxMFFOKytmZEczYjErdHZiSldWbFlZT0hBZ0JnNGNpRnUzYnVIMDZkTTRjK1lNL3Zubkg2U21waUkxTlJVWkdSbVlNR0VDUHZyb0l5UW1KZ3JIdG16WnN0dzJ6WjA3RjBsSlNiQ3pzNE5FSWhIbXVPb0tnUlcxYTljdTdOeTVzOHp6N2R1M0Z4NGJPeWZWbUhXQ3QyelpvbmRZOUZkZmZZVzB0RFE0T1RuQno4OVA1MzVUcGt6Qi9mdjNjZmZ1WFFBbHZlcisvdjVHdFJzb1dUN29qei8rd1BuejUzSDE2bFcwYmR2VzZIT1lpMHVYTHVIaXhZdG8xYXFWM3FybTlQUXdCQk1SRVJGUmhZd1lNUUxIamgyRGk0c0xPbmZ1akM1ZHVxQjI3ZG9HSDkrb1VTTTBhdFFJRXlaTVFGWldGdUxqNHhFWEY0ZGV2WHBCSkJLaFhidDJLQ2dvZ0ZLcGhJZUhCNlpPblZydU9iMjh2Q0NUeWFCVUtxRlNxVkN2WGoyMGJ0MGFVNlpNMFhtTXA2ZW5VZTBHU3BZbnVuMzdOaFFLQlZRcUZTUVNDVnEyYkltUkkwY0srNWlxcUpZMjViVjM0c1NKK09LTEw3Qmt5Uks5ODNzYk5XcGtrbmFLUkNMTW5Uc1hIMzMwRVZhdlhvMGZmdmdCMXRiV2xUN3Z5NmF3c0JCcjE2NkZwYVdsempXeTZla1RxWFJOWUNBaUlpS2lGMHBnWUNDNmR1MEtIeCtmcW00S1BRZlMwdEtlK1JxMFI0NGNRV0JnSVByMzc0LzU4K2MvMDJ1L0NKWXZYNDdJeUVqTW16Y1B2cjYrVmQwY3M4VVFURVJFUlBTU1lBaW01MEZhV2hxVVNpWGMzZDFOWGxEcVJhWlVLcEdXbGdZTEM0dG5mbk9DTkhFNE5CRVJFUkVSbVF3RG5uWVdGaFlWcm9CT3BsVzV1dUZFUkVSRVJFUkVMeENHWUNJaUlpSWlJakliRE1GRVJFUkVSRVJrTmhpQ2lZaUlpSWlJeUd3d0JCTVJFUkVSRVpIWllBZ21JaUlpSWlJaXM4RVFURVJFUkVSRVJHYUQ2d1FURVQxSDVISTU3dHk1ZzdTME5PVG41ME9oVUZSMWs0aW9IR0t4R0xhMnRuQnpjMFA5K3ZVaGtmRGpGUkhSODR4L3BZbUluaE1aR1JtSWo0K0hpNHNMV3Jac0NRY0hCNGpGNHFwdUZoR1ZRNkZRUUNhVFFTcVZJam82R3ExYXRZS3pzM05WTjR1SWlIUmdDQ1lpZWc1a1pHUWdMaTRPclZ1M1JvMGFOYXE2T1VSa0JMRllEQ2NuSnpnNU9TRXpNeFBYcjErSGw1Y1hnekFSMFhPS2M0S0ppS3FZWEM1SGZIdzhBekRSUzZCR2pScG8zYm8xNHVQaklaZkxxN281UkVTa0JVTXdFVkVWdTNQbkRseGNYQmlBaVY0U05XclVnSXVMQys3Y3VWUFZUU0VpSWkwWWdvbUlxbGhhV2hvOFBEeXF1aGxFWkVJZUhoNTQ5T2hSVlRlRGlJaTBZQWdtSXFwaStmbjVjSEJ3cU9wbUVKRUpPVGc0SUM4dnI2cWJRVVJFV2pBRUV4RlZNWVZDd1NyUVJDOFpzVmpNSmM2SWlKNVRETUZFUkVSRVJFUmtOaGlDaVlpSWlJaUl5R3d3QkJNUkVSRVJFWkhaWUFnbUlpSWlJaUlpczhFUVRFUkVSRVJFUkdhRElaaUlpSWlJaUlqTUJrTXdFUkVSRVJFUm1RMkdZQ0lpSWlJaUlqSWJETUZFUkVSRVJFUmtOaGlDaVlpSWlJaUl5R3d3QkJNUkVSRVJFWkhaWUFnbUlpSWlJaUlpczhFUVRFUkVSRVJFUkdhRElaaUlpSWlJaUlqTUJrTXdFUkVSRVJFUm1RMkdZQ0lpSWlJaUlqSWJETUZFUkVSRVJFUmtOaGlDaVlpSWlJaUl5R3d3QkJNUkVSRVJsVU9wVkQ3MWE2aFVLdVRsNVQzMTZ4Q1pPNFpnSWlLcXRJU0VCS1NtcG1yZGxwdWJpK2pvYUVSSFIwT2xVajIxTnFoVUtoUVZGYUdvcU9pcFhlTnBTRXRMUTNKeThsTjliMHJMemMxRmZIeDh1ZnNwbFVvb0ZJcEtYU3N4TVJISGpoM0RoUXNYRE5yLzJyVnJPSGJzR0dKall5dDEzZkpFUlVVaEtpcnFoZnRaZWRIdDNic1hlL2Z1UldGaG9kSEhYcnQyemVnUU9tN2NPTXliTjgvb2EybHorUEJoakJzM0RtZlBucTN3T2ViTm00ZHg0OGJwM1NjaUlnSkRodzdGOHVYTGpUcDNSRVFFTWpNekRkNy9ndzgrd05DaFE0MjZCdEhMaENHWWlJZ3FMU0FnQU9QR2pVTndjSENaYmFtcHFWaTBhQkVXTFZxa0VUb3VYcndJcVZScXNqYkV4TVJnMEtCQkdEUm9VSVUrWkZlVjc3NzdEdSsvL3o3Mjd0MzdUSzczMDA4L1llYk1tWmcyYlJya2Nybk8vWVlNR1lMWFgzOGRhV2xwRmJwT1lXRWhsaXhaZ3BVclYrTFJvMGZsN3ArYW1vb0ZDeFpnNWNxVnlNN09OdWdhWVdGaFdMUm9rY0g3cXkxZHVoUkxseTVGVmxhV1VjZFI1V3phdEFtYk5tMUNibTZ1VWNlZE9uVUtjK2ZPeGZ6NTg0MzZOMHROVFVWNmVycXh6ZFJLSXBFZ0xTME5hOWFzZ1V3bXE5QTUwdFBUZGQ0c0JJQ2lvaUlFQndkRHBWSmh5SkFoQnAvMzh1WExDQWdJd1BUcDAzSGp4ZzJEanNuTHl6UDYzNEhvWlNLcDZnWVFFZEd6a1orZmo3ZmVlc3ZvNDBKRFErSGc0S0J6ZTN4OFBGSlNVZ0FBblR0M0xyUGQwdEpTZUt6dVdZeU5qY1hubjM4T0d4c2JMRml3QUowNmRUSzZYVTlTZnppMnRyYUd0YlYxaGM1UjBjQlhIbnQ3ZTlqWjJaVjUvdnIxNjRpS2lvS0xpd3ZlZU9PTnAzTHQwcTVkdTRiRGh3OURKQkpoNHNTSmtFZ3E5akVnT3pzYjI3ZHZoMEtod1BUcDA3WHVzMnZYTHFTbHBhRk5telo0L2ZYWHl6M25Eei84Z01MQ1FyUnExUXJkdW5VcmQvK0NnZ0xzM0xrVDkrN2R3OVNwVTdGNDhXSzBhTkhDNk5kQ3o3OE9IVHFnUTRjT2lJbUpnWitmSDc3NjZpczBhTkRnbWJiQjE5Y1hSNDRjUVVKQ0FpNWZ2b3dlUFhxWS9Cb2hJU0Y0K1BBaHFsV3JocU5IaitMbzBhTmw5aGsyYkZpWjE5NitmWHRNbkRnUndjSEJtRE5uRG1iTm1nVmZYMStUdDQvb1pjSVFURVQwZ2p0MjdCaFdybHhaN240Ly9mU1Q4TmpHeHFiYy9Rc0tDZ3k2dnZxRFd2UG16YldHRUNzcksrR3hlamhqczJiTjRPM3RqVE5uem1EaHdvVjQ3NzMzTUhMa1NJT3VwOHZqeDQ4QkFJNk9qaFUreDd2dnZsdXBOdWd5WmNvVWpCNDlXdU81ckt3c0JBUUVRS1ZTSVQwOVhlOE5pa1dMRnFGbno1NFlNR0NBUWRlTGlJZ284NXhNSnNNMzMzd0RsVXFGVWFOR29VdVhMZ0JLZXFkMjd0eUpLVk9tbEh2eklDOHZEM3YzN3NYdTNidVJsNWNIa1VpRVhyMTZ3Y3ZMUzJPL3hNUkUvUDc3N3dCS2Juam8rMER1NStjSER3OFBuRHAxQ2tESlRSVjlyN04zNzk1WXVIQWhiR3hzc0c3ZE9peGR1aFN4c2JHWVBYczJac3lZZ1lFREIrcDlEZlRpc2JPenc3Smx5eEFVRklUdzhIRE1uRGtUWDMzMUZWNTU1WlZ5Ly9hbHA2ZnIzTWZQencrNXVibmxEbEYrMHBkZmZtblFmcXRXclVMYnRtME4yamN4TVJHN2R1MENBT1RrNUNBc0xFenJmajE3OXRSNkEyRGN1SEdvVWFNRzFxNWRpMisvL1JaRlJVVVlQSGl3UWRjbU1rY013VVJFTHpnYkd4dTR1cm9LMzZ1SG5ycTR1RUFrRWduUGk4Vmk0ZkgvL3ZlL2NzOXJTT0RLeWNuQjhlUEhBUUREaHcvWDJUNDFkVSt3dGJVMWxpNWRpbzBiTjJMLy92MzQ2YWVmSUpWSzRlL3ZyOUZPWTZoN2d0M2QzU3QwL0xNa2s4bncrZWVmNC83OSszQnljaEtDKzkyN2Q2RlNxZURwNmFteHY3Mjl2ZkJZSkJLaGJ0MjZXcytyUGw2YjFhdFg0K0hEaDJqWHJoMG1UWm9rUEw5eTVVcGN1WElGQUhUMjZxYW1wbUxmdm4wSUN3c1RobEEyYnR3WTc3NzdMbHExYXFXeDcrUEhqL0hsbDE5Q29WQmd5SkFoc0xlM3gvSGp4K0htNW9ZMmJkcVVPYmU5dlQxV3JGZ0JvT1FEZnQyNmRTR1R5WEQ0OEdINCt2cWlldlhxR3ZzM2F0UkllT3pvNklpQWdBQjg4ODAzT0hIaUJJS0NnaUNSU0F5K1dVQXZEckZZakxsejU4TFIwUkV4TVRHb1Y2OGVnSktiZ1ByazVlWHAzTWZQenc5aXNiak03MXRwOSsvZmgxd3VMN05QU2tvS0pCSUphdGV1cmZOWWEydHJwS2VuSXlRa0JBQ0VPYnRyMTY0VjlwazVjeVp5YzNPeGJOa3lLSlZLckZpeEFoMDdkdFE0VDBGQkFhWk9uUXFsVW9uV3JWdnJ2TjZnUVlOZ2EydUwzYnQzbzNmdjNnQ0F5Wk1uYTkxWC9mOEpYZHY3OWV1SHNXUEg2cndXMFl1T0laaUk2QVhYclZzM2plR2o2Z0R3eXkrL3dOYldWbmcrUHo5ZjYvSHF1YWh2dnZtbXh0QmxRK3pmdng4RkJRWHc4UEJBcjE2OXRPNVR1ZzE1ZVhsd2NuSUNVQkxtL1B6OFlHdHJpeDA3ZHVEdzRjUG8zcjE3bVErQWhsTFBMNjVWcTFhRmpnZTA5NkJxbzM2UHQyelpvdmNEdERaWldWbVlQWHMyVWxKUzBLUkpFd1FFQktCYXRXcFFxVlI0N2JYWFlHZG5oeTFidHVnODN0cmFXdWYyb1VPSGFwM250M1hyVnB3OGVSSjE2OWJGa2lWTE5HNDBmUHp4eDVnNmRTcjI3ZHVIbmoxN2x2bVFIUmdZaU11WEx3dTkrRjVlWGhnelpveldvZSs1dWJsWXRHZ1JIang0Z0hIanhtSGl4SW1RU3FYWXQyOGZNak16TVduU0pJMGdMSlBKNE8vdmo1eWNITFJwMHdZTEZ5NkVoWVVGamgwN2h2Lzk3Mys0ZVBFaWxpOWZMZ1FlYlNRU0NSWXNXSUFhTldyZzRjT0g2TnUzTHdCZ3pKZ3hPbzlSOC9Qemc0V0Y5dklvSDN6d0FmcjA2VlB1T2Fnc3FWU0tXclZxNlh4dm41U1ptWWthTldxVXU1OUlKTUtISDM2SWlSTW5hdHhjOC9UMDFQbzdNV0RBQUszYi9QMzlrWkNRQURzN096ZzRPSTZ4aG1FQUFDQUFTVVJCVk9qOWZaczhlVEpTVWxMSzdETmd3QURVcmwxYjc3RUFrSnljaklNSEQybzhWL3A3ZjM5L3JGeTVFbEtwRktOR2pkTDY5KytISDM2QVZDcEZVRkJRdWFONCt2YnRpOTY5ZXd2dnZYcXFpaTY2dG1ka1pPZzlqdWhGeHhCTVJHVG1ObTNhQktCa3pwc3hJYml3c0JENzl1MERBSXdhTlVybkIxNHJLeXRJSkJMSTVYS3RCV1dtVEprQ2lVUUNWMWZYQ2dkZ0FMaDE2eFlBdzRaNlZ5VW5KeWUwYjk4ZTllclZ3eWVmZkNMTUZTNG9LSUJLcFlLenM3UEpycVZVS3ZIcnI3OWkrL2J0cUZhdEdwWXRXNll4djF1bFVxRmF0V3A0NTUxM0VCd2NqS0NnSVB6NDQ0OGFjNFV2WHJ3SWlVU0MzcjE3NCsyMzM5WVk4cjVseXhiMDY5Y1A5ZXZYaDB3bXc3eDU4NUNVbElRK2ZmcGd3b1FKQUFBUER3OHNXYklFQ3hjdXhEZmZmSU5mZi8xVk9IOTJkamFzckt6ZzV1YUd6ei8vWFBnWjZ0ZXZIeFFLQlZhdFdvVnZ2LzBXNjlhdDB4alY4Q1NSU0lUcDA2ZERxVlFLNXpDa0dKZStEL3FHVGdjZ1RTcVZDcDk4OGdrS0N3c1JHQmlvOXdhR1FxSEE0c1dMY2UzYU5RUUhCK3Y4MmYvNzc3L1J1SEZqNGVlbXNyL2pPVGs1c0xhMjF2bzNLelkyRnRldlh6Zm9Kb3BhYW1vcTl1L2ZqOG1USjVlWlo5K2dRUVBoNXBvNlVKZSsyYlptelJwRVIwZkQyOXRiYTY5c1ZGUVVEaDQ4aURGanh1anNCWTZKaVVIOSt2WGg1dVlHQUJxdlM5ZU52WEhqeGlFMU5kWGdHMzlFTHh1R1lDSWlxcEFEQnc0SVE1QzFEWE10clZxMWFzak16RVJPVG83VzdSTW5UZ1JRMGpPWWxwYUdCZzBhNkEwOVR5b3NMTVM5ZS9jQWxGUktmWjQ5ZVBBQWx5NWRBbERTRTZtbUhpcis4T0ZEclIrR0F3TURqYjdXbjMvK2llM2J0d01BcWxldmp2WHIxeU1uSndjeW1Rd3ltUXc1T1RrYXc2ZFRVbEt3Wjg4ZWpmbkxvMGFOd3JCaHc4b0VsSUtDQW16ZnZoM2J0Mi9Id1lNSFlXOXZqM3IxNnFGdTNicjQ5Tk5QY2VqUUlZMUt2azJhTkVIRGhnMnhjK2RPamZOMDZkSUZqeDQ5MGpvSHNrbVRKdkR5OHNLaFE0Zkt6RytVeVdTNGQrOGVtamR2TGp4bnlJZC80TCtlL045Ly8xMElEbVFhMTY5ZlIycHFLbXJVcUlFNmRlcm8zVmNzRnNQVzFoWUZCUVVJQ1FuQmpCa3p5dXdUSHgrUHVYUG5vbDY5ZWxpNGNLSFJJeSswOGZUMDFKaENvbmIzN2wwc1diSUVNcGtNN2R1M043alEycjU5KzdCbnp4N2N1blVMUzVjdU5TcWtxMGZHV0ZsWmFmMGRQM1BtREVRaUVWSlRVL0h0dDk4S3o2dVhma3BPVHNhU0pVdGdaV1dGK2ZQbkMzUDlpVWcvaG1BaUlqSmFWbFlXdG0zYlp2RCtUazVPeU16TVJHSmlJb3FLaXZEbzBTT2twYVdWK2ErNjkyM0hqaDF3Y1hFeCtQeTNiOThXd3B4VUtzWGR1M2QxenB1dGFzWEZ4Ymg3OTY3TzdVVkZSVnFIS09wYnprZ1hIeDhmV0ZwYW9yaTRHQ2twS2NKNUpSSUpIQjBkVWI5K2ZUZzZPc0xSMFJGT1RrNDRmdnc0dG0zYmhuNzkrZ25uR0RKa2lOWWVPblV2cW9PRGcxQlFhOTY4ZWJDd3NJQ0ZoUVgyN3QxYjVuVWtKQ1FZL1JvU0V4UGg2ZW1wRVlKVktoVldyRmlCUzVjdXdkL2YvNWxVMWliRHFHOW05TzNiMTZENS9STW1UTURKa3lkeCtQQmhqQmd4QWg0ZUhocmJHelJvQUc5dmIwUkZSV0g2OU9tWVBYdTJNT1M5b3I3NjZxc3l6MlZsWldIaHdvWEl5Y21CbjUrZlVaWEczMy8vZldSa1pPRDQ4ZVA0OU5OUHk0eTQwR2ZTcEVrNGVmSWtUcDgrclhjL2RlMEZOWFVJcmwrL1BvWVBINDd0MjdkajhlTEZHRHQyTENaTW1HRFVUVVFpYzhRUVRFUkVSZ3NPRGk0ejl6UW5Kd2VYTDEvR28wZVBOTDVLcjQyNWVmTm12ZWQxY25LQ201dWJ6dm5MdXNURXhHaDhIeDBkalJFalJoaDFqbWZGMDlPelRDK2xTcVhDUng5OWhNVEVSSzJWcEN2S3djRUJpeGN2aGtLaFFQWHExWVd2MG9XMlNxdFZxeGIyN05tRDdPeHNvVmUxOU5yT3BhbURmT25DUU5xV1hLcnNjRXR0UmE2S2lvcWdVQ2dnbDh1eGV2VnEvUFBQUC9qb280OE1ub05LVDRkTUpzUEpreWNCd09BbGV1clZxNGZldlhzak1qSVN3Y0hCK095enp6UzIyOW5aWWNtU0pmanR0OThRRWhLQ0ZTdFdvS2lvU0dQWkxYMFZvTFZ0cTFHakJqNzg4RVBoKzR5TURNeWJOdzlTcVJSanhvd3hhbzFlb0dRRXd2ejU4NkZVS25IaXhBbDg4c2tuQ0FnSU1EZ0lxd05yNmQ4VmxVb0ZYMTlmOU9uVEJ3c1dMQkNlVncrcExuM3M1TW1UVWJkdVhheGV2Um9oSVNISXpzNkd2NysvVWErQnlOd3dCQk1SbVRIMUVGd0FCdmNjSkNVbDRkQ2hRMldlVDA5UDE5ckRVcHF6c3pPYU5Xc0dkM2QzdUxxNkN2OTFjM09EbTV1YjBZVzUxS0tqb3dFQWRldld4ZDI3ZHhFUkVmSGNobUJ0OXUzYmg4VEVSQURBenovL2pMaTRPRXliTnExTXJ4aFFNdlJiVjBYWHZMeThNczhaTXp4eStQRGg2Tk9uRDJyV3JBbFhWMWY4KysrL09IandJTWFPSGF2UnE2ZGVWZ2tBR2pac3FQZWM0ZUhoQmwvZlVOYlcxc0tTT1JFUkVUaHc0QUFlUEhpQWhRc1hhbDJQbVo2TmlJZ0lZYTNuMGxXOHkvUHV1Ky9peElrVGlJeU14Smd4WThvc0FhUmUxOXJEd3dOaFlXRmxDcGJwcXdDdGJadUhoNGNRZ3RQUzBqQnYzanpjdTNjUFE0WU0wZm03VlI1MUVKYkpaSWlKaWNIOCtmUHg3YmZmYXYxNVRFbEp3Wmt6Wi9EZ3dRUE1uRGxUNzNrTnJaYnY2K3NMRnhjWEJBVUZWV2c5ZUNKend4Qk1SQzhkbFVvRnVWeXU4YVh1TlNyOXZVS2hnRktwTFBPbDdYbGQrNnBVS21FWXJ2cXhzZDhiVWhXMVBOcDZ5MHAvRUtwUm93YUNnNFBMN0ZPNitJOGhJYmk0dUJqZmZQTU5sRW9sdkwyOWNmNzhlV0ZiM2JwMTBhZFBIN2k0dU1ERnhRV3VycTV3ZFhXRmk0c0xJaUlpc0hYclZuaDVlV0h4NHNYR3ZqeTlNakl5Y1BQbVRRQWxjNHUvLy81NzNMcDFDMGxKU1dqU3BJbEpyL1UwaEllSFk5T21UVUxsMndzWExpQTZPaG9YTDE3RStQSGpNWExrU0kwUHdpcVZxdHlLcjZYbDUrY2I5YUZZM1J2VnAwOGZCQWNIWTgrZVBkaXpaNC9XZmNWaWNibnI4cGFleDJoS0Vva0U4K2JOUTdWcTFiQjM3MTZjUDM4ZSsvYnRlMnByUFZkVVJlWnlWOWJaczJkeDl1eFpvNC9yMnJVcmZIeDhLblJObFVvbEZNb3pOb1ExYU5BQVBqNCtpSXFLd3ErLy9vcWxTNWRxM1cvQWdBSG8zNysvOExkSy9iZTBRWU1HK09tbm54QVVGSVN3c0RDc1c3Y09MVnUyTEhQODBhTkhzV3JWS2pScjFreDR6c0xDQXBhV2xoZzhlTERHSEgyMUNSTW1hQzNvOSttbm41WVpVU0dSU0xCa3lSTE1temNQOWVyVjAxZ2pYU3FWQ2plcDFFRmIzNDBDOVExS1k1YU02OUNoQTRLRGc0VVJHWVlzRmFadkgvWDdTdlF5WWdnbW91ZEtjWEV4aW91TFVWUlVWT2EvVHo2bksrQ3FsM0l4aGtna0V1WXlXbGhZUUN3V2EzeXYvcEpJSkJyZmkwUWk0UU9aK3JHeDM5Ky9mNy9TNzF0NTZ3US91ZGFxV21GaG9WSFhDUTRPUm5KeU11enM3REJyMWl5TndLRmVxa1liZGMvT3YvLythOVQxREhIOCtIR29WQ3BJSkJKNGUzc2pQajRlb2FHaE9IVG9VTG05TEZWSkpwTmgwNlpOQ0E4UGg0V0ZCV2JPbklrMzNuZ0R3NGNQUjJ4c0xINzg4VWRzMmJJRnAwNmR3cng1ODRRZVZ4c2JHNTNyUE90YUlrbk55OHRMNi9OS3BSSTNidHpRZUc3TW1ER3dzN1BEMmJObmtaNmVyckhOeHNZR0hoNGVlT3V0dC9TdVd3bzhuZUhRYWlLUkNOT21UWU9EZ3dOaVkyTXhhdFNvU2wzcmFWQ3ZBZjJzWkdkbnc4M05yVUkzZ0NwVGRDbzZPaHBTcVJST1RrN28yYk9uMGNlUEhqMGFVVkZST0hQbURHN2R1cVV6SUphK1dhZisrNlVPbXgwN2RrUllXQmlpb3FLMGhtRDF2TnJTYzRwZFhGeXdldlZxMk52Ylk5MjZkVHIvSmo3NSs2RjI2dFFwNGZHOGVmTmdZMk9EVmF0V0NmUGtrNUtTc0g3OWVzVEh4d3Y3ZGVuU0JUMTY5RURYcmwyMW5oUDRieHFDK2p5R0tqMGxRZHUvcDBLaEVKYVRjM2QzMTN2K3lpdzNSL1M4ZXlsQ2NKNmlDUHZ2WHNENTlDUThLSGlNQWtWeFZUZUp5R2cyWWt2VXNxa09iNWNtR0ZLM0UrekVWdVVmOUp5VHkrVW9LQ2hBWVdFaENnc0xOUjZydjU0TXRxVXIxV3BqWldVRlMwdExXRnBhUWlLUndOcmFHaEtKQkJLSkJHS3hXSGhjK2t2YjgyS3hXQ1BvVm1VUkVWT0VZSFVGWU1DNGRZSkxoeHRENWxPZU9IRUNRRWtoR0dPcTZ0YXZYeDhBY08vZVBjamxjcTF6Unl0Q3FWUUt2VS9kdW5XRG5aMGRmSDE5RVJvYWlxTkhqMkw4K1BFbVhYTElGREl5TXJCLy8zNGNQSGdRMmRuWmNIVjF4Yng1OC9EcXE2OEsrN1JwMHdicjFxM0RrU05Ic0dYTEZwdy9meDROR3phRXZiMjl4ci9wazNUTjlWVUxEQXpVMnJNa2s4bnc5dHR2YXp3WEZCUUVBRmkrZkhtRmg2a0RRR1JrWklXUE5kVDQ4ZU1obDh1RjEyWklEeGlBY251TjdlM3RoWit2aW5yLy9mY3JkYnl4QWdNRDBhUkprd3IzNkZhVWVuajgwS0ZESy9UejBxSkZDN1JwMHdheHNiSDQ3YmZmdFBZR0h6dDJESmFXbHVqYXRTc3NMUzJGNnVQcUd3M2UzdDZ3dDdkSFdGZ1l4bzhmcnhId2twS1NjT25TSmRTdVhSdmUzdDRhNTFYUDNUMSsvTGplbTBqbFVSZXJLbjFkbVV5RytQaDRlSGw1SVNVbEJkbloyZVZPR3dFZ3RNT1lTdE1GQlFYWXMyY1AzbmpqRFRnN08ydGR3emcwTkJUZmZmY2RQRDA5eXl5SFJtUk9YdmlmL0t1UDcyRGp6YU5JSzh5dTZxWVFWVXFCb2hqSnVXbEl6azFEWkdvY1BtcjJHdHBXcjEvVnpTcERxVlNpb0tBQWVYbDV5TS9QUjM1K3ZoQnVud3k4dW5wa0xTMHRZVzF0RFd0cmE5alkyS0JhdFdwQ3VOWDNYNGxFd29xWEpxWmVWZ2d3TEFRUEdEQUF0Mi9mTHJOY1RYazhQVDFoYlcyTndzSkNKQ1VsR1ZWNVZaK29xQ2loNkphNlRVMmFORUdyVnEwUUh4K1BYYnQyWWVyVXFTYTVscWtrSkNSZ3g0NGRzTE96dzVneFl6Qm16Qmg4OU5GSE92ZTN0YlhGMGFOSGNmVG9VU0hRYTV1M3VHWExGcU1xZHBkSFBaZlh6ODlQYTZoNStQQWh0bS9mampGanhzRGQzVjNuZVpZdlgyNnlOdWxUK3NPOHJpa0doWVdGd3BCVUJ3ZUhjc05hZVRjVnFNVGx5NWNSRnhjSGEydnJTczFISFRseUpHSmpZM1gyQmg4NmRBaXhzYkZZdG13Wk9uZnVqSWNQSHdMNGJ5U01qWTBOQmc0Y2lEMTc5bUR2M3IwYWEvMysvUFBQQUVwR09PZ2FZcXkrNFpHYm00djMzMzhmbVptWldMTm1qY1l5WEtVcGxVb0VCQVRnMkxGalpXNGlxVFZ1M0JqZmZmY2Rtalp0aXNtVEp5TTcrNy9QcTN2MzdzVS8vL3dqM0l3c1BYVkF2WnhjVEV3TUhqOStMRHovNUw3cTRBMEFGeTVjUUhCd01DNWR1aVRjeENvdEp5Y0h2LzMyR3dCZ3hvd1pETUJrMWw3b24vNnJqKzlnYWV6dXFtNEdrY21sRldaamFleHVmTkZtSkY2cFh1K1pYVmVoVUdpRTI5S1BTd2ZlSjRuRllpSFEydGpZd01uSlNmaStkTmhWUDJZRjErZkhuVHQzaE1mcWlydjZlaG9IRGh4WW9jSkRGaFlXYU5La0NlTGk0bkRqeGcyVGhHQ2xVb21Ra0JBQUpUM05iZHUyRmJZTkhUb1U4Zkh4T0hEZ0FBWVBIdnhjTFpmazQrT0RvS0FnTkdyVVNIaXZqWm5qV3htbEsrcFdWRVpHaHJBMnNGd3V4K1BIajdGa3lSS2QrMnNyb21hTVFZTUdsYnVQZXVrbDljL1ZybDI3dE82M2FORWlSRWRIbzJiTm10aThlYk5Sdld5azI2Ky8vZ3FnNU85RFpZWi9kKzdjV1NodXQyM2JOaXhhdEVqWXBsQW9jUFBtVFZoWVdBanJrdCsrZlJ2QWZ5Tk5nSkoxclk4Y09ZS1FrQkIwNzk0ZG5wNmVDQThQUjB4TURGcTBhSUhYWG51dDNIYlkyOXZqazA4K3dmejU4L0hGRjE5Z3pabzFaVzcweU9WeXJGaXhBaWRQbmtTM2J0MHdiZG8wcmVlcVZxMGFxbFdycG5YYnBVdVhjTzdjT2VGN2JVWGtidDI2aFZ1M2JwVjVYcjF2NlJCODVzd1pBRUNQSGoyMFhtL0xsaTJReVdRWU9IQWcyclZySnp4LytmSmx4TWJHWXNLRUNWcVBJM29admJBaE9FOVJoSTAzajFaMU00aWVxZzAzajJCTmgvOHoyZEJvbFVxRi9QeDg1T2JtQ2w4eW1VeDRyQzNnV2xsWndkYldGcmEydHFoZXZUcnM3T3lFNzIxdGJXRm5aMWVwb1pKVXRVb3ZMYVR1eWRBM2gxTmZqMTk1V3JkdWpiaTRPTVRFeE9qc05URkdhR2lvOE9Id3lYVXhlL2Z1alczYnR1SE9uVHRZdTNidFV5dk9WRkhhNXVicW0rdXJ6NXR2dnFuMWQxZWJRWU1HYVIxTlVWeGNqS05IOWY4LzllN2R1OWkvZnovQ3dzS0VlWk1lSGg3bzBLRURWQ3FWemxFYXljbkpCcld0TW5idjNvMlRKMDlpNk5DaE9udlZyMXk1SWxRUm56RmpCZ093aVp3K2ZScng4Zkd3c3JLcTlKeHNrVWlFWWNPR1lkMjZkVGgxNmhSU1VsS0VlYTAzYjk1RVlXRWhXclJvSWR5SWk0Mk5CUUNOUWxmVnExZkhsQ2xUc0hidFdpeGF0QWgrZm41WXQyNGRySzJ0TVdmT0hJTnZ3clpyMXc3VHAwL0hoZzBiTUhmdVhDeGZ2bHk0bWZidzRVTUVCQVRnNnRXcmFOMjZOVDc3N0xNS2pWSmF0bXlaem0wZmZ2Z2hidDI2QllsRWdrMmJOcFdwbVAwa3VWeU82T2hvaUVRaWRPL2V2Y3oyNjlldjQ5Q2hRM0J6YzlOWUhxcXdzQkFCQVFGNDlPaVJzRndWa1RsNFlVUHcvcnNYT0FTYVhucHBoZG5ZZi9jQ3h0VHZadkF4S3BVS3VibTV5TW5KUVU1T2prYkl6YzNOMVJpaUxCS0pZR3RyQzN0N2U5U3VYUnYyOXZaQ3lGWC8xNWpLbFBSaWVmVG9FZjcrKzI4QUpXdTlQamszV1QwVTBWUTk5NisrK2lwMjd0eUpxMWV2b3JDdzBPaUNMNlU5ZXZSSUdOYlhwRW1UTWowZklwRUlreVpOd3RLbFMzSGx5aFVjT0hDQXk0WUE4UGYzMXprbldGY0l2bkRoQW80Y09ZS1ltQmhoem42VEprMHdhdFFvOU96WnM5eWZEMzFEdlUyaHFLaElxRkt1YjlqcXBrMmJBSlFVUlhweVR1ajE2OWZMTGZCRjJrbWxVbGhhV21MUW9FRWFCZm9xeXRmWEY3Ly8vanQ4Zkh3MGhxTmZ2WG9WQUlRUkg4WEZ4WWlKaVlHTmpRMWF0V3FsY1k3Qmd3Y2pQajRlRVJFUlFrRDkvUFBQeXcyU1R4b3laQWp5OHZLd1pjc1crUHY3WThhTUdWQW9GTml3WVFOeWMzUGg2K3VMV2JObW1meEc4SUVEQjNEcjFpMTA2TkFCTjI3Y3dKbzFheEFVRktUM2QrM1NwVXVReVdSbzJiSmxtWG9OaFlXRnd2RG91WFBuYXJ5djZwc0RuMzMyR2Rhc1dZT1dMVnVpWnMyYUpuMDlSTStqRnpZRW4wOVBxdW9tRUQwVDU5T1R0SVpndVZ3dUJOMmNuQnhrWjJjTGowc0hYU3NySzlqYjI4UEp5UWwxNnRTQnZiMjk4R1ZuWjhlaHlXWWlJeU1ERW9rRTMzLy92ZkRjN3QyN2hWRGo2K3RiWmdtbEgzNzR3YVJ0ZU9XVlYyQnZiNC9jM0Z4RVJVVnBWR2hWTTZSb1ZuRnhNWll0VzRhOHZEeFlXRmhnMXF4WldudGh1blhyaGs2ZE91SENoUXZZdEdrVEdqZHVyTE02TXVtbUx1SWprVWpRclZzM0RCbzBDTzNidHpmNCtHKysrYVpTMTU4L2Y3N2U3VEV4TVNnb0tJQkVJdEZaYlhmUG5qMjRkZXNXbkoyZHl5eURFeEFRZ0lpSUNFeWRPaFhEaHcrdlZGdk4wY2lSSTlHelowK1Q5YXhiVzF0ajY5YXRaZjRPWEw1OEdjQi9JZmpreVpPUXlXVG8yN2V2MXI4WkxWcTBFRWExT0RrNVZYaEt4Smd4WStEaTRvTEF3RUJoZnJ1RmhRV21UWnVHWWNPR1ZlaWMrb1NGaFdIanhvMnd0cmJHakJremNPYk1HZnp3d3c5WXRtd1pGaXhZb1BQdjQ4bVRKd0ZvSHdxOWZ2MTZwS1NrWVBqdzRSb0YrTlE2ZHV5SWdRTUhJaXdzREN0V3JDZzNjQk85REY3WUVQeWc0SEg1T3hHOUJCNFVQTWJqeHlWZldWbFp5TXJLUWs1T2psRGNCU2pwOVhKd2NFQzFhdFZRcTFZdE9EbzZDdk9RU3E5VFNPYmwwcVZMdUg3OU9tSmlZcENjbkl5bFM1ZWlXN2VTR3lxM2J0M0N3WU1IQVpRVUNCb3laSWpXZFlRQklDUWtCTjdlM2hwRERpdENJcEdnUjQ4ZU9ITGtDQTRmUHF3MUJQL3h4eDg0ZmZvMGhnMGJoajU5K21nOXo1bzFheEFYRndjQUdEWnNtTTdlUHdDWU5Xc1czbnZ2UGVUbjUrT0xMNzVBWUdCZ3BaYUJlWnFLaTRzck5HeTd1Tmp3RlJFcU1pZTRmdjM2ZVAzMTF6Rmd3QUE0T1RscGJOdXdZUU44Zkh6UXZuMzdNamNpWnM2Y2lmejhmT0ZEOTVBaFExQlVWSVN3c0xCeXIvbkdHMi9BMXRZV2YvenhCNzc2Nml1OTg5UlBuejROb0dTTlZHMkZyS1JTcVRCcVlQYnMyV1htWjZyRDB1Yk5tOUdtVFp0Sy81eWJJME9XMHBITDVjTGo4b1lPUHhuMENnb0tFQnNiQzdGWWpOYXRXME9oVU9EMzMzOEhnREpGK3FSU0tUWnUzSWp6NTg5RElwR2dhZE9tdUhIakJ2ejgvREJ5NUVpTUhqM2E0TUNlbnA2T0V5ZE80TkNoUXhvM2w1VktKVTZmUG8zcTFhdWphOWV1ZW44K0RaV2Ftb29mZi93UkowK2VoRVFpd2VlZmZ3NFBEdzhNSFRvVUZ5NWN3S2xUcHpCMzdsejQrZm1WV2Y1S0xwY2pLaW9LZ0dZSWxzdmwrT0dISDNEMDZGRzBhTkVDNzczM25zWnhlWGw1d21lTFYxNTVCZUhoNFlpTGk4T09IVHVldS9XMmlVenRoUTNCWEFhSnpFV0JvbGk0bXkwV2krSGs1QVIzZDNjaDVEbzZPc0xlM3A1M2JRbXBxYWthUlZaS0x6SGk2dW9xZlBDVHlXUll0bXlac0E3bHBFbVRkQlp1QVVxQ2FYQndNQUlEQS9IS0s2OVVxbzJEQmczQ2tTTkhjUFhxVmExRFVHL2Z2bzJFaEFSY3UzWk5hd2orNVpkZmhJSXdYbDVlbURKbGl0N3J1YnU3WTg2Y09WaTJiQmt5TXpQeDhjY2ZJeUFnUUZoejkzbWlVQ2kwRnNZeHBZck1DVjYvZnIzV0Qva3FsUW9IRGh6QS92MzdzWFBuVGpnN08yUGx5cFZsOWp0eDRnUlVLaFh5OHZKZ2FXbXBkUjl0N1ZFcWxScjdxc096alkwTlpzMmFCYURrUFZQUDg5WFdBNlpVS3JGcTFTb1VGaFppOE9EQjZOS2xTNWw5M256elRadzZkUXBYcmx6QjExOS9qZSsvLzk0a29jYWN5ZVZ5L1B2dnYzQjBkSVNkblIxVUtwWEd6UTlqZTQwdlg3Nk00dUppdEdqUkFyYTJ0dGkrZlR2Ky9mZGZ0RzNiVmlpU2xacWFpcDA3ZHlJc0xBeHl1UnllbnA3NDlOTlAwYlJwVTRTRWhHRGJ0bTNZdG0wYkRoNDhpQ0ZEaG1EZ3dJRmxobS9MNVhJa0pDVGc2dFdyT0hmdUhCSVNFcUJTcVNBV2k5R25UeCs4ODg0N3lNek14TmF0V3hFYkc0dlkyRmhJSkJLMGJ0MGFiZHUyUmVQR2pkR29VU080dTdzTHYyZnFwZW1LaTR1Um5wNWVKdUNyNStwR1JrWkNvVkRBMWRVVkN4WXNFRjZYUkNMQjBxVkw4Y2tubnlBdUxnN1RwMDlIang0OTBLdFhMM1RzMkJGMmRuWTRkKzRjWkRJWkdqVnFwSEZENHZmZmZ4Y3FYaGNVRkdEbXpKa2FVNlJLMzVnb2JldldyZWpVcVJPYU5tMXExTDhUMFl2a2hRM0JST2FrYTlldWNISnlnb09EQTVjSW9qTCsrdXN2Yk4yNlZhUFNNd0EwYk5nUVBqNCs4UEh4UWRPbVRTRVNpWkNWbFlYNTgrY0wxWWo3OWV1bmQ2NnNVcWtVMXF1c1hyMTZwZHZhb2tVTHRHdlhEbGV1WE1IR2pSdXhmdjE2alErRi8venpqOUQySjl1eGR1MWFIRDU4R0FEZzV1YUd4WXNYRzdURVI2OWV2WkNZbUlpZE8zZmk4ZVBIbUQxN051Yk1tYU96Z21wVmVSYUZzU295SjFpWHJLd3NJU0NvbHlRNmR1eVkzbU9LaTR2TDNVZE5vVkJvM2RmZTNsNEl3UmN2WGtST1RnN0VZckhXZFhGLyt1a254TWJHb243OStqcVh5aEtKUkpnOWV6WSsrT0FEU0tWU2JOaXdRYVBpTGhsUExCWmp4b3daUWdHMTBscTJiR24wVFFaMWIzL2J0bTJSa0pDQVgzLzlGUktKQkg1K2ZzS1NZOUhSMFZBb0ZMQ3hzY0hZc1dNeGF0UW9ZYTd1K1BIajBhVkxGNnhmdng0M2J0ekFiNy85aHExYnQrSzk5OTVEdTNidEVCNGVqcVNrSkNRbEpXbTB1V25UcHVqWHJ4LzY5dTJyc2V5V3Q3YzM0dUxpOE9lZmYrS3Z2LzdDbFN0WGNPWEtGWTNYNyt6c2pHblRwa0dsVW1tc0M2enV4WTJKaVVGUVVCRFMwdElBbElUZG9VT0hZdUxFaWNLNnhXcTJ0cllJQ2dyQzVzMmJFUm9haXBNblQrTGt5Wk1ZTTJZTUprK2VqRC8vL0JNQXloVEU2dDY5TzdadTNRcWdwRUNkalkwTmF0U29nVHAxNnFCNjllcHdjbkpDOWVyVk5SN3YzYnNYNTgrZlIwQkFBTDc3N2pzV3ZxU1hGa013MFF2Z2VWcmVoWjQvYm01dXVIUG5EaXdzTE9EbDVZVnUzYnFoVzdkdVpZWW8zcng1RTE5Ly9UV2tVaW1Ba3VWSVpzK2VYZVo4cFN2OVptUmtDUE9Hbnl5MlVsSFRwazNEOU9uVGtaU1VoSTBiTjJMbXpKa0FTb0tZT3NpWEhwS2FsWldGVmF0V0NUMStMaTR1V0xWcWxiQm1yaUdtVEptQ25Kd2NIRDU4R0xtNXVmanl5eTh4YU5BZ1RKNDhHWTZPamxDcFZBWUh5ZElLQ2dxRW5oNUQyTmpZdkRBM3NrUWlFVlFxRllxS2lyU0dGdlhQVWVsZUwyMlZ4VlVxRldiUG5vMjR1RGg4K09HSEdERmlSTG5YSGpCZ2dFRTNCZFFmL2w5NTVSV04wUXh5dVJ3Ly92Z2pRa05EWVd0cmk4V0xGMnNVWWlzc0xFUjJkcmJHTkJQMUVsN2g0ZUhvMHFYTGMzZVQ1RVVpRW9tRTkxUE4wdElTYmR1MkZXNWdHS05GaXhaSVNVbEIyN1p0MGFSSkUzaDVlYUYzNzk1bzBLQUJVbE5UaFRXSzMzampEWXdhTlVyckRidW1UWnRpM2JwMWlJcUt3dTdkdTZGUUtEQjA2RkRrNStmanhJa1R5TXJLZ3BPVEV6cDI3SWlPSFR1aWMrZk9ldi9tZVhsNXdjdkxDMzUrZnZqNzc3OXg1Y29WeE1iRzR2YnQyMGhQVDBmTm1qWFJ2WHQzM0xsekI2NnVyaENMeGFoWnM2WlFtZm5WVjE5RjNicDFVVkJRQUY5Zlh3d2JOa3h2OVgxTFMwdE1tellOL2Z2M3grN2R1NUdabVlsSmt5WUJBSnlkbmVIbzZGam1SbENqUm8yd2Z2MTZPRGs1d2RuWjJhQmloSjZlbnBneVpRcGNYRnp3K1BGamsvM2RKM3JlTUFRVEViM2dXclZxaGNXTEYrT1ZWMTRwTTJjVEtPbDkyNzE3TjdadTNTb01mL1AxOWNYSEgzK3MwU3ZvNU9TRXJLd3NuRDU5R3QyN2Q0ZENvUkRXZUsxWnM2Ykpob2cyYXRRSWt5ZFB4azgvL1lTREJ3OGlOemNYMDZkUHg4bVRKNkZTcVdCall5TU13NHVLaXNLYU5XdncrSEZKSFlqYXRXdGorZkxsOFBEd01PcWFJcEVJczJiTmdyVzFOVUpEUXdHVXJGOTc0c1FKVEpzMkRYWHExTkY2UTZBODA2ZFBOMnIvalJzM1BoZHpUdVZ5T1hKemMyRm5ad2V4V0l5elo4OENnTWFjV21kblo2U25wMlBYcmwzdzlmWFZtSEpSVUZBZzlEQ3BxNGhyVTFoWWlOV3JWeU11TGc1T1RrNG1XYWRZTFQ4L1grZTZxQ0VoSWNLL3M0Mk5EUUlDQW9SaG9ES1pUT2N3VUxYVnExZkR5OHZMcUJzdHBHbk5talVBU25yMGxVcGxwWG9VMzN6elRiejU1cHZDOTh1WEx4ZUdWTmVzV1JPQmdZRndkWFUxYUExejlVMUNkUkUrS3lzckJBUUVRQ0tSb0Y2OWVrYTNUU3dXbzFXclZob1ZxbVV5R1lDU3Z6c05HalRBOXUzYnl4eG5ZV0dCSlV1V3dNckt5cWozcG1uVHBsaXdZSUhHYy83Ky9wZytmYnJXVVI3R3JzbnU3dTZPelpzM3MwSTB2ZlFZZ29tSVhnSzZlcTJpbzZPeFljTUdwS2FtQWdEczdPemc3KytQL3YzN2w5blgyOXNiRVJFUitQTExMOHRzR3pCZ2dFbmJPM0xrU055L2Z4OEhEeDVFWkdRa0lpTWpoVzJkTzNlR1dDeUdWQ3JGOHVYTGhibkw3ZHExdytMRmkvWE9YOVpISkJKaCt2VHBhTml3SVRaczJDQ2N0M256NXNLSDFxcFVVRkJnOHZkWmw5emNYSzA5c3UzYXRSTWU5K2pSQS92MjdjT3VYYnV3YTljdW5lZDZzczBxbFFySnljazRjK1lNRGh3NGdJeU1ERmhiVytQenp6OHZNOHl6TXM2Y09ZUEN3a0tJUktJeVBXQmR1blRCdG0zYkFBQ1ptWm5Jek13RThGOFJRZlVRMEJvMWFtZ01CeFdKUkZpL2ZqMXljbklRR0JpSXI3LysybVR0TlZkaXNkamtTKzA5T2FlNEl1RzE5RlFLZlRkeUtzTFFuM050aGR3cXlwVHZNUU13bVFPR1l6WUxTQUFBSUFCSlJFRlVZQ0tpbDFpdFdyV1FuNThQa1VpRXZuMzdZc3FVS1RxSHQvbjUrY0hKeVFuWHIxOUhibTR1UkNLUlVQMzBhU3dkTTJQR0ROU3FWUXRidDI0VjV1RTVPanJpLy83di93QUFIaDRlbUR0M0xsYXRXb1dKRXlkaXhJZ1JKaWtBTjNEZ1FMUnAwd1pyMXF6QnlKRWpoYlZEdFEzbGZaWkVJbEdGcGo3Y3ZYdFhHTEp1S0NjbkozaDVlU0U5UFIwV0ZoYXdzN05EOCtiTmhmY2VBTjU3N3owNE9Eamc4dVhMeU03TzFqaGVMQmJEM2QwZEF3Y09GQ3FPcSszZHUxZGpLYTdHalJ0anpwdzVKaSt5azVpWUNLRGtKb2FMaTR2R3RoWXRXbURxMUttb1ZxMGFuSjJkTmNKdWVXRkJYVG45bjMvK2dWUXFOWHJVQVJFUlBmOUVLbVAvei9tY2VQdlVxcXB1QXRFekU5cGpibFUzZ1o2aVAvLzhVMnZQcktuOC9mZmZFSXZGWlpiVk1BWDFXc0tqUjQvV09oVGJFTm5aMmJoeTVRcUtpNHZoN2UxZHBxYzNNek5Ub3lqTnkrakNoUXNRaThWYTEvQXN6NlZMbDZCUUtOQ3BVeWVkKzJSbFpRRkFoZitOakNHWHl6Rno1a3pVcVZNSC9mcjFnN2UzdDlIem9ELzU1Qk5ZVzF0ckZCVFNKalUxRlptWm1VWVArZFJIUFhkODZOQ2hCczJoMU9kcC8yNXJFeGdZaUs1ZHUyb3RGRVpFUkNVWWdvbGVBQXpCTDdlcStLQk1SRThmUXpBUjBmT0pDNHNTRVJFUkVSR1IyV0FJSmlJaUlpSWlJclBCRUV4RVJFUkVSRVJtZ3lHWWlJaUlpSWlJekFaRE1CRVJFUkVSRVprTmhtQWlJaUlpSWlJeUd3ekJSRVJFUkVSRVpEWVlnb21JaUlpSWlNaHNNQVFURVJFUkVSR1IyV0FJSmlJaUlpSWlJclBCRUV4RVJFUkVSRVJtZ3lHWWlJaUlpSWlJekFaRE1CRVJFUkVSRVprTmhtQWlJaUlpSWlJeUd3ekJSRVJWVEN3V1E2RlFWSFV6aU1pRUZBb0Z4R0p4VlRlRGlJaTBZQWdtSXFwaXRyYTJrTWxrVmQwTUlqSWhtVXdHT3p1N3FtNEdFUkZwd1JCTVJGVEYzTnpjSUpWS3E3b1pSR1JDVXFrVXJxNnVWZDBNSWlMU2dpR1lpS2lLMWE5ZkgrbnA2Y2pNekt6cXBoQ1JDV1JtWmlJOVBSME5HalNvNnFZUUVaRVdETUZFUkZWTUlwR2dWYXRXdUg3OU9vTXcwUXN1TXpNVDE2OWZSNnRXclRnbm1Jam9PU1dwNmdZUUVSSGc3T3dNTHk4dnhNWEZ3Y1hGQlI0ZUhuQndjT0NIYUtJWGdFS2hnRXdtZzFRcVJYcDZPcnk4dk9EczdGelZ6U0lpSWgwWWdsOVN0VzJyWTFROUgxekt2STJURDI5VWRYT2VDMk1iZEFjQXlKVks3UHozak1ISDlYUnZDVnV4RlFBZ01qVU9SVXI1VTJrZmtiT3pNN3AwNllJN2QrNGdJU0VCZVhsNXJCcE45QUlRaThXd3M3T0RxNnNydW5UcEFvbUVINitJaUo1bi9DdjlFdkp4YllhUFd3eUdXR1NCVjJzMHhOWE1POGdxenF2cVpsVzVFWjVkQUFERlNvVlJJWGhDZzU1d3NhNEdBRGo3S0pFaG1KNHFpVVNDeG8wYm8zSGp4bFhkRkNJaUlxS1hFa1B3UytoS1pqSnlpdk5SM2NvZTFTeHRNYmxSSDZ6KysxQlZOd3UvZEo2TzZsYW1XUzdpN1ZPclRISWVRNGhFSXVHeENpcmhjVGUzNXVqZzNBamZKMFl3R0JNUkVSRVJ2U0FZZ2dFTTgreU1BYlhhR0gzY3RBdWJNYnY1SVBSMGIybXl0cGdpM09VcGloQ1NmQXArelY0SFVES2M5OC9VV01RKy9yZlM1NjV1YVlkbGJVY2JmZHphdjhNcWZlMnFZbEdxZnB4S1ZSS0N2VjBhWTNielFSQ0xMTkRBM2cwcjQvZmpZVUZXVlRXUmlJaUlpSWdNeEJBTXdGRmlpMW8yMWF1NkdTWjFQRFVPZyt0MFFBTjdOOXpNdVcreTg0b3R4S2hqYTN5eEQyc0x6UisxZS9uLzM5NmR4MGRkM2ZzZmY4OU1sc21lRUxLVEhRaGgzMlJUZGtTOTd0ZWxYckZvWGRDcXJWclJhdXV2dDk1YnJiWHVTNmxGSzJxOUNvcWcxUXFvN0dBSUJTRkFDRXZJQmlFaFpDWDdOcjgvWW9iczY1QWh6T3Y1ZU9UQjVEdmY3L21lVEFMa1BlZWN6eW5vZGh2QlpsK1pESDFmME54NGRpQlk5VCtPQkpzTUp0VmI2bVV5R0JYdEVhZ1h4dDZtUDZmODB5WnZOQUFBQUFBNGR3akJrb3ByeWx1Rk1xTU1Dbkh6a3lSVjF0VW92L3BNbTljV1ZKZGFydzB5KzhqSjBGREpOYmV5V0xXV3RndmFOQTF6bllYQkZSYy9JbWRqNzZyRER2VUswZitNdXJuSDE5ZlUxK25tYlMvM3FnOHRQZmp2djNmN21yY24zeWQvRjArYjlxTXJqSWJXSThIZm56NnMvS296K3UySTYrWHQ3QzR2WnpmOTk4Z2I5ZWFSdGRxUWU2RFArd2dBQUFDZ2F3akJrbFlkVDlTcTQ0bk5qZzMxQ3RHZnhpNlFKSDJYdTA5dnA2NXY4OXIzMGpicHZiUk5rcVRYSnZ4TTRlNytrcVQvM2IreTNZQzc1S0s3clNQUFBRbUQ5cFJmZGFiTktkdE5BMnBmcnRkdHlkUEpyQ3RDeCtxYmswa3FzbEV4c01ZM05pU3AxbEp2Zlh6NHpFazl2dWREL1g3VVRkWTNObjQ1OUFvWlpkQjN1ZnR0Y204QUFBQUF0a1VJYnNkSTN3anI0LzFGV1hic3lWazltVUxjR3oyWjl0d2JONFJQbHJ1VHF5VHBnN1ROM2I1K3N2OWdQUngzcGN3bVozazZ1ZW5kWXh0czBxK21JL0cxTFFwZzVWWVc2emQ3UDlMdlI5NmtDSStCeXE0b1ZHSkJxazN1Q3dBQUFNRDJDTUh0R08zVEVJSXRrdllYbng4aHVLOUhqVmROWDl5bjk3c2lkSngxTkxrbklmaFk2U2xyWUwwOFpJeFdIVTlVVVhWWnIvcGtOQmlzVTlmckxQVk5ha09mVlZoZHB0OG1mYXlINHE3UTI2bnJkYWFtb2xmM0JBQUFBSER1OUgyVm9YN0FaREJxbUUrb0pDbWpMRStsdFpYZGJzUFNabHc2TjB3R28rNk9uYU9oWGlHZG5qdGhRSXl1SHpUSkxnV216clc4cWhKdHpqc29TWEl4T3VtR1FaTjczYVpMazRKZU5mVnRyL0dXcE5MYVNqMXpZSlZ5cVJBTkFBQUFuTmN1dkNSa0F4TUdSTXZWNkN4SjJsVnd6TTY5NlppM3M1dWVIbld6cmd3ZHIvOGVlV09IUVRqR00waUxoMTJ0aGRFejlPcUVPelRXTDZydk90cEh2anl4Mi9yNHNwRFI4bkh1M2I3RXpzMUNNSHNCQXdBQUFQMGQwNkhiTUN0d2hQWHgxcndVTy9ha1k0TzlnclY0Mk5VS012dElrbHhNVGhyazd0L3Vsa2pEZmNMa1pHeDQzeVBNYllEK2UrU05Tc2cvb3IrbmJsQmVWVW1mOWZ0Y09sYWFxNVNTRXhybUhTWm5vNVBtQm8zVVp5Mktualc2Sm15aTVvZU03ckM5cG5zRWV6aVo5Y2JFTzd2Y2wvNVc5QXdBQUVkWFcxc3JKNmR6Kyt1eHhXS1J3V0RvL01SK3FMaTRXR2F6V2E2dXJ2YnVDdEFoUW5BTG5rNW1UUndRSzBrNlhwNnY5TEs4SHJWanE4blFINlJ2YmpWMTJTRHAya0VYNmJhbzZkYm5DcXBMOWZ6QkwzU29KTHZkdHI0OHNWcy9GS2JyNTRNdjFRaWZjRW5TRlA4aEd1OFhyWlZaTzdUcStNNW1vNTJOVmEvcm1sUkU3Zy9XblV6U01POHdTZEw4SDljR3QvWDk4SEZ4NzFieEw2UEIwT2ZGd2dBQXVGQ3NYTGxTMmRuWldyQmdnUVlNT0wvK1A3VllMSHJqalRlMGVmTm0vZTF2ZjVPZm4xK24xMXg2NmFVS0R3L1gzLy9lOVRlOVQ1MDZwWWNmZmxoWFhubWxGaXhZMEpzdTl6bUx4YUpISG5sRTBkSFJXclJva2R6YzNGcWQ4ODQ3NzJqRGhnMzZ3eC8rb0RGanh0aWhsMERYRUlKYnVEZ2d6bHBjYVd2ZW9WNjBaSnNZL004VHU1cDlIbVQyMGMrSHpOY1kzMGpyc2YzRldYb3g1Y3N1RllFNlVWNmdwNUtXYTI3UVNOMGVQVk5lem01eU1UcnB2eUl2MXF6QUVmcnIwWFZLS3NxVUpLMCt2dE1tWDBOZjIzYjZrTzZLblNNUEoxY0ZtWDAwMWk5S1B4U20yN3RiQUFBNHRMVnIxeW90TGUyOERIOEdnMEVXaTBWRlJVVjY5OTEzOWF0Zi9lcWMzT2VUVHo1UlhsNWVzNUhndlh2MzZ0VlhYKzF5RzIyRjdqdnY3UHBNdFo3ZTQ5Ly8vcmNPSERpZyt2cjZOZ053V1ZtWk5tellJTFBaclBqNGVKdjJwNldjbkJ6VjE5Y3JPRGhZUmlPck8xdXlXQ3c2ZWZLa2pFYWpnb09EN2QyZDh4SWh1QW1qd2FCcnd5WmFQNzhsY3BwdWlaelc2cnkxSi9mcXIwZS9hWFc4NmNRV2k0M3JZaGtOQmwwZE5rSC9GWG14ZGIxeXZjV2k1Wm5iOVVsbWdpeXlhTEJuc0RYQUh6NXpzc01SM085eTkydG5RYXJ1aUo2bDJVRU4wNzlEM0h6MTlLaWJ0ZkZVc3Q0OXRrRWxmVnpsMlBUaks5amJrZWZxK2xwdHpVdlJaU0VONzBET0R4blRaZ2orSUcxenAxV29KL3NQMWhQRHI3TitmdC9PcFJTL0FnQ2dCODZjT1NOSjh2YjI3dmExdDkxMm04MzY0ZXpzckhmZmZiZlY4YnZ1dWt1Yk4yL1cyclZyZGVPTk55b2lJcUtOcTN1dW9LQkFYMy85dGZ6OS9YWEREVGRZajFkVVZDZ3JxM2M3a2ZUMitxNzQ3TFBQSkVrLy9lbFAyM3grOWVyVnFxeXNWRUJBZ0pZc1dkSnVPMmF6V2ZmZWUyK1ArL0gxMTEvcnBaZGUwdHk1Yy9YRUUwLzBxSTN5OG5MOTVDYy9VV1ZscFlLQ2d2VEJCeDkwT2tYOTBrc3Z0VDcrd3gvK29NbVRPeTdBdW1IREJqMzc3TE9TcEcrK2FaNGJiTmxXV3d3R2d6NysrR045L2ZYWCt0V3ZmcVVycnJpaTAyc2NEU0c0aWVrQjhRcHg2M3o2UzNzTVRXS3dMYXREai9RSjE4OWlaaXZHTTlCNjdGUmxzVjQ1OUM4ZExEbGhQZmFiRWRmTHo4VkRrblRMdGxjN0RaTWxOUlY2N2ZEWDJuRHFnQjRjY3BrQ2YxeGJQQ3R3dUNiNFJXdFoyaWF0ejkzZjZyck90azVxK2Z6bngvK3RaV2tiTzd4R2tuVnFkNzBOcGw5dk9IVkFjNEpHYXVPcFpLMXVaMDF3VnpTK0pvM0crRVpxWFU1U2I3c0hBSUJEcWErdlYwRkJnZno4L0hxMDVqWTNOOWRtZlhGMmRtN3p1SWVIaHhZc1dLQ2twS1J6c2k3NHZmZmVVMVZWbFI1KytPRm1hMmFuVEpuU2FiQlp1blNwVnF4WTBTdzh0ZFRkcWRsdHVmUE9POXNNMUZsWldkcTFhNWZpNCtOMTBVVVhTV3ErdHJtOHZGd3JWNjYwbnR0UktQZjI5dTV4Q0U1TFM5TnJyNzJtME5CUVBmTElJejFxUTVJMmJkcWt5c3FHM1Y5eWMzTzFaODhlalJzM3Jzdlh2L3JxcTNyNzdiZmw3dDY3QXF5MmJxdXBYL3ppRnpwdzRJQmVlKzAxeGNYRktTWW14cWJ0OTNlRTRCOFpaTkJONFZPc24yZVVuZGErSDZjRk43b3FiTHoxc1llVHEvNDB0dmwwbnFBbWdlbnBVVGVyMXRMMmxqb0JybWZmQVcycjBOSS8wcllvSWYrSVF0eDhkVWYwYkUzeWoyMzIvTHFjSkwxN2JJTXE2MnFhSFhjenVVaHFHQ0d1cW0vK1hFZjJGV1hxNGQzdjZjNlkyWm9YUEVxUzVPWHNwbDhNdlZ5emcwYm9yMGUrMFltS2dpNjMxMVBtSC90ZlpZTXF6SWRLc25WUDRsc3FyaW52VlR0TnYxZVNOTVl2aWhBTUFFQTM1ZWJtV3FldjlrUm5JYkcwdEZUWFgzOTlsODV0NnAxMzN0RzJiZHRhSFgvcXFhY2tOVXdMN2loNFptVmx0Zmw4eTBDYWtaR2h0V3ZYS2o0K1huUG56cFhVOVFKWnk1Y3YxNG9WS3hRWEY2ZUhIbnFvMC9QUGhmZmZmMThXaThVNjdicXNyRXozM251djVzNmRxNS85N0dmNjhNTVBkZWJNR2JtNHVPaHZmL3Vid3NMQ1dyWHgybXV2NlovLy9LZW1USm5TNnJtdXNGZ3NldkhGRjFWYlc2dEhIbm1rVjhXMzFxeFpJMGtLRFExVmRuYTIxcXhaMCtVUWJES1psSmVYcDdmZWVxdFhRZHpXYmJYazdPeXNYLzNxVjNyNDRZZjF3Z3N2Nk0wMzM3eGdDN0wxQkNINFI3T0NoaXZNL1d5UmhwU1NFM3JuMlBwbTV6UU53U2FEc2NNaVNVRXRSaERiMDFZYjdrNE5mNm1kalU0YTdYdDJLazV1WmJHV0hGMm52WVVacmE0eHlDQlhVOE03bTVWMTFWMjZkMU1WZGRWNjg4aGFKZVFmMGYxRDVtdUFpNmVraGxIb2NBLy9aaUc0clVBY2JQYTFqdVMyZkw0clFkVEY2R1NkeWwxV1c5WHQvcmVsdHdGWWtnYTVOLy8ralBhTmtNbGc3SGZGd2dBQWpzTmk2elZaTnRBNE1uaSsvUkplVUZEUXBhbkU3dTd1dXVTU1M1b2RXN2R1WGJ2SFczcnR0ZGRrc1ZqMDBFTVB5V0F3S0RzN1c0OCsrcWd1di94eUxWeTRzTTNYeFdLeDZOMTMzOVZISDMya2lJZ0lQZlBNTTUwR3Y4cktTaDA1Y2tTalJvMnlIcXVycTlOenp6Mm4rZlBuVzBkeG0wcFBUOWV1WGJzMGYvNzhOdHM4Y09DQU5tN2NxSXN2dmxoang0NlYxRkRrTERjM1Y1V1ZsVHB4NG9RKysrd3orZnI2cXJpNFdLKzg4b3IrL09jL04ydGp5NVl0K3VjLy82bWdvQ0E5OE1BREhYNE43ZG00Y2FNT0hUcWtTWk1tV2Z2UkU1bVptVXBPVHBiSlpOS3R0OTZxRjE1NFFWdTNibFZwYWFrOFBUMDd2WDdXckZuNjdydnY5SzkvL1V1elo4L3VWVjlzMlZaYlJvd1lvV25UcG1uNzl1MWF2MzY5OVEwWUVJSWxOWXg2M2hFOTA5N2RhQ1d6N0xUZU92cU5IaGg2bVZabDdkUW5XUW50N2xYcjRlUnFuWXhkV2x2WjQzdnVLamltaDNZdDA2TEI4elE5WUppK09MRkxDYWVQTkR1bnJhMS8zcDU4bi94L0RNNDkyUnFvTVhSTDBwbHpzQmE1Si8vbEdpUU5hYkh2c3FlVFdXUDlvczc3L2FNQkFJN0oyZGxaeGNYblgrMkt3NGNQUzVJT0hUcWs4dkp5bTAvOTdLbkhIbnRNanozMldMTmoxZFhWdXV1dXU1cjEwZC9mdjlWNTY5YXRhL2Q0VTE5Ly9iV1NrcEowNDQwM0tqYTJZWGJma2lWTGRQcjBhWjArZmJyTkFGeGFXcW9YWDN4Ulc3ZHVWV1JrcEY1NDRRWDUrSFErd1BMU1N5OXArL2J0V3JwMHFVSkNHbjZIMmJsenB6WnUzS2pZMkZqRnhjV3BvcUpDUVVGQjFtcysvL3h6ZmZubGx4bzVjbVNyOWl3V2k1WXNXU0luSnljdFdyUklrbFJTVXFLVksxZksxOWRYUC8zcFQvVzczLzFPdGJXMWV1eXh4L1Q5OTkvcnl5Ky8xQ2VmZktLYmJycEpVc1AzL01VWFg1VEJZTkRqanovZTQrLzlKNTk4SWtuV2RudXFjUlI0d29RSm1qdDNydjcydDcrcHBLUkU2OWV2MXpYWFhOUHA5ZE9tVGRPWk0yZVVtSmlvbDE1NlNVdVhMdTN4cUxRdDIyclBUVGZkcE8zYnQrdlRUejhsQkRkQkNKWjBSL1JNZVR0Mzd5OWtTVTJGcnQveVFyTmpuMDEvMUxvdStDZmJYbEYxTzRGMXlVVjNLOWpzSzBtdDJtaHA0NmxrSlJWbHFxQzZ0TVB6UEozTTFzZTlDY0dOMTcrVThxVTI1TzYzVm9vKzF3TE1aNmNkNTNmeXRYYVhoNU9ySG9tN3N0dlhoYm9Qc0w2dWxYVTFNdjg0MG41SndEQkNNQURndkJRYUdxcFRwMDdadXh1dEhEeDRVRkxEcU9TLy8vMXZ6Wmd4dzg0OWF0L3k1Y3VWazVQVEt0ejJSSFoydHBZc1dhTFEwRkRkY2NjZHNsZ3MyckpsaXhJU0V1VHI2OXZtMnRqRXhFUzk4c29yMWlyU0owNmMwSWNmZnFqYmJydXQweUI4MjIyM2FjdVdMWHJqalRmMHpEUFBTR3FZSG00eW1UUm56aHpkZDk5OUNnNE8xa3N2dlNSSnFxcXEwdnIxNnhVWEY2ZTR1TGhXN1czZnZsMkhEaDFTZUhpNDFxOWZyN3E2T3FXa3BLaTh2RnozMzMrL05tN2NxSDM3OW1uT25EbWFOR21TUm80Y3FkMjdkMnZwMHFYeThmRlJXRmlZZnZPYjM2aWlva0tMRnkvVzZOR2plL1E2cHFlbjY4aVJJd29JQ09qVmFHbGRYWjIrL2ZaYlNkSzhlZlBrNU9Ta1diTm02WXN2dnRDYU5XdTZGSUxyNit2MThNTVA2KzY3NzliSmt5ZjF6anZ2NlA3NzcrOVJmMnpaVm50R2poeXBrSkFRSFQxNlZPbnA2WXFLaXJKcCsvMlZ3NGZnZU84d3pRbHFlT2VycXI3R1dubTV1OHdtWjJzQXJyZFkyZzNBUFhGMzdCeE5IVGkweStmSGVBWjFXcnlxcVJ1M3Z0VG05TjYrM0ZZbzNOM2Yraml2c3NSbTdVWjRETlFUOGRjcHhNMjMyOWVPOWprN0ZYMzc2VU9LOXc1VGlKdWZKdmtQbHF2UnVWdnJyZ0VBNkF0anhvelJGMTk4b2NPSEQydm8wSzcvN25BdTFkYldLaWtwU1FhRFFVYWpVWnMyYlRwdlEzQkdSb2FXTDErdWdRTUhhczZjT2IxdWIrdldyYXFvcUZCVlZaV3V2dnJxWmxQVkgzend3V2JUYjQ4ZE82WjMzMzFYQ1FrSk1wbE11dnZ1dTNYeHhSZnJqVGZlME9yVnEvWHR0OTlxd1lJRnV1NjY2OW90M0JVUkVhSHJycnRPbjM3NnFiWnQyNmE0dURodDI3Wk5reWRQVm1CZ29LNjQ0Z3E5Ly83Nyt1Njc3elIzN2x5dFhidFc1ZVhsN1lhL3dNQ0dvcXhaV1ZsNi8vMzM1ZXpzck9ycWFnMGJOa3p6NTg5WFVWR1J0bTdkcWwvODRoZVNHcWFOLy9HUGY5VEREeitzRjE5ODBYcitRdzg5MU81MDY2NzQvdnZ2SlVsVHAwN3RjUnVTbEpDUW9NTENRcm03dTJ2YXRJWWRZQzY5OUZKOThjVVhPbkxraUk0ZE85WnBBU21MeGFLQWdBRGRkOTk5ZXVtbGw3UjY5V3JObWpWTHc0Y1A3M1ovYk5sV1I2Wk1tYUpWcTFacHg0NGRoT0FmT2Z6R1dwbmxwNVZaZmxxUzlGRkc2OElJWGVWaE9qdDFvU2RyY2gxZHJPZlphVG5ISy9KdDB1YkZBWEg2MDVnRlBRckFralF0NE93N292dUxzclFqLzZna3lkM2tvbGxCdHYzSENRQUFXeGd5WklqaTR1TDA3YmZmbmpjandydDI3VkpsWmFYaTQrTTFkdXhZN2RpeFE2V2x0cDMxWlF2VjFkWDZ3eC8rb0txcUt0MTY2NjNOZ21aaFlhRmVmLzMxWmg4ZEhXODBjZUpFVFpnd1FiTm16ZEkxMTF5amdRTUhTcEptekppaG1UTm5xcTZ1VGp0MjdOQnZmL3RiM1hmZmZVcElTTkNRSVVQMCt1dXY2eWMvK1lrR0RScWs1NTU3VGs4KythUk1KcFBlZXVzdDNYdnZ2ZnJoaHgvYS9UcCsrdE9meXNmSFIwdVdMTkhLbFN0VlYxZG5MUnAyODgwM0t5QWdRRXVYTGxWWldabFdybHlwQVFNR2FOYXNXVzIyTldUSUVMMzk5dHY2OU5OUHRXYk5HbzBmUDE0R2cwRVBQdmlnREFhRC9Qejg5Tnh6enpVTDh3YURRZUhoNGFxdnIxZFZWWlVDQXdON0hlcVNrNU1scWMwcDI5M1JPQlY2eG93WjFtbkh3NFlOVTNoNHVLU0dxZXRkZGNVVlYyakNoQW5XZ2wwMU5UMGZITEZsVzIwWk1hSmhPOVRHMXhHRVlKWFZWdW41ZzE5b2IyR0d2amkrcThmdEJEVUpXcmFlemx0UVhhb1RGUVVkZnBRMEtRSlZVbFBlNmZubm01RSs0ZGJIdDBmUDFQdFRIbWhWZmJ1clRBYWpmaFl6UzR1SFhXMmR3dHpkdlgxOW5OMDEzSHVRcElhUi9kMkZhZHFhbDJKOS9zclE4ZTFkQ2dDQVhjMmRPMWZlM3Q3NjhNTVB0V1hMRnAwNGNVTFYxZlo3ZzM3RGhnMlNHa2J4WnN5WW9hcXFxbTVWY080TEZvdEZMNy84c3RMVDArWGo0Nk41OCtZMWU3NjB0RlJmZlBGRnM0K09qamVLaVlteGh0aVpNMmNxUHo5ZnZyNisrdVV2ZjZtQ2dnTGRldXV0ZXVxcHA1U1ltS2lBZ0FBOSt1aWpldlBOTnpWa3lKQm03Y3laTTBkLy8vdmZOWFBtVEdWbVp1cnh4eDl2TjdDNXU3dHI0Y0tGeXMzTjFhZWZmcXJCZ3dkYnB4Qzd1cnJxcnJ2dVVuNSt2aDUvL0hGbFoyZnJQLy96UCtYaTR0THVheE1aR1NrZkh4OGxKaVlxSVNGQk45NTRZNXRUcDh2S3lyUjA2VkxkZGRkZFNrcEtVa3hNak1hT0hhdmMzRnpkZSsrOSt2M3ZmNjg5ZS9iMHFIQmJSa2FHdFM4OVZWQlFvSjA3ZDBwU3ErOXY0K2ZmZmZkZHR3TG9JNDg4SWpjM04yVm1adXFERHo3b2NkOXMzVlpMalh0ZTk4ViswdjJGdzArSGxxUVQ1UVg2bndPZjltcHYzOFkxdmxMREhyNjI5SGJxK2s3UCtmbVErWm9mM0xETzRwMWpHN1Q1MU1FT3orL09kT2x6TGNvandMb2ZiM1Y5YmNOV1R5YXBwTGI3QmJJR3VucHA4YkNyRmVjZGFqMTJzT1NFbmt0ZXJmZW1kTDBhNGFYQm8yVDhzVkRGdnFKTUZkZVVxN2ltWEdsbHB4VHRFYWh3ZDM5TkdCREQybUFBd0huSHpjMU50OTU2cTNiczJLR0VoQVFsSmlaMjZicXBVNmRhcDRqYVNrbEppVFp2M2l5RHdhQlpzMmJKMDlOVGYvbkxYN1J5NVVwZGM4MDFNcGxNTnIxZlQ3M3p6anZXdGFKZVhsNTYvdm5uTlhyMGFPc0lhbHQ3OEY1NjZhWHRIbStwc3JKU0w3endnaXdXaXg1NzdESHIydDcvK0kvLzBQYnQyM1g5OWRkYjE2aTJ4OXZiVzA4OTlaU21UWnVtOTk1N3IxVlY2cWF1dlBKS3JWNjlXbGxaV2JyMjJtdWJQVGRuemh5dFhyMWFLU2twOHZUMDFOVlhYOTNCSzlPZ3RMUlVyNzc2cWdZTkdxVGJiNys5MlhOWldWbjY2cXV2dEhidFdwV1dsc3JEdzBQMzNIT1BycjMyV2hrTUJuMzExVmRhdG15WnRtM2JwbTNidGlrNE9GZ3pac3pRdkhuekZCMGQzZW05SlNrdkwwL1MyZW5aUGZITk45K29ycTVPZ1lHQnJkWW16NXMzVDh1V0xkT1pNMmUwYmR1MmRrZkdXd29LQ3RMZGQ5K3QxMTkvWFN0V3JOQ01HVE0wZVBEZ0h2WFBsbTIxRkJBUUlFazZmZnEwVGRxN0VCQ0NmMVRmeSswRWhuaWQzZmN1dTZLd3Q5M3B0cUZOcWhpbmx0cHVRM2xiT2wxZG9ocEw2N1hTczROR1dCOG41aC9WSlFIRDJyeis3YVBmV2JlQmFzdUVBVEY2T080L21oVUoyNUI3UUg4NXNxN2RQWnZiNG13ME5SdnAzWGpxZ1BYeHVwTkp1bmR3dzd1RnQwVk4xKzZDdEY2OWVRSUF3TGxnTkJvMWRlcFVqUjA3Vm1scGFTb3VMdTUwQks1eFNxZ3RyVnExU2pVMU5abzRjYUoxaitEWnMyZHJ6Wm8xV3JkdW5hNjQ0Z3FiMzdPNzNubm5IUzFmdmx4R28xSDE5ZlV5R0F4eWNuTFNYLy82VjJzMTU5NTY4ODAzbFoyZHJldXV1MDZUSmsyeUhsKzRjR0dyVU5tWk9YUG1hTWFNR1IwRzVvcUtDbXVWOEQxNzl1anl5eSszUG1jd0dEUno1a3lscEtRb05qYTJTOVdhWDMzMVZlWG41K3VsbDE1cVZyMzQ2YWVmMXRhdFd5VTFqREpmZGRWVldyaHdvZno4L0t6blhIWFZWWm85ZTdaV3JseXB6ei8vWERrNU9kWjlqN3NTZ210cWFsUmIyL0Q3bzlsczd1VHM5alZPaFo0N2QyNnJpdHlOd1hqdjNyMWFzMlpObDBPd0pGMTk5ZFhhdEdtVGtwS1NyUHZ4OXZUTkhWdTIxVlRqNjFaWldkbmwvYWt2ZElSZ0d4bm1mWFpUOE1OblR2YnB2VVBjL0JUbDBmQU96NW1hQ21XWDkzMEk3NGl2czd2TUpoYzk5c00vV2ozbjZXVFd2T0N6NzhadFBKWGNiZ2hPeUQvUzVuR3BZVFQ1dHlQKzA3b1Zra1VXL1NOdGl6NDczclYzdjV1YUZUaEN2aTRla3FTaTZqSnR6VHRrZlc1RDdnSDlWK1EwZVR1N0s4b2pRRE1ENDdYeEZPc3JBQURuSnpjM041c1gyZW1xb3FJaWZmYlpaNUprSFZGdGZMeDI3Vm90VzdaTU0yZk90T3QyU2N1V0xkUEhIMzhzazhta1gvLzYxM3IyMldjbFNRODk5SkQyN2R0bjNaYW5OOWFzV2FNMWE5Wm82TkNoV3JSb2tVNmZQcTJNakF5bHBhVnA0c1NKaW9xS2FuUDB1RDErZm41YXNXSkZoK2Q4OU5GSEtpa3BrWStQajlhdlg2L3JycnRPdzRZMS9INVZVVkZoL2JyMjd0MnJQWHYyZEZoeCtZTVBQdERHalJzMWZmcDBTUTNUMjArZE9xVXpaODVvK3ZUcFNrNU8xalhYWEtPcnJycXEzZXJWSGg0ZVdyaHdvWDd5azU5bzA2Wk4ycmx6cDdXOTd1aHBlTnUvZjcrT0h6OHVxZUcxK2Vpamo5bzlkL2Z1M2NyTHk3T09ubmFsVDQ4KytxZ1dMVnFrMU5SVWZmenh4MXF3b0dkTCttelpWa2YzQUNIWUpnSmN2YTBoVkpJT2xXVDM2ZjNuTndtUjIwOGZ0dW5JNUZDdkVIazRtYlduTUwxYjdZYTYrV215L3hCTjhoK3NPTzhRcmNqOFhoOW5iRzkxM29Lb1MrUnVhbGlIa2xXZXJ4OEswN3JVL2lUL1dQMVFtR0hkTnptOUxFL2Y1aVRwMHVEUnFxeXIwY3VIdmxMaWo0V3N1c1BkeVZXM1JwNmRYdlJWOXU1bW84aFY5VFg2NTRuZFdoRFZjTTd0MFRQMTc0Smp2ZDZXQ2dDQUM4M1NwVXRWWGw2dStQajRacU9mTVRFeG1qNTl1alp2M3F5bFM1ZnFvWWNlc2xzZnZieTg1T3JxcWllZmZGSVhYM3l4TlFSN2VucnFONy81alNJaUlucTFMMjFtWnFaZWZmVlZTUTFGdEc2NDRRWlZWSnhkN2pWbXpCaEpiWS9DWjJWbHljbkp5YnJmYjZQT3Rrbkt6YzNWcWxXck5HVElFUDNpRjcvUUwzLzVTeTFac3NUYWovLzd2LzlUUVVHQmJyenhSbjMyMldkYXNtU0ovdnJYdjdZWmppb3JLNjNyVTdkczJhSXRXN1pZbjR1T2p0YmRkOSt0R1RObWFOR2lSVnEyYkZrWFhwR0dZbHQvK2N0ZnVuU3UxTEQzdGNsa1VsMWRuU29xS3BvVjRlcXE3aFM4c2xnc1dydDJyVzY3N2JZdVh4TWFHcW83Nzd4VFM1WXMwVC8rOFE5ZGNza2xQUTRWc012UEFBQWM2a2xFUVZTYnRteXJVWGw1USsyZzgyVi83dk1CSWRnR3BnV2MzWUxnUkVXQjhxcHN0OFZQWjRMTVB2cVAwSEhXenpmWmVGUnlxSGVJN29xWm8venFVcjJkK3AwU1RyYy9HdHZvalFsM0tzeDlRTE5qdnM0ZXJjNGI0eGVweTBMT3Z2UDRqL1ROWFo2Vy9sRGNsYXEzMUd0YjNpRzlsN1pKRlhYVldwcTZYbjR1SHZvd2ZhdlN5L0s2MUU1THQwWmVMRitYaG44Z2lxckw5V1gyN2xibmZKVzlXMWVHanBPdmk0ZDhYVHgwNytCNWVqSGx5eDdkRHdDQUMxRkNRb0xXclZzbmc4R2dlKzY1cDlYelAvdlp6L1Q5OTkvcnl5Ky8xRVVYWFdUenRjaGRkY2tsbDJqNDhPR0tqNDl2OVZ6VGRhTlpXVmx0anRhMmQ3eVJsNWVYYW10clpUQVlaREtaTkhyMGFJV0hoeXM4UEZ4aFlXSFc2Y0F0MXhWTERXdUxRMEpDMm55dUkyKzg4WVpxYW1wMDc3MzNLajQrWHRPblQ5ZVdMVnUwZWZObVJVZEhhK1hLbFlxTmpkV2lSWXRVVVZHaHI3NzZTbXZXckdsemFyclpiTGJPSkFnTEMxTllXSmhDUWtJVUdocXFzTENHV1pCTnAyVjNOcVcrcDRXWkJnNGNxTnpjWE9YbDVYVTdCSmVYbDJ2ejVzMlNwUHZ2djcvWnJJU1cvdmpIUDJyOSt2VmF1M2F0Rml4WTBLM3dlZjMxMTJ2ejVzMDZjT0NBWG5qaEJkMTQ0NDNkNnVlNWFrdVN0Vko4VjBlM0hRRWh1QjNEdk1OMFYwem4rOE1aWk5EODRESFd6NzgvZmZoY2Rxc1pvOEdnbncrWkx4ZGp3N2R4ZjNHV0RwYWNzT2s5dkp6Y0pFbitMcDRhNE5MOEh4MWZGdytOODR2U2VMOW8rVHFmZldlcFpRQk9MOHZUb1RQTlI4ZEQzUHkwZU5qVjF1bkx1d3FPS1RFL3RVdDlNc2dnTjVPTERKSXVDeG1qRHpPMlNuVlNUWDJ0bmptd3FudGZZQk9qZkNOMFJjalpOeFErenR5bXlycldGUUlyNnFyMWZ2cG0vWEpvdzM4V2x3UU0wNTdDREgyWHU2L0g5d1lBNEVKeDh1UkpQZi84ODVJYUNqK05HaldxMVRtREJnM1NyYmZlcXZmZWUwOS8rdE9mOVBMTEwzZTZQK3U1RUJRVXBLQ2dvRTdQYzNkM2IxV0lhdDI2ZGUwZWIrVG41NmUzM25wTFlXRmh6ZGJTbml1Yk4yOVdRa0tDWnN5WVlSMWx2dU9PTzdSdDJ6Yjk4TU1QV3JWcWxXcHJhNjFiSEMxY3VGRGZmdnV0bGkxYnB0bXpaN2ZaNWl1dnZOTGwrM2NXMkxzejdidXBpSWdJNWVibUtqMDl2Y3ZGdEJwdDJyUkpsWldWTWhxTm1qbHpacWY5Vzc5K3ZYSnljclJueng2Tkd6ZXV3L09iYXB6S2ZOOTk5eWtsSmFYWnowRjMyYkl0Nld4MTdjWXEwU0FFdHl2U1k2QWlQUVoyZXQ1Ri9yRUtkVHU3K0g5TGsyMTB6clY3WXVkcWpHOURxWGlMcFBmU050bjhIbzFyWXlVcHYrcU1Ccm43YTI3UVNJMzFpMUtrUjREYWVuK3N6bEt2NU9MajJwRi9WSW41UjF1TmpBZWJmZlcvbzI2MkZyQXFxQzdWRzBmV2RybFBIazZ1MXZ2VzFOZXB0S2I3VmFSYjhuWHgwSy9pcnJKV2hENVVrcTExSjVQYVBYOWo3Z0hOQ1JwcDNkcnA1ME11MWFtcVl1MHJ5dXgxWHdBQTZLOEtDd3YxNUpOUDZzeVpNd29QRDllaVJZdmFQZmVXVzI3UmpoMDdsSktTb2llZWVFTFBQLys4b3FLaStxNnpYYlJvMFNKNWUzdnJzc3N1YTNaODNicDE4dmYzMTJPUFBkYnNlRlJVbEx5OXZhMmZ0eGZ1eThyS2xKZVhaN092dWJLeVVtKysrYVk4UFQzMXdBTm5kOFNJaUlqUXUrKytxNTA3ZCtyTEw3L1VWVmRkWmQxdmQ4Q0FBYnJ1dXV1MGZQbnlibTliVlZ4Y3JLS2lvbDV0VzlSVnc0Y1AxODZkTzVXY25OeHVXRzlQWTBHc3NXUEhhc0NBQVIyZU8zNzhlUG43K3lzL1AxOXIxcXpwVmdpV0drYkNGeTVjcUxmZmZydkxWZG43b3EzOSsvZExPcnRmTUFqQnZXSTBHTFNneWZyUnBLSk1aWmFkKzlMakpvTlI5dzZlcDB1YnJBVmVtWldnbzJkeWV0U2VvYzBvMnlEQTFjdjZPTGV5V0VGbUgxMDM2S0pXNTFYVzFXaFBZYm9TOG85b1Z3ZHJaSWQ2aGVnM0k2Nlh6NDhqeDVWMU5mcmpnZFVxcWk3cmNuOTlYTTZPT2hkVWwvWjZCYlNyMFZtL2pyL1dPZzI2cHI1V3J4OWUwK0VhYUl1azF3NTlyVmNtM0NGM2s0dE1CcU4rSFgrdC9tZi9wMzFlR0EwQWdQUEJxVk9uOU1RVFQrakVpUk55ZDNmWDczLy8rdzdYSURvNU9lbDN2L3VkN3IvL2ZoVVdGdXFSUng3UlUwODlwUWtUSnZSaHJ6dlgzVFhCYloxZlZWV2xZOGVPNmNpUkl6cDA2SkJTVWxLVWxaV2w2ZE9uNi8vOXYvOW5rMzZheldiZGM4ODlxcW1wYVJYMlFrTkQ1ZVhscFppWW1GYlQwMis1NVJaRlJVVnA3dHk1V3JXcTdSbDFwYVdsU2sxTmJkYi9uSndjWFhYVlZYMnlwbnZxMUtsNjc3MzM5UDMzM3pjTCtKM0p6TXhVY25MRFVzR3VoR2VqMGFpNWMrZHF4WW9WMnJwMXEwcExTN3M5L2ZxbW0yN1NsaTFiZE9qUW9jNVA3b08yTEJhTGR1ellJVW1hTW1WS3IvdDBvU0FFdDJQdHliMzY2OUdPM3hHN0ltU2NJcHFNRm45K2ZPZTU3cFpDM0h6MTRKRExOZHhua1BYWW5zSjAvVi82dG02MVUxTmZKMmRqUThuMUlEY2ZuU2d2YVBPOGlDWUZ2M0lxaTNTaW9sQlY5VFZ5TlRxcnRMWlNPL05UbFpCL1JIc0swMVZkMzNyN28wWUdTVmVHamRmdDBUUGxaR2k0YjFWOWpaNU5YcVdqcFcySDk4YnpXckxsbnN6T1JwT2VISEdkaGpYWlYzaHA2bmM2VWRIMjY5RlVYbFdKM2p5OFJvdmpyNUZCRFNQVVQ0KzZXWDgrK0lWMmQ3SEFGd0FBRjRKOSsvYnBmLy8zZjFWWVdDaXoyYXhubm5tbVMxTXZBd0lDOU54enoybng0c1VxTFMzVmswOCtxUnR1dUVHMzMzNTdyN2JET1Y5czNMaFJIMzc0b1RJek0xVmZYeStwWVN1aHVMZzRUWnMyVFZPblRyWHAvVHBxYjg2Y09abzllM2FyZGE2ZW5wNmFONjloKzhlVzIyanQzcjFiTDcvOHNuSnltdit1Tm1qUUlGMSsrZVdhTTZmenBZTzJFQnNicTVpWUdCMDdkcXpUYXRaTk5ZNENPenM3ZDdrYTlhV1hYcW9WSzFhb3VycGE2OWV2MXpYWFhOT3R2aHFOUmkxZXZGZy8vL25QclZzNzlaUXQybXFzZGoxaXhBaUZob1oyZm9HRElBVDNVSmo3QVAwMCt1eGZwbjFGbWVjMCtMZzd1ZXJxMEFtNklYeVNuSTFudjIyN0M5UDBwK1RQdTEwUk9xK3F4RHFOKzg2WTJWcHlaSjFPVjUxcGRyOXJ3eWJLLzhkMXdDY3JpcXpyWS8rZXVrRW5LNHVVWEh4Y2RaYjZUdThWNHVhcm53K2VyMUcrWi84ekxLbXAwRE1IUG10ejFMU3lya1ptazdNR3Vub3B5T3lqM0JaQmQxYmcyYTBlTXN0N1B2SnVOam5yc2ZocnJGUEtKZW1ibkNSOWs5UDF0YjNiVHgvVzhvenR1aVZ5bXJYTjM0NzRUMzJhbGFBVm1kOTM2ZlVCQUtDL3FxcXEwb2NmZnFqbHk1ZXJ2cjVlWGw1ZWV2cnBwNjNUYmJzaU5qWldmLzd6bi9YVVUwOHBQejlmbjM3NnFkYXZYNjhubjN4UzY5ZXY3MVpsWDZucjYwNjdPLzIzSi96OS9YWHk1RW1OR3pkT1k4ZU8xZWpSb3pWMDZGQnJNYWs3Nzd5encrdFBuanpaN2prdnYveHlwNVdpVzJvYWdBc0xDMlUwR3VYdTdpNG5KeWNkT25SSU9UazVjbloydHA0VEdocXFuSndjUlVSRWFPellzUm96Wm94R2p4NHRYMS9mdHBydjlPdnBqWnR2dmxuUFBmZWNQdm5ra3k2SDRFV0xGblU0SmI4dFVWRlJiZjVzZE9mbkpTb3Fxc09mVzF1MjFabkc3YkI2VzF6clFrTUk3Z0d6eVZtTGgxMHRWMlBEUHhKMWxucjkvZGlHYzNLdk1MY0JtaGM4U3ZORHhsaTNFbXIwVFU2UzNqcjZiWStDMXU2Q05JV0dOWVRnOFg3UldqcnAzZzdQYjdwMTBicWM5dGZLTnVYaDVLb2J3aWZyNnJBSnpVWjFqNWJtNlBua0w5cXRvcDFhbXFNUlB1RXlHWXo2ODlqYjlFTmh1aXJxcW1VeUdCWGpHYWdZejdNRkxIWVdkSzJZVmtzRFhiMzBteEhYSzlvajBIcHNUMkc2L25iMHUyNjN0VHh6dTN4YzNIWEZqNVd1alFhRGJvNllLbWVqU2UrbmJlNVIvd0FBNkE4T0h6NnNUejc1UlBYMTlZcUtpdExUVHovZG85R213WU1INjgwMzM5UXp6enlqZmZ2MmFlREFnUm8yYkpqMjdOblRhY1hoODluSWtTTzFldlhxWmhXVW0rcXNXbkp0YlcyNzU5VFYxYlY1dkt0V3JseXA1Y3VYdHpyZWREdXI0T0JnZmZMSkorMkczcFo2V3YyNUsrYk1tYU9WSzFjcU1URlJlL2Z1dFJiK1F2dDI3OTZ0WGJ0MmFmanc0YTBLdURrNlFuQUxqY1dsMGtwUHRmbTh5V0RVNC9IWE50c1grT09NN1QzZWtxYzlmaTRlZW1yRURZcnhER3oxWEZGMW1mNXlaRjJQQTZBa2ZacVZvTWtEQnl2QTFidlRjd3VxUzdVODgvdHV0VC9PTDBxTGgxMHRkNmV6bFJEckxSYXRPcDZvanpPMk45dDd0NldWV1RzMDNDZGNCa2xlem02YUVkaDYyd0pKU3N4UFZWSmh6d3BSL1Zma3hjMEM4S0dTYlAzcDRPY2Q5cXNqUzQ5K0sxa3N1dUxIN2FxT25zblJpbTYrWmdBQTlEZWpSbzNTQXc4OG9KeWNITjErKyszTlJoRzd5OS9mWHkrKytLTCs5YTkvYWNxVUtUS2J6YnJqamp0MHh4MTMySzdEZmN4Z01MUWJnQ1hialVhSGg0ZTMyays0TStQSGoxZDZlcnBxYTJ0bHNWaGtNcGtVSFIydFcyNjVwZGw1WFEzQVV1ZGZUMCtyUTBzTnIrWGl4WXYxd0FNUDZPV1hYOVpiYjczVkp4VzMrNnVxcWlxOSt1cXJjbloyMXFPUFBtcnY3cHgzREphV2svLzdpZXUzdkdDWCszbzZtZldIMGJkWUswZnZMODdTNzVKV2RHczY4cEtMN3JhdWErM282M2hneUdXYUYzeDJXNEV6TlJWYWZlTGYrbGYyN2phMzd1a3VIMmQzWFROb29rWjREMnFvMU54MGlZaEZLcXdwMDVFeko3WDYrRTZWZExNQ3M3UFJTYytPdmtXRHZZSWxTWWZQbk5SYlI3L1ZzZExjTGwwLzFpOUtONFJQVnF4bmtOeWFqSUNYMVZZcHQ3SlltMDRkME5jbjk2cW1nM1hJTGEyYXZsaFN3M3JvQmQrL3J2OGVlYU5HK0F4U2N2RnhQWk84U3VXMVZkMzRDdHQyN2FDSnVqcDBnaDdiOHc4VmRxUFlWMmNhK3c0QUFNNmQ2dXBxR1kzR0RvTnJUODY5MENVbko2dXlzbExqeDQvdjhMemR1M2ZMM2QxZHc0WU42L0c5MXF4Wm94ZGZmRkh6NXMzVHIzLzk2eDYzYzZGNzl0bG50V0hEQmozMjJHT2FQMysrdmJ0ejNpRUU5NENuazFuUGpMNUZKb05SVCt6OXYzWXJJYmVucXlIWTNjbFZyMC80bVU1V0ZHbmpxUVBhbXBkaWsvRGJWd0xOUHZwMS9MWDYvTVJPYlRsMXNOZFZuSHVyYVFpK2Vkdkw4bkoyMDRMSVMvVDNZeHM2TE9yVlhXYVRzODIvVDRSZ0FBQ0FCbmw1ZWFxdnIxZGdZR0NyUWwrUTZ1dnJsWmVYSjZQUnFJQ0FnTTR2Y0VDRTRCNGE0T0lwazhIWTdycldqa1I0REpTTG9lRmR3L1lxSXpkeU5qcDFhN1FURnlaQ01BQUFBR0Fiek4vb29ZTHEwaDVmMjUyOWhBbkFBQUFBQUdBN1JudDNBQUFBQUFDQXZrSUlCZ0FBQUFBNERFSXdBQUFBQU1CaEVJSUJBQUFBQUE2REVBd0FBQUFBY0JpRVlBQUFBQUNBd3lBRUF3QUFBQUFjQmlFWUFBQUFBT0F3Q01FQUFBQUFBSWRCQ0FZQUFBQUFPQXhDTUFBQUFBREFZUkNDQVFBQUFBQU9neEFNQUFBQUFIQVloR0FBQUFBQWdNTWdCQU1BQUFBQUhBWWhHQUFBQUFEZ01BakJBQUFBQUFDSFFRZ0dBQUFBQURnTVFqQUFBQUFBd0dFUWdnRUFBQUFBRG9NUURBQUFBQUJ3R0lSZ0FBQUFBSURENkxjaDJHeHl0bmNYZ0Q3Qnp6b0FBQUJnTy8wMkJBZWJmZTNkQmFCUDhMTU9BQUFBMkU2L0RjR1QvQWZidXd0QW4rQm5IUUFBQUxDZGZodUNyeDEwa1FKY3ZlM2REZUNjQ25EMTFuV0RMckozTndBQUFJQUxScjhOd2U0bUZ6MHc5REo3ZHdNNHB4NGNlcm5jVEM3MjdnWUFBQUJ3d1RCWUxCYUx2VHZSRzN1TE12VG00YlhLcXlxeGQxY0Ftd2x3OWRhRFF5L1hhTjhJZTNjRkFBQUF1S0QwK3hBc1NlVjExZnI4K0U0bDVoOVZUbVdSS3V0cTdOMGxvTnZNSm1jRm0zMDF5WCt3cmgxMGtkd1pBUVlBQUFCczdvSUl3WEFNaFlXRjJyeDVzNHhHb3k2NTVCTDUrZm5adTBzQUFBQUEraGxDTVBxVmtwSVNiZG15UlZWVlZabzhlYkxDd3NMczNTVUFBQUFBL1FnaEdQMU9aV1dsdG0zYnBvS0NBbzBlUFZweGNYSDI3aElBQUFDQWZvSVFqSDZwcnE1T2lZbUpPbjc4dUdKaVlqUnUzRGdaamYyMjJEa0FBQUNBUGtJSVJyOWxzVmkwZi85K3BhU2tLQ2dvU0ZPblRwV3pzN085dXdVQUFBRGdQRVlJUnIrWGxwYW1YYnQyeWNQRFE5T21UWk9QajQrOXV3UUFBQURnUEVVSXhnWGg5T25UU2toSVVIVjF0Y2FQSDYrb3FDaDdkd2tBQUFEQWVZZ1FqQXRHVlZXVmR1ellvZHpjWEVWSFIydmN1SEV5bVV6MjdoWUFBQUNBOHdnaEdCY1VpOFdpNU9Sa0pTY255OWZYVjFPblRwV25wNmU5dXdVQUFBRGdQRUVJeGdVcEp5ZEhPM2Jza01WaTBjU0pFelZvMENCN2R3a0FBQURBZVlBUWpBdFdlWG01RWhJU2xKK2ZyOGpJU0kwZE8xWXVMaTcyN2hZQUFBQUFPeUlFNDRKbXNWaVVrcEtpQXdjT3lHdzJhK0xFaVFvT0RyWjN0d0FBQUFEWUNTRVlEcUdvcUVpSmlZa3FMaTVXYkd5c1JvOGVMU2NuSjN0M0N3QUFBRUFmSXdURFlkVFgxK3ZBZ1FNNmRPaVEzTjNkTlduU0pBMGNPTkRlM1FJQUFBRFFod2pCY0RqNStmbEtURXhVYVdtcGhnd1pvcEVqUnpJcURBQUFBRGdJUWpBY1VtMXRyZmJ0MjZlalI0L0t6YzFOWThhTVVYaDR1TDI3QlFBQUFPQWNJd1REb1JVV0ZtcjM3dDBxS0NoUVVGQ1F4bzBiSnk4dkwzdDNDd0FBQU1BNVFnaUd3N05ZTEVwTFM5TytmZnRVVzF1cnVMZzR4Y2ZIeTJReTJidHJBQUFBQUd5TUVBejhxS3FxU2tsSlNVcFBUNWVIaDRmR2poMnIwTkJRZTNjTERxYTJ0bFlaR1JuS3k4dFRSVVdGNnVycTdOMGx1ekdaVEhKemMxTkFRSUFpSXlOWnV3OEFBR3lDRUF5MGNQcjBhZTNldlZ2RnhjVUtDZ3JTcUZHajVPZm5aKzl1d1FFVUZCUW9PVGxaL3Y3K0NnME5sYWVucDBQUFNLaXJxMU5wYWFteXM3T1ZuNSt2NGNPSGE4Q0FBZmJ1RmdBQTZPY0l3VUFiTEJhTGpoMDdwdVRrWkZWV1ZpbzhQRndqUjQ2VXA2ZW52YnVHQzFSQlFZRU9IRGlna1NOSDhxWkxHd29MQzdWLy8zNk5HREdDSUF3QUFIcUZFQXgwb0xhMlZrZU9IRkZLU29ycTZ1b1VFeE9qNGNPSHkydzIyN3RydUlEVTF0WXFJU0ZCSTBhTUlBQjNvTEN3VUFjT0hOQ1VLVk9ZR2cwQUFIcU1FQXgwUVZWVmxRNGVQS2pVMUZRWkRBWU5IVHBVY1hGeGNuWjJ0bmZYY0FGSVRVMVZkWFcxNHVQajdkMlY4OTdCZ3dmbDR1S2kyTmhZZTNjRkFBRDBVNFJnb0J2S3lzcDA0TUFCWldSa3lOWFZWWEZ4Y1lxTmpXVlVDcjJTa0pDZytQaDQrZmo0MkxzcjU3M2k0bUtscEtSbzh1VEo5dTRLQUFEb3Avak5IZWdHRHc4UFRabzBTWEZ4Y2RxL2Y3K1NrcEowOE9CQkRSNDhXRU9HREpHcnE2dTl1NGgrcUtLaWd2WG1YZVRwNmFueThuSjdkd01BQVBSamhHQ2dCM3g4ZkhUeHhSZGJSNlZTVWxKMCtQQmh4Y1RFYU9qUW9YSjNkN2QzRjlHUDFOWFZPWFFWNk80d21Vd092VzBVQUFEb1BVSXcwQXMrUGo2YVBIbXlSb3dZb1VPSERpazFOVlZIang1VlpHU2s0dUxpNU8zdGJlOHVBZ0FBQUdpQ0VBellnS2VucHlaTW1LQVJJMGJvOE9IRFNrMU5WWHA2dXNMQ3doUVhGeWQvZjM5N2R4RUFBQUNBQ01HQVRabk5abzBlUFZyRGhnMVRhbXFxamh3NW9oTW5Uc2pYMTFleHNiR0tpSWlnaUJZQUFBQmdSL3cyRHB3RExpNHVpbytQMTlDaFEzWDgrSEdscHFacTE2NWQycnQzcjZLaW9oUWJHOHRVYVFBQUFNQU9DTUhBT1dReW1SUVpHYW5JeUVnVkZSVXBOVFZWYVdscE9ucjBxQVlPSEtqQmd3Y3JMQ3hNUnFQUjNsMEZBQUFBSEFJaEdPZ2p2cjYrbWpCaGdrYVBIcTJNakF5bHBxWXFJU0ZCcnE2dWlvNk9WblIwTk52a0FBQUFBT2NZSVJqb1k4N096aG84ZUxBR0R4NnN2THc4cGFhbTZ0Q2hRMHBKU2RHQUFRTVVFUkdoOFBCd21jMW1lM2NWQUFBQXVPQVFnZ0U3Q2dnSVVFQkFnS3FxcXBTVmxhWE16RXp0MmJOSGUvZnVWVkJRa0NJaUloUVdGa1l4TFFBQUFNQkcrTTBhT0ErNHVycGFSNGRMUzB1Vm1abXB6TXhNSlNZbXltUXlLU3dzVEJFUkVRb0tDbUw5TUFBQUFOQUxoR0RnUE9QcDZhbmh3NGRyK1BEaEtpd3NWRVpHaG5XVTJOWFZWWU1HRFZKb2FLZ0NBd01KeEFBQUFFQTNFWUtCODVpZm41LzgvUHcwWnN3WW5UcDFTaGtaR2NyTXpGUnFhcXFjbkp3VUhCeXMwTkJRQlFjSHk5WFYxZDdkQlFBQUFNNTdoR0NnSHpBWURBb0tDbEpRVUpEcTYrdDErdlJwWldkbkt6czdXOGVQSDVmQllKQy92NzlDUTBNVkdob3FMeTh2ZTNjWkFBQUFPQzhSZ29GK3htZzBLakF3VUlHQmdSbzdkcXlLaTR1dGdUZ3BLVWxKU1VueTlQUzBCbUovZjMrbVRRTUFBQUEvSWdRRC9aeVBqNDk4Zkh3VUh4K3Z5c3BLblR4NVV0bloyVXBOVGRYaHc0Zmw1T1NrZ1FNSFdvT3pyNit2REFhRHZic05BQUFBMkFVaEdMaUFtTTFtUlVkSEt6bzZXblYxZFRwMTZwVDFJeWtwU1ZMRFBzVUJBUUVLREF4VVFFQ0FmSHg4Q01VQUFBQndHSVJnNEFKbE1wa1VFaEtpa0pBUVNWSjFkYlh5OHZLc29UZzdPMXVTNU9MaVlnM0VnWUdCOHZiMnRtZTNBUUFBZ0hPS0VBdzRDQmNYRjRXRmhTa3NMRXlTVkZsWmFRM0ZlWGw1T243OHVQVzhBUU1HV0QvOC9QeGtOcHZ0MlhVQUFBREFaZ2pCZ0lNeW04MEtEdzlYZUhpNEpLbWlva0tuVHAxU1FVR0JDZ29LbEpLU292cjZla21TdTd1Ny9QejhtZ1ZqWjJkbmUzWWZBQUFBNkJGQ01BQkprcHVibXlJakl4VVpHU2xKcXErdlYxRlJrUW9MQzYzQitNU0pFOWJ6dmJ5OG1vVmliMjl2Z2pFQUFBRE9lNFJnQUcweUdvM1drQnNiR3l0SnFxbXBVV0Zob1RVWTUrWGxLU01qdzNxTm01dWJ2TDI5VzMyNHVMalk2OHNBQUFBQW1pRUVBK2d5WjJkbjYxWkxqU29ySzFWVVZLU1NraExyUjNwNnVtcHFhcXpubU0xbWVYdDd5OGZIaDNBTUFBQUF1eUlFQStnVnM5bXM0T0JnQlFjSE56dGVVVkdoNHVMaVp1RTRMUzFOdGJXMTFuTmNYVjNsNGVFaER3OFB1YnU3dDNwc01wbjYrc3NCQUFEQUJZNFFET0NjY0hOems1dWJXNnR3WEY1ZWJnM0ZaODZjVVhsNXVZcUtpblRpeEFscklhNUdIWVZrZDNkM09UbnhUeGdBQUFDNmg5OGdBZlNweGdEYk1oeGJMQlpWVlZXcHJLeE1aV1ZsS2k4dnR6NXVMeVE3T1RuSjFkVlZycTZ1TXB2TnpmNXNlY3pGeFVVR2c2RXZ2MVFBQUFDY2h3akJBTTRMQm9OQlpyTlpack5aL3Y3K3JaNXZLeVJYVlZXcHFxcEtsWldWS2k4dlYyRmhvU29ySzJXeFdOcThSOHVRN09Ua0pHZG5aems1T2JWNjNOWnpKcE9KSUEwQUFORFBFWUlCOUF1ZGhlU21xcXVybXdYa3BuODJQaTRxS2xKdGJhMXFhMnViRmZIcVRNdUFiREFZWkRRYVpUQVltajF1K1dkSHh3QUFBTkIzQ01FQUxqZ3VMaTV5Y1hHUmw1ZFhsNjlwRE1TTm9ianBueDA5dGxnc3FxK3ZsOFZpVVYxZFhhdGpqWDkyZE16WDEvY2N2aG9BQUFCb2loQU1BRG83d21zUDMzNzdyVjN1Q3dBQTRJaVlod2NBQUFBQWNCaUVZQUFBQUFDQXd5QUVBd0FBQUFBY0JpRVlBQUFBQU9Bd0NNRUFBQUFBQUlkQkNBWUFBQUFBT0F4Q01BQUFBQURBWVJDQ0FRQUFBQUFPZ3hBTUFBQUFBSEFZaEdBQUFBQUFnTU1nQkFNQUFBQUFIQVloR0FBQUFBRGdNQWpCQUFBQUFBQ0hRUWdHQUFBQUFEZ01RakFBQUFBQXdHRVFnZ0VBQUFBQURvTVFEQUFBQUFCd0dJUmdBQUFBQUlERElBUURBQUFBQUJ3R0lSZ0FBQUFBNERBSXdRQUFBQUFBaDBFSUJnQUFBQUE0REVJd0FBQUFBTUJoRUlJQkFBQUFBQTZERUF3QWRtWXltVlJYVjJmdmJ2UUxkWFYxTXBsTTl1NEdBQURveHdqQkFHQm5ibTV1S2kwdHRYYzMrb1hTMGxLNXU3dmJ1eHNBQUtBZkl3UURnSjBGQkFRb096dmIzdDNvRjdLenN6Vnc0RUI3ZHdNQUFQUmpoR0FBc0xQSXlFamw1K2Vyc0xEUTNsMDVyeFVXRmlvL1AxOVJVVkgyN2dvQUFPakhDTUVBWUdkT1RrNGFQbnk0OXUvZlR4QnVSMkZob2ZidjM2L2h3NGV6SmhnQUFQU0t3V0t4V096ZENRQ0FWRkJRb09Ua1pQbjcreXMwTkZTZW5wNE9IZmpxNnVwVVdscXE3T3hzNWVmbmEvanc0Um93WUlDOXV3VUFBUG81UWpBQW5FZHFhMnVWa1pHaDA2ZFBxN3k4M0tHclJwdE1Kcm03dTJ2Z3dJR0tqSXlVazVPVHZic0VBQUF1QUlSZ0FBQUFBSUREWUUwd0FBQUFBTUJoRUlJQkFBQUFBQTZERUF3QUFBQUFjQmlFWUFBQUFBQ0F3eUFFQXdBQUFBQWNCaUVZQUFBQUFPQXdDTUVBQUFBQUFJZEJDQVlBQUFBQU9BeENNQUFBQUFEQVlSQ0NBUUFBQUFBT2d4QU1BQUFBQUhBWWhHQUFBQUFBZ01NZ0JBTUFBQUFBSEFZaEdBQUFBQURnTUFqQkFBQUFBQUNIUVFnR0FBQUFBRGdNUWpBQUFBQUF3R0VRZ2dFQUFBQUFEb01RREFBQUFBQndHSVJnQUFBQUFJRERJQVFEQUFBQUFCd0dJUmdBQUFBQTREQUl3UUFBQUFBQWgwRUlCZ0FBQUFBNERFSXdBQUFBQU1CaEVJSUJBQUFBQUE2REVBd0FBQUFBY0JpRVlBQUFBQUNBd3lBRUF3QUFBQUFjQmlFWUFBQUFBT0F3Q01FQUFBQUFBSWRCQ0FZQUFBQUFPQXhDTUFBQUFBREFZUkNDQVFBQUFBQU9neEFNQUFBQUFIQVloR0FBQUFBQWdNTWdCQU1BQUFBQUhBWWhHQUFBQUFEZ01BakJBQUFBQUFDSFFRZ0dBQUFBQURnTVFqQUFBQUFBd0dFUWdnRUFBQUFBRG9NUURBQUFBQUJ3R0lSZ0FBQUFBSUREK1A4R1hXczlBVnJ3ZkFBQUFBQkpSVTVFcmtKZ2dnPT0iLAoJIlRoZW1lIiA6ICIiLAoJIlR5cGUiIDogIm1pbmQiLAoJIlZlcnNpb24iIDogIiIKfQo="/>
    </extobj>
    <extobj name="ECB019B1-382A-4266-B25C-5B523AA43C14-2">
      <extobjdata type="ECB019B1-382A-4266-B25C-5B523AA43C14" data="ewoJIkZpbGVJZCIgOiAiMjUzMDg1NDIzNTUzIiwKCSJHcm91cElkIiA6ICIyNzc1MTQzNjQiLAoJIkltYWdlIiA6ICJpVkJPUncwS0dnb0FBQUFOU1VoRVVnQUFCTUlBQUFTakNBWUFBQUNjMzVaZkFBQUFDWEJJV1hNQUFBc1RBQUFMRXdFQW1wd1lBQUFnQUVsRVFWUjRuT3o5ZVpUVmhaM24vNytxQUNrMkFSRlJJcklJNGhKRVJEQ0NDOUVvWW1zd3hyWVRKVEZHVzJhU285RldaNGhJanlhdGRvaDI0cERXMFlqTHVIWWlna0FRa0VVMDRrVEVOc2FnMENocVZCUmNpQ0lXVUZEZlAveFJQMG9LWk5PYnFzL2pjWTZIdXAvdHZ1ODlISlNubjZXc3VycTZPZ0FBQUFEUXdKV1hlZ0FBQUFBQStDS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UXVOU0QxQWYvZHUvL1ZzV0xseFk2akVBQUFBQTZwMTI3ZHJsZi8ydi81V21UWnQrNGUvdGpMRHRJSUlCQUFBQWJKOTMzMzAzUzVjdUxjbDdPeU5zQjl4ODg4MmxIZ0VBQUFDZzNoZzFhbFNXTFZ1V1pzMmFsZVQ5blJF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GdmgxamxMODhiN3EwczlCZ0FBc0FNYWwzb0FBS2dQL3ZIMmhVbVNBZDFiNTh3ajlzaEpCN2RMMS9ZVkpaNEtBQURZRmtJWUFHeUR1WXYvbXJtTC81cmt2OUszUzZ0ODYvQTk4bmU5ZDhzQkhWdVVlalFBQU9BekNHRUFzTTJxazVSbC9pc2ZadjRySCtheS8zZ3BCK3pWUEdjZDBTR245R21YZ3p1MUxQV0FBQUJBSFlRd2dBYW83SHVQbG5xRUJxNXNreVV2TEYyVkt4NWNraXNlWEpKOTkyaVdzNDdZSTEvdnMzdjY3Tk15NWVXYmJnOEFBSHp4M0N3ZkFIYXl5alhyOHViN2EvTEJ4K3ZxYW1ZQUFFQ0pPQ01Nb0FHcXZtTlFxVWRvY0dxZlpmZkpwWkViNjlLdWFVN3EzUzVuSHRFaEE3cnZtckl5QlF3QUFQN1dDR0VBc00wK2lWejc3OVU4Si9iYUxXY2QwU0dIZFcxVjRwa0FBSURQSW9RQndEWTR1RlBMbk55N1hjNDZZbzhjK0NWUGlnUUFnUHBFQ0FPQXJYRFZON3JrckNNNlpOODltcFY2RkFBQVlEc0pZUUN3RmY1NWFKZFNqd0FBQU93Z1Q0MEV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WFsM29BQUdEclZWVlZaY3FVS1JrL2Zud1dMVnFVeXNyS1VvL1VvRlZVVktSYnQyNFpPblJvaGc0ZG1pWk5tcFI2SkFBQWRvQVFCZ0QxUkZWVlZVYU1HSkhaczJlWGVwVENxS3lzeklJRkM3Smd3WUxNbURFalk4YU1FY01BQU9veElRd0E2b2twVTZaazl1elo2ZHExYTBhT0hKbnUzYnVuVmF0V3BSNnJRVnU1Y21XV0xGbVMwYU5IWjk2OGVibjc3cnR6empubmxIb3NBQUMyazN1RUFVQTlNWDc4K0NUSnlKRWowNmRQSHhIc0M5Q3laY3YwNnRVclYxeHhSWkprMnJScEpaNElBSUFkSVlRQlFEMnhhTkdpSkVuMzd0MUxQRW54N0wzMzNrbVMxMTU3cmNTVEFBQ3dJNFF3QUtnbk50d1kzNWxnWDd3V0xWb2tTVmF2WGwzaVNRQUEyQkh1RVFiMWxDZkhVWjk1RWg4QUFGQUtRaGpVUTU0Y1IzM25TWHdBQUVBcENHRlFEM2x5SFBXZEovRUJBQUNsNEI1aFVBOTVjaHoxblNmeEFRQUFwU0NFUVQza3lYRTBGSjdFQndBQWZKR0VNS2lIUERtT2hzS1QrQUFBZ0MrU0VBWUFBQUJBSVFoaEFBQUFBQlNDRUFZQUFBQkFJUWhoQUFBQUFCU0NFQVlBQUFCQUlRaGhBQUFBQUJTQ0VBYjh6WnM5ZTNhdXUrNjZIVHJHRTA4OGtkZGZmMzBuVFpUY2NjY2RPZm5rayt0Y2QvTEpKK2Z1dSsvZTZtTTkvZlRUdFQ1ZmRYVjFyZlUzMzN4emJyenh4czg4enF1dnZwcHAwNlp0OWZzQ0FBQVVUZU5TRHdEVVQ3Tm16Y3AvL2RkLzdkQXhqam5tbU95Ly8vNmZ1ZDM4K2ZOejMzMzM1ZEpMTDkydTk1azdkMjR1dXVpaTlPclZLN2ZlZW12S3kzZjgvd0Y4K09HSFdicDBhWjNybGk1ZG1nOCsrR0N6Kzc3MDBrdTUrdXFyYy9YVlYyZXZ2ZmJLQ3krOFVQUDVxcXVyYytHRkY2WnIxNjc1cDMvNnB5VEpndzgrdUZYZjB4TlBQSkhycjc4K2d3Y1BUcEtzWGJzMmI3enh4bFovcG4zMjJXZW5mRGNBQUFCL3E0UXdZTHZNbWpVckR6Lzg4QTRkbzBPSERsc1ZlSGJFQ3krOGtCLy8rTWVwcnE3T2dBRURNbkhpeERxM2E5KytmUVlPSEZqbnVyNTkrMjcyK0p0Yk4zYnMySXdkTzdiV3N0YXRXMmZXckZscDM3NTkzbjc3N1Z4eXlTVzUvZmJiYTIxenp6MzNaTzdjdWZuYTE3NldKSG5qalRmeXpqdnZwRisvZnB1ZFlYUGVlT09OZlBPYjM5enE3YWRQbjU1MjdkcHQ4L3NBQUFEVUYwSVlzRU9lZXVxcE5HclVxTmF5Tld2V3BLcXFLczJiTjkvcTQ0d1pNeVozM0hISEZyZlpYSFJxMmJKbDVzeVpzOG55aFFzWDVnYy8rRUZXcmx5WkpMbnBwcHMyZSt6RER6OThzeUhzeHovKzhTYkxIbjMwMFR6NTVKTjFycnYyMm1zemNPREFISDMwMGJXV1YxUlVKRWwyM1hYWC9PUW5QOG1JRVNQeXlpdXYxS3hmdlhwMTdyenp6Z3diTml4RGh3NU44c2xsb1VreWFOQ2d6YzcrV1NaTW1KQk9uVHB0ZHYyamp6NmFTeTY1Wkx1UER3QUFVRjhJWWNCTzkvT2YvendQUHZoZzVzNmRtNlpObTI3VHZuV0ZwUmt6Wm1UZXZIbDFycHM2ZFdxZGwyZys5ZFJUTlpjYTNuYmJiZW5kdS9jbTI2eGF0U3JEaHcvUGtpVkxNbno0OE0zT2RQcnBwOWQ2dldMRml1eXl5eTUxcmt1U2NlUEc1Y2dqajZ4ejNRWjkrL2JOcEVtVFVsRlJrYWVlZWlwSjByUnAwOXg1NTUzWmM4ODlhN2FiUG4xNmt0U0VzVTk3OHNrbmM4UVJSMnh5N0ExekFBQUE4UDhuaEFFNzNZYWJ2WC82VExHdFVWYzhldVdWVnpKdjNydzYxeTFhdEdpVEVQWWYvL0VmK2JkLys3YzBiOTQ4WThhTXlaZS8vT1ZOOWx1elprMHV1ZVNTdlBUU1MvbmxMMzlaWnlpcnk5TlBQNTBMTHJnZy8vcXYvNXBmL2VwWGRXNXozMzMzYmZFWW16dXpiZVBsZ3dZTnl0bG5uNTAvLy9uUHVlQ0NDMnFkRWZiREgvNHdlKzY1WjBhTkdwWEdqUnZYQk1KNTgrWmx4b3dabXdURFUwODlkV3MrR2wrdysrNjdMMzM3OWsyUEhqMVNWbFpXNm5FQUFLQVFoREJncDZ1cXFrcFpXVmthTi83aS80aTUvLzc3OC9PZi96eWRPM2ZPTWNjY2s4V0xGMmZ4NHNXYmJQZklJNC9rcWFlZXlva25ucGczMzN3ekV5Wk1xRm0zNzc3N3BsZXZYblVlLzQ0NzdraDVlWGw2OSs2OXhYdUgxZVc0NDQ3TDZOR2phNTJwOWJ2Zi9TNjMzWFpia3VUZi8vM2ZhODRHYTk2OGVmN2xYLzRseVNmM0Z1dlNwVXZOUGl0V3JFaS9mdjFxbG0wSWhHdldyTW1NR1ROcVhtKzQ3SExqNDlibHFhZWV5czkrOXJOdCtpenN1QnR2dkRHclZxM0tsNzcwcFF3Wk1pUkhIbmxrRGpyb0lBOHNBQUNBejVFUUJ1eXdhZE9tMWJyWDFZc3Z2cGl5c3JMY2ZQUE5tOTNudE5OT1MvdjI3WGY2TE4vODVqZFRXVm1aTTg0NEkwY2RkZFJuYmo5MTZ0Uk1uVHExMXJKdmYvdmJkWWF3UC96aEQzbnl5U2R6NXBsbnBrMmJOcm55eWlzLzgvaFhYbmxsamo3NjZCeDc3TEhwMkxGamtxUkxseTVadlhwMWZ2R0xYMlRjdUhIcDNidDMvdmpIUDJiRWlCSDU2bGUvbWhFalJ1VEpKNS9NRTA4OGtTUjU4ODAzYTQ2M1lzV0tWRlpXWnUrOTkvN005OTdnUzEvNlVxMTdoRTJZTUNIWFhYZGRmdi83M3lmNTVONWx6Wm8xUzh1V0xiZjZtT3c4Yjd6eFJtNjk5ZGJjZXV1dGFkZXVYWVlNR1pLamp6NDZ2WHYzTGtsTUJnQ0Foc3gvWVFNN3BLeXNMTk9uVDgramp6NjZ5YnBiYnJsbHMvdDk3V3RmKzF4Q1dKTW1UZks5NzMydjV2VzN2LzN0WEhycHBiVzJXYjE2ZGRhc1daTldyVnB0c3YvbXp2S3FxcXJLOWRkZm55UTU1NXh6a2lTbm5ITEtaODV6NVpWWHBrZVBIclcyZmZMSkovT3YvL3F2V2Jac1dhNjk5dG9zWGJvMGYvempIL1B6bi84OGwxNTZhUll1WEppRERqb283ZHExUy92MjdiTnc0Y0thZlRkY0J0cXRXN2ZQZk8vTnFhcXF5c2NmZjF6emVzODk5OXlxejhMbjc5MTMzODNkZDkrZHUrKytPN3Z1dW1zR0R4NmNZNDQ1Sm4zNzlxMjVMeDBBQUxEOWhEQmd1MVJYVjZlc3JDemw1ZVUxZ1dpREgvemdCM25sbFZjeVpjcVVUZmI3di8vMy8rYUdHMjdZN0JNbHQzUzU0WmFlR3JrdGZ2bkxYK1kzdi9sTjVzK2Z2OVg3M0hMTExYbnBwWmVTSkx2dHRsdVNUMjYydjJ6WnNqcTMzL2hTeG8xTm1USWxvMGFOU3FkT25YTDc3YmRuLy8zM3oxMTMzWlVrNmRldlg4YU9IWnRSbzBibE85LzVUcjc5N1c5bjNMaHhlZmpoaDJ1Kzd4ZGZmREZKc3YvKysyOXk3UFhyMXlkSmZ2clRuMmJwMHFVMUFYQno5d2lyNi9zY08zWnNEam5ra00xOURaK3J3dzQ3TEdWbFpUV2ZOZmtrdEc1dTJZYWZOLzYxcm1VYnR2LzBmYmcrNjNnYjN2T3psbTN0REovK1BCdkh5THA4OE1FSCtlMXZmNXZmL3ZhM2FkYXNXWTQ5OXRqUC9BNEJBSUF0RThLQTdiSjI3ZHJObnFIeS92dnZwMDJiTm5XdTIvQ1gveFl0V3RSYS90V3ZmalY3N2JWWFZxNWN1VW5ZZXVpaGgvTHl5eS9uNG9zdjN1UjRtM3RxNU00MGYvNzgzSDc3N1pzc2Yvenh4M1A1NVpkdmRwKzZuSGppaWZud3d3OHpkT2pRVkZSVTVQcnJyOC83NzcrZnA1OStPa25Tdlh2MzNIdnZ2VFhocEhmdjNybi8vdnZ6L1BQUHAxZXZYcGs3ZDI0NmRPaFFjNW5saWhVcjh0dmYvalp6NTg3Tjg4OC9ueVNaTzNkdXZ2bk5iMmJ0MnJWSmt0dHV1eTJ0VzdldW1XSDY5T201K2VhYjYzeXE1RjU3N2JXMVg4dm5Zc09ERnFxcnEydCs1cFB2NC8zMzM2OFZCQUVBZ0cwbmhBSGJaZFdxVlp2RXJPU1RzNUplZmZYVkhISEVFWnZkTDhrbVo0UjkrY3RmenVPUFA1N3AwNmZuM252dlRiTm16V3JXL2U1M3YwdkhqaDNyZkdwa3k1WXRzMkRCZ2gzNUtGdjB4aHR2NUxMTExrdWJObTN5bGE5OHBjNnozS1pNbVpJT0hUb2tTZTY5OTk1TnpwRGIyS3BWcTNMNDRZZm5yYmZleXFwVnF6SnUzTGdjY2NRUmVmWFZWMnR0dCtHTXNxOTg1U3RwMUtoUkhubmtrWFR1M0RuUFBQTk1oZzRkV3JQZHNtWEw4bi8rei85SlJVVkZPblhxbEZkZmZUVy8rOTN2VWw1ZW5qLzg0UTlKa2dNT09LQld0Tnh3UnR2bXpsb3JsUTB4OE5NMmptSWJ4N0c2b3RtbkE5cW45OXVlWTIwNGc2dXVaVnM2L3VibTMvRHpQL3pEUDZTeXNuS3ozMGZMbGkzVHYzLy85Ty9mUDRNSEQ4NnV1KzY2elE5b0FBQUFhaFBDZ08zeTE3LytOVzNidHQxaytRc3Z2SkRWcTFkbjMzMzNyWE8vVmF0V1paZGRkcW56SnVBSEgzeHdicjMxMW93YU5TcWpSNDlPZVhsNUtpc3I4K0tMTCthRUUwNm84M2dubm5oaVRqenh4RzJhZmMyYU5WdDl2NlhWcTFlbnZMdzh2L3psTHpObnpweHRlcCs2eko0OWU1T2I3RC82NktPYjNHTnR3eGxsdSs2NmF3WU1HSkNKRXllbVdiTm1xYXFxeXVEQmcydTIrOUtYdnBRcnI3d3l4eDEzWENaTW1KRHJyNysrNXFtRGI3LzlkbHEzYnAzcTZ1cTgrKzY3TmZ0ODlORkhTVkpyV1ZsWldVMGcrMXRUMTJXTkRVRmRUNGZjRUZ5LzlyV3Y1YWlqam5LemZBQUEyTW44Rnphd1haWXVYWm9ERHp4d2srWFRwazFMOHNuOW51cnk0WWNmMW5rbVdaSU1IRGd3NTUxM1hrME11K3FxcXpKanhveXNXYk1tUng1NTVFNmIvYTIzM3FvejR0V2xXN2R1ZWZEQkI3UHJycnZ1bEJCMnlpbW41SlJUVHNrVFR6eVJDeSs4TUQvNzJjL3l0YTk5cldiOXFGR2o4dHBycjlYYTUxdmYrbFllZi96eGpCMDdOdnZ1dTIrdHM0SmF0R2l4MlJ2ZEwxNjhPSjA2ZGNxa1NaTnk3YlhYYnJKKzQ3aFlYbDZlZWZQbTdlakhZenUwYjk4K0F3WU15QWtubkpCKy9mcWxVYU5HcFI0SkFBQWFMQ0VNMkdadnYvMTIzbi8vL1hUdDJyWFc4cmZlZWlzUFB2aGdPblRvc05rUTlzRUhIMnp4NXZiLy9iLy85M3owMFVlNTc3NzdzblRwMHJ6enpqdHAzNzU5ampubW1KMHkrNG9WSy9Mc3M4OW05ZXJWdWZqaWkzUE9PZWZrNElNUDN1SSt1KzY2NnhiWG4zVFNTZHMwdzVvMWEzTDExVmVuVmF0V3RZTGNFMDg4a1ljZmZqaGp4b3lwdGYxWHZ2S1Y3TFhYWGxtNmRHbk9PT09Nclg2Zlo1NTVwbGFzck92Sm5ra3lmdno0VGQ2VHo5ODN2L25OSEhQTU1UbmtrRU1hNUJsdkFBRHd0MGdJQTdiWjQ0OC9ucVQyVXdkWHJWcVZ5eTY3TEI5Ly9IRkdqQmhSNTJWZnlTYzMwbS9WcXRVV2ozL3BwWmRtenozM3pDOSs4WXNrbnp4TjhkMTMzOTNtRzduZmRkZGRhZGV1WGEwWlI0MGFsY3JLeXB4ODhzbVpNMmRPSG52c3NSeDIyR0VaUG54NERqMzAwRXlmUHIzVy9jbTJ4aTIzM0ZMcmZUN0xMcnZza2wvODRoY1pPM1pzaGc4Zm5nTU9PQ0JEaGd6SnpUZmZuS0ZEaDI1eWY3VmJiNzAxUzVjdVRmTEpVemVQUGZiWXo3eU04WTAzM3NnTEw3eVFZY09HWmVYS2xVbXkyZSs5YWRPbVd6MDdPODlGRjExVTZoRUFBS0J3NnY2YktzQVdQUGpnZzJuWnNtVU9QL3p3Sk1ueTVjdHovdm5uWjhHQ0JSa3laRWhPUHZua092ZGJ1blJwWG5ycHBjOE1XaSsrK0dLbVQ1K2U1Sk1idXMrYk55OWYvL3JYTTN6NDhOeC8vLzE1NmFXWHR1cUpnZ2NlZUdBNmRPaVExYXRYWjl5NGNUbjk5Tk16ZCs3Y2ZQZTczODFWVjEyVnlaTW41OXh6ejgzenp6K2ZmL3pIZjh3UGZ2Q0RMRisrZkpNYitXOU81ODZkYzhZWloyUy8vZlpMbHk1ZGF2MlRwT1pHNkhXZDdkT3paOCtNSGowNmQ5NTVaMTUvL2ZWY2YvMzErZWlqajNMd3dRZG4vZnIxTmR2ZGR0dHR1ZW1tbTdMLy92dm5zc3N1eXh0dnZKSHp6ejgvYjczMTFoWm51L2ZlZTlPa1NaT2Rla2twQUFCQWZlZU1NR0NiVEo4K1BRc1hMc3l3WWNQU3RHblRQUDc0NC9uSlQzNlM5OTU3TDhjZGQxek5qZURmZmZmZC9QakhQMDdidG0zVHJGbXpWRmRYWis3Y3VWbTNibDJkTjc1ZnRteFovdC8vKzMrWk9uVnFubnJxcVZSVVZPUi8vSS8va1gvNGgzL0lDeSs4a0hIanhtWFdyRmsxVHhaczBhSkZ1bmZ2bnM2ZE8yZlBQZmZNN3J2dm5pNWR1dFNjcGZiQkJ4OWsvdno1bVROblRtYlBucDJWSzFlbWZmdjJ1ZnJxcTJ0dXJ0K3laY3Y4NEFjL3lCbG5uSkdiYnJvcEV5ZE96TEJod3pKNDhPQmNlT0dGTlUrQzNKejk5OTgvKysrL2Y2MWx2Ly85NzVNa2pSbzFxcmtVc1gzNzlwdnMrK2FiYjJiS2xDbjU3VzkvbTFXclZtWFlzR0Y1NFlVWDhwT2YvQ1NQUHZwb2Z2YXpuK1hhYTYvTnhJa1RzKysrKzJiTW1ESFpiYmZkc25MbHl0eDAwMDA1NjZ5emNzVVZWK1NZWTQ3Smh4OSttSll0VythbGwxNUtreVpOc21qUm9qend3QU01NFlRVGFsMkd1cVVuRG03dURENEFBSUNHUkFnRHRzbmpqeitlRmkxYTVPeXp6ODc4K2ZOejBVVVhwYnk4UE9lZGQxNkdEeDllRTFUYXRtMmJGMTk4c2VZSmhVblN1blhyL1BDSFA2eDFjL2pGaXhmbmdnc3V5TEpseTJyMkd6WnNXSVlORzViZGQ5ODlTWExBQVFma2lpdXV5STkvL09NOC8venplZWFaWi9MODg4OW44ZUxGK2RPZi9sUnpCdFVsbDF5U3RtM2Jac1NJRVhuNTVaZHJ6aG83K09DRE0zVG8wSngwMGtsMVBpMXk5OTEzejZoUm8zTEdHV2RrOU9qUm1UcDFhdWJNbVpQeDQ4ZlhHYkcyWk1LRUNaazllM2JONjY1ZHU5WUtmek5tek1pdmYvM3JMRjY4T0UyYU5Na0pKNXlRYzg4OU41MDdkMDZTekp3NU0rWGw1VG56ekRPelpNbVM5TzNiTjlkZGQxM05mY3JPTysrODdMcnJycm51dXV0eTVaVlhadHk0Y1RubGxGT3laczJhSk1uaGh4K2VhZE9tcGJxNk91ZWVlMjZ0MmNhTkcxZm56QTgvL0hCdXUrMjJiZnFjQUFBQTlaRVFCbXlUa1NOSDVvUVRUc2h1dSsyVzNYYmJMWmRmZm5uMjIyKy85T3JWcTlaMjVlWGxlZXl4eDdKKy9mcXNYYnMyMWRYVnFhaW8yT1I0M2J0M3owa25uWlNXTFZ2bTBFTVBUYTlldlRaN2RsS2pSbzNTdTNmdjlPN2R1MlpaVlZWVjNuNzc3Ynp6emp2cDBhTkhtamR2bmg0OWVxUm56NTdwMjdkdkJnd1lrRDMyMkdPclBsdlBuajF6NjYyM1p2TGt5WG4zM1hjM2lXQmYvL3JYdDNoV1ZmTEovYzNPUHZ2c0pFbEZSVVc2ZGV0VzZ5bUFCeDk4Y1BiWVk0OTg0eHZmeU9EQmd6ZDVldVZ4eHgyWEpIbjk5ZGZ6MTcvK05mL3R2LzIzTkc1Yys0L3FNODQ0SXdjY2NFRGVlZWVkN0w3Nzd2bmhEMytZOTk5L1AyM2F0TW5Rb1VQVHRHblRkT3JVcWVZU3phNWR1K2JVVTArdGVmMXAvZnIxeTN2dnZmZVozdzhBQUVCOVYxYTlOVGZhb1piaHc0Y25TVzYrK2VZU1QwSlJiWWd4OCtmUEwvRWtzT1A4ZnQ1NnZxdlM4djBEQU95NFVhTkdaZG15WmZuSlQzN3ltYmVqK1R5NEtRd0FBQUFBaFNDRUFRQUFBRkFJUWhnQUFBQUFoU0NFQVFBQUFGQUlRaGdBQUFBQWhTQ0VRVDFVVmxhV0pGbTNibDJKSjRFZHMrSDM4SWJmMHdBQUFKOG5JUXpxb1hidDJpVkpsaTlmWHVKSllNZXNXTEVpU2RLNmRlc1NUd0lBQUJTQkVBYjEwSUFCQTVJa2p6enlTSWtuZ1IwemQrN2NKRW12WHIxS1BBa0FBRkFFalVzOUFMRHR6anJyckV5ZE9qVTMzSEJEbm52dXVYVHYzajJ0V3JVcTlWaXcxVmF1WEprbFM1YmtrVWNlU2VQR2pYUHV1ZWVXZWlRQUFLQUFoRENvaDdwMzc1N3JycnN1VjExMVZXYk5tcFZaczJhVmVpVFlMcTFidDg2SUVTT2NFUVlBQUh3aGhEQ29wd1lPSEpoSmt5YmxzY2NleTZKRmkxSlpXVm5xa1dDclZWUlVwRnUzYmhrMGFGQ2FOV3RXNm5FQUFJQ0NFTUtnSG12YXRHbU9QLzc0SEgvODhhVWVCUUFBQVA3bXVWaytBQUFBQUlVZ2hBRUFBQUJRQ0VJWUFBQUFBSVVnaEFFQUFBQlFDRUlZQUFBQUFJVWdoQUVBQUFCUUNFSVlBQUFBQUlVZ2hBRUFBQUJRQ0VJWUFBQUFBSVVnaEFFQUFBQlFDRUlZQUFBQUFJWFF1TlFEQU51bnFxb3FVNlpNeWZqeDQ3Tm8wYUpVVmxhV2VpVFlhaFVWRmVuV3JWdUdEaDJhb1VPSHBrbVRKcVVlQ1FBQUtBQWhET3FocXFxcWpCZ3hJck5uenk3MUtMQmRLaXNyczJEQmdpeFlzQ0F6WnN6SW1ERmp4REFBQU9Ceko0UkJQVFJseXBUTW5qMDdYYnQyemNpUkk5TzllL2UwYXRXcTFHUEJWbHU1Y21XV0xGbVMwYU5IWjk2OGVibjc3cnR6empubmxIb3NBQUNnZ1hPUE1LaUh4bzhmbnlRWk9YSmsrdlRwSTRKUjc3UnMyVEs5ZXZYS0ZWZGNrU1NaTm0xYWlTY0NBQUNLUUFpRGVtalJva1ZKa3U3ZHU1ZDRFdGd4ZSsrOWQ1TGt0ZGRlSy9Fa0FBQkFFUWhoVUE5dHVERytNOEdvNzFxMGFKRWtXYjE2ZFlrbkFRQUFpa0FJQXdBQUFLQVFoREFBQUFBQUNrRUlBd0FBQUtBUWhEQUFBQUFBQ2tFSUF3QUFBS0FRaERBQUFBQUFDa0VJQTloQjY5YXR5ME1QUFpSSEgzMjAxS01BQUFDd0JZMUxQUURBem5iVFRUZWxZOGVPR1RwMGFNMnlWYXRXWmRteVpWdTFmL3YyN2RPaVJZdXRmci8xNjlmbnpqdnZ6TXFWSzNQNDRZZW5XYk5tMnp3ekFBQUFuejhoREdoUXFxcXFzbmp4NHR4NjY2MTU3cm5uTW1MRWlEUnAwaVNQUC81NExyLzg4cTA2eGs5Lyt0T2NkTkpKdFpZdFhMZ3dpeFl0MnV3K0J4MTBVS1pNbVpMUm8wZm4wRU1QclhPYm80OCtPcTFidDk3NkR3TUFBTUJPSllRQkRVcmp4bzN6ODUvL1BOZGZmMzN1di8vK0xGbXlKRGZkZEZQTitpbFRwcVJEaHc1MTdydGl4WW9jZDl4eGRhNmJPWE5teG80ZCs1bnZQM0hpeEV5Y09MSE9kVGVBem5nQUFDQUFTVVJCVkhmZGRaY1FCZ0FBVUVKQ0dORGdsSmVYNTdMTExzdnV1KytlcXFxcU5HM2F0R2JkNjYrL25vOC8vcmpPL1Q3ODhNUFBQUGI4K2ZOcmZwNDVjMmFtVFp1VzBhTkhiN0xkakJrejh2REREK2Y2NjYvZmprOEFBQURBNTBFSUF4cWNxcXFxTkc3Y09PZWNjODRtNjg0Ly8veWQ5ajVMbGl6SnpKa3o2MXozeWl1dnVIaytuMm55NU1rNTZLQ0QwclZyMTFLUEFnQUFoU0NFQVEzS0hYZmNrU2xUcHVTYWE2NUo5KzdkTjFtL3ZaZEdibkRra1VkdWNrWlozNzU5Tjd2OXh1czJQcHNNa3VUWHYvNTFYbi85OVhUdDJqVkRoZ3pKa1VjZW1mMzIyeTlsWldXbEhnMEFBQm9rSVF4b1VIcjA2SkdsUzVmbU85LzVUdjduLy95Zk9mWFVVMnV0MzlGTEkrKzU1NTVVVjFjblNSNTQ0SUhjZDk5OUdUZHUzQ2JiYldrZGZOcVNKVXR5NDQwMzVzWWJiMHpIamgwelpNaVFISDMwMFRud3dBTlRYbDVlNnZFQUFLREJFTUtBQm1YZ3dJRzU3YmJiY3VHRkYrYW5QLzFwOXRoamp3d1lNS0JtL1k1ZUd0bTVjK2Vhbjl1MGFaTWs2ZEtseXliYmJXa2RiTW1iYjc2WnNXUEhadXpZc1duZnZuMU9PT0dFREJvMEtBY2ZmSENwUndNQWdIcFBDQU1hbkI0OWV1U09PKzdJQXc4OFVDdUNKVHQrYVdSZHRuUnBKRnZ2c01NT1MxbFpXYXFycTJzdURTd3JLNnR6MmFkLzNmaFN3aTJ0Ly9RbGg1dmJadVAzM0hqNTV1YlkwdkhyV3IvaFdFdVhMdDNpZDdKOCtmTGNjODg5dWVlZWV6eHhGQUFBZGdJaERHaVFPblRva0IvKzhJYzFyL3YwNlpOYmJya2xMVnUyekpvMWErcmNwMm5UcHJuampqdXkxMTU3MVFvZVNiSm16Wm8wYmx6M0g1bGJ1alNTYmJQaHN0UHE2dXFhbi9uRSt2WHJTejBDQUFEVWUwSVkwQ0E5OGNRVHFhcXF5bEZISFpVUFB2Z2dRNFlNMmFiOUowMmFsSTRkTzlhOC92ampqOU8wYWRNa3licDE2NUlrMy8zdWQzUG1tV2ZXTE4vWXhSZGZuSXN2dmpqcjFxMUxlWG01bTU5dmhhZWZmcnJPNVJ0SHNZM2oyS2VYYmRqdTB3SHQwOXR0Q0VwMWJWZFhpTnNRUmJkbVdWMXoxalhiaGwrSER4K2V0OTU2YTdQZlNkdTJiZE8vZi84Y2Z2amhPZjc0NDNQVVVVZHRkbHNBQU9DekNXRkFnelJwMHFUTW5Ea3pjK2JNcVZsMjZxbW5wbi8vL3BrN2QyNG1UNTZjYTY2NUprbHkrZVdYWjhpUUlUbnFxS1B5N0xQUDVqZS8rYzBteDN2dnZmZHE3dnZWdjMvL2JacmxsbHR1Y2Zua0R2ajBwWThOU1YxbkdiWnYzejVISEhGRUJnOGVuSDc5K3FWUm8wWWxtQXdBQUJvbUlReG9rQllzV0pBZVBYcWtlZlBtTlpkQ0huREFBUms4ZUhEZWZmZmRUSjQ4T1lNSEQwN3lTUWpyMmJObkJnOGVuSFhyMXRVWndsNS8vZlhzdWVlZVNaSUpFeWFrc3JJeVAvclJqOUs4ZWZOY2M4MDFhZGFzV2EzdC8vS1h2MlRreUpIcDBLRkQ5dHR2djgvNTAxTGZkZXpZTVFNSERzemd3WU56eUNHSE5OandCd0FBcGVhWjdFQ0Q4OTU3NytXTk45NUluejU5ZHNyeDFxeFprNWRmZmpuZHVuVkxrblRxMUNrOWV2VElEVGZja0hmZmZUZFhYWFZWR2pWcWxFNmRPcVZUcDA1WnVIQmhMci84OG5UdTNEazMzM3h6V3JWcXRWUG1vT0U1N2JUVGN2ZmRkMmZTcEVrWk1XSkUrdlRwSTRJQkFNRG55QmxoUUlQejdMUFBKa2w2OSs2OVU0NzN6RFBQcEtxcWFwUGo5ZWpSSTdmZmZuc3V2dmppZk90YjM4cjN2Ly85UFBmY2M1a3paMDVPTysyMFhIYlpaZGxsbDExMnlndzBUR2VmZlhhcFJ3QUFnRUp4UmhqUTRNeWJOeS9Kemd0aGt5ZFBUcU5HalRKZ3dJQk4xdTI5OTk0NS8venpzM2J0Mm93Wk15Wno1c3hKdjM3OTh2M3ZmMThFQXdBQStCdmpqRENnd1prM2IxNDZkT2lRRGgwNjVJRUhIa2hsWldXUzVELy84eitUSkgvODR4K1RKQTg4OEVETlBuLzYwNS95d0FNUDVNOS8vbk9TNU9HSEgwN2Z2bjNUdW5YclRKOCtQVi85NmxmVHVuWHJyRisvUGkrLy9IS2VmZmJaekpzM0wwOCsrV1ErK3VpajlPelpNOS80eGpmeTdMUFBadnIwNlRuNTVKUFRzMmZQSEhiWVlUbnd3QU96eno3N3BGdTNicW1vcVBpQ3Z3MEFBQUEyRU1LQUJtWHAwcVZac21SSmpqLysrQ1RKdGRkZVc3TnU2dFNwbVRwMWFzM3JqZGZObkRrek0yZk9ySGw5NDQwMzVvd3p6a2lIRGgxU1hWMmQ4ODQ3TC9mZmYzOXV1T0dHbXB2dmQrM2FOYWVmZm5vR0R4NmNuajE3SmtuKy91Ly9QaGRkZEZHbVRadVd4eDU3TEwvNXpXK3lkdTNhTkduU0pCTW5UaFRDQUFBQVNrZ0lBeHFVWnMyYTVjSUxMMHpuenAyVEpQUG56OStoNDYxZnZ6NWR1blJKang0OTBxNWR1N3o5OXRzNThNQUQwN3QzNyt5eHh4NTE3dE8rZmZzTUd6WXN3NFlOeStyVnE3TjQ4ZUo4OE1FSG05MGVBQUNBTDRZUUJqUW9iZHEwMmFrM0lDOHZMOCtnUVlPU0pMdnR0bHQrOUtNZmJkUCtUWnMyelVFSEhiVFQ1Z0VBQUdEN3VWaytBQUFBQUlVZ2hBRUFBSVh3cXhsdjVPVmxINWQ2REFCS3lLV1JBQUJBSVZ4dzkzL2xnaVI5OW1tWnM0N29rTDg3cEYzMjM2dDVxY2NDNEFza2hBRUFBSVh5bjYrdHpIKyt0aktYL3NkTE9iQmo4d3dic0dkT1BxUmRldTNkb3RTakFmQTVFOElBQUlBQ3FrNVNsZ1Z2cnNybEQ3eWN5eDk0T2Z1MmI1WmhBenJrbEQ3dGNtam5saWtyS3l2MWtBRHNaRUlZMUVObFpXV3BycTdPdW5YcjBxaFJvMUtQQTl0dDNicDFTZUl2R3NBT0svdmVvNlVlZ1hwbjAzLzN2TFQ4NDF6MTBDdTU2cUZYMG1tM3BoazJvRU8rZnNqdTZkK3RWY3JML2JzS29DRndzM3lvaDlxMWE1Y2tXYjU4ZVlrbmdSMnpZc1dLSkVucjFxMUxQQWtBMUxhbXFqcHZ2cjg2Zi8yNEt0V2xIZ2FBbmNZWllWQVBEUmd3SUJNblRzd2pqenlTNzN6bk82VWVCN2JiM0xsemt5UzlldlVxOFNSQWZWZDl4NkJTajBBOVVQdk13VTh1amR6WTNtMmJac2pCdStYYlgrbVFRZnUzaVJPV0FSb2VJUXpxb2JQT09pdFRwMDdORFRmY2tPZWVleTdkdTNkUHExYXRTajBXYkxXVksxZG15WklsZWVTUlI5SzRjZU9jZSs2NXBSNEpnTUw1cEhKMTNiMGlKL1hlTFdkK3BVTUc5SENHTWtCREo0UkJQZFM5ZS9kY2Q5MTF1ZXFxcXpKcjFxek1taldyMUNQQmRtbmR1blZHakJqaGpEQUF2bEE5OTJ5ZXYvdi94YSsrWGYzUFJJQWlFY0tnbmhvNGNHQW1UWnFVeHg1N0xJc1dMVXBsWldXcFI0S3RWbEZSa1c3ZHVtWFFvRUZwMXF4WnFjY0JvQ0IrZlBJK09ldUlEam5vU3kxS1BRb0FKU0tFUVQzV3RHblRISC84OFRuKytPTkxQUW9Bd04rOGEwN3ZWdW9SQUNneFQ0MEVBQUFBb0JDRU1BQUFBQUFLUVFnREFBQUFvQkNFTUFBQUFBQUtRUWdEQUFBQW9CQ0VNQUFBQUFBS1FRZ0RBQUFBb0JDRU1BQUFBQUFLUVFnREFBQUFvQkNFTUFBQUFBQUtRUWdEQUFBQW9CQWFsM29BWVB0VVZWVmx5cFFwR1Q5K2ZCWXRXcFRLeXNwU2p3UmJyYUtpSXQyNmRjdlFvVU16ZE9qUU5HblNwTlFqQVFBQUJTQ0VRVDFVVlZXVkVTTkdaUGJzMmFVZUJiWkxaV1ZsRml4WWtBVUxGbVRHakJrWk0yYU1HQVlBQUh6dWhEQ29oNlpNbVpMWnMyZW5hOWV1R1RseVpMcDM3NTVXclZxVmVpellhaXRYcnN5U0pVc3lldlRvekpzM0wzZmZmWGZPT2VlY1VvOEZBQUEwY080UkJ2WFErUEhqa3lRalI0NU1uejU5UkREcW5aWXRXNlpYcjE2NTRvb3JraVRUcGswcjhVUUFBRUFSQ0dGUUR5MWF0Q2hKMHIxNzl4SlBBanRtNzczM1RwSzg5dHBySlo0RUFBQW9BaUVNNnFFTk44WjNKaGoxWFlzV0xaSWtxMWV2THZFa0FBQkFFUWhoQUFBQUFCU0NFQVlBQUFCQUlRaGhBQUFBQUJTQ0VBWUFBQUJBSVFoaEFBQUFBQlNDRUFZQUFBQkFJUWhoQUR0bzNicDFlZWloaC9Mb280K1dlaFFBQUFDMm9IR3BCd0RZMlo1NDRva3NYYm8wcDU5K2VzMnlqejc2S011WEw5L3FZM1R1M0RsbFpXVmJ0ZTM2OWV0ejU1MTNadVhLbFRuODhNUFRyRm16Ylo0WkFBQ0F6NThRQmpRNDA2ZFB6K1RKay9QMDAwL25uLy81bjlPOGVmUE1tVE1ubzBhTjJ1cGpQUDc0NDJuZXZIbk42NFVMRjJiUm9rV2IzZjZnZ3c3S2xDbFRNbnIwNkJ4NjZLRjFiblAwMFVlbmRldldXLzlCQUFBQTJLbUVNS0RCdWVxcXE5SzFhOWY4NmxlL3l1TEZpL1ByWC8rNlp0M01tVFBUcGsyYnplNzd3QU1QNU5wcnI5MWsrY3laTXpOMjdOalBmTytKRXlkbTRzU0pkYTY3NjY2N2hEQUFBSUFTRXNLQUJ1bDczL3RlOXRsbm43ejQ0b3RwMjdadHpmSy8vT1V2V2JGaXhXYjNlKys5OTdaNDNQbno1OWY4UEhQbXpFeWJOaTJqUjQvZVpMc1pNMmJrNFljZnp2WFhYNzhkMHdNQXNFSFo5eDVOa2xUZk1haWtjd0FOZ3hBR05EaVZsWldwcUtqSXNjY2VtMk9QUGJiV3V1OTk3M3M3N1gyV0xGbVNtVE5uMXJudWxWZGVjZk44UHRQa3laTnowRUVIcFd2WHJxVWVCUUFBQ2tFSUF4cVVDUk1tNU4vLy9kOHpjdVRJREJvMGFKUDEyM3RwNUFaSEhubGtQdjc0NDFyTCt2YnR1OW50TjE2MzhkbGtrQ1MvL3ZXdjgvcnJyNmRyMTY0Wk1tUklqanp5eU95MzMzNWIvYUFHQUFCZzJ3aGhRSVBTdjMvLzNIdnZ2Ym5ra2t2eWpXOThJNWRlZW1rcUtpcDIydkh2dWVlZVZGZFhKL2trbXQxMzMzMFpOMjdjSnR0dGFSMTgycElsUzNMampUZm14aHR2VE1lT0hUTmt5SkFjZmZUUk9mREFBMU5lWGw3cThRQUFvTUVRd29BR3BXUEhqcm45OXR0ejZhV1hadno0OGZueWw3K2NVMDg5dFdiOWNjY2R0MFBINzl5NWM4M1BHODRzNjlLbHl5YmJiV2tkYk1tYmI3NlpzV1BIWnV6WXNXbmZ2bjFPT09HRURCbzBLQWNmZkhDcFJ3TUFnSHBQQ0FNYW5CWXRXdVIvLysvL25ZY2VlcWhXQkV1U08rNjRJNjFhdGRyc3Z0T25UOC9OTjkrOFRlKzNwVXNqMlhxSEhYWll5c3JLVWwxZFhYTnBZRmxaV1ozTFB2M3J4cGNTYm1uOXB5ODUzTncyRzcvbnhzczNOOGVXamwvWCtnM0hXcnAwNlJhL2srWExsK2VlZSs3SlBmZmM0NG1qQUFDd0V3aGhRSVBVcEVtVG5INzY2VFd2Ky9UcGsydXV1U2I3Nzc5L2Z2LzczMmZDaEFtNTRZWWJraVIvK01NZmN0ZGRkK1ZuUC90WlRqcnBwSFR1M0RsTm16YXRkYncxYTlha2NlTzYvOGpjMHFXUmJKc05sNTFXVjFmWC9Nd24xcTlmWCtvUkFBQ2czaFBDZ0FicDFWZGZ6YTY3N3BxMmJkdm1UMy82VSs2OTk5NWNmZlhWS1M4dnordXZ2NTdmLy83M05kc3VXN1lzVHo3NVpOYXVYWnU5OTk0N1NYTDU1WmZubi83cG45S2hRNGNreWNjZmYxd1R4OWF0VzVjaytlNTN2NXN6enp4emsyaVdKQmRmZkhFdXZ2amlyRnUzTHVYbDVXNSt2aFdlZnZycE9wZHZITVUyam1PZlhyWmh1MDhIdEU5dnR5RW8xYlZkWFNGdXcxbGdXN09zcmpucm1tM0RyOE9IRDg5YmI3MjEyZStrYmR1MjZkKy9mdzQvL1BBY2YvenhPZXFvb3phN0xRQUE4Tm1FTUtCQnV1dXV1ekp4NHNSTW56NDl1K3l5UzZaUG41NGpqamdpWC8vNjF6OXozekZqeHVTSko1N0lKWmRjVXJQc3ZmZmVxN252Vi8vKy9iZHBsbHR1dWNYbGt6dmcwNWMrTmlSMW5XWFl2bjM3SEhIRUVSazhlSEQ2OWV1WFJvMGFsV0F5QUFCb21JUXdvRUg2ODUvL25EMzMzRE50MnJSSm16WnRNbkRnd054eXl5MzV1Ny83dXkzdTkreXp6MmJHakJtNTRJSUxzc2NlZTlRc2YvMzExN1Bubm5zbVNTWk1tSkRLeXNyODZFYy9TdlBtelhQTk5kZWtXYk5tdFk3emw3LzhKU05Iamt5SERoMnkzMzc3N2Z3UFNJUFNzV1BIREJ3NE1JTUhEODRoaHh6U1lNTWZBQUNVbW1leUF3M095cFVyczNqeDR2VHAwNmRtMlZsbm5aV2xTNWRteXBRcG05MXY3ZHExK1pkLytaZDA2ZElsWjUxMVZzM3lOV3ZXNU9XWFgwNjNidDJTSkowNmRVcVBIajF5d3cwMzVOMTMzODFWVjEyVlJvMGFwVk9uVHVuVXFWTVdMbHlZeXkrL1BKMDdkODdOTjkrOHhadnpVMnlublhaYTdyNzc3a3lhTkNralJveEluejU5UkRBQUFQZ2NPU01NYUhEKytNYy9adjM2OWJWQ1dQLysvYlBmZnZ2bG5YZmUyZXhON3hjdVhKamx5NWZuRjcvNFJabzBhVkt6L0psbm5rbFZWVlY2OSs1ZGEvc2VQWHJrOXR0dno4VVhYNXh2ZmV0YitmNzN2NS9ubm5zdWMrYk15V21ublpiTExyc3N1K3l5eStmeklXa1F6ajc3N0ZLUEFBQUFoZUtNTUtEQmVlcXBwNUtrVmdnckt5dkxQZmZjazNQT09XZXorMzM1eTEvTzczNzN1eHg2NktHMWxrK2VQRG1OR2pYS2dBRUROdGxuNzczM3p2bm5uNSsxYTlkbXpKZ3htVE5uVHZyMTY1ZnZmLy83SWhnQUFNRGZHR2VFQVEzT2swOCttYlp0MjZaejU4NUpra21USnRWYXYyREJnbHJMbjMzMjJTVEp0R25UMHJ4NTg1cnQ5dDEzM3pScjFpelRwMC9QVjcvNjFiUnUzVHJyMTYvUHl5Ky9uR2VmZlRiejVzM0xrMDgrbVk4KytpZzllL2JNTjc3eGpUejc3TE9aUG4xNlRqNzU1UFRzMlRPSEhYWllEanp3d095enp6N3AxcTFiS2lvcXZvaXZBQUFBZ0RvSVlVQ0RzblRwMHJ6MDBrczU5dGhqYTVaZGVlV1ZkVzc3NmVXalI0K3U5WHJZc0dGcDI3WnRxcXVyYzk1NTUrWCsrKy9QRFRmY2tEVnIxaVJKdW5idG10TlBQejJEQnc5T3o1NDlreVIvLy9kL240c3V1aWpUcGszTFk0ODlsdC84NWpkWnUzWnRtalJwa29rVEp3cGhBQUFBSlNTRUFRMUs4K2JOYzlGRkYyWHZ2ZmV1V1RaLy92enRQdDc2OWV2VHBVdVg5T2pSSSszYXRjdmJiNytkQXc4OE1MMTc5NjcxVk1tTnRXL2ZQc09HRGN1d1ljT3lldlhxTEY2OE9COTg4TUZtdHdjQUFPQ0xJWVFCRFVycjFxM3puZTk4WjZjZHI3eThQSU1HRFVxUzdMYmJidm5SajM2MFRmczNiZG8wQngxMDBFNmJCd0FBZ08zblp2a0FBQUFBRklJUUJnQUFBRUFoQ0dFQUFBQUFGSUlRQmdBQUFFQWhDR0VBQUFBQUZJSVFCdlZRV1ZsWmttVGR1blVsbmdSMnpJYmZ3eHQrVHdNQUFIeWVoRENvaDlxMWE1Y2tXYjU4ZVlrbmdSMnpZc1dLSkVucjFxMUxQQWtBQUZBRVFoalVRd01HREVpU1BQTElJeVdlQkhiTTNMbHpreVM5ZXZVcThTUUFBRUFSTkM3MUFNQzJPK3Vzc3pKMTZ0VGNjTU1OZWU2NTU5SzllL2UwYXRXcTFHUEJWbHU1Y21XV0xGbVNSeDU1SkkwYk44NjU1NTViNnBFQUFJQUNFTUtnSHVyZXZYdXV1KzY2WEhYVlZaazFhMVptelpwVjZwRmd1N1J1M1RvalJveHdSaGdBQVBDRkVNS2duaG80Y0dBbVRacVV4eDU3TElzV0xVcGxaV1dwUjRLdFZsRlJrVzdkdW1YUW9FRnAxcXhacWNjQkFBQUtRZ2lEZXF4cDA2WTUvdmpqYy96eHg1ZDZGQUFBQVBpYjUyYjVBQUFBQUJTQ0VBWUFBQUJBSVFoaEFBQUFBQlNDRUFZQUFBQkFJUWhoQUFBQUFCU0NFQVlBQUFCQUlRaGhBQUFBQUJTQ0VBWUFBQUJBSVFoaEFBQUFBQlNDRUFZQUFBQkFJUWhoQUFBQUFCUkM0MUlQQUd5ZnFxcXFUSmt5SmVQSGo4K2lSWXRTV1ZsWjZwRmdxMVZVVktUYi84ZmVmY2RWWGZaL0hIOGZPQ0FiQlJVSERoUlhpZ3YzeEpXam9ibTZIWlV6elpadFIyYm0zVEp0YUE0c2Y1a2pWMnFsTjJiT05EVm5abmVZcUtHNVJ3cUt5RDYvUDdnNWlSendnT1BMZ2RmejhlZ2g1N3F1Ny9WOWN4S1ZEOWQxZlN0VlV0ZXVYZFcxYTFlNXVMZ1lIUWtBQUFCQUlVQWhESEJBS1NrcEdqVnFsRFp0Mm1SMEZDQlBFaElTRkJrWnFjaklTSzFmdjE3VHBrMmpHQVlBQUFEZ3JxTVFCamlnaUlnSWJkcTBTVUZCUVJvN2RxeUNnNFBsN2UxdGRDekFibkZ4Y1lxT2p0YWtTWk8wZS9kdUxWaXdRQU1IRGpRNkZnQUFBSUFDampQQ0FBZTBjdVZLU2RMWXNXTlZyMTQ5aW1Cd09GNWVYZ29KQ2RIcnI3OHVTVnE3ZHEzQmlRQUFBQUFVQmhUQ0FBY1VGUlVsU1FvT0RqWTRDWEI3QWdNREpVbC8vZldYd1VrQUFBQUFGQVlVd2dBSGxIRXdQaXZCNE9nOFBUMGxTWW1KaVFZbkFRQUFBRkFZVUFnREFBQUFBQUJBb1VBaERBQUFBQUFBQUlVQ2hUQUFBQUFBQUFBVUNoVENBQUFBQUFBQVVDaFFDQU1BQUFBQUFFQ2hRQ0VNQUFBQUFBQUFoUUtGTUFBRnl2NzkrN1Z2M3o2all3QUFBQUFBOGlHejBRRUF3RjVyMTY3TjBsYTJiRm5WcWxWTGtwU2NuS3czMzN4VHdjSEJxbCsvL2kzblc3Smt5UjNKNWVUa3BGNjllbVZxQ3cwTnpkVWNnWUdCK3ZiYmIrOUlIZ0FBQUFDQWJSVENBRGlNTVdQR1pHbDc4TUVIcllXd21UTm42c1NKRXpweDRvVE5RbFNGQ2hXMFlzVUs2K3RKa3liZGtWeTJDbUdTdEhUcFVsV3NXUEdXMS8vMDAwLzY4TU1QNzBnV0FBQUFBRUQyS0lRQmNDaFBQZldVSG4vOGNWMjRjRUVQUC95d0tsU29JRW5hdG0yYjVzK2ZyMHFWS21uU3BFa3ltVXpXYXc0ZlBxd3hZOGFvYnQyNm1lYmF1M2R2anZmYXZIbXpYbnJwSlMxZnZ0eXVndGJOQmd3WUlDZW5XKzlBVDAxTmxiKy9mNjduQndBQUFBRGtEb1V3QUE3RmJEYkwxZFhWV3NScTA2YU4vdmpqRDQwZVBWcWhvYUg2NVpkZnRINzllZzBkT2xTU2RQTGtTWDM0NFljcVhicTBSbzRjZVUrenpwOC8zNjRDMnRhdFd6VjU4dVM3SHdnQUFBQUFDamtLWVFBYzB2YnQyMVdoUWdXVkwxOWVQWHYyVk5HaVJmWEJCeDlvMmJKbG1qNTl1cnk4dkZTOWVuVzkrdXFyTXBsTW1qVnJsbng4ZkxMTWs5TTVZWWNQSDVZa3JWbXpSbjUrZnRtT2UvVFJSMjIyOStqUncrN1BKekF3ME82eEtEaFdyMTZ0bWpWcktpZ295T2dvQUFBQVFLRkFJUXlBdzBsTlRkWFBQLytzN3QyN3k5blpXUjk5OUpGU1VsTGs3ZTJ0Z1FNSDZ0aXhZNW84ZWJKTUpwUEtseSt2YWRPbXFXelpzamJuc3VlY3NNOC8venpIZmx1RnNONjllMnZRb0VFNUZ0QXkvUG5ubjlxMGFkTXR4NkhnK2V5enozVHk1RWtGQlFXcGMrZk9hdEdpaGFwV3JacHBheThBQUFDQU80ZENHQUNIczMvL2ZsMjllbFZ0MnJTUkpPdjJ3N05uejJybHlwWGF1bldyekdhem5KeWNkT0xFQ2IzOTl0dHEzYnExR2pSb29LQ2dvQ3puZGozNzdMTWFNR0JBbHZ2YzZveXcrZlBuNitPUFA1WWtuVGh4UXQyNmRjdlV2M1RwMGx4OVh1SGg0WklrWDE5ZmJkeTRNVmZYd3JGRlIwZHJ4b3dabWpGamhzcVVLYVBPblR1clZhdFd1dSsrKyt3Nlp3NEFBQUNBZlNpRUFYQTQxNjlmbHlRZFAzNWNaY3FVMFRmZmZLTnQyN2Jwd0lFRE1wdk42dFNwazRZTUdTSjNkM2V0V0xGQ2E5YXNzYTc4OHZEdzBNQ0JBelZvMEtCTWM2YWxwZW1ISDM1UXUzYnQ1T0xpa3VXZTU4NmQwL1hyMTdNOTg2dHMyYkxhdkhuekhmbjhLSHdVYnFkUG45YWNPWE0wWjg0Y2xTaFJRdmZmZjcvQ3dzSlV1M1p0bzZNQkFBQUFEbzlDR0FDSDA2SkZDN1ZxMVVvelpzeFEyN1p0OWYzMzM4dmIyMXN2dmZTU09uWHFwR0xGaWlraUlrTGp4bzFUUkVTRWhnNGRxaE1uVG1qWHJsMDZjT0NBbWpScGttWE9mZnYyNlkwMzN0RHMyYk0xZXZSb05XellNRlAvUng5OXBBMGJOcWhidDI0YU1XS0VpaFVybHFuZnljbEozdDdla3FSang0N2w2bnl3RExkNmltVkIxNkJCQTVsTUpsa3NGdXZXUUpQSlpMUHQ1bDl2M0VxWVUvL05XdzZ6RzNQalBXOXN6eTVIVHZQYjZzK1k2OHlaTXptK0p4Y3VYTkRDaFF1MWNPRkMrZnI2NWpnV0FBQUF3SzFSQ0FQZ2tQcjM3NjhubjN4U3YvenlpK2JObTZkejU4NUprbUpqWXhVYkc2dUxGeTlLU245cVpNWUtzdERRVUlXR2h0cGMxZFdnUVFOOStlV1hHajkrdklZUEg2N2h3NGVyU3BVcTF2NkpFeWVxZXZYcSt1eXp6N1IrL1hxTkdUUG1saGwzN2RxVjZmVzZkZXMwZHV4WS9mVFRUM0oxZGJXMkh6dDJUTDE3OTg3MWUxQVFXU3dXNjY4Wkh5TmRXbHFhMFJFQUFBQUFoMGNoRElCRHFsdTNydHpkM2JWLy8zNzUrUGpZUE9OTGtwNTg4c2tzYmRtdHZLcFJvNFlXTEZpZ1R6LzlWRzNidHRXSkV5ZXNmUzR1TGhvd1lJRGF0Mit2Zi8vNzN5cFRwb3pPbmoyYlk4YTJiZHRtZXAyU2tpSko2dFNwVTZaMkNoenA5dXpaWTdQOXhxTFlqY1d4bTlzeXh0MWNRTHQ1WE1iN2JXdWNyVUpjeGlvd2U5cHM1YlNWTGVQWFljT0c1Zmo3cUZpeFltclVxSkVhTjI2c0RoMDZxR1hMbHRtT0JRQUFBSEJyRk1JQU9DUm5aMmVWS2xWSzU4K2ZWMGhJaUY1KytXVTVPVGxabitCNDQ5YklnSUNBVzg2WGtKQ2dxS2dvMWE1ZFd5KysrS0lrWlNxRW5UdDNUdjcrL2dvTUROU3NXYk1rcFcrbnpNbVBQLzZZNmZYYXRXczFac3dZclZ1M0xzdUtzTHhzcFN3c2J0NzZXSkNZelZuL0dpNVJvb1NhTm0ycWpoMDdxbUhEaG5KMmRqWWdHUUFBQUZBd1VRZ0Q0SkJTVTFNVkV4TWpWMWRYcGFhbUtqdzhQTnRWWWZaWXVIQ2haczZjcWE1ZHUycmt5SkhXODc0eTdqVjgrSEJKMHNpUkk5VzZkV3U3TTk0b1l4VlFhbXBxcHI2Yng2SHdLVk9takpvM2I2Nk9IVHVxYnQyNkJiYndCd0FBQUJpTlFoZ0FoM0xnd0FHTkd6ZE9wMDZkMHVYTGw5VzhlWE1kT0hCQVY2OWVWZE9tVGZNODc2QkJnK1R1N3E1cDA2WnB4NDRkbWpoeG9yWFAyZGxaa3lkUDFqdnZ2S01YWDN4UnpaczMxNmhSbzI0NVo2TkdqV3kydDJqUklzODVVYkIwNzk1ZGpSbzFVbzBhTll5T0FnQUFBQlFLRk1JQU9KVHk1Y3RyKy9idEtsS2tpRjU1NVJXRmhZVXBJaUpDa3RTM2I5OHM0N3QwNlpLbGJmbnk1VmtPekRlWlRPcmJ0NjhhTjI2c3Q5NTZTejQrUHJwNjlhcTF2M0xseXZyODg4KzFmUGx5aFllSEt6NCszbWErMU5SVWxTdFhMc3RCK1ZMMmgrWGZlSzBrdHNJVklrODg4WVRSRVFBQUFJQkNoVUlZQUlkU3RHaFJMVjI2TkZOYjY5YXR0WHo1OGt4dFc3WnMwU2VmZktMWnMyZkwzOTgvVTEvWnNtV3puYjl5NWNyNjhzc3ZKVW1uVHAzSzFHY3ltZFN6WjA4OS9QRERjblYxMWZidDJ6UDF4OGZIMjNXWSthMVdoR1YzbUQ4QUFBQUE0UFpRQ0FQZzhEdzlQZVhwNlptcExUSXlVcElVR0JobzEySDU5amgwNkpCaVltTGs3dTZ1dExRMGJkcTBTVVdLRkpIMHo1TUl0MjdkbXUzMUd6ZHUxUGp4NDdWeDQwYTV1TGhrT3k0K1BsNGVIaDUzSkRNQUFBQUE0QjhVd2dEQVR0dTNiOWVubjM2YXFhMS8vLzZTcEczYnRtbmt5SkYyemRPMmJkdGJqbUZWR0FBQUFBRGNlUlRDQURpTVJvMGFxWFRwMG5hTjlmZjNWMmhvcU0yenVHNDBaY29VVmFwVUtkdjdMVisrM0xxVnNtZlBubXJXckpsU1VsSmtzVmhVckZneGExL0xsaTBwWGdFQUFBQkFQa2NoRElERG1EbHpwdDFqR3pkdXJNYU5HOTl5WEZoWVdMWjlIaDRlbVE3VjkvYjJWclZxMWV6T0FBQUFBQURJWDV5TURnQUFBQUFBQUFEY0N4VENBQUFBQUFBQVVDaFFDQU1BQUFBQUFFQ2hRQ0VNQUFBQUFBQUFoUUtGTUFBQUFBQUFBQlFLRk1JQUIyUXltU1JKcWFtcEJpY0Jiay9HNytHTTM5TUFBQUFBY0RkUkNBTWNrTCsvdnlUcHdvVUxCaWNCYms5TVRJd2t5ZGZYMStBa0FBQUFBQW9EQ21HQUEycldySmtrYWQyNmRRWW5BVzdQOXUzYkpVa2hJU0VHSndFQUFQbkZySTJuNVROc3EvVy9ERGUyalY5NXpMaUFBQnlhMmVnQUFIS3ZYNzkrK3Y3NzcvWEpKNS9vd0lFRENnNE9scmUzdDlHeEFMdkZ4Y1VwT2pwYTY5YXRrOWxzMXVEQmc0Mk9CQUFBOG9sMk5ZdnBhbUxXSTBCdWJIdWt2dis5akFTZ0FLRVFCamlnNE9CZ1RaNDhXUk1tVE5ER2pSdTFjZU5Hb3lNQmVlTHI2NnRSbzBheElnd0FBRmhWQ1hCWFNLQ1hmanNaWjdPL2NrbDMxYTNBRDRFQjVBMkZNTUJCTlcvZVhLdFdyZEtXTFZzVUZSV2xoSVFFb3lNQmRuTnpjMU9sU3BVVUZoWW1kM2QzbytNQUFJQjhwbC9Ua2hxMXpIWWg3SUU2ckFZRGtIY1V3Z0FIVnFSSVNFbm9Gd0FBSUFCSlJFRlVFWFhvMEVFZE9uUXdPZ29BQUFCd3h6eFkxMStqbHYxcHM2OXZrNUwzT0EyQWdvVEQ4Z0VBQUFBQStVck5zcDZxV3NvalMzdDVmemMxcnV4alFDSUFCUVdGTUFBQUFBQkF2dE8vV1VDV3RpNjEvUXhJQXFBZ29SQUdBQUFBQU1oM0hxeVR0ZWpWcDBuVzRoZ0E1QWFGTUFBQUFBQkF2bE92Z3JjcStCZXh2aTd0NjZxV1Zka1dDZUQyVUFnREFBQUFBT1JML1p1VnNuN2NLY1JQSnBQSndEUUFDZ0lLWVFBQUFBQ0FmT25oZXY3V2ovczBaVnNrZ050bk5qb0FBQUFBQUFDMk5BenlVWEV2RjZXa1dkU3VSbEdqNHdBb0FDaUVBUUFBQUFEeUpaTkpHdEN5bE03RUpNckppVzJSQUc0ZmhUQUFBQUFBUUw3VnRWNXh4Y1NuR0IwRFFBRkJJUXdBQUFBQTdvS2twQ1NkT0hGQ0owNmMwQjkvL0tIVHAwOHJKaVpHU1VsSnNsZ3NSc2R6T0t1TUR1Q0FYRnhjNU83dXJwSWxTNnB5NWNxcVhMbXlBZ01ENWUvdmYrdUxnUUtLUWhnQUFBQUEzRUVuVHB6UXJsMjc5T09QUHlveE1kSG9PQ2pFa3BPVGxaeWNyQ3RYcnVqSWtTUFc5cXBWcTZwdDI3YXFWYXVXWEZ4Y0RFd0kzSHNVd2dBSGxaS1Nvb2lJQ0sxY3VWSlJVVkZLU0Vnd09oSmdOemMzTjFXcVZFbGR1M1pWMTY1ZCtRY1lBS0JBdUh6NXNyNzk5bHZ0MkxIamZ5MG1lUlFySlUrLzB2SXZmNSs4UzVSVEVVOWZ1WHI0eU1tWmI4VndkMWtzRnFVa3hpdnhXcXdTcmx6VXhlT1J1bnIrdU9MK1BxMm9xQ2hGUlVYSno4OVAvZnYzMTMzMzNTZVRpVFBZVURqd3B5L2dnRkpTVWpScTFDaHQyclRKNkNoQW5pUWtKQ2d5TWxLUmtaRmF2MzY5cGsyYlJqRU1BT0N3TEJhTHRtN2RxcSsrK2tvV2kwVm1WM2VWcUZSSFFZMjZ5S05vZ05IeFVFaVpUQ2E1dUhuS3hjMVRYdjVsVkR5b3RpUXBMU1ZaSi8rN1JhZCsvMG1YL2o2dHFWT25xbHExYWhvOGVMQjhmWDBOVGczY2ZSVENBQWNVRVJHaFRaczJLU2dvU0dQSGpsVndjTEM4dmIyTmpnWFlMUzR1VHRIUjBabzBhWkoyNzk2dEJRc1dhT0RBZ1ViSEFnQWcxK0xqNHpWLy9uenQyN2RQSmlkbmxhb2FxdXBoZldVdTRtNTBOTUFtSjdPTHl0ZHRwL0oxMituTUh6L3J5UFp2ZE9qUUlVMllNRUVqUm94UWNIQ3cwUkdCdThySjZBQUFjbS9seXBXU3BMRmp4NnBldlhvVXdlQnd2THk4RkJJU290ZGZmMTJTdEhidFdvTVRBUUNRZTFldlh0WGt5Wk8xYjk4K3VYcjZLclRIUzZyVmNUQkZNRGlNMHRXYnFObmpFMVV5dUw2dVhidW15Wk1uYSsvZXZVYkhBdTRxQ21HQUE0cUtpcElrZmxvRGh4Y1lHQ2hKK3V1dnZ3eE9BZ0JBN2x5NWNrV1RKMC9XcVZPbjVGdTZzcG85OXBhS2xxNXNkQ3dnMTV6TkxxcmRaWmlxdCtrcnlhVFpzMmRyNTg2ZFJzY0M3aG9LWVlBRHlqZ1luNVZnY0hTZW5wNlN4Qk8xQUFBT0pTa3BTZE9uVDlmWnMyZFZyRngxaGZaNFNXWlhONk5qQWJjbE1LUzFhdDQvU0NZbkozM3h4UmY2NDQ4L2pJNEUzQlVVd2dBQUFBREFUbWxwYVZxOGVMR09IVHNtbjRDS3F0LzFPVGs1T1JzZEM3Z2pTbFZycUJydEhwZkZZbEY0ZUxndVg3NXNkQ1RnanFNUUJnQUFBQUIyMnJGamg3WnQyeVpYRHgvVjYvcWNUQlRCVU1DVXFkRlU1ZXUxVjN4OHZHYk1tS0hVMUZTakl3RjNGSVV3QUFBQUFMQkRURXlNRmkxYUpKT1RzK284T0VJdWJwNUdSd0x1aWlvdGVzcTNkR1g5OWRkZmlvaUlNRG9PY0VkUkNBTUFBQUNBVzdCWUxGcXdZSUdTazVOVnZtNDcrWllLTWpvU2NOZVlUQ2JWN0RCQVRzNHVpb2lJMFBuejU0Mk9CTnd4Rk1JQUFBQUE0QllPSGp5bzMzNzdUUjVGU3lxNCtTTkd4d0h1dW96ZjZ4bm40Z0VGQllVd0FBQUFBTWhCV2xxYVZxeFlJU2w5eTVqSnhMZFJLQnpLMVE2VG0xY3gvZjc3NzRxS2lqSTZEbkJIOENjNEFOamgrdlhydHh4ejhPQkJUWjQ4V2ZIeDhmY2dFUUFBdUZjT0hEaWdFeWRPeUNlZ29rcFVxbU4wSE9DZU1UazVxL0wvVmtCKzk5MTNCcWNCN2d5ejBRRUE0Rzc0K3V1djgzUmRjSEN3NnRhdG02bnR6VGZmVkhSMHRPYk1tU096T2ZzL05xT2pvN1ZvMFNJTkhEaFFIaDRlZWJvL0FBRElmOWF0V3lkSnF0VG9RWU9UQVBkZXFhcU5kSFRIdHpwOCtMQk9uanlwd01CQW95TUJ0NFZDR0lBQzZkMTMzODNUZGIxNzk4NVNDS3RUcDQ1V3JWcWxhZE9tNllVWFhsQmNYSnkyYmR1VzVkcmZmdnROa3JSNTgyWjVlWGxsNlcvU3BJbDhmWDN6bEFzQUFCamoyTEZqT25Ma2lEeUtCcWg0VUlqUmNZQjd6bVF5cVdKb1IvMng2U3V0WGJ0V2d3Y1BOam9TY0Zzb2hBRW9zTHAzNzY0WFhuakI3dkV0VzdhMDJmN0lJNDlvMDZaTldyaHdvWm8zYnk1L2YzK05HVE1tMjNuZWVlY2RtKzF6NTg1VlNBai9nQVlBd0pIODlOTlBrcVN5dFd6L093RW9ERXBWYmFTb0xVdTFiOTgrUGZiWVkzSjFkVFU2RXBCbkZNSUFGRmhtczFrZUhoN2F0MitmL1B6OFZMRml4VXo5Rnk5ZTFNaVJJL1hTU3krcFhyMTZPYzQxZHV4WTllelpVNTkvL3JsbXo1NnR2WHYzWmhrVEVSR2hjZVBHNlljZmZwQy92LytkL0ZRQUFJQUJVbEpTdEhQblRwbWNuRlcyVml1ajR3Q0dNUmR4VitucVRYVHE5NS8wODg4L3ExVXJ2aDdndUNpRUFTalFFaElTOU5wcnI2bFlzV0thUDMrK2loUXBZdTJiT1hPbWpoNDlxbEtsU3QxeW5vQ0FBSDMwMFVlNjc3NzdKRW5KeWNtNmN1VktwakZ4Y1hHU3BNdVhMMmU1bnNJWWJGbTllclZxMXF5cG9LQWdvNk1BQUd3NGVQQ2drcEtTNUYrK3BzeXVSVzU5QVZDQWxReXVyMU8vLzZTOWUvZFNDSU5Eb3hBR29FQnpjM1BUK1BIak5YTGtTRTJhTkVuanhvMlRKQjArZkZqZmZmZWQrdlhycDlLbFM5czFWNE1HRGF3Zjc5dTNUeU5HakxBNTd0RkhIODNTWm1zRkdmRFpaNS9wNU1tVENnb0tVdWZPbmRXaVJRdFZyVnBWSnBQSjZHZ0FBUDN6OTNkQTFWQ0Rrd0RHSzFhdXVwek5yanAwNkpBU0V4TXovWUFaY0NRVXdnQVVlQzFhdEZDL2Z2MjBZTUVDTld6WVVCMDdkdFM3Nzc0cmIyOXZEUm8wS01kclY2MWFwWmlZR092cnh4NTdMRlAvVjE5OXBUSmx5a2hLZjZMVTIyKy9yUlVyVnNqUHowOVMrbU9tUC96d3d6djhHYUdnaVk2TzFvd1pNelJqeGd5VktWTkduVHQzVnF0V3JYVGZmZmZKeWNuSjZIZ0FVQ2haTEJZZE9IQkFra2tsSzljM09nNWdPQ2NuWjVXb1hGZG5EKzNTcjcvK3FrYU5HaGtkQ2NnVENtRUFDcXdiVjlVODg4d3oyck5uajk1KysyMzkrZWVmK3ZYWFh6VnUzRGo1K1Bqa09NZjgrZk4xOU9oUjYrdWJDMkVlSGg3eTl2YVdsTDc2VEpLOHZMeXNiZnlrRExsMSt2UnB6Wmt6UjNQbXpGR0pFaVYwLy8zM0t5d3NUTFZyMXpZNkdnQVVLaWRPbk5DMWE5ZmtYYUtjekVYY2pZNEQ1QXYrNVd2cTdLRmQrdjMzM3ltRXdXRlJDQU5RNEtTa3BFaFNwcFUwTGk0dWV1ZWRkOVN2WHovTm1UTkh0V3ZYVnRldVhXODUxOUtsU3lWSjRlSGhtajE3ZHBiK1U2ZE9LVFUxVlZMNjRmdFMraitjcjE2OUtrbTZkT25TN1gweWhVaURCZzFrTXBsa3NWaXNSVXlUeVdTejdlWmZieXg2NXRSLzg1YkQ3TWJjZU04YjI3UExrZFA4dHZvejVqcHo1a3lPNzhtRkN4ZTBjT0ZDTFZ5NFVMNit2am1PQlFEY1dVZU9ISkVrRlMwVGJIQVNJUC9JK0hySStQb0FIQkdGTUFBRlRrWWh6TVhGSlZONytmTGxWYTFhTmUzZnYxODFhdFM0SStjd1BmMzAwMW5hQmc4ZWZOdnpGbFlXaThYNmE4YkhTSmVXbG1aMEJBQW9WREpXaEJjdFc5WGdKRUQrNGU1YlhDN3UzcnA0OGFMaTQrUGw0ZUZoZENRZzF5aUVBU2h3NHVQakpVbnU3cG0zTVN4ZXZGajc5KzlYeVpJbHRYVHBVclZwMDBZTkd6Yk0wejBxVmFxa2NlUEdxVU9IRHZMMDlOVHk1Y3YxM252dktTMHRUV1BIamxYVHBrMVZ1blJwSFR0MlRQdjM3Ny90ejZrdzJMTm5qODMyRzR0aU54YkhibTdMR0hkekFlM21jUmtGSlZ2amJCWGlNbGFCMmRObUs2ZXRiQm0vRGhzMlRHZlBuczMyUFNsV3JKZ2FOV3FreG8wYnEwT0hEbXJac21XMll3RUFkOWFmZi80cFNmSXR4Wk45Z1J2NWxnclN4ZWdET25yMHFFSkNRb3lPQStRYWhUQUFCVTdHZHNTTWM3cWs5S2RFVHAwNlZhR2hvWHJ2dmZmMHIzLzlTK1BIajlmaXhZdHZlVTZZTFNWS2xGQzNidDJVa3BLaWp6NzZTS3RXcmRMamp6K3V1WFBuYXVyVXFmcmdndy9VdDI5ZkRSbzBTTjI2ZGJ0am4xdGhkUFBXeDRMRWJNNzYxM0NKRWlYVXRHbFRkZXpZVVEwYk5wU3pzN01CeVFDZ2NMdHk1WW91WGJva1Z3OXZ1WGtWTXpvT2tLLzRscTZraTlFSGRQandZUXBoY0VnOGlncEFnWFA2OUdsSjZRVUZTYnAyN1pwR2pSb2xOemMzVFp3NFVYNStmbnJqalRkMDd0dzV2ZjMyMjlicnpHYXprcE9USlVuejVzM1R3WU1IYzd4UFZGU1VCZzBhcE8rLy8xNnpaczFTNWNxVkpVbHo1ODVWang0OU5ILytmSFhyMWszZmZQTU4yOXFRb3pKbHlxaFhyMTc2L1BQUHRXYk5HbzBmUDE1Tm1qU2hDQVlBQnJsdzRZSWt5YU5vZ01GSmdQekhzMWdwU2Y5OG5RQ09oa0lZZ0FJbk1qSlNrbFN1WERuclZzWGp4NDlyd29RSkNnaEkvd2R0aXhZdDFLMWJONjFmdjE2clY2K1dsUDRFeUxpNE9FbnBoK1F2VzdiTTV2d1hMMTdVKysrL3IvNzkreXNsSlVWejU4NVYxYXIvbkIvaTdlMnRsMTkrV1Y5OTlaVktseTZ0aVJNbjZva25uckFXMllBTTNidDMxNElGQzdScTFTcU5HalZLOWVyVks3Q3Izd0RBa1dROEFNZk54OS9nSkVEKzQrNmQvbldSOFhVQ09Cb0tZUUFLbkMxYnRzalQwMU5WcWxUUmpCa3p0SFhyVmcwYk5reXRXclhLTk83RkYxOVVxVktsTkduU0pGMjhlRkYrZm40NmYvNjhwUFR0bGFWS3BmKzBLeTB0VFljT0haSWtKU1ltYXZYcTFmcjY2Ni9WcTFjdnpaMDdWNlZMbDdhWkl6ZzRXSFBuenRVTEw3eWdKazJhWkRtOEgzamlpU2RVbzBZTm8yTUFBRzVpWFJIbVc4TGdKUGZHcGZPbmJMWW5KVjVYVXVKMXUrZFpOWGV5NG1MVGo2aTRkdVZ5bG42THhhTHJjVmV5dFAreUpVTG5UaHkxK3o2MzYrY2Z2bGJpOVd2WjlsKy9kbFhiMWl6TzBuNXc3MVlsSnlWS2tpNWZPS045Vy81ejF6TG1aeGtGWWdwaGNGUVV3Z0FVS0wvLy9yc09IVHFrVnExYXljbkpTYzdPem1yWHJwMkdEQm1TWmF5bnA2Y21USmlnbDE1NlNjV0xGMWZGaWhWMStQQmhuVDU5V29tSmlTcGJ0cXhTVTFNMVpzd1liZG15Ulc1dWJobzNicHdlZmZSUkxWNjhXSys4OG9wY1hWMXp6T1BrNUtUKy9mdmJmTG9rQUFESW56Syt3WGYzS2ZpRnNEUEhvdlJLajdyNjhkc3ZNN1dmUG5aSVkvczIxUmZ2UEdmM1hQTW52NkxZUytjVisvYzVQZE94a3I1OC93VWxKeVpZKzNkdFdLbVJEMVhYN2czZldOdVNFcTlyNnFqK09uZnl6MXZPdjNYMXdqd1huM2F1WDZGVmM2ZElrajU4c1pjdVh6aVQ3ZGhMNTAvcGsxZjZaR283ZnlwYTQ1OW9wZlAveTdsMTlRSXRtLzVtbnJJNE9oYzNUem1iWFJVZkg4K09CemdrRHNzSFVLRE1uRGxUa3RTclZ5OUowbE5QUFdWOXdwOHREUm8wVUlNR0RTUkpiZHUyMWViTm0vWG9vNDlLa21yVnFxWFJvMGRydzRZTmV2bmxsMVc2ZEdtOSt1cXI2dG16cHpwMTZxU2dvQ0I1ZTN2TDJkbFpKcE5KdnI2K21qcDFxZzRlUEtpMHREU2xwYVVwTlRWVnljbkpTa2xKVWUzYXRWVytmUGw3OEM0QUFJRGJjZVZLK3FvbFZ3L3ZXNHgwZktVclZ0V1lXV3YwZjI4L28wYnRIcEc3bDQ4U0UrTDE5cE1kMWJ4TEgvVWE4V2F1NS9UMUQ5Q2JjemZydzVkNjY5RCs3WnE0WUp1Y25jMXEzTDY3a2hLdWE5cm94L1RDNUNXcTE2cUxmbGc4VTlmanJ1ajlweCtTeFdKUlNuS1NYRnlMU0pKU1VwTFZyR052UGYvQklrbVNsMDh4elJvL1JPMTZEbFdIM3NNMXJFMFpPVG45YzU2bVJSWlowdEl5dFVuU1oxdk9hZnVheFNwZkpVU3BxU21TcExTMFZPdkh6czVtbmYzcmlKN3JVa1ZMLzV2NXljOFpkbS84VmhXcTFWSFpTdWtydVhlc1hhWm1uUi9OVk9pN2tiT0xTNVljQlltcnA0K3V4MTVVYkd5c2loY3ZiblFjSUZjb2hBRW9VSm8xYXlZWEZ4ZlZxVlBIMm1idm1VdGR1blRSM3IxN3RYYnRXdlh0MjFjVktsU1FpNHVMK3ZYcnB6NTkwbjhxK01VWFgyak9uRGxhdW5TcDR1UGpjNVh0bTIrK3VmVWdBQUJndU5qWVdFbVNxMGZ1bnl6dEtQNVZPK3UzZ2dPYitTa3RMZFZhd1BudS96N1FkLy8zZ2JYL3ZvYXQ5Y2FjRFhiTlg2RmFIYjI3ZUplT0h6b2daK2QvN3RYeXdYNjZyMEVyK1pjcXA3Ti9IZEhTNmVQMTRrZkwxS2pkSS9wdHgzb3RtemxCYjgzYnFwVGtKRDNiT1ZoMW1uZTBYbHV2VlJkTit2b1hyZi82TXlVbHBQODdiUEdCRkd2L2h5LzJVb2t5RmZUWXk1TXpaYmw2K2FMMmJsNnRIV3VYYWNtbmIwaVNSajVZM2RyL3hZNnMyemh2dHVXN2VXcnp5RUJKMHZGRHYrcm9mM2ZyNkg5M2EvN2tWMnlPN3p2eVhYVWJNdXFXOHpvcVY0LzBRdGlWSzFjb2hNSGhVQWdEVUtEMDdkdFhYYnQyemRPMUpwTkpiN3p4aHQ1NDR3MXIyd3N2dkNBL1B6L3I2NW8xYStyRER6K1V4V0pSWEZ5Y2twS1NyQ3UrVWxOVFpiRllsSmFXSm92RmttbGVaMmRubFN0WEx1K2ZHQUFBdUdmK1dSRldjQXRoTnhhUWJ0Uzdsa2xUdnYydnlnWlZ0OW1mTVNZN0x6eGsrK3hMRHk5ZnpmMDVKdjJGeWFSL0Q3MWZkVnQwVXFOMmo2aFJ1MGVVbXBxaXI4TW42c1RoLytyY3lUK1ZjTzJxU3BTcG9KWVA5WmNrWFkrN29wM3JWeWlzMndEMUdQYTZZaTZldGM3ZHI3NmJKQ2s1S1ZGbUYxZDkvOVduMXI3NWU2NXAxWmRUVkxOeEc0MmU4UjlyL3FrUmgxV3FmTEIxM05YTDJaOTNGWDN3RjBVZi9NVzZNdTJiejk5VDUzN1BhZURvVDJ6T1ZSaTR1cWV2bHJ4NjlhckJTWURjb3hBR29NRHg5UFM4WTNObDl4TXVrOGtrYisrQ3YxMENBSURDS0NYbGYxdm16QVgzUVRkWFkvN1cwRllCTnZ0ZTZsckxabnRHOFd6TzFndFordjQ5cktPaUkvZkp1NmkvM2wyeVcrNDNiU3MxT2FVZlQvMzc3czM2K09WL0thaEdQWVYxR3lBdlh6L0ZYRHlybWVNR0tmNUtqSjU0N1NOTkdOaEd6MC82U20vTjIycTkvdlN4US9wODRnaGR2bkJHand3ZG5XbnU1S1JFemR0MVZXNGVYdGEyaFBnNFBkN0lXeGFMUlNHTjI2bkZBMzJ0V3lHbHpGc2piK1c3TDlKWHhUazVPZXQ0MUFIdFhMOUNuL3dueXE1ckN5cW4vMzF0SkNVbEdad0V5RDBLWVFBQUFBQndnNHdEd0UzT0JmZmJKZStpL2paWGhkbXpJc3k3V09ZZkZHNWR2VkNseWdVck9uS2ZhalpxbysrLytsU1B2eklsMDVpMHRGUXRtVFpPMzN6K25yb1BHNnVldzkvUXdYMWJ0UzFpc2JaOE4wOTFXM1RTK0M4MnljdlhUeTZ1UmZUTzhNNnEyYWlOd3JvTlVQMVdENmh5cllaNlplcEt2Zi9NdzNJdDRxYm1YVElmWnArVGlVTTdaR203Y1d1a0pMM3l5VXFiMTU0K2RrZzd2bDlxZmYzWmhPRnEyMzJ3U3BTcFlHMUxTVTdLZkZhWXlXUTk1NnlnY25KT0w0UnhXRDRjVWNIOWt4MEFBQUFBOGlEam0zdW5BbG9JMjdQcE8wMSt2bnUyL2RtdENKT3licW1NdlhSZUN6NThWYS9QL2tFNzFpNVYxMEd2YXZMSUhtcllwcXRxTkdobEhXZVNTYWVQSGRMTFUxZXFkcFAyU2tsTzByNGYvNlBZdjg5cDFJelZxbHFucVNRcE9URkJqZG85b3VDUVJsbzFkNHJXTEppcUJtMGVsaVRWYWQ1Uno3dzdUeTR1UlRLZFpTWkp3OXNHWnB2NTVnUHdiVzFuUFB2WEVadlhmdm4rQzJyY29idDJyRjBtU1dyenlFQTFiTmN0MDVnWHU5Yk05TnF2WkZuTjJuZ3kyendGUWNiWFJzYnFTY0NSRk13LzJRRUFBQUFnajV5Y25OTFAvRXhMazhuWnllZzRkMXlETmc5bmUwYllrbW5qMUxyckUzYWRlV1d4V1BUcDZNZlZ1SDEzbFF0T0x3YTVlWHByME9pcCt2aVZmK21kUlR2bFh5cjlqRlNUazVOZW1KSytzdXJtTThaMmJiQzlHc3ZXMlZ2MVduYVJ1NmUzVGg4N3BDTHVIdGIyV1J0UDJ0d2FlVHRTa3BNVWZ6Vld6N3c3MzFvSWE5ZHpxRjA1Q3pwTFdwb2t5ZG01NEQ0WkV3VVhoVEFBQUFBQXVJR3JxNnNTRWhLVWxwcFNZRmVGMlpLY2xLaVZuNzJydGoyRzJEVit3WlJYMDFkNWZidzhVM3ZEZHQzMDYvWWY5TzhuTzJyOC8yMVUwZUtsc2x4N1kvSG8ydFVZYmY1bXJoNTRiS1MxUDdzRCtWL3NXbE5qWmtib1NzeEYrUlFyWVcwZjNLSzQ5WE93dFMzeDV2bWU2MUxGK3JHdE04OGt5ZXppcWplLy9ESFRVeStSTGkwMWZkV2syY3g3QThmRDcxb0FBQUFBdUlHTGk4di9DbUhKa3R5TWpuUEgvWDN1cEo1cWwvM1RySisrdjZMTjlvQnlsVFZ0VGZvV3dtOCtmMDlyRjAzWGhIbGJWTVE5NjRPS0JvNytSTzgrOVlERzlXK3VWei85enJwaXpKWkxaMDlxd1pSWE14WENiRGwzOGs5ZHZYeFJwU3RXVmVUeUxRb29WMW1TOU1ucVEzSXlteFVRV0VtOWE1azA1NmVMK20zSGV0VnUxaUZURVd2MjVqTXFXcnhVcHEyUk9UMEJVNUpkUmJBYmkyb1o1bXk5a09Vc3RZSWs3WDhQR25CeEtiZ1BsRURCUlNFTWNFQW1rMGtXaTBXcHFha3NSNFpEUzAxTmxaVCtleG9BZ1B6QzNkMWRWNjllVlVwaXZGemRDOTVUb3YwREFyT2NtNVdjbEtnM0htdWhFbVVyNnNodnUvVFd2SzBxWHJwOGxtc3RGb3NXVEhsVnErZDlxQmNtTDFIbG1nMXMzc1BaN0tKWHBxN1VwR2U3YXZTakRkVm41RHZxMVBjWm00V2xzMzhka1g5QTltZDhaZmhqMzA4S0Rta2tzNHVyL3J0em80SkRHa21TRms5N1hXYVhJbnIydmZtU3BOU1VaQzJkOGFhTy9IZVgranovemkzbmxkS0xmQXYzWHJkcjdNMCsvUFozQlFSV3l0VG1VcVRnRlZCdmxKSVlMeW45YXdWd05BVnZ3enRRQ1BqNyswdVNMbHl3dll3YmNCUXhNVEdTSkY5Zlg0T1RBQUR3ajR5L2x4S3ZYVEU0eWIxeDRmUnh2VE9zazl3OHZQVDhCNHYwMElDWE5hWlBZMjFkdmNCNkZsU0dRNzlzVThTQ1QvVGMrd3ZWNVA2ZU9jNWJ4TjFUWTJhdFVhdUhIOU1QaTJmb2VsejYrM2xmZzlaeWRVc3ZvRnkvZGxYZnpaMnNDMmVPNjgwQllkcXcvSFBGeDhWbUdwUGh0eDNyVlNPMHBhNWN2cUI5Vy82ajBMQ0g5UHV1VFRxd1k3MGVlL2tENnpobnM0dGVtTEpFYXhaTzAzOTNiclNaTFNVNVNiRi9uNU9VdmdYU1pETGx1WGhsZG5HVlN4RzNUUDhWZElueDZmOHYrVGNjSEJHRk1NQUJOV3ZXVEpLMGJ0MDZnNU1BdDJmNzl1MlNwSkNRRUlPVEFBRHdEeDhmSDBsUzB2V3JCaWU1ZTJJdm5kZk85U3MwOWJWK0d2bGdOWlVvVzFHalp2NUh6czVtZGU3M3JKNTdmNkZXZnZhdW5tcGZYblArL2JTMnJKcXZxRjkzcUZyZFpwcTg4b0NhZC82WFhmZHhOcnZveWZIaGVtL3BYbm41K2ttU1h2djBPNTA1ZmxoZmZUeGF6ejlRVlphME5IMzYvWjlxK1ZCL2JmajZNdzF0WFVwK0FXVjE1dmhoV1N6L3JGejdiZWNHVmEvZlFncy9IS1VLVldzcnFFWTl6WGg5b0o1OFk1YThmUDBVYy9Hc1RDYVR6QzZ1S2xPeG1oNTlkcUsrZlA4Rm03a2lGbnlpSjhOS3EzNnJCK1R1NWFQVTFCUWRQckJUSjQ5R2F0ZjZGWEwzOHJuOU43a0FTNHBQLzlySStGb0JIQWxiSXdFSDFLOWZQMzMvL2ZmNjVKTlBkT0RBQVFVSEI4dmJ1K0F0MjBmQkZSY1hwK2pvYUsxYnQwNW1zMW1EQnc4Mk9oSUFBRlpGaXhhVkpDWEdYVFk0eWQxeCt0Z2h2ZnhJYlhuNkZGT0RzSWYwNzRVN0ZGU2pYcVl4dFJxMzFaU1Z2Mm4vdHJYYS92MFNMZnA0aklKck45WkxIMzJ0c2tIVmMzMVBkMDl2TGZuMERhMWZObHV4ZjUrVFQ3RVNxdFc0cllhK01Vc053aDZTeWNsSjdYb01VYnNlUTNUODBLOWF1M2lHM252cUFYWHM4N1Q2dnpSSjErT3VLTEJTRFFXSE5GTEV3cWthL1BwMG1WMWM5ZExIeTFVdXVKWUd0eXdoV1N6cTBIdTR6QzZ1a3FRdS9aNVRrdzQ5SkVuUGY3QkludDVGclhrZUh2aUtocjR4eTNvOGc3T3pXZThNNzZ4clZ5N0x0WWk3ZWozOVpxYjhMcTVGWkhMS3VvNGt1L2FDTEMwMVJjblhyOHJaMlZsZVhsNjN2Z0RJWjB5V0cwdnNzTXV3WWNNa1NlSGg0UVluUVdHMmJkczJUWmd3UVgvLy9iZlJVWUE4OC9YMTFhaFJvM1QvL2ZjYkhjVWhoSWFHU3BMMjd0MXJjSkxDaWZjZktEeCsvUEZIZmZYVlZ3cXMzVnJWdy9vYUhlZXVpTDEwWHI1K0pYTjFqU1V0N2JhS1BuK2ZQYUdUUnlOVnRsSU5tK2VQM2V6YWxjdEtTMHVUZDFIL1BOOFRkMTU4ekhsdG56ZE9KVXVXMU1TSkU0Mk9Bd2MwYnR3NG5UOS9YbSs5OVpZQ0FnTHUrZjFaRVFZNHFPYk5tMnZWcWxYYXNtV0xvcUtpbEpDUVlIUWt3RzV1Ym02cVZLbVN3c0xDT0dRVkFKRHZaSnpIZXYxS3dmMkJZMjZMWUpKdWUrV1RmNmx5OGkrVi9kTXFiK2JwVSt5MjdvZTdJK0hxSlVsUzhlSUY5Nm1ZS05nb2hBRU9yRWlSSXVyUW9ZTTZkT2hnZEJRQUFJQUNJK01iL0lRckZ3MU9BdVEvOGJIcEQreWlFQVpIVmJnMk13TUFBQURBTFFRRUJNaHNOdXZhNVhOS1MwMHhPZzZRcjF3OWYxeVNWTDc4cmJlM0F2a1JoVEFBQUFBQXVJSEpaRkpRVUpCa3Nlakt1ZU5HeHdIeWxkaXowWktreXBVckc1d0V5QnNLWVFBQUFBQndrNHh2OG1QT0hERTRDWkIvcENRbEt1N2lLYm01dWFsMDZkSkd4d0h5aEVJWUFBQUFBTnpFV2dnN2RkamdKRUQrRVh2MlQwa1dWYWhRUVNhVHllZzRRSjVRQ0FNQUFBQ0FtMVNwVWtXU0ZIUDZpQ3dXaThGcGdQemg4cWtvU1ZMMTZ0VU5UZ0xrSFlVd0FBQUFBTGlKdTd1N2dvT0RsWkowWFZmK2R5WVNVTmhkL1BOWFNWS2RPblVNVGdMa0hZVXdBQUFBQUxBaE5EUlVrblRtajU4TlRnSVk3OXJsczRyNys1U0tGeSt1c21YTEdoMEh5RE1LWVFBQUFBQmdROGFxbDR2SGZqTTRDV0M4aTlIcFh3ZTFhOWMyT0Fsd2V5aUVBUUFBQUlBTi92NytxbHk1c2hLdVh0TGxrMUZHeHdFTVk3RllkQ3B5bXlTcFJZc1dCcWNCYm8vWjZBQUE4aVlsSlVVUkVSRmF1WEtsb3FLaWxKQ1FZSFFrd0c1dWJtNnFWS21TdW5idHFxNWR1OHJGeGNYb1NBQUEyTlN5WlVzZFBYcFVmLzI2UWNVQ3F4b2RCekJFek9ramlyOTBSdVhLbFdOYkpCd2VoVERBQWFXa3BHalVxRkhhdEdtVDBWR0FQRWxJU0ZCa1pLUWlJeU8xZnYxNlRaczJqV0lZQUNCZmF0Q2dnWllzV2FLTDBiOHBNUzVHUmJ5S0doMEp1T2RPL0xwUmtoUVdGbVpzRU9BT29CQUdPS0NJaUFodDJyUkpRVUZCR2p0MnJJS0RnK1h0N1cxMExNQnVjWEZ4aW82TzFxUkprN1I3OTI0dFdMQkFBd2NPTkRvV0FBQlp1TGk0cUgzNzlscTFhcFdpZDBlb2VwdStSa2NDN3FtNFMyZDAvdWd2OHZIeFVkT21UWTJPQTl3MnpnZ0RITkRLbFNzbFNXUEhqbFc5ZXZVb2dzSGhlSGw1S1NRa1JLKy8vcm9rYWUzYXRRWW5BZ0FnZXkxYnRwVFpiTmJweU8xS3ZCWmpkQnpnbm9yZTlSL0pZbEhyMXEzbDdPeHNkQnpndGxFSUF4eFFWRlQ2WWEzQndjRUdKd0Z1VDJCZ29DVHByNy8rTWpnSkFBRFo4L1gxVmVmT25aV1dtcXdqMjc4eE9nNXd6MXc1ZjF6bm9uYXJhTkdpNnRpeG85RnhnRHVDUWhqZ2dESU94bWNsR0J5ZHA2ZW5KQ2t4TWRIZ0pBQUE1S3hkdTNieTlQVFVtVDkyNnRMSlEwYkhBZTQ2UzFxYUl0ZlBreVIxNmRLRjgxeFJZRkFJQXdBQUFJQmJjSGQzVjkrK2ZTVkxtZzV1bUtlMDFCU2pJd0YzMVYvNzF5dnU0a2tGQndlclZhdFdSc2NCN2hnS1lRQUFBQUJnaDlEUVVOV3ZYMS9YWXk5YVY4b0FCVkhNNlNNNnN2MGJ1Ymk0YU9EQWdUS1pURVpIQXU0WUNtRUFBQUFBWUFlVHlhUisvZnFWTFBsakFBQWdBRWxFUVZUSng4ZEhady90MVBHOVB4Z2RDYmpqRXVOaTlPdnFtYktrcGFwMzc5NHFYcnk0MFpHQU80cENHQUFBQUFEWXljdkxTODg4ODR5Y25aMTFaTWMzT25Ob3A5R1JnRHNtT1NGTys3NzlSTWtKY1dyV3JCbGJJbEVnVVFnREFBQUFnRnlvVUtHQ0JnMGFKRXRhcWlMWGZhblRCM2NZSFFtNGJVbnhWN1huNjhtNjl2ZHBWYTFhVmYzNjlUTTZFbkJYbUkwT0FBQUFBQUNPcGtHREJySllMSm96WjQ0aTEzK3B1QXNuVmFWbFQ4NVNna09LT1hOVXY2MlpyY1M0R0ZXdlhsMVBQLzIwekdiS0JTaVlXQkVHSU4vYnUzZXZmdjMxVjZXbHBWbmIxcTFicDlXclZ4dVlLdjhKRFEzVnRHblRqSTRCQUVDaDBiQmhRdzBmUGx4bVoyZjl0WCs5ZGk5OVQzRVhUeGtkQzdCYldrcXlqbXhmcWIzTHB5Z3hMa2IxNnRYVDAwOC9MVmRYVjZPakFYY05KVjRBK2Q1SEgzMmtVNmRPYWQyNmRYSnljcExGWXRHVUtWTlVzbVJKUGZqZ2c3bWFhKzNhdFhuSzBMRmp4enhkRnhvYW1xZnJNZ3dlUEZnalJveTRyVGtBQU1EZFU3ZHVYWTBiTjA3aDRlRTZmZnFZZGk1K1d3RlZHcWh5MDY1eTkvRTNPaDVnVTFwcWlrNUhibGYwN2dnbHhsMldrNU9UL3RXbmoxcTNiczJxUmhSNEZNSUEzQkd2di82NjFxeFpjMXR6N04yN04wdmIyYk5uZGZEZ1FUM3l5Q1BXNWRtLy9mYWJMbHk0b0NlZWVDTFg5eGd6Wmt5ZXN0bFRDTnU1YzZkR2pCaWhJVU9HNkttbm5ySzJOMnpZVU8zYnQ4OHkzbUt4S0MwdFRjN096amJuZS9mZGQvT1VGUUFBM0Z1bFNwWFNxRkdqdEhIalJxMWF0VXBuRCszVTJhamQ4aTBWcElDcURWVzhRaTE1RkMxaGRFd1VjaW5KaWJwODhwRE9IOTZyaThkK1UzTENOVWxTMWFwVjlhOS8vVXRseTVZMU9DRndiMUFJQTNCSE5HdldURVdMRnMyMmY5R2lSZkx4OGRFRER6eVFxM2wvK0NIOXNlUmR1blN4dHExWXNVSlNlaUVwSWlJaXgrdkxsaTJyT25YcVpHbWJOV3VXWGZjZlBueTRUcDJ5YjR2RDBxVkw1ZVRrcEI0OWVtUnFEdzRPVnMrZVBiT01uelp0bXViT25XdXpBQ2hsTG9TbHBxWnF6NTQ5dDh4dzVzd1o3ZHlaODlPckdqWnNLQ2NuZHNZREFIQW5GU2xTUkowN2QxYWpSbzIwWnMwYS9menp6NG85YzFTeFo0NHFTcEtyaDQvY3ZQMWtkbldYdVlpN1RFNjJmeEFHM0RrV3BTWW5LU1V4WHNuWDQzUXQ1cnhrK2Vlb2tZb1ZLNnBUcDA2cVc3Y3VxOEJRcUZBSUEzQkhkT25TSlZPeDZtYUxGaTFTc1dMRjlQTExMK2RxM20rKytVWVZLMVpVL2ZyMUpVbXhzYkhXN1kxVHBreTU1ZldkTzNmT1VnZ3ptODBxVTZhTVhmZTM5NURRYytmT2FjdVdMV3JkdXJWS2xpeHBjMHhjWEp4U1VsS3NyeE1TRWlSSk1URXhtY2JaS2lqR3g4ZmJ0VVZ5N2RxMXQ5eit1WFhyVm5sNGVOeHlMZ0FBa0h2Ky92N3EzNysvZXZUb29mMzc5K3UzMzM1VFZGU1VybDY5b3FUNEswYkhReUZtTnB0VnZueEYzWGZmZmFwZnZ6NHJ3RkJvVVFnRGtHL3QzYnRYeDQ4ZlYvLysvYTF0YytmT1ZYSnlzcFl1WGFyS2xTc3JORFJVQXdZTTBMUFBQbXRnVW1uNTh1VktTMHRUcjE2OXNoM3ozSFBQNmRkZmY4M1MzcTVkdTB5dmJhMFE4L1QwMU5LbFMzUE0wTHQzYjNYcjFrMTkrL2JOY1p5Ym0xdU8vYmgzbGl4Wm91Yk5teXN3TU5Eb0tBQ0FPOHpkM1YxTm16WlYwNlpOSlVsLy8vMjNMbDI2cEd2WHJpa2xKU1hUUTRDUXM4WXo0aVZKTzBmd2c3emNNcHZOS2xLa2lIeDlmUlVRRUNBWEZ4ZWpJd0dHb3hBR0lOLzY0b3N2SlAyekt1djgrZk5hc21TSjJyVnJwOHFWS3hzWkxaUGs1R1N0WExsU0ZTcFVVS05HamJJZE4zWHExRXdyd2o3NzdETXRYcnhZR3pac3VPVTluSnljN1BxY2l4WXRtcS9lRytSczBxUkprcVJxMWFxcGMrZk9hdEdpaFlLQ2dneE9CUUM0Ry96OS9lWHZ6K0g1ZVRKanN5VGwrTzhzQUxBWGhUQUErZEx2di8rdUhUdDJaR3A3Ly8zM2xaeWNyQ2VmZk5LZ1ZMWnQyTEJCbHk1ZDBzQ0JBM004WDhITHl5dlQ2NHlWV1RtZHJZYkM0ZENoUXpwMDZKQSsvdmhqQlFVRnFVdVhMbXJac3FXcVZLbGlkRFFBQUFDZ1FLRVFCaUJmbWpadG1seGRYWldVbENSSmlvcUswdWJObTlXblQ1OHNLNTZPSGoxcTg5QjhEdzhQaFlXRjJady9ZOTQ3WWRteVpYSnpjOU5ERHoxa3M5OWtNdW45OTkvUGRtdGphR2hvbGpaYjJ5TXRGb3ZOclpVM09uZnVuUGJ2MzU5dGY5MjZkWE84SHNhTGpvN1c5T25UTlgzNmRBVUdCcXBMbHk1cTFhcVZxbGV2Ym5RMEFBQUF3T0ZSQ0FPUTcvend3dy9hdlh1M1Jvd1lvUmt6WmtoS2Y2enpPKys4b3hZdFdtUVp2M1hyVm0zZHVqVkxlMkJnb00xQzJQSGp4NjNuZGR5dUkwZU9hUC8rL2VyV3JadTh2YjB6OVZrc0ZrbnAyeHFIRGgycVJ4OTk5TGJ1bFp5Y3JNR0RCK2M0WnMyYU5WcXpaazIyL2J0MjdaS3pjLzU4U2xXREJnMnNINXRNcGt5cjYyNThmZlBIOW83SnJzOWtNc2xpc2VScTNweXVzVGU3UFU2ZVBLblpzMmRyOXV6WkNnZ0lzUHM2QUFBQUFMWlJDQU9RNzJ6WXNFRTFhdFRRRTA4OFlTMkVTVkxIamgxdGpzL3RZZmwrZm40YU1tU0lYV00vLy94elhicDBLZHYrakZWZXRnN0p6emdFMTluWldYNStmdkx6ODdNN295MHVMaTZhTzNkdWx2YlkyRmlOR2pWSzE2OWZseVE5OE1BRDJSN2FuMStMWURleldDd2NJbnlUNU9Sa295TUFBQUFBRG85Q0dJQjhaOUNnUWZMMDlMUWVrbituZVh0NzI3MDZhOG1TSmRrV3dxNWR1NlkxYTlhb1ZxMWFOcmV0SlNZbVNwSmNYVjJ0YmJhMlFkN28yV2VmMVlBQkEyejJtVXdtaFlTRVpHcExUazdXTTg4OG82cFZxK3JYWDM5VlNFaUlmdmpoQjNYcTFFbk5talhMOFY3NXpaNDllN0swWmF5cXMxZ3Mxdi9zN2J1NS8rWnJjaHAzNCt1TTFWKzJ4dDdjbjl2NzllelpNOGYzcEdUSmttcldySmthTkdpZ1RwMDZaVm8xQndBQUFDRDNLSVFCeUhlcVZhdG1kQVM3ckY2OVd2SHg4ZG11dmtwSVNKQ1VmbGJaamZyMDZaT2xBSkthbXFyZXZYdm42djRwS1NrYU0yYU1qaHc1b2dVTEZ1akJCeDlVYUdpb21qVnJwbGRlZVVWVHBreFJreVpOY2pWbmZtTnJxMkpCVjZaTUdiVm8wVUtkT25WU25UcDFqSTREQUFBQUZDZ1V3Z0E0dkxsejU5cmNNaWhKRVJFUmQrMXNwV1hMbHNuWDExZjMzMysvemY3TGx5OUxrbng4ZkRLMUZ5MWFWQlVyVnN6VWxwcWFtcXQ3eDhmSDY5VlhYOVcrZmZzMFk4WU1sUzVkMnRvM2RPaFFuVDU5V3M4Ly83eGVlKzAxZGUvZVBWZHo0OTZyVUtHQ1dyUm9vYzZkTzZ0R2pScEd4d0VBQUFBS0xBcGhBQnhleTVZdHN5MUcrZnI2M3BWNzd0bXpSOUhSMFhyODhjY3piWDI4MGFsVHB5VHBqaGZpamg0OXFsZGZmVlZuejU3VlJ4OTlsT1ZKa0NhVFNXKzg4WWJNWnJQZWZ2dHQ3ZG16UjZOR2pjcFNrSVB4Qmc0Y3FNNmRPMmQ1RWlvQUFBQ0F1NE5DR0FDSFY3bHlaWFhwMHVXZTNuUFpzbVZ5Y25MSzhZeW52WHYzU2twLzR1V05aczZjcVprelorYjZucW1wcVZxNGNLRm16cHdwSHg4ZnpaNDlXelZyMXJRNTFzbkpTYSsvL3JyS2x5K3ZhZE9tYWRldVhYcm1tV2YwOE1NUHk4bkpLZGYzeHQzeHpEUFBHQjBCQUFBQWVUUnMyREM3eG9XSGgrZUw2eXBXcktqUm8wZmJOVWRCUmlFTXdHMWJ1SENoWW1OamJ6a3VKaVltMDFNZ2JSa3hZc1NkaXBXdHExZXZhc21TSlhhUHZkbUZDeGUwYWRNbU5XM2FWR1hMbHJWNVhXcHFxdGF0VzZmZzRHRDUrL3RuNnJOMVJsaUdqQ2RMWmh5b25uRTIxdDY5ZS9YKysrL3I2TkdqYXR5NHNmNzk3My9iOVJUS3h4OS9YSFhyMXRYNDhlTTFjZUpFTFZ5NFVDKy8vTElhTjI1OHkyc0JBQUFBMkdadlVVcVNsdjJldDN2YzZldU9IVHVXdHdrTEdBcGhBRzdiMHFWTGRmTGt5VnVPaTQyTjFadzVjM0ljY3k4S1laY3VYZEtrU1pQeWZQMktGU3VVbXBxYTdTSDVVdnJaWk9mT25WT2ZQbjB5dGIvenpqdXFVcVZLbGpQQzB0TFNKTW02V212WHJsMlMvamxvMzhmSFIzRnhjUm8zYnB5NmRldVdxN3kxYTlmV2tpVkxORy9lUEgzOTlkY3FWYXBVcnE0SEFBQUFZRnY3NThKdlBlZ09YSE83MTYyZmFuL2hycUNqRUFiZ3RuMzc3YmRHUjhpVkNoVXFhTVdLRlhhTjdkNjl1NDRmUDI1OW5acWFxcFVyVjZwTW1USnEzcng1dHRldFdyVktSWXNXVlk4ZVBUSzFkK3pZMGViNEN4Y3U2SUVISHBDcnE2dWNuWjBWSHg4dnM5bXNGaTFhU0pLcVZLbWkxYXRYNTNsYm82dXJxNFlNR2FKQmd3YXhOUklBQUFCQW9VVWhERUMrOXVDREQrYjRGTDFiOWQ5czNMaHg4dkx5c252OGlCRWpGQmNYWjMxOThlSkZQZkxJSTZwVnExYU9CYVh4NDhmcmp6LytzSzdvdXBXQWdBQU5HREJBQ1FrSnNsZ3M4dkR3VUZoWVdLWkQxRzlWd0pveVpZcktseStmNHhpS1lBQUFBQUFLTXdwaEFQSzFDUk1tM0ZiL3pYSzdyYkI5Ky9hWlhnY0VCTmgxSGtEWnNtV3pQVDhzTzdkN2NIcFlXTmh0WFE4QUFBREFQdUhoNFhrK3d3dkdZbWtBQUFBQUFBQUFDZ1VLWVFBQUFBQUFBQ2dVS0lRQkFBQUFBQUNnVU9DTU1BQUFBQUFBZ0Z6SU9EZTQvWFBoQmlleFQvdm53dFdycHRFcDhnZFdoQUVBQUFBQUFLQlFvQkFHT0NDVHlTUkpTazFOTlRnSmNIc3lmZzluL0o0R0FBQUFnTHVKUWhqZ2dQejkvU1ZKRnk1Y01EZ0pjSHRpWW1Ja1NiNit2Z1luQVFBQUFGQVlVQWdESEZDelpzMGtTZXZXclRNNENYQjd0bS9mTGtrS0NRa3hPQWtBQUFCUWNLMmZPc3g2cmxsaHgySDVnQVBxMTYrZnZ2LytlMzN5eVNjNmNPQ0Fnb09ENWUzdGJYUXN3RzV4Y1hHS2pvN1d1blhyWkRhYk5YandZS01qQVFBQUFDZ0VLSVFCRGlnNE9GaVRKMC9XaEFrVHRISGpSbTNjdU5Ib1NFQ2UrUHI2YXRTb1Vhd0lBd0FBQUhCUFVBZ0RIRlR6NXMyMWF0VXFiZG15UlZGUlVVcElTREE2RW1BM056YzNWYXBVU1dGaFlYSjNkemM2RGdBQUFJQkNna0lZNE1DS0ZDbWlEaDA2cUVPSERrWkhBUUFBQUFBZzMrT3dmQUFBQUFBQUFCUUtyQWdEQUFBQUFBREloZkR3Y0MzNzNlZ1V5QXRXaEFFQUFBQUFBS0JRb0JBR0FBQUFBQUNBUW9GQ0dBQUFBQUFBQUFvRnpnZ0RBQUFBQUFESWhXSERoa21TMmo4WGJuQVMrN1IvTGx5OWFocWRJbjlnUlJnQUFBQUFBQUFLQlFwaEFBQUFBQUFBS0JRb2hBRUFBQUFBQUtCUTRJd3d3RUdscEtRb0lpSkNLMWV1VkZSVWxCSVNFb3lPQk5qTnpjMU5sU3BWVXRldVhkVzFhMWU1dUxnWUhRa0FBQUFvc05aUEhhYjFrc0xESGVOTXM3dUpRaGpnZ0ZKU1VqUnExQ2h0MnJUSjZDaEFuaVFrSkNneU1sS1JrWkZhdjM2OXBrMmJSakVNQUFBQXdGMUhJUXh3UUJFUkVkcTBhWk9DZ29JMGR1eFlCUWNIeTl2YjIraFlnTjNpNHVJVUhSMnRTWk1tYWZmdTNWcXdZSUVHRGh4b2RDd0FBQUFBQlJ4bmhBRU9hT1hLbFpLa3NXUEhxbDY5ZWhUQjRIQzh2THdVRWhLaTExOS9YWkswZHUxYWd4TUJBQUFBS0F3b2hBRU9LQ29xU3BJVUhCeHNjQkxnOWdRR0JrcVMvdnJyTDRPVEFBQUFBQ2dNS0lRQkRpampZSHhXZ3NIUmVYcDZTcElTRXhNTlRnSUFBQUNnTU9DTU1BQUFBQUFBZ0Z3SUR3L1hzdCtOVG9HOFlFVVlBQUFBQUFBQUNnVUtZUUFBQUFBQUFDZ1VLSVFCQUFBQUFBQ2dVT0NNTUFBQUFBQUFnRndZTm15WUpLbjljK0VHSjdGUCsrZkMxYXVtMFNueUIxYUVBUUFBQUFBQW9GQ2dFQVlnazlEUVVFMmVQTm42ZXZMa3lRb05EYzMxUE9mT25WTmtaS1ROdnNqSVNKMDdkODZ1ZVdKalkzWGl4QWxaTEpaY1o4aHZlRThBQUFBQXdGaHNqUVJ3Vjh5ZlAxK0xGaTNTM3IxN3MvUTk5dGhqNnRPbmoxNSsrZVZienZPZi8veEhIMy84c2RhdFc2ZkxseS9iSE9QcDZha3JWNjVrYVM5WnNxUzh2YjB6dGExZHU5Yk96eUN6amgwNzV1bTZHL0dlQUFBQUFJQ3hLSVFCeU5mMjc5K3ZrSkFRWGJ0MlRUMTY5TEE1cGtlUEhscStmSG1XOWpmZmZGTVBQZlJRcHJZeFk4YmtLWWM5UlorZE8zZHF4SWdSR2pKa2lKNTY2cWs4M2NjZWp2U2VBQUFBQUREZStxbkR0RjVTZUxoam5HbDJOMUVJQXdxaHBLUWtOVzNhTkZmWFpMYzljdlBtelFvTEM4djFkWXNXTGRLaVJZdXl0SC8xMVZlcVZxMmFKQ2sxTlZWNzl1elJvRUdEclAzdnZmZWUyclp0SzBsYXZYcTEzbnJyTFkwWk15WkxNU2VuN1p4bHk1YlZyRm16c3UyLzBmRGh3M1hxMUNtN3hpNWR1bFJPVGs3cTBhTkhqdmN2VE84SkFBQUFBT1FuRk1LQVFzaHNObXYwNk5FMis5NTk5MTJiN2RtTmQzTnowMHN2dlpTbGZkT21UZHEzYjUvTnZpbFRwcWgrL2ZwcTA2Wk5scjZTSlV0YVA5NnpaNDlpWTJQVm9VTUhwYWFtU3BKTUpwT2NuWjBsU1U1T2VUdm0wR3cycTB5Wk1uYVB0Y2U1YytlMFpjc1d0VzdkV2lWTGx1UTlBUUFBQUlCOGlPOW1nRUxJeWNsSlBYdjJ0Tm1YWFNFc3UvR1MxTGR2M3l4dHAwK2YxcjU5KzJ6MlRaa3lSZFdxVmJQWmQ2TjE2OVpKa2dJQ0FuVDY5T2tjeHhwdCtmTGxTa3RMVTY5ZXZTVHhuc0ErUzVZc1VmUG16UlVZR0doMEZBQUFBS0JRb0JBRzRLNHdtODF5ZFhYTjgvVnhjWEg2L3Z2dnM3U1BIVHRXNDhhTmt5VHJpcWpubjM5ZVAvMzBVNTd2ZGJ1U2s1TzFjdVZLVmFoUVFZMGFOY3AyWEdGNlQyQ2ZTWk1tU1pLcVZhdW16cDA3cTBXTEZnb0tDakk0RlFBQUFGQndVUWdEY05zc0ZvdU9IeitlcWExYnQyN3ExcTJiamgwN2xtVjh4aUh1Ti9hVkwxOCswN2ErNzc3N1R0ZXZYODl5N1FzdnZLQW1UWnBJU3Q5cStPbW5uMnI4K1BGS1NFaklOTzdtQStIdnBnMGJOdWpTcFVzYU9IQ2dUQ2FUSk40VDVNNmhRNGQwNk5BaGZmenh4d29LQ2xLWExsM1VzbVZMVmFsU3hlaG9BQUFBUUlGQ0lRd29wTFp0MjZZelo4N1lQZjdycjcvTzB1YnY3NjgyYmRvb09UazUyNmNYMnV2SEgzK1VsNWVYSkNreE1WSHo1czJUcjYrdlltTmpNNDByWHJ5NEtsYXNLRWxxMzc2OWloY3ZMajgvdnl6elBmdnNzNnBSbzBhMjkwdEtTcnF0dkRkYXRteVozTnpjTWhXYUN2dDdncnlMam83VzlPblROWDM2ZEFVR0JxcExseTVxMWFxVnFsZXZiblEwQUFBQS9FOTRlTGlXL1c1MEN1UUZoVENna0ZxMGFKRjI3TmhoOTNoYlo0ZlZxbFZMYmRxMGtkbHMxclJwMDdMMFAvdnNzMnJjdUxINjkrK2Y3YnpMbHkvWDVzMmI1ZUhoWVcxYnNtU0pZbU5qTlhUb1VFMmZQajNiYTh1Vks2ZHk1Y3BsK3pURWhRc1hXcy9VdXRIeDQ4ZHovZFRNN0J3NWNrVDc5KzlYdDI3ZDVPM3RiVzB2ek85SlhqVm8wRUJTK3VIL0dTdnJNbDdmMkc2ci84YTJqSTh0Rm92TmEyNGVkL004dHU1MTgxeTJ4dHZLa2xNK2U1dzhlVkt6WjgvVzdObXpGUkFRWU5jMUFBQUFBTEpISVF3b3BENzk5Rk9iN2RrVlVQYnUzWnZ0WEU1T1RtcldySm5OdmhJbFNtVGJKNlZ2SzNSM2Q4KzBCZkQ2OWV0NjdMSEhWS3BVcVN6algzdnR0VXl2UjQ4ZXJiQ3dNSGw2ZW1yUW9FR1NwTFMwTlBYcjF5L1QweFp2NU9mbnB5RkRobVNiNlVhZmYvNjVMbDI2bEczLzBxVkw5Zi9zM1hkOG5WWDlCL0JQa3U2bVRVdlREUzJyQ0pRcFE1YXlDb295UkNtZ2lLSWdZV2hWRk5rSWlDaUlJZ2hJbEZGQmtDRWdGQnhRcGdxSUlMTk15eXlsZSs4MnllOFBmcjAwdE5BQnpVMXkzKy9YcXkvdWM1NXpudWQ3Yi9vcXlTZm5uQ2RKWVpQOHhVcjVNL213R2hvYVVsOWZ2OXF1MzFJdFhMaXcyQ1VBQUVDTEp3Z0RpbXJXckZtRjVYK0xEUjA2TkowN2Q4NDk5OXl6VlAvamp6KytzQjlXOHM3eXpGbXpadVhCQng4c0xBOTg0WVVYc21EQmdrYjlsdFNsUzVjY2ROQkJLMVRmRFRmYzhMNmh6K3pacy9QWHYvNDFtMnl5eVVlNmJLMGxmeVlmeG1PUFBkYm91S0dob2ZEZnhYK1dQTGVpN2UrOXp2S3UrWDczWGp3cmJGblhmKys0eFVIZThtbzQrT0NEUC9BejZkV3JWN2JmZnZ0c3VlV1cyWHZ2dlF1ejVnQUFnRlVqQ0FPS2FzcVVLZW5hdFd1anRtWHRiN1hZa3Z0aExiYk5OdHZra2tzdXlkU3BVOU85ZS9mQzByKzk5OTc3STY5M1NYZmNjVWZtekptejFHeXdENnNsZnlZZnBmY3VPeXdWL2ZyMXkwNDc3WlRQZk9ZejJYenp6WXRkRGdBQXkxQlRVNU1rR1RLc3RzaVZySmdodzJvemRIQ3hxMmdlQkdGUWdtYk1tSkdKRXlldTFKalJvMGN2czcxNzkrNGZHTklzejlpeFk5Ty9mLzhWN2o5cDBxUkdUMVpzMTY1ZE50cG9vL1RxMVN1MzNucHJEajc0NE54eXl5M1pjY2Nkczg0NjY2eHlYU3ZpcHB0dVNsVlZWZmJjYzgrUDlMb3QrVE5oMVF3Y09EQTc3YlJUOXRwcnJ3OThvQUVBQVBEaENNS2dCUDMxcjMvTmVlZWR0MUpqRGp6d3dHVzJIM25ra1lYZmhxeXMxMTkvUGVQR2pjdVdXMjY1d21OKy92T2ZOenJlWUlNTjhzYy8vakZEaHc3TjhPSEQ4L3JycjJmdTNMbjUzdmUrdDBvMXJhakhIbnNzcjc3NmFyNzYxYSttWGJ0Mkg5bDFXL0pud3NyNyt0ZS9ucjMyMml2cnJiZGVzVXNCQUlDU0lBaURFclQ3N3J2bll4LzcyRExQSFg3NDRjdHN2K0tLSzViWnZxek4yNWRsNGNLRitkNzN2cGRldlhxbHNySXk4K2ZQejczMzNwc2syVzIzM1Zib0drbHk3cm5uWnNpUUlVdTFIM1RRUWJudXV1dHl4eDEzNVBqamoyK1MyV0RsNWVVNTRJQURWdmthcmUwelllVjk2MXZmS25ZSkFBQlFVZ1JoVUlLcXE2dFRYVjI5VW1PMjJHS0xEM1hQdG0zYlp2cjA2WG44OGNlemNPSENsSldWcFgvLy9qbmlpQ05XS3ZSNVAzZmRkVmVtVHAyYUpMbnZ2dnV5NTU1N3Z1K1N6Wmt6WithR0cyNVlvZXZPbkRsenFiYUpFeWZtdnZ2dXkvYmJiNzlTU3hqZnF6VjlKZ0FBUVBNMThxS2FqRXhTVzlzeTlqUmJuUVJoUUpPNTVwcHJQdkpyVHA4K1BiLzYxYTl5KysyMzUzT2YrMXgyM0hISG5ISEdHUms2ZEdpT1B2cm83TGZmZm1uYnRtMmpNVk9tVEZucHBhRkx1dVdXVzFKWFYvZVJiSkxmV2o0VEFBQ0Fsa0FRQnJSWXc0Y1B6L0Rod3pOMzd0d2NlK3l4K2ZyWHY1NnlzcktzdGRaYU9mWFVVL1BUbi80MDExMTNYYTYvL3ZwRyszZ05IRGd3dDl4eXl3cmQ0d3RmK0VKZWYvMzF3bkZkWFYxdXZmWFc5T3ZYTHp2dXVPTkgvcDQrckdKOEpnQUFBQzJGSUF4bzVQSEhIMjkwL0lNZi9DQS8rTUVQVnVsYW4vLzg1N1A1NXB1dmNpMXQyN1pOWldWbGtxU2lvaUs5ZXZWS3g0NGRDK2Y3OU9tVExiZmNNdC82MXJjYWJUYSs4Y1liNS9ycnI4OGYvL2pIckwzMjJvMENuOU5PTzYxd3pSVnh6REhIWk5hc1dZWGpTWk1tWmYvOTk4OG1tMnlTOHZMeWxYNVByZkV6QVFBQWFDbktHaG9hR29wZFJFdXorQWw1MXRaU0xGdHR0VldTcFVNcmFJbjhmVjV4UHF2aTh2a0RGRWZaWWZjblNScUc3MUxVT21CSmkzT0JJY05hUmk0dzhxTG1rMk9jZHRwcG1UQmhRczQ2NjZ6MDd0Mjd5ZSsvOHRNWkFBQUFBS0FGc2pRU0FBQUFZQ1hVMXRibXBsSEZyb0pWWVVZWUFMUVFiZHE4OC91cmVmUG1GYm1TMHJOZ3dZSWs3MzROQUFCb21RUmhBTkJDOU8vZlAwa3lkdXpZSWxkU2VpWk9uSmdrNmRtelo1RXJBUURnd3hDRUFVQUxzZWVlZXlaSkxyLzg4aXhjdUxESTFaU09SWXNXNVpwcnJrbVNiTC85OWtXdUJnQ0FEOFA4Zm1pQnlzckswdERRa0xxNnVsUlVWQlM3SEZobGRYVjFTZDc1TzgzeWZlbExYOG9kZDl5UnYvLzk3L25uUC8rWk5kZGNNNVdWbGNVdXExV2JQWHQyeG80ZG14a3pacVM2dXJyd2hDZ0FvTFMxdEtkR0RobFdtNkdEaTExRjh5QUlneGFvUjQ4ZW1UUnBVaVpPbkpnK2Zmb1V1eHhZWmRPbVRVdVNWRlZWRmJtU2xxR3FxaXJEaHcvUHVlZWVtd2NlZUNBdnZ2aGlzVXNxQ2VYbDVkbHBwNTN5d3gvK01OWFYxY1V1QndDQUQwRVFCaTNRRGp2c2tOdHZ2ejEzMzMxM0RqMzAwR0tYQTZ2c29ZY2VTcEpzdXVtbVJhNms1YWl1cnM3UGYvN3p6Snc1TTIrODhVYm16cDFiN0pKYXRRNGRPbVROTmRkTXQyN2RpbDBLQUFBZkFVRVl0RUNISEhKSS92YTN2K1hDQ3kvTTAwOC9uZlhYWHo5ZHVuUXBkbG13d21iTm1wVlhYMzAxZDk5OWQ5cTBhWlBERHorODJDVzFPRjI2ZE1uZ3dlYTNBd0RBeWhDRVFRdTAvdnJyNS96eno4K1paNTZaZSsrOU4vZmVlMit4UzRKVlVsVlZsUk5QUE5HTU1BQUFXSTFHWGxTVGtVbHFhMXZHbm1hcmt5QU1XcWdkZDl3eEkwYU15SU1QUHBpWFhub3A4K2JOSzNaSnNNSTZkT2lRZGRkZE43dnNza3M2ZHV4WTdISUFBSUFTSVFpREZxeDkrL2JaWTQ4OXNzY2VleFM3RkFBQUFHajJ5b3RkQUFBQUFBQTBCVUVZQUFBQUFDVkJFQVlBQUFCQVNiQkhHQUFBQU1CS3FLMnR6VTJqaWwwRnE4S01NQUFBQUFCS2dpQU1BQUFBZ0pKZ2FTUUFBQUROeGhVUHZKMHpiM3R0cWZZQnh6MWNlRjJ6UzcrY3N1L0FKcXdLYUMwRVlRQUFBRFFiT3d5cXlwdFQ1aS9Wdm1UYnB6ZGRveWxMZ3FYVTFOUWtTWVlNcXkxeUpTdG15TERhREIxYzdDcWFCMHNqQVFBQWFEWTI2dGNwRy9Yci9MN24xNjd1a0szWDZkS0VGUUd0aVNBTUFBQ0FadVdRN1hxOTc3blBidGFqQ1NzQldodEJHQUFBQU0zS1BsdFd2Kys1TDIzWHN3a3JnYWF6Y1A2OGpCNzFXTEhMYVBVRVlRQUFBRFFybTYzVk9ldjI3TEJVZS8vdTdiUFRCdDJLVUJHc2ZoUEd2cGFURHRwbXRWeDc1RVUxaFgzTlNwMGdEQUFBZ0dibmtPMTdMOVcyMTJZMnlRYytIRUVZQUFBQXpjNit5MWdlZWZDMjc3OTNHTUNLRUlRQkFBRFE3R3kxZG1YVzdONitjTnlyUzl2c3RuSDNJbFlFdEFadGlsMEFBQUFBdkZkWldWa08yYUYzenIzempTVEpaemJya2JLeUloY0ZUZURBVFpiOUYvM2F4K2VtYmZ1bDk4NWo1UWpDQUFBQWFKYjIzYUpISVFnN2FGdFBpNlEwWEREaStXVzJ0Mm5YZnBudHJCeEJHQUFBQU0zU2R1dFZwVmVYdGxsVW4zeDZVeHZsMDN6VTF0Ym1wbEdyNTlyOTE5bHc5VnlZSklJd0FBQUFtcW55OHVUTDIvZk91T2tMVWxGdVhTVHc0UW5DQUFBQWFMWSsvL0hxVEptOXNOaGxBSzJFSUF3QUFJQm1hOGRCVmFsdmFDaDJHVUFySVFnREFBQ2cyV3BUVVpiRXNraWFsNXFhbWlUSmtHRzFSYTVreFF3WlZwdWhnNHRkUmZNZ0NBTUFBQUJvSWdzWHpNK01xUk9YYXA4K2VYeVNaUEw0TWU4N3RrZnZOVmRiWGFWQ0VBWUFBQURRUkY1NC9CLzU4VGYzZU4velIrKysxdnVldS9GWnk0US9MRUVZQUFBQVFCTVovSWxkYy9Xak00dGRSc2tTaEFFQUFBQTBrZkx5aW5Ub1ZObWs5eHg1VVUxR0pxbXRiUmw3bXExTzVjVXVBQUFBQUFDYWdpQU1BQUFBZ0pJZ0NBTUFBQUJvWXZYMWRjVXVvU1FKd2dBQUFBQ2EySzIvUFNlWG5ISllvN2IvUGZOb3Z2YUpydStjLzkwNXVlM0s4OUpRWDErRTZsb3ZRUmdBQUFCQUUxb3dmMjcrOXNkTHN0MmVCelJxYjl1K1ErYk9mdWVKa3AvYyt5dDVkT1F0T2UvYit4V2p4RmJMVXlNQkFBQUFWa0p0YlcxdUdyWHE0KysrNGJMMEhUZ29XKzI4ZDZQMjloMDZKVWtXTHBpZjZyNERjc2J3QnpMNjJmOWs2c1MzMDcxbjN3OVRNdjlQRUFZQUFBRFFSR2JQbUpwYmYvZlRuSGpwSFhucjFSZnltMU8va1VPUFB6L1RKNC9QbU5IUEpVa3UrdUdYTTIzeStFd2U5MmFtVGhpYmRoMDc1ZklIeHFkdCt3NUZycjdsRTRRQkFBQUFOSkZyTHpneFcrMnlkOVlidkhWKzhiMEQwbWZBK3ZuYmRSZG55b1MzVXQxbnJTVEp1b08zenNDUGJaYnF2Z1BTbzg5YTZkeWxXNUdyYmowRVlRQUFBQUJONVBIN1IyVDY1QWw1NExhcjA4Z0orWmdBQUNBQVNVUkJWS0ZUWlg1MXh3dnBWdDJuY1A2UnUyL08xcnZ1bTdYV0gxeG9hNml2VDEzZG9yUnAyNjRZSmJjcWdqQUFBQUNBbFZCVFU1TWtHVEtzZHFYSFhqRGkrYlJwMnk0bkhieHRQdk9sWXdzaFdFTjlmU2E5L1VZNlZWYmwzcHN2VDNsRlJkNSsvZVdNZStOL0dUL21sUngreXNYWjdRdUhyMUs5UTRiVlp1amc1ZmNyQllJd0FBQUFnQ2JTcWJJcU4xeDhlcnBVOWNpUW9lOEVhaWNjdUZYZWZQblp0R3ZmTWZYMWRYbmhpWDlsOHgzMnpMYTc3NTh1M2F1ei9pYmJwS3BIN3lKWDNqb0l3Z0FBQUFDYXlOTVAzNTNicnp3dlI1eDJhZTY2NFRlWk1XVkNqdjNKOEhTcjdwT3UzWHRtK00rK20vcjZ1aHc4N094TW56dytweDZ5UXc3K3prK3k0MTRIRjd2MFZxRzgyQVVBQUFBQWxJb0hicnM2OWZYMXVmMnE4L1BzSS9la3NxcEhCZ3phTkYyNzkweVNiTERGOWhuMW4vc3plZHliT2ZNYnUyV0RMWGJJRHA4NXFNaFZ0eDVtaEFFQUFBQTBrY05QdlRqSC9PU3FWRlFzTzVMWmZNZFA1OWNuSHBvZkhyQmxQclhQb2ZucThiL0l5SnQrbTc0REIyV1RUK3kyU3ZjY2VWRk5SaWFwclYzNVBjMWFHelBDQUFBQUFKcElwOHFxekpnOElmKysrK1pjOWRQdjVJY0hiSmt4bzU5TGtreDg2N1g4OW95YTFDMWFtRDREQitWckoxeVFzdkx5UEhiZmJYbjl4YWVLWEhucklBZ0RBQUFBYUNJbkhMaFZqdGxqWU83NC9TL1RvVlBuZk9rNzUyVCt2RG41eldtSDU3djdiSmp5OHZMOCtKcC9ac3ovUnVYbXkzNmMrZlBtWlBTemoyWDlUYmN0ZHVtdGdxV1JBQUFBQUUza3FETXZUOStCZzlLaFUyV1M1QjkzWEp2enZyVnZ0aDJ5Zjg2Kzl1R3NzOUdXU1pJZlhueDdmdm05QS9LbnkzNmN2Z01IWmREbTJ4V3o3RlpERUFZQUFBRFFSQllIWFl2dDlOa3ZaWk50ZDAzM1h2MGF0US9lWnBkY2N0ZHJlZVc1eDdQMmhsdWt2THlpS2N0c3RRUmhBQUFBQUVWU1ZsNitWQWkyV0lkT2xkbDQ2NTJidUtMV1RSQUdBQUFBc0JKcWEydHowNmhpVjhHcXNGaytBQUFBQUNYQmpEQUFBQUNBSW1pb3I4K2lSUXV6WU42Y3pKc3pLM05uejh5czZWTXljK3FrekpnMktWUEd2NVVwNDhkazhMYTdacWZQZmJuWTViWUtnakFBQUFDQUpuYlFwdVZwYUdoSWtwU1ZsYVZkKzQ3cDBMbExPbmJ1a2s2VlZlbmN0VnNxcTlaSVpWV1BMRnE0b01qVnRoNkNNQUFBQUlDVlVGTlRreVFaTXF4MmxhL1IwTkNRYzI5OFBHdXV0M0hhdHUvd1VaVzJURU9HMVdibzROVjZpeGJESG1FQUFBQUFSZEN4c3V0cUQ4Rm96SXd3QUFBQWdDSVk5dGxCSzlUdmdoSFBwLzg2RzY3bWFrcURJQXdBQUFDZ0NINXk3Y041Y01RMW1mVDJHNms1ODNkTG5iLy96OE56MjVYbnBicnZnQ0pVMXpwWkdna0FBQURRaEJycTY1TWszWHIyelc1ZlBDSlBQWFJYNnVvV3BWdDFuOEtmTHQycjg4QnR2OCtRb1VlbWZZZE9IK3ArSXkrcUtleHJWdW9FWVFBQUFBQk5hTjdjMlVtU0RwMHFzODVHVzJiVDdZZmsybCtlMEtqUFg2NjVNRE9uVGM3bmp6aXhHQ1cyV29Jd0FBQUFnQ1kwZGVMWXRHM2ZJWlZWYXlSSnZuN2loWG5zdnR2emp6ditrQ1I1OGNtSDhzY0xUODQzVC85Tk9uZnBWc3hTV3gxN2hBRUFBQUEwb1RkZWVpYjkxOWt3WldWbFNaSStBOWJQMFdkZGtZdFArVm9tanh1VFAxLytzK3h6MkEveWlUMitXT1JLV3g4endnQUFBQUNhME5NUDM1ME5QNzVUbzdidDlqd2dXK3owbVZ6M3E1T3lSdS8rK1VMTktVV3FyblVUaEFFQUFBQTBrVG16cHVkZmY3MCsyKzg1dE5EMjVELy9scE8vOUlrOCs4ZzlPZWhiWjJYaGd2bjU3dWMrbGhIRHo4LzB5ZU9MV0czclkya2tBQUFBd0Vxb3JhM05UYU5XYmV3Zkx6d2xmUWNNeWhwOTFzek5sLzA0RDk3eGg0eC9ZM1ErdWZjaCtjRkZ0NlpIN3pXeno5ZC9rTDllKyt2Y2Z0WDUrY012VDhpNkcyK1Z2UTc1ZGo2MXo2RWY3UnNwUVlJd0FBQUFnQ2JTYiswTnN2TytYMDFEZlgwZSt2dU4yVzZQTDJiSTBKcjA3RGV3MEtkZCs0N1o3eHMvek9jTy9XNytjKzl0K2MrOWY4N2diWGN0WXRXdGh5QU1BQUFBb0luc2RjaXd3dXRmM1ByTUIvWnQwN1pkdHYvMDBHei82YUVmMkk4Vlo0OHdBQUFBQUVxQ0dXRUFBQUFBSzZHbXBpWkpNbVJZYlpFcldURkRodFZtNk9CaVY5RThtQkVHQUFBQTBJUVdMVnlReCs4ZjhiN243L2o5TDV1d210SWlDQU1BQUFCb1FxOCsvMFN1UE9mYjczditob3RQYjhKcVNvdWxrUUFBQUFCTjZJWC8vbU9wcDBBZXRHbDVxdnNPU0pJc21EY254KzY1ZHVIYzdCblRNdnlSYVUxWllxc2xDQU1BQUFCb1FvL2ZmMGVlZSt5QjNQL240VW1TMHk0Zm1ZNmR1K2FTdTE1TGtoeTZUV1hoZFpJY3RsMjNEM1cva1JmVlpHU1MydHFXc2FmWjZpUUlBd0FBQUdnaTQ4ZThrdGRmZWpwL2VIeE81cytabldQMlhEdnJiTFJsNXM2ZWthTjJXelBKT3pQQ0ZyL21veVVJQXdBQUFHZ2l0MTk1WGo2MXo2SDU3d04zWnVyRXQ3UDVEbnVtc21xTkhIRDBqekwwbUI4bGVXZEcyR1gzamltTXVlblNNNHRWYnFzakNBTUFBQUJvSWh0c3NVTTIyWGJYSEQxa1FINXp6NXZaOHBON0ZaWSszbm4xQlVtUytYTm5MN1VjOHJIN2JzdTVOLzIzeWV0dGJRUmhBQUFBQUUxazUzMi9Xbmpkby9jN3l4OXRoTjkwQkdFQUFBQUFSWGJVYm11bXJtN1IrNTZ2dmUrdGxKZFhOR0ZGclpNZ0RBQUFBR0FsMU5iVzVxWlJIKzAxcDAwYWwydWZtSmVLaWpiNTAyL095aGRxVGlrRVh3ZHYxaVlORFEwZjdRMUxWSG14Q3dBQUFBQW9WWlBIajJsMHZIRCt2UHpwTjJlbHJFeGtzenI0VkFFQUFBQ0s0S1duSHM0SkIzdzhVeWUrWFdoNzl0SDcwcm1xZXlhODlXb1JLMnU5QkdFQUFBQUFUV2pPck9sSmtwOGMrZWtjUE96c2RPL1pOeisvNWFrOC85aUR1ZXowdzdQdDd2dm41Qzk5SXI4KzhkQzg5Y3J6K2ZrdFQ2V2l3dTVXSHdXZklnQUFBTUJLcUttcFNaSU1HVmE3U3VOSFAvT2ZkS3FzeXZFWDNacDFOdjU0L243OXBYbm9yOWRuek9qbmN0U1psMmViM1QrZnIzei92SXk0NnZ5Y2RQQzIyZktUZStWTDN6a25mUWFzdjByM0d6S3NOa01IcjlMUVZzZU1NQUFBQUlBbXRPbjJRL0tyTzE3STRHMTNUZnNPbmZMc3YrL054M2ZlTzcvKzIraHNzL3Zua3lTZHUzVEx3Y1BPem9WM3ZKak9YYnVuckt5c3lGVzNEbWFFQVFBQUFEU3hidFY5a2lRVmJkcm0reGY4NlgzN2RlL1ZMMGYrYU5WbW5yRTBNOElBQUFBQUtBbUNNQUFBQUlCV2JPUkZOWVY5elVxZElBd0FBQUNBa2lBSUF3QUFBS0FrQ01JQUFBQUFLQW1DTUFBQUFBQktnaUFNQUFBQWdKTFFwdGdGQUFBQUFMUWt0YlcxdVdsVXNhdGdWWmdSQmdBQUFFQkpFSVFCQUFBQVVCSUVZUUFBQUFDVUJIdUVBUUFBQUt5RW1wcWFKTW1RWWJWRnJtVEZEQmxXbTZHRGkxMUY4MkJHR0FBQUFBQWxRUkFHQUFBQVFFa1FoQUVBQUFCUUVnUmhBQUFBQUszWXlJdHFDdnVhbFRwQkdBQUFBQUFsUVJBR0FBQUFRRWtRaEFFQUFBQlFFZ1JoQUFBQUFKUUVRUmdBQUFBQUphRk5zUXNBQUFBQWFFbHFhMnR6MDZoaVY4R3FNQ01NQUFBQWdKSWdDQU1BQUFDZ0pBakNBQUFBQUNnSjlnZ0RBQUFBV0FrMU5UVkpraUhEYW90Y3lZb1pNcXcyUXdjWHU0cm13WXd3QUFBQUFFcUNJQXdBQUFDQWtpQUlBd0FBQUtBa0NNSUFBQUFBV3JHUkY5VVU5alVyZFlJd0FBQUFBRXFDSUF3QUFBQ0FraUFJQXdBQUFLQWtDTUlBQUFBQUtBbUNNQUFBQUFCS1FwdGlGd0FBQUFEUWt0VFcxdWFtVWNXdWdsVmhSaGdBQUFBQUpVRVFCZ0FBQUVCSkVJUUJBQUFBVUJMc0VRWUFBQUN3RW1wcWFwSWtRNGJWRnJtU0ZUTmtXRzJHRGk1MkZjMkRHV0VBQUFBQWxBUkJHQUFBQUFBbFFSQUdBQUFBUUVrUWhBRUFBQUMwWWlNdnFpbnNhMWJxQkdFQUFBQUFsQVJCR0FBQUFBQWxRUkFHQUFBQVFFa1FoQUVBQUFCUUVnUmhBQUMwYUEwTlNYMTlRN0hMQUFCYWdEYkZMZ0FBQUQ2TS83NCtNelBtMW1YWGpib1Z1eFFBU2tSdGJXMXVHbFhzS2xnVlpvUUJBTkNpM2Y3RXBGejM4UGhpbHdFQXRBQm1oQUVBMEtKZCsvQ0V6RnRRbDRhR2hwU1ZsUlc3SEFDZ0dUTWpEQUNBRnV2cE4yZGw5SVM1ZVd2YWdqejB2eG5GTGdjQWFPYk1DQU1Bb01VYThjVGt3dXZySGg2ZkhRZFZGYkVhQUVwRlRVMU5rbVRJc05vaVY3SmloZ3lyemREQnhhNmllVEFqREFDQUZ1dmFKZllHKzh0VFU0cFlDUURRRWdqQ0FBQm9rWjRmT3p2UHZ6Mm5jUHphNUhsNTdOV1pSYXdJQUdqdUJHRUFBTFJJZHk1akJ0aTFuaDRKQUh3QVFSZ0FBQzNTc2tLdnZ6eHRlU1FBdk5mSWkyb0srNXFWT2tFWUFBQXR6dWdKYy9Qa0c3T1dhbjlwM0p3ODgrYlM3UUFBaVNBTUFJQVc2TTZuRmo4dHNtR0oxbmRlWC92d2hDYXZCd0JvR1FSaEFBQzBPTmNWd3E2eUpWcmZlWDFISVNRREFHaE1FQVlBUUl2eXh1UjUrZmNyTTk3My9LaTNadWVsY1hQZTl6d0FVTG9FWVFBQXRDaC9YWUVOOFQwOUVnQllsamJGTGdBQUFGWkd6YTc5VXJOcnY4SngyV0gzSjBrYWh1OVNuSUlBS0RtMXRiVzVhVlN4cTJCVm1CRUdBQUFBUUVrUWhBRUFBQUJRRWdSaEFBQUFBSlFFZTRRQkFBQUFySVNhbXBva3laQmh0VVd1Wk1VTUdWYWJvWU9MWFVYellFWVlBQUFBQUNWQkVBWUFBQUJBU1JDRUFRQUFBRkFTQkdFQUFBQUFyZGpJaTJvSys1cVZPa0VZQUFBQUFDVkJFQVlBQUFCQVNSQ0VBUUFBQUZBU0JHRUFBQUFBbEFSQkdBQUFBQUFsb1UyeEN3QUFBQUJvU1dwcmEzUFRxR0pYd2Fvd0l3d0FBQUNBa21CR0dBQUFBTUFxR0hsUnpRcjFHektzdHFqamVKY2dEQUFBQUdBbERSMmNqRnlKdmtzcXhyaCsvZnF0NE9qV1RSQUdBRUNyVUhiWS9VMSt6MjNYN1pKL243NVZrOThYZ09haHRuYlZabDYxbEhHdGtUM0NBQUJvMGJaZHQwdlI3djNvS3pPTGRtOEFZT1daRVFZQVFJdFdyQmxaeFppQkJnQjhPR2FFQVFBQUFGQVNCR0VBQUFBQWxBUkJHQUFBQUFBbFFSQUdBQUFBUUVrUWhBRUFBQUJRRWdSaEFBQUFBSlFFUVJnQUFBQUFKVUVRQmdBQUFFQkpFSVFCQUFBQVVCSUVZUUFBQUFDVUJFRVlBQUFBQUNWQkVBWUFBQUJBU1JDRUFRQUFBRkFTQkdFQUFBQUFsQVJCR0FBQUFBQWxRUkFHQUFBQVFFa1FoQUVBQUFCUUVnUmhBQUFBQUpRRVFSZ0FBQUFBSlVFUUJnQUFBRUJKRUlRQkFBQUFVQklFWVFBQUFBQ1VCRUVZQUFBQUFDVkJFQVlBQUFCQVNSQ0VBUUFBQUZBU0JHRUFBQUFBbEFSQkdBQUFBQUFsUVJBR0FBQUFRRWtRaEFFQUFBQlFFZ1JoQUFBQUFKUUVRUmdBQUFBQUpVRVFCZ0FBQUVCSkVJUUJBQUFBVUJJRVlRQUFBQUNVQkVFWUFBQUFBQ1ZCRUFZQUFBQkFTUkNFQVFBQUFGQVNCR0VBQUFBQWxBUkJHQUFBQUFBbFFSQUdBQUFBUUVrUWhBRUFBQUJRRXRvVXV3QUFBR0Q1YW1wcVZxaGZiVzF0azQ0NzU1eHowcU5IajhMeGozLzg0NHdaTTJhNTQ0NCsrdWhzc2NVV2hlUGh3NGZuNFljZlh1NjRmZmJaSjN2dnZYZmgrSjU3N3NtTk45NjQzSEZiYkxGRmpqNzY2TUx4U3krOWxGLzg0aGZMSGRlalI0K2NjODQ1aGVPNWMrZm11OS85N25MSEpVMzd0ZWpjdVhOT1B2bmtWRmRYcjlBOUFFcVZJQXdBQUpxNUZRMVFrdVNtVWF0MmoxVWRkK2RMRGVuWTlkM2phZk5XYk55LzNraGVidnZ1OFd2VFZtemNxQWtObWJ0RXJXKzh2V0xqM3ByUjBPZzlUaDNUc0VMalppOW8vTmtzbkw5aTQ1S20vVnJNbmowN3I3NzZxaUFNWURuS0dob2FWdnhmY3BLOCs0M0llMzlUQXdCQTZTZzc3UDRrU2NQd1hWYjd2UlovL3psa21POC9XYmJ0MTByVzdMcjhmZ0RGZHRwcHAyWENoQWs1NjZ5ejBydDM3eWEvdnozQ0FBQUFBQ2dKZ2pBQUFBQUFTb0lnREFBQW9BV2JNMzFpeG85OU0zUG56aTEyS1FETm5pQU1BQUNnQlh2aHZ1dnkyd3ZPenZQUFAxL3NVZ0NhUFVFWUFBQUFBQ1ZCRUFZQUFBQkFTV2hUN0FJQUFJQVAxcjkvLzB5YjExRHNNZ0NneFJPRUFRQkFNM2Y2NmFmbnBsSEZyZ0lBV2o1TEl3RUFBQUFvQ1lJd0FBQUFBRXFDSUF3QUFKcTVLVk9tWk43TUtjVXVBd0JhUEVFWUFBQTBjeWVkZEZMK2VkVkp4UzREQUZvOFFSZ0FBRUFMVmxIUk5tM2J0VTlGUlVXeFN3Rm85Z1JoQUFEQU10WFgxK1hObDU5TlhkMmlEK3czZThiVVhITEtZWms4Zmt5ajl1dCtkVkttVFJxM1V2Y2NQK2FWL1BpSUlaazFmY1dYZ3I3NHhML3k3NUczTkdxYlAyOU9yanpuMjVrODdzMmwrci8xeXZONS9yRUhWNnF1Wlhsd3hEVkx0YjMrMHRPWk11R3REMzN0bGJINVBzZmt4SjljbE0wMzM3eEo3d3ZRRWduQ0FBQ0FaWm81YlhLK3YvK21tVDFqNmdmMnUvcm4zOC9rY1c5bWpaNzlNblhpMjRYMk82KytJRE9uVGtxU1RCNC9KclZuSEprUnc4Ly93R3RWOTFrckU5NTZMWGRlZmNFSzExbFp0VWF1UE9mYm1UOXZUcUh0RCtjZm4rZis4MEE2VlZZdDFmL2xwLytkbng3enVZd2U5VmlTNU1CTnlwYjdaL2JNYVV0ZHAvWkgzMXlxN2JkbkhKbFJqOTYzd3JVRDBMVGFGTHNBQUFDZ2VJN2RjKzFNSFB2NlV1MDNQdHVRK3JxNkpFbEZ4ZnYvMlBEdzMyN01rLy82ZTM1MncyTlp0R2hoVGpwb20zem52T3V5MGRhZlNwSzg4YjluYytjMXY4by83N3d1bSsyd1I0WU1QYkl3OXNCTnl0NzN1amZYbnAyYmE4OWVxdjJDRWMrbi96b2I1cHM3OTJuVVBtL09ySHpyMCtzV2pxZFBIcCtPbFYwejdITWJGTnArOThBN3M5TjIrZnhoZWZucFIvS3pveitYODI1K01rbHkxY05UMDdsTHR5VEpaYWNma2NOUHZTUnQyN1Z2Vk9leGU2N2Q2SjRMRjh3dnRCMXc5T25wVnQwM0x6Lzk3NHg1NWZsY2NmYTNDdjJPUHZ2S2ZHTElGOTczdlFMUWRBUmhBQUJRd3M0WS9rRHFGaTNNc004T3lpbS8vWHQ2cjdsdXBrMGFsNGx2dlpZcEU4Y21TYVpOR3BjNU02Y1h4blJkbzJmYWQreWN4Kzhma2QrZVdaUHYvZkxHTEZxNElHTkdQNWZ0UHowMHRXY2NtVi84K1pra3lXV25IWjZkOWo0a1A3MyswYXcxYUpQY2ZlTmxHYkQrSm1uYnZrT1M1T2UzUEpWK0F6ZFl1ckJsT0dTcmpvWFhpME90OXpwd2s3TDg5djYzMDYyNnp6TFBMM2JZQ2I5S2p6NXJMYlBmdmJkY2tjTk8vRlVoQ0Z2c2tydGV5L2MvdjBuaHVLeXNMQjA2VlNaSnR0dHphSTcvd3VicDNxdGZMaHY1WnNyS3kzUEpLWWRsMS8yL25vMjMzbm1GM2g4QXE1OGdEQUFBU2xqUGZnTUxyNnY3RGtpZkFldm5zdE9QeUhPUFBWQm8vOTYrR3pjYTgrMmYvU0dmM1B1US9QZkJ2MlQyekduNTJURjdwMnYzbnVuU3ZUcVZWV3VrdktJaWY3dnU0aVRKR2I5L0lPc04zanBKTW52bXRQenVyS096N2U3N3A2cDloMnl6MjM3cDBxMUhJUlJibm0xMjJ5OGRPM2NwSEw5M2h0WmlKeDIwVGNyZnMzSDh4bHZ2bkdQUCtYM2h1RzM3RHZuQ2thYzA2blBZZHQwS3I0L2FiYzBreWZtM1B0Mm96NFMzWHNzMS81bVZKRG5rNHgzeWl6OC9tME8zcWN6VjV4MlhkaDA2cHJydmdQeDc1QzNaZEx2ZDg5eGpEK1NvTTMrM1F1L3R3L2p2bnkvTXlEZWVTMDFOVFQ3KzhZK3Y5dnNCdEdTQ01BQUFvSkV6aHQrZjVKM044Zy9lckUwdXVQMjU5Rjkzb3lUSjkvYlpxREJUNnF2SG41OHZmKytuaFNXRmkwMGU5MmJHakg0dTdUdDJ6cVN4cjJmdERiZElrano5cjd2U3NiSnJxbnIwVHBJY2Y5R2Y4K2JMenhaQ3ArVzU2Qzh2WjQxZS9RdkhsOXoxMmxKOUR0eWtMRCs5NFQvdk95UHNGOTg3SVArKysrWWs3eXovWE5Md1I2WVZybkhadldNS3M3Mld0R0QrM01Lc3NFVUxGK1Q3bjk4a0MrYlB6ZUduWHBKcGs4WmwwdHR2NU1ManY1UkJtMitYVCszOWxWUzBhYnRDN3cyQXBpRUlBd0FBbG1uKzNIYzJuMi9YL3QwbGlRc1h6QzhFWWUwN2RzN1hObXVUOXAwNnB5enY3S1BWa0liTW56TTcxeis5S1BzYzlvTmNmUExYTW4vdTdDUko1NjdkYytBeFp6UzZ4NXJyRDg2MWo4OWRvWHJhTExGVThiMTdoQzNwQi90dmxyTHlwWjhMMW12TmRYTFc3eC9NOUNrVGxobStMV3RHV0VXYnhqOHlIZmVMRzlPdFo5OWNkYzZ3VkxScG0vME9QeUZ0MjNWSW03YnRVdDEzUUxwMHIwNVZqOTU1NUs0LzVRY1hObjZTSlFERkp3Z0RBQUNXYWRxa2QvYmg2dHFqVjZGdDBjSUZqUUtwK3ZxNm5QUEhmNmYvT2hzbVNjYTk4YjhNKyt5Z0pNbiszendwKzMvenBBKzhSMWxaMlFvdmpWelM0ajNDeHI3MllxNzh5YmR6NnUvdVN2TE9iSzd6YjMwNjNhcjdaTXFFdDNMOEY3Zkk2WmVQek1DUGJWNFkyN1p0KzJWZWMvR01zUGRhdkZuKzlNbmo4K3lqOTJYUzJOZHp3aVVqY3N3ZUEvUGlFLy9LaERHdlpwTnRkODJqOTl5YW0ydlBUbFdQM2hsNnpJOXl3WEVIWnZDMnUrYXJQL3hGQmd6YWRLWGZJd0FmUFVFWUFBQTBjNWRkZGxsdUd0WDA5eDM3Nmd2cFZ0MG43VHQwS3JRdFdyZ2c3ZG8xRHE3T09uejN0UG4vSllCMWl4WVYycis1YzUrY2M5MGo2ZGwvN2RRdFdwajdiL3Q5L3Z2Z25UbnVGemVtb2szYkQzeHE1UHNadE5rbjhwUHJIaWtjOXhtd2ZpYSsvWHJHdnprNnZkZGFyMUhmRzM1OWV2b09HUFNCSVZSRGZYMlNwTHhzNlJsa1M1bzFiWEorOVlPRHMvK1JKMmZiM2ZkL1oweDVlYjU1K21WNTZxRzc4dW9MVCtTMks4L0xYb2Q4TzU4OTlMdXBxR2lUclhmWk43ZGRlVjU2OWgzNGdkY0dvT2tJd2dBQW9Ka3JLeXRMMmNwblJxdXN2cjR1NWVVVmVlcWh1L0t4TFhkc2RHN0IvTGxwMTZGam83YlRyN2hubVRQQ3BrOGVuMm1UeHVXaHY5K1l1NjYvTk5YOUJ1YUlVeTh0N0p0MTlhTXpDOWVvcTF1VWIreXdSczYvNWVuMDdMOTJKcjM5Um83YmIzQ3UrT2VrUms5dkxLK295TC92dmptWG4zMXNveHBPL2NvN2RWYjE2SjNqdjdoRm8zTkg3dHF2OFBxOVQ1dWNQWE5heXNySzBxNWpweHk0U1ZrNlZWWVZ6czJaTmIyd2oxaGx0eDQ1NjVwLzVwdWY2cDFMVC9sNmtxUnR1dzZObGxNbXljMlhuWjJiTHp1N2NQekRpMjlMeDhxdUFhQjVFSVFCQUVDSld6RC9uVDI2N3ZqOUx6UCt6ZEY1WmRUanVlVHUxL0xQTzYvTE4wKy9yRkhmK2ZQbU5Ob3piSGxPUFhUSDlCbXdmcjc4M1o5bXg4OStxZEc1SlRlamYvMmxwMU5lMFNaOUJxeWZ0dTA3RkdhaGRlall1YkIwY3U3c21Xblh2bU0rc2NjWDg0azl2cmhLN3pWSkZpeVlseVM1NWJjL3llUDNqMGpYTlhxbG91S2RINDErOThDNHRHM2ZJUXZuejhzaFd6VituMjNidFYvbThzbDVjMmJscTl0MldXcnpmUUNhSDBFWUFBQ1VxUHI2dXB4VHMxZWVmL3pCbEpXWDU3WG5uOGdtMisyZS9RNC9JVGY4K3JSMDZWNmRUK3p4aFVML0JmUG5wcUcrZnFrWlllKzNOREpKdnZiRFgrWXpYLzVXeXNzcmtpVG5mbXZmSEhYbTd3cFBqbHpzM3B1dnlPQnRkdm5BL2NLdVB1KzR2UGprUS9uSnRRK25ZMlhYekp3NktZZC9zbWQ2OXZ2Z3BZY1R4NzZlSy80eE1WMjZWeWRKL3Z2QW5VbVNteS83Y1FZTTJyVHdWTXZrZ3pmaFgyeit2RG41N1JsSDV0cy8rME9qOXZmT0RodXd3YVk1NitwL0xQZDZBRFFkUVJnQUFDMWUyV0gzRjd1RTFlcW9vNDVLUTBNeVpOaGx5Kys4RXNyTEs3TCtwdHRtMS8yL25zMjIzNk1RRk4xejgrVzU2L3JmNUVkWDNWY0lzSkprenN6cFNSclA1RXJlZjJsa2tuejhVNThyWEdQZW5GbDUvUDRScWYvL2Zia1dlK0lmZjgxZDExK2EwNis0NTkzR1phd0ZuVDF6V3NhKyttTGFkK3JjcVAyU3UxNzd3UGY1M3IzSTF2N1k1dW5SWjYwY2Y5R3R1ZUxzWTdQbEovY3FuRnM4SSt5RExGcTRJUCs0NDlxbGdyRDMyMndmZ09aREVBWUFBS3Rvay82ZGw5L3BJOURRc1BxVzNCMDg3TjM5ckJZdFhKQ2JMajBqdDExeFhvNDY2L0pzdE5Vbjg5WXJ6MmZCdkxscDM2bHovdldYNjlPNWEvZDA3ZDV6cWV2VUxWcVlKSms4Zmt4aFdXUDdqcDB6K3RuL0ZJS3paeDY1SngwcnU2WmI5VHV6cnViTW1wNFJWNTJmMjY0OEwxLzUvbm5aYU90UEZhN1h1V3UzbEpXVjVkbEg3OHY2bTJ5VHVYTm1adlNveDlKMzRLQkc0VnlTSEx2bjJpdjFuZ2R0dmwxK2Z2T1RlZWFSZXpKbTlIUDUxRDZISmttK2NmS3ZVOUgyblpsdEU4ZStuZzRkT3hlZW5QbmVCd1FBMERJSndnQUFhUEVhaHU5UzdCSmFoVXRQL1hxZWVYaGtUcmhrUkdHVzFKUC8rbnV1UHUrNE5EUTBwSDJIVGpuc3BBdFRWcjcwRXhaZmUvR3AvUEs0b1duYnRuME9PT1pIU1pJRGpqNDlmL2pGRHd0N2tIWG8zQ1ZmT2U2OGxKV1ZaZUxZMTNQY3ZodW51dStBbkhEeDdkbDh4MDgzdWw2bnlxcnMvYlhqOHZOaG44K2loUXVTSkoyN2RNdUJKMTI0MUwxWGRrWllrbFJXclpISDd4K1JRNDQ3TjVWVmF5UkpQdlBsYnhYT1gvRDlBL08vWng1TldYbDVkdHpyNExSdDMzaGovRTZWVlI5NHZLUnYvZlRxYkwzcnZoOVk0NGV4eFQ3SDVoUDk2ek53amJhcjdSNEFyVVZadytyODlWSXJWVk5Ua3lTcHJhMHRjaVVBQUpTQ3hkOS9EaG0yZXIvL25EbDFVc29yS3RLNWEvZWx6dFhWTFVwNWVVWEtQc0xIVjc3Ni9CTlplOE10VnZtYWRZc1c1c2wvL1QxYjdiejNCL1o3NXVHUjJYaWJuUXRQcTF4czRmeDVIN2dNc3FHaElXbG9XR2J3MTl4c3YxYXlwb2RUQWkzQWFhZWRsZ2tUSnVTc3M4NUs3OTY5bHovZ0kyWkdHQUFBa0NTRlBjS1daZkZURlQ5SzYyeTA1WWNhWDlHbTdYSkRzQ1RaZFBzaHkyeGYzbDVnWldWbHk5eXJESUNXcS9uL2FnTUFBQUFBUGdLQ01BQUFnQmJzcVJHWDV0eFRoK1dwcDU0cWRpa0F6WjRnREFBQW9BV3JxMXVZQmZQbnA2NnVydGlsQURSN2dqQUFBQUFBU29JZ0RBQUFBSUNTNEttUkFBRFF6RjE2NmFYNTAzUEZyZ0lBV2o1QkdBQUFOSE1WRlJVcHQ1WURBRDQwL3pzRkFBQUFvQ1FJd2dBQUFBQW9DWUl3QUFCbzVvNDU1cGpjOCt1amkxMEdBTFI0OWdnREFJQm1ycTZ1cnRnbEFFQ3JJQWdEQUlBVzRza1JGeS9WMXJGcmRUNjI4OEdGNC9tenArZjVlNjlaN3JYS0s5cG1zOC9XTFBmNnk3TFpaNDlLZWNXN1AwbzgvWmZmcHI1dXdYTEhiYkxuNFduVHZtUGhlTlJkVjJYaC9ObkxIYmZSYm9lbWZlZXF3dkZ6OTF5ZEJYTm1MSGZjaGp0L09SMjZybEU0ZnZHQjZ6TjN4cVRsamh1MDR3SHB2RWFmd3ZITC83dzVzNmUrdmR4eDYyMjNYN3IwWEt0dy9PcWpkMmI2K0ZlWE8yN05UWGRKOWRxYkZJN2ZHdlhQVEh6bHllV082N1hlbHVtMzhZN1o5Tk9INStOOTZySmU3MDdMSFFOUTZnUmhBQURRekhYczJERno1ODdOcEZlZldlcGM3NzVyWnFjQjd4NVBtYndnLzFoR3YvZHExNzU5bzNGSk1uSUZ4aVhKOW1zMXBPMFNQMGs4K09heldUQi8vbkxIYmROM1VUcFh2bnY4eU5qbk0ydkc5T1dPMjdMWGdxelI0OTNqeDk5K01WT25MRC9RMnV5QWVlblYrOTNqWnlhK25FbGp4eXgzM0g1N2Z6WnJMZkhadkRobGRDYTlObnE1NC9iYVkvZXN0OFM0Tis5NWZabGZzL2ZhYnF2TnN2VVM0LzcrNU50NWZnWEdiVEN3Ny85L0RTdlR2V01hZlUwQVdEYi9WQUlBUUROMzhza25aOXk0Y2NzODE3Rmp4L1R0OHU1eGovWlZPZmJZWTVkN3pmTHk4a2Jqa3F6UXVDUlpxMXVibEpXOWUzeFVUYzBLTGQ5Y3UyZkh0Rm5pSjVBanZ2SDFMRnk0Y0xuakJ2V3JTcnQyN3g0ZjlyVkRzMkRCOG1lZ2ZXeXRIbW5mL3QzalE3OThjT2JPbmJ2Y2NldXYyeWVkbHBoYzlhVUR2NWpaczVjL2MyM2RkZGRLNVJKQjN4ZjMrMXltNzdMVGNzZjE3OTgvNkl6TkZ3QUFJQUJKUkVGVVBaYjRXdXk1NjQ3NStLWWZXKzY0bmoxN0x2VTFCT0NEQ2NJQUFLQ1o2OVdyVjNyMTZyVkNmZHUxYTVmTk50dHNsZTZ6cXVNR0R4NjhTdU0yMm1palZScTM0WVlicnRLNFFZTUdyZEs0OWRaYmI1WEdEUnc0Y0pYRzlldlhMLzM2OVZ1bHNRQjhNRStOQkFBQUFLQWtDTUlBQUFBQUtBbUNNQUFBQUFCS2dpQU1BQUFBZ0pJZ0NBTUFBQUNnSkFqQ0FBQUFBQ2dKZ2pBQUFBQUFTb0lnREFBQUFJQ1NJQWdEQUFBQW9DUUl3Z0FBQUFBb0NZSXdBQUFBQUVxQ0lBd0FBQUNBa2lBSUF3QUFBS0FrQ01JQUFBQUFLQW1DTUFBQUFBQktnaUFNQUFBQWdKSWdDQU1BQUFDZ0pBakNBQUFBQUNnSmdqQUFBQUFBU29JZ0RBQUFBSUNTSUFnREFBQUFvQ1FJd2dBQUFBQW9DWUl3QUFBQUFFcUNJQXdBQUFDQWtpQUlBd0FBQUtBa0NNSUFBQUFBS0FtQ01BQUFBQUJLZ2lBTUFBQUFnSklnQ0FNQUFBQ2dKQWpDQUFBQUFDZ0pnakFBQUFBQVNvSWdEQUFBQUlDU0lBZ0RBQUFBb0NRSXdnQUFBQUFvQ1lJd0FBQUFBRXFDSUF3QUFBQ0FraUFJQXdBQUFLQWtDTUlBQUFBQUtBbUNNQUFBQUFCS2dpQU1BQUFBZ0pJZ0NBTUFBQUNnSkFqQ0FBQUFBQ2dKZ2pBQUFBQUFTb0lnREFBQUFJQ1NJQWdEQUFBQW9DUUl3Z0FBQUFBb0NZSXdBQUFBQUVxQ0lBd0FBQUNBa2lBSUF3QUFBS0FrQ01JQUFBQUFLQW1DTUFBQUFBQktnaUFNQUFBQWdKSWdDQU1BQUFDZ0pBakNBQUFBQUNnSmdqQUFBQUFBU29JZ0RBQUFBSUNTSUFnREFBQUFvQ1FJd2dBQUFBQW9DWUl3QUFBQUFFcUNJQXdBQUFDQWtpQUlBd0FBQUtBa0NNSUFBQUFBS0FtQ01BQUFBQUJLZ2lBTUFBQUFnSklnQ0FNQUFBQ2dKQWpDQUFBQUFDZ0pnakFBQUFBQVNvSWdEQUFBQUlDU0lBZ0RBQUFBb0NRSXdnQUFBQUFvQ1lJd0FBQUFBRXFDSUF3QUFBQ0FraUFJQXdBQUFLQWt0Q2wyQVFBQXdPcFRVMU96UXYxcWEydU5hMFhqQUZnMlFSZ0FBSkNiUmhuWGtzY0JzR0xLR2hvYUdvcGRSRXV6K0xjeWZ1c0NBRUJ6SjFncERVTUhGN3NDZ0JWejJtbW5aY0tFQ1RucnJMUFN1M2Z2SnIrL1BjSUFBQ2dKYjA2Wm45cjd4aGE3akNaMXp6MzM1STBuN2lsMkdRRFFiRmdhQ1FCQXF6VjZ3dHpjK2RUa1hQZndoUHo3bFJsSmtwcGQreFc1cXFaejQ0MDNKa2tHYkxsN2tTc0JnT1pCRUFZQVFLdnkvTmpadWVQSnlibnVrUWw1OG8xWnhTNEhWcnVSRjlWa1pHemRBckFpQkdFQUFMUjRUNzg1T3lPZW1KUnJIeDZmNTkrZTg1NnpEVW5LaWxFV0FORE1DTUlBQUdoeEdocVMvNzQrTTdjL01TblhQandob3lmTS9ZRGVqVU93c3NQdVg2MjFOU2RIdGk5MkJRRFF2TmdzSHdDQUZxZWhvU0V6NXRabDdOUUZtYmVncnRqbEFBQXRoQmxoQUFDME9PWGxaZGwxbzI3WmRhTnVhV2hveUVQL201SHJIaDZmdnp3MUphOU5udmVlM28yWFJqWU0zNlVwU3kycW1wby9GcnNFQUdoV0JHRUFBTFJvWldWbDJYRlFWWFljVkpVa2VlelZtYm4yNGZINXk5TlQ4dEs0T2JFL0dBQ3dtQ0FNQUlCV1pldDF1bVRyZGJya2dpOG56N3c1SzljK1BDRjNQRFU1bzk2YVhlelNBSUFpRTRRQkFOQnFiYnBXWlg2MlZtVitkdUM2ZVduY25Gejc4UGhpbHdRQUZKSE44Z0VBS0FrYjlPbVVNL2RmcDlobE5LbmRkOTg5YTIyeDIwZCszWVh6NTJYMHFNZFdxRzk5ZmVrOXpHRFJ3Z1Y1L1A0UjczditqdC8vc2dtckFXQkpab1FCQUVBcmRlQ0JCK2FtVVIvOWRTZU1mUzBuSGJSTmJueTJZYmw5Yi8zdE9SbjM1dWdjKzVQaGhiYi9QZk5vZm56RWtQeiszek55NisvT1NYbEZtK3g3MkE5U1Z0Nzhmay9mVUYrZlJZc1dac0c4T1prM1oxYm16cDZaV2RPblpPYlVTWmt4YlZLbWpIOHJVOGFQeWVCdGQ4MU9uL3R5a3VUVjU1L0lsZWQ4TzF2dHNzOHlyM25EeGFkbjc2OGQxNVJ2QTREL0p3Z0RBQUJXaXdYejUrWnZmN3drUjUxMWVhUDJ0dTA3Wk83c21VbVNUKzc5bFZ6dy9RUHp3dVAveUFtWHZEdUw2cEc3L3BSZkhqZTBjTnl4YzVkc3ZNMHUrY1pKRjZWbi83V1g2bmZSWDE1T253SHJON3JQKzUzNzN6T1A1cS9YWHBUbkhuc3cweWFOUzBWRm0xVDNIWkJ0ZHRzdmh4eDNicUhmUVp1V3A2SGhuYkN2ckt3czdkcDNUSWZPWGRLeGM1ZDBxcXhLNTY3ZFVsbTFSaXFyZW1UUndnV0ZjUy84OXg4WnZPMnVqV281YU5QeVZQY2Q4TTduTW05T2p0M3ozZmN3ZThhMERIOWsyZ3A5cHNzeVpGaHRoZzVlNWVFQUpVVVFCZ0FBckJaMzMzQlorZzRjbEsxMjNydFJlL3NPblpJa0N4Zk1UM1hmQVRsaitBTVovZXgvTW5YaTIrbmVzMitqdnFkZmNVOTY5RmtyNDk3NFg2NzY2YkNjYy9Sbjg4dmJScVdzYk5XZUJucnpaVC9Pbnk3N2NYYjd3amR5ek5sWFpZM2UvVE4zMW95ODlzS1RlZW1waHh2MWJXaG95TGszUHA0MTE5czRiZHQzV09GN1BINy9IWG51c1FkeS81K0hKMGxPdTN4a09uYnVta3Z1ZWkxSmN1ZzJsWVhYU1hMWWR0MVc2YjBBc1BJRVlRQUEwRXJkYzg4OWVlUHRaTUNXdXpmNXZXZlBtSnBiZi9mVG5IanBIWG5yMVJmeW0xTy9rVU9QUHovVEo0L1BtTkhQSlVrdSt1R1hNMjN5K0V3ZTkyYW1UaGliZGgwNzVmSUh4amNLbmFyN0RraWZBZXVuNzhCQm1Ucnh4RngyK2hHWk11R3Q5T2k5NWtyWGROK3RWK1dtUzgvTThiLys4MUxoM1BxYmJwc2hRNDljYWt6SHlxNHJGWUtOSC9OS1huL3A2ZnpoOFRtWlAyZDJqdGx6N2F5ejBaYVpPM3RHanRydG5ab1h6SnRUZUExQTB4S0VBUUJBSzNYampUY21XWDFCMklHYkxIdFcxcldQejgyMUY1eVlyWGJaTytzTjNqcS8rTjRCNlROZy9menR1b3N6WmNKYnFlNnpWcEprM2NGYlorREhOa3QxM3dIcDBXZXRkTzd5d1RPakZzNmZsN2J0MnFleWFvMlZyclcrdmk1L3ZQRGtEQmw2NUZJaDJBY1o5dGxCSzlUdmdoSFBwLzg2RytiMks4L0xwL1k1TlA5OTRNNU1uZmgyTnQ5aHoxUldyWkVEanY1UmhoN3pveVR2ekFpNzdONHhoYkUzWFhybXlyMFpBRmFaSUF3QUFGZ2xGNHg0ZnBudGJkcTF6K1AzajhqMHlSUHl3RzFYcDBPbnl2enFqaGZTcmJwUG9jOGpkOStjclhmZE4ydXQvKzdtVmczMTlhbXJXNVEyYmRzdGRjM1hYbmd5dHc4L1B3Y2NmWHBoYWVYS2VQWDVKekp0MHJoc3QrY0JLelh1SjljK25BZEhYSk5KYjcrUm1qTi90OVQ1Ky84OFBMZGRlVjVoLzY4TnR0Z2htMnk3YTQ0ZU1pQy91ZWZOYlBuSnZRcExIKys4K29Ja3lmeTVzNWRhRHZuWWZiZmwzSnYrdTlMdkswbEdYbFNUa1VscWEydFhhVHhBS1JHRUFRQUFxNlQvT2h1Kzc3a0xSanlmTm0zYjVhU0R0ODFudm5Sc0lRUnJxSy9QcExmZlNLZktxdHg3OCtVcHI2akkyNisvbkhGdi9DL2p4N3lTdzArNU9MdDk0ZkRDZFk3YmIzQWFHaHBTdDJoaE50aDgrMnk4OWM2clZPdlVDV09USk4xNzlXdlUvcDI5UDVaSlkxOHZIUC95OXVmU2U4MTEwMUJmbnlUcDFyTnZkdnZpRVRubHk5dWxybTVSb3lXWmRYV0w4c0J0djgrUW9VY1d3cm1kOS8xcTRmeml2aDltSTN3QVBscUNNQUFBNENQWHFiSXFOMXg4ZXJwVTljaVFvVFZKa2hNTzNDcHZ2dnhzMnJYdm1QcjZ1cnp3eEwreStRNTdadHZkOTArWDd0VlpmNU50VXRXamQ2UHJuSERKaUZUM0haQjVjMmJsNWFjZXljK08zU2U3Zi9HSWZPWDc1eVZKeXNyTGs2VHdkTWNsTFc0cnI2aEl4ODVka2lTenBrOXAxT2ZrMy93bGl4WXR6Tk1QM1pXcmZ2cWRRZ0EyYis3c0pFbUhUcFhwMlc5Z050MStTSzc5NVFrWmR1NjFoYkYvdWViQ3pKdzJPWjgvNHNUbGZoNUg3YlptNnVvV3ZlLzUydnZlU25sNXhYS3ZBOENISXdnREFBQStjazgvZkhkdXYvSzhISEhhcGJucmh0OWt4cFFKT2ZZbnc5T3R1ays2ZHUrWjRULzdidXJyNjNMd3NMTXpmZkw0bkhySURqbjRPei9Kam5zZDNPZzZ2ZGRjTjMwR3JKOGtXVy93MW1sb2FNanduMzBubnovaXhGUldyVkhZVjJ6NjVQSHBPN0R4Zmw0enAwMUtXVmxadW5TclRwZXFIcWxvMHpaUFAzUlhQcmJGRHU5ZWY2MzFraVJ2dnZ4c283RlRKNDVOMi9ZZEN2dVJmZjNFQy9QREE3Yk1QKzc0UXo2NTkxZnk0cE1QNVk4WG5wenZuSGZkY3ZjMlM1SnBrOGJsMmlmbXBhS2lUZjcwbTdQeWhacFRDc0hYd1p1MVdXYVFCOEJIcjd6WUJRQUFBSzNQQTdkZG5mcjYrdHgrMWZsNTlwRjdVbG5WSXdNR2JacXUzWHNtU1RiWVl2dU0rcy85bVR6dXpaejVqZDJ5d1JiLzE5NmR4dGxaRUdZZnZtY21rMGxtSnBuc3lVQWdnV3hJQ0lRbFlZbklYbEJSTVN5Q0NGS3B4YnJXVndTdDhyNHRxRzJ0UzFXc1lLbUNsWUlLS0lzVjJRUVhrRDFnSUJDSUpJR0VaTElNMlROWnpuay9wRVFSa0tVemVYTE91YTVQekhPMk8veCt3SmsvenpuUFFUbm9tSGU5NHZPV3k2VVgvTHpMRy9aT1E2L0cvT2EvcjNqUmZYOTcwMVhaZWZ5ZTZkdlNMMzFiKytmdzZXZm1odTk5TlU4LytjZ3J2czc4MmIvTGpydnNscnE2TFJjRUdMSHoyUHpOK2YrUmkvN2YrL09UUy80cC8vaUJ0K1J0WjV5ZC9ZODYvczgrejdMRno3emc1NDFkNjNQVnQ4NVBYWjFmeFFDSzRJd3dBQUNnMjUzNTJRdnp3YzkvTncwTkwvMHJ4MTdUanM0M1BuVmF6amxoNzd6cGJhZmw5RTkrT2JmODZOdHBIelV1ZSt4LytOYjdMWDEyZnBJdEFlbXhCMytUSDMzejd6UHRMYWRzUFZPcnBmL0FISDN5Qi9QZjMvOWFTcVhOMmZ2Z3QyVHo1azM1MWZYZnp5UDMvQ0puZiszSFc1L3I5SE8rbkFXL241WFB2dWVnSEh2Nng3UFh0S1BUMmpZb25SMExjK2VOUDNqQnZvZnZ1am03N2ZQR0Z4dzc0QzlPeUs5L2RrWCs2MTgvblpGamRzLzBzejd6Wi84ZXpIN29ybnp4dysvSXYxenowTlpqTSsvNVJWcmFCcVpqd1ZNWlBuTFhWL0YzRW9EdUpJUUJBQUF2YWVPR3JxenNYUEtpNHl1V0xVN3k0ck9kL3RqZzRTUFQyYkV3c3grNks0L2U5OHZNdXYrWCtlZy9YNTZSWTNiUGtnVno4LzJ2bkp2Tm16Wm14S2h4ZWUrNVc2Nm1lTjh2cnMyZUJ4NzFnaEIyL3BsSEpFa2FHbnBsMk1oZGN1d1puOGc3M25mT0MxN3J2ZWQ4SlFPSHR1Y1hQLzV1ZnZIajc2WlhZKy9zOG9hOTg2bC8rMm4yUHZqTlcrL1gxS2M1NS8zSExibnQ2a3R5eDdYZnl3MlhmU1ZkNjlhbTM0REJHVFZocjV6NW1Rc3pwSDNuckYyOUlyLzUyWlg1MUlYWGIzM3NqRi9mbUI5ODQ3d3NuUHQ0M3ZYaDgzUDd0WmZsYjk4NklXODU3V041MDl0T2U4RjNtNjFkdlNKSjh2bS9QanFubmYybERCemFubis1NXFITXV1K1h1ZWovbnBtcFI3d3pmM2ZLL3BrODdaaE0vK3UveTc5Yzg5RExCa01BdXBkLzJ3SUFBQy9wc2Z0L2xRdmVmOVRMM3Y0M1IrejBzcmZ0c3ZzK21mLzR3eGs3YVdwMm4zSklUdm5ZRjlLMWZtMitkZDZaK2ZWUEw4L1VJOTZaQy83ejEvbkNCOTZjcXkrNklNZWU4WW5NbVhsZnB2LzFsck9zRHZpTEUvTERtYS91ZTdQcTZ1dnpqalBQelR2T1BQY1Y3OXZRMEN0SG5mU0JISFhTQjE3MlBwZDk4ZitrZmVkeEdUUmlaSzYrNklMODhvYnZaL0g4T1RuNDJGTno5dGQvbk1IRFIrWnRmM2wyZm5iNU4zTGRkNytVNzMvbDNPeTYrNzU1ODZrZnladmVkbHJtL083ZU5MZTI1Wk5mLzNGMjJYMmYvUHpLZjh1ZFA3c3l6OHg1TkIvNGgwc3k1WWpqOHA1UGZESFhmL2RMK2ZUSlU3UDN3Vy9PS1IvN3d0YnZRZ09nNXdoaEFBQlFwWTQ0NG9qTVh2YjZ2NFI5NHY2SDVYdjNySHBkajMxMjNoTnBIelV1ZlpwYmt5Uy91dUh5ZlBIRGI4L1VJOStaejExK1YzWjV3OTVKa25NdXZDNWYrZmdKdWVxaUM5SSthbHpHN1hYQTY5N2JYWFlZUFQ2SHZQMzBsRXVsM1BuekgrYUFvNDdQa1NlZWxhRTdqTnA2bjk1TmZmT085NTJUdDU3MnQ3bjN0bXR6NzIwL3ljU3BoeVZKSmgxNFpQNzFoc2N5WU1pSWJONjBNVFB2dmkzN0hISnN6djNtOVdsdWJVdVN0UFFia0pNLytya2NmZklIODZOdi9jUFc3eUlEb0dmVmxWMmU1RFU3NjZ3dGwzKysrT0tMQzE0Q0FBQi8zbzllK1h2aHQ0bHlxWlRubGk3S3dHRTd2T2kyOVd0WDUvZVAzcC9SdTAzZUdvcDQ5Vzc1dXQ5UGdNcHgzbm5ucGFPakkrZWZmMzZHRHgvK3lnL29aczRJQXdBQWVseGRmZjFMUnJBazZkUGNtdDMzTzJRYkw2b2VSMzcwNHB3NHNlZ1ZBSlhCTlhzQkFBQUFxQWxDR0FBQVZLbGJiNzAxOHgrOHRlZ1pBTERkOE5GSUFBQ29Vai84NFErVEpEdnZmVVRCU3dCZysrQ01NQUFBZ0FwMnk5ZlAybnBCTHdEK1BDRU1BQUFBZ0pvZ2hBRUFBQUJRRTRRd0FBQUFBR3FDRUFZQUFBQkFUWERWU0FBQXFISVAvdVJyR1hQZ2Nlay9mTlRXWTAvZTlaT3NXanp2RlIvcmNaWDlPQUJlU0FnREFJQXExZHJhbXRXclYyZlovRWZ6NXFPUHpOaWQvM0RiM0p2bVo5bjhSMS94T1NyMWNWZGQvRWdHZE0zZjduZDIxK09hbTV0ZjhUa0FTT3JLNVhLNTZCR1Y1dmxMRTE5ODhjVUZMd0VBZ0plM2ZQbnlMRnk0TUVreWV2VG90TGEyYnIxdDNyeDVXYlZxMVNzK1I2VStidWhmWHBNK1daK2ZmV0xQN1hwbmR6MXUrUERoR1RwMDZDcytEMERSemp2dnZIUjBkT1Q4ODgvUDhPSER0L25yT3lNTUFBQ3ExS0JCZ3pKbzBLQ1h2RzNVcUZFdmVmeVZWTXJqbHBhMy9MbjMyR09QYmZKNmxmSTRnRnJueS9JQkFBQUFxQWxDR0FBQUFBQTFRUWdEQUVoU2Q4YnRxVHZqOXFKbkFBRFFnNFF3QUFBQUFHcUNFQVlBQUFCQVRSRENBQUFBQUtnSlFoZ0FBQUFBTlVFSUF3QUFBS0FtQ0dFQUFBQUExQVFoREFBQUFJQ2EwS3ZvQVFBQVJiajFrYzc4N0hmTFgzVDg3Q3ZuYlAzckE4ZjB6L0ZUaG03TFdRQUE5Q0FoREFDb1NiMGE2dkxsRzU5KzBmRS9QbmJOUnladXkwa0FBUFF3SDQwRUFHclN0SEZ0R2RUUytMSzM5Ky9Ua0xmdU5YZ2JMZ0lBb0tjSllRQkFUZXJWVUpkMzdmL3lIM3M4Y3VMQTlPN2xyUklBUURYeDdnNEFxRm5UOTMzNUVIYmlsR0hiY0FrQUFOdUNFQVlBMUt5RHg3ZWxmOThYZjJWcVMxTkRqdHQzU0FHTEFBRG9TVUlZQUZDem1ocnJjOEorTHc1ZWg3OWhRUG8wZXBzRUFGQnR2TU1EQUdyYThmdTkrT09STDNVTUFJREtKNFFCQURYdDBOMEdwS1dwWWV2UGZSc2JoREFBZ0NvbGhBRUFOYTI1cVNISDdUTjQ2OCtIN05hVzFqNE5mK1lSQUFCVUtpRU1BS2g1Sit6M2h5dEVIcmVQTDhrSEFLaFdMNzVNRWdCQWpUbGk5NEhwMDFpZlVxbWNrNmI2V0NRQVFMVVN3Z0NBbXRldmIwT08zV3R3bHEvWm1JRXRqVVhQQVFDZ2h3aGhBQUJKVHRwL2FCWTl0NkhvR1FBQTlDQWhEQUMyUStWeU9VOC8vWFRtelp1WE9YUG01T21ubjA1bloyZldyMStmelpzM0Z6MnZLbTFJNzVUS2RUbnJxcTZpcDFTbCt2cjZORFUxWmRDZ1FkbHh4eDB6ZHV6WWpCbzFLanZ2dkhQcTYzMXRMUUN3YlFoaEFMQWQ2ZXpzek4xMzM1MDc3cmdqeTVjdkwzcE9UZW1kRFVsZDBTdXFWNmxVeXJwMTY3Smd3WUlzV0xBZzk5eHpUNUprd0lBQk9mamdnN1AvL3Z0bjZGRGZ6d1lBOUN3aERBQzJBMnZYcnMxTk45MlVtMjY2YWVzWlgzM2JocVd0ZlpjTWFCK2Ivc05IcDIvL1FXbm8zVGYxOVEwRnI0WFhybFRhbk0wYjFtZjlxdVZaMlRFdnp5MThNaXNYUFpYbk9oZmwrdXV2ejA5Lyt0TWNkdGhoZWN0YjNwTFcxdGFpNXdJQVZVb0lBNENDUGZ6d3c3bjAwa3V6WnMyYTFOVTNaTVNFcVJrNTZaQzB0WTlKWFoxVGxLZ085ZlVOcWUvVGtzWStMZWszZEtmc09QR05LWmZMV2RreEw4ODhmSHNXejc0M3Q5NTZhKzY4ODg2Y2V1cXBtVEpsU3RHVEFZQXFKSVFCUUVFMmJkcVU2NjY3TGovLytjK1RKRU5HVDhxNGcwOU15OERoQlMrRGJhT3VyaTV0dzBlbjdhZ3pzdXYrYjhzVHYvcFJPdVk4bUVzdXVTUlBQUEZFVGp6eHhEUTJ1b29uQU5COWhEQUFLTURHalJ0enlTV1haTWFNR1dsbzdKUGREbnQzMm5mYnYraFpVSmkrL1Fkbno3ZCtJRXQrUHlPUDNIeFo3cmpqaml4YXRDZ2YvdkNIMDd0Mzc2TG5BUUJWd2lWNkFHQWIyN2h4WXk2NjZLTE1tREVqZmR1R1p1cTdQaTJDd2Y4WXV1dms3SC9LWjlNeWVJYzgvdmpqK2RyWHZwYXVMbGZ5QkFDNmh4QUdBTnRRcVZUS1paZGRscGt6WjZaNXdQRHNkOEluMHpKb1JOR3pZTHZTdC8vZzdEdjlFK2szWktjOCtlU1QrZmEzdjUxU3FWVDBMQUNnQ2doaEFMQU4zWGpqamJuMzNudlRwLy9nN0hmQ0o5UFUwbGIwSk5ndTllN2JtbjJtZnp3dGc5b3pjK2JNWEhQTk5VVlBBZ0NxZ0JBR0FOdkk0NDgvbm11dnZUWU5qVTNaNjlnUHBuZHp2Nklud1hhdHNVOUw5anIyZytuVjFEYzMzM3h6SG5qZ2dhSW5BUUFWVGdnRGdHMWcvZnIxdWV5eXk1SWtiemo4UGVrM1pHVEJpNkF5TkE4WWxrbkh2RDlKY3VXVlYyYnQyclVGTHdJQUtwa1FCZ0Rid0hYWFhaZGx5NVpsMk5oOU1tTEMxS0xuUUVVWlBHcGlkdHpqNEt4WXNTSlhYSEZGMFhNQWdBb21oQUZBRDF1MGFGRnV1KzIyTlBacHlXNkh2YnZvT1ZDUnhrNmJudDdOYmJuMzNuc3piOTY4b3VjQUFCVktDQU9BSHZhVG4vd2s1WEk1by9kN2MzcjM5YjFnOEhvME5qVm4zQnVucDF3dTU2cXJyaXA2RGdCUW9ZUXdBT2hCYytmT3pZTVBQcGcrL1FabHA4bUhGejBIS3RydzhWUFNQR0I0WnMrZW5WbXpaaFU5QndDb1FFSVlBUFNnVzIrOU5Va3lldDlqVWwvZlVQQWFxR3oxOVEwWmM5QnhTWktiYnJxcDREVUFRQ1VTd2dDZ2gzUjJkdWErKys1TFk1L1c3REJ4V3RGem9Db00zV1hQTkxXMFpkYXNXZW5vNkNoNkRnQlFZWVF3QU9naGQ5NTVaMHFsVXRyZmNFRHFHM29WUFFlcVFuMURyK3c4K2NpVXkrWGNjc3N0UmM4QkFDcU1FQVlBUGFCY0x1Zk9PKzlNa3V5MDEyRUZyNEhxTW1LM3FVbVNHVE5tcEZRcUZid0dBS2drUWhnQTlJQzVjK2RtNmRLbDZUOXNWUHIySDFMMEhLZ3FUUzBETW1pbjNiSml4WW84OXRoalJjOEJBQ3FJRUFZQVBlREJCeDlNa2d3ZE03bmdKVkNkUmt6WVAwbHk5OTEzRjd3RUFLZ2tRaGdBOUlBWk0yWWtTWWFQbjFMd0VxaE9nM2JlUFVreWUvYnNncGNBQUpWRUNBT0FiclpzMmJJc1hydzRmZm9QVG5QYjBLTG5RRlhxMHpvZ0xZUGFzM3o1OGl4YXRLam9PUUJBaFJEQ0FLQ2JQZm5razBtU0FlMWpDMTRDMVczSTZFbEprb2NlZXFqZ0pRQkFwUkRDQUtDYnpaa3pKMGt5Y01keEJTK0I2alpnaHpGSmtxZWVlcXJnSlFCQXBSRENBS0NiUFIvQzJ0ckhGTHdFcWx2cjRKRkprZ1VMRmhTOEJBQ29GRUlZQUhTanJxNnVMRml3SUEyTlRXa1oxRjcwSEtocWZmb1BUcSttdmxteVpFbldyVnRYOUJ3QW9BSUlZUURRalpZc1daSnl1WnptZ1NOU1YxZFg5QnlvYW5WMWRlazNiRlRLNWJLendnQ0FWMFVJQTRCdXRIVHAwaVJKMy82REMxNEN0YUZsNElna3ljS0ZDd3RlQWdCVUFpRU1BTHBSUjBkSGtpMGYyUUo2WHZPQVlVbVNaNTk5dHVBbEFFQWxFTUlBb0JzOWYwWlljOXV3Z3Bmd3B6WjJyYytjUis1N1ZmY3RsVGIzOEJxNlM1OStnNUlrbloyZEJTOEJBQ3FCRUFZQTNXakZpaFZKa3FhV3RvS1g4S2M2RnM3TnA5ODE1VlhkOThmZi9rSysrWmt6WG5Ec3lkL2RrL2Z1MzMvTDdmLytoVno3blMrbVhDcDE5MHhlbzhZK3JVbVNOV3ZXRkx3RUFLZ0VRaGdBZEtQblExanY1djRGTCtIMTJ0QzFMamRlOGMwYzhCY252T0I0WTFPZnJGdXpLa2x5OExIdnlUMjNYSk12ZnVRZFJVemtqelQyYlVtU3JGNjl1dUFsQUVBbDZGWDBBQUNvSnF0V2JRa2xUVUpZeGJyNUJ4ZWxmZFM0N0h2SXNTODQzdFNuT1VteWNVTlhoclR2bkwrLzlJN01tWGx2T3BjOG00RkQyNHVZU3BMR3BpMGh6QmxoQU1DcklZUUJRRGRhdjM1OWtxUytzYW5nSmJ3ZWExWjI1c2YvL28vNTFML2RrQVZQUFpadmZmWjlPZTJUWDhxS1pZdnp6SnhIa3lSZlArZmRlVzdaNGl4YjlIUTZPeGFtZDkvbVhITEg0alEyOVNsNGZXMnE3OVdZSk5tNGNXUEJTd0NBU2lDRUFVQTMyclJwVTVJLy9ITE85dWVrUGVwZTh2amw5Ni9MNVYvOVZQWTk5TmlNbWJoZnZ2enhFekppNTdHNThiOHV6UEtPQlJreVlxY2t5YTRUOTh1b0NYdG1TUHZPR1R4aXA3VDBHN0F0NS9NbjZodTJ2SjE5L3A4OUFJQS9Sd2dEZ0c2MFljT0dKSC80NVp6dHoxZXZuL1dTeDN2MWJzcjl0MStmRmNzNmNzZTEzMHVmNXRiODZ3MlBaY0NRRVZ2djg5dWJyODUraDcwOU80MmR1UFZZdVZUSzVzMmIwcXV4ZDQ5djU4WHE2eHVTQ0dFQXdLdmpYVG9BVUZOMjNHVzNsNzN0cTlmUFNxL0czdm4weVZOenpDa2YyaHJCeXFWU2xqNDdQODJ0YmJudDZrdFMzOUNRWitjOWtVWHpuOHppWjM2Zk16OXpZUTZmZnVhMitpUHdBbHZPOEN1WHl3WHZBQUFxZ1JBR0FOMm9zYkV4WFYxZEtXM2V0UFZNRlNwSGMydGJmbkRoLzAyL3RzRTU4c1N6a2lUbm5yUnZubjVpWm5vMzlVMnB0RG1QUGZpYjdIWFFYMlRxRWU5TXY0RkRNbmFQS1drYlBMemc1YldyVk5weUpsaGpvNDhqQXdDdlRBZ0RnRzcwZkFncmI5cVkrTUw4aXZQd1hUZm51dTk4TVg5MTNyL2xwaDk4S3l1WGQrUkRuNzgwQTRhTVNQK0JRM1BwUC8xdFNxWE5PZm1qbjh1S1pZdnoyVk1QeXNrZiszeW12Zm5rb3FmWHJOTG16VW1TWHIyOHJRVUFYbGw5MFFNQW9KbzBOVzJKWDVzM2JTaDRDYS9ISGRkK0w2VlNLZGQ5OTB1WitkdGIwOW8yT0R1UG01VCtBNGNtU2NaUFBqQ1AzSHQ3bGkxNk92L3d2c016ZnZKQk9laVlkeFc4dXJhVk5tKzVXcVF6d2dDQVY4UC9PZ09BYnRTL2YvOHNXN1lzRzlhdVRKOStnNHFldzJ0MDVtY3Z6QWMvLzkwMHZNekZEdmFhZG5TKzhhblRjczRKZStkTmJ6c3RwMy95eTdubFI5OU8rNmh4MldQL3c3ZnhXcEprMC9vMVNaTG01dWFDbHdBQWxVQUlBNEJ1MUw5Ly95UkoxOXFWQlMrcFhSczNkR1ZsNTVJWEhWK3hiSEdTWk5uaVoxNzJzWU9IajB4bng4TE1mdWl1UEhyZkx6UHIvbC9tby85OGVVYU8yVDFMRnN6Tjk3OXlialp2MnBnUm84Ymx2ZWQrTlVseTN5K3V6WjRISGlXRUZXVEQvNFN3MXRiV2dwY0FBSlZBQ0FPQWJ0VFcxcFlrMmJCbVJjRkxhdGRqOS84cUY3ei9xSmU5L1crTzJPbGxiOXRsOTMweS8vR0hNM2JTMU93KzVaQ2M4ckV2cEd2OTJuenJ2RFB6NjU5ZW5xbEh2RE1YL09ldjg0VVB2RGxYWDNSQmpqM2pFNWt6ODc1TS8rdlA5TVFmaFZkaDQ3clZTWktXbHBhQ2x3QUFsVUFJQTRCdU5HVElrQ1RKMmhVZEJTK3BYUlAzUHl6ZnUyZlY2M3Jzcy9PZVNQdW9jZW5Udk9Yc29sL2RjSG0rK09HM1orcVI3OHpuTHI4cnU3eGg3eVRKT1JkZWw2OTgvSVJjZGRFRmFSODFMdVAyT3FEYjl2UGFkSzN1VEpJTUhEaXc0Q1VBUUNVUXdnQ2dHdzBiTml4SnNuN0Zzb0tYMUs3NitvYXRJZXUxZWo1MFBlK05iemtsZTB3OUxBT0g3ZkNDNHhPbkhKcHYzalEzdjMvMC9vemViWExxNnh0ZTkxNytkOVkrdCtVanIrM3Q3UVV2QVFBcWdSQUdBTjFvOE9EQlNaSjFxNFN3YWxCWFgvK2lDUGE4UHMydDJYMi9RN2J4SXY3VW1zNUZTWVF3QU9EVnFTOTZBQUJVazZGRGg2YXVyaTVyT3hlblhDNFhQUWVxV3JsY3pxcU8rVW1TSFhmY3NlQTFBRUFsRU1JQW9CdjE3ZHMzN2UzdDJiUmgzZGFQYkFFOW8ydjE4bXhjdnlaRGhnenhaZmtBd0tzaWhBRkFOeHN6Wmt5U1pNV3p2eTk0Q1ZTM1ZVc1hKSEUyR0FEdzZnbGhBTkROZHQxMTF5Uko1NExaQlMrQjZ2WjhiTjVsbDEwS1hnS2phb1Z2QUFBSmhrbEVRVlFBVkFvaERBQzYyYmh4NDVJa3p5MmNVL0FTcUc1TDUvNHVTYkxubm5zV3ZBUUFxQlJDR0FCMHM2RkRoMmJJa0NGWnQ2SWo2MWN0TDNvT1ZLV3V0U3V6ZXVrekdUQmdnSTlHQWdDdm1oQUdBRDFnOHVUSlNaTEZzKzhyZUFsVXArWHpaeVZKeG84ZlgvQVNBS0NTQ0dFQTBBUDIzbnZ2SkVuSG5BY0xYZ0xWYWRIajl5Ukpwa3laVXZBU0FLQ1NDR0VBMEFOMjNYWFhEQmd3SUNzV1BaWDFxenVMbmdOVlpjUGFWVmsyNzVHMHRyWm0wcVJKUmM4QkFDcUlFQVlBUGFDK3ZqN1RwazFMVXM0ekQ5OWU5QnlvS290bTM1dWtuTW1USjZldXJxN29PUUJBQlJIQ0FLQ0hISGpnZ2FtcnE4dkNSKzlLYWZPbW91ZEFWU2lWTm1mK2pGdFNWMWVYd3c4L3ZPZzVBRUNGRWNJQW9JY01IVG8wa3lkUHpvYTFLN0xvOGJ1TG5nTlZZZG04UjdKKzViS01Iei9lMVNJQmdOZE1DQU9BSG5UVVVVY2xTZWJlZDJQS3BjMEZyNEhLVmk2Vk11ZXVhNU1rUng1NVpNRnJBSUJLSklRQlFBOGFNMlpNSms2Y21MWFBkZVNabWI4cWVnNVV0STQ1RDJiMTBtZXk2NjY3WnM4OTl5eDZEZ0JRZ1lRd0FPaGgwNmRQVDExZFhaNjY1Nyt6c1d0dDBYT2dJbTNhc0Q1UC9QcnFKTW54eHg5ZjhCb0FvRklKWVFEUXcwYU9ISmxwMDZabHc5b1ZlZnlPSzR1ZUF4WHA5Nys5THV0WExjdmVlKytkc1dQSEZqMEhBS2hRUWhnQWJBUFRwMDlQVzF0YkZqMTJkNWI4L3VHaTUwQkY2Vnp3Uk9iUHVEV3RyYTA1OWRSVGk1NERBRlF3SVF3QXRvR1dscGFjZHRwcFNaSkhidjVPMWo3WFVmQWlxQXpyVjNmbTRmKytLRWx5NG9rbnBsKy9mZ1V2QWdBcW1SQUdBTnZJcEVtVGN2VFJSMmRUMTdyTXVQNmIyYmgrVGRHVFlMdTJhY1A2UEh6RHQ3SngzZW9jZlBEQk9lQ0FBNHFlQkFCVU9DRU1BTGFoNDQ0N0xwTW1UY3JhemtWNTRKcXZac082MVVWUGd1M1NwcTUxbVhIZE43S3lZMTdHamgyYmQ3LzczVVZQQWdDcWdCQUdBTnRRZlgxOTN2Lys5MmZzMkxGWnRmVHAzSC9ObDdOdTViS2laOEYycFd2TmlqeHc3ZGZ5M01JbnM5Tk9PK1ZESC9wUTZ1dTliUVVBL3ZlOG93Q0FiYXlwcVNrZis5akhNbUhDaEt4WnRqQjNYL0c1TEozN3U2Sm53WGFoODVuSGMvZC9YWkNWaTU3S3FGR2pjdmJaWjZlNXVibm9XUUJBbFJEQ0FLQUF2WHYzemtjKzhwRk1tell0bTdyV1pzWjFGK2FSbTc2YmRhdVdGejBOQ3RHMVprVm0zWFo1N3IvbUs5bXdibFdtVEptU3M4OCtPMzM2OUNsNkdnQlFSWG9WUFFBQWFsVmpZMk5PUC8zMGpCOC9QbGRlZVdXZWZleTNXZnpFZlJtNTU2RnAzKzJBdEE0Wm1icTZ1cUpuUW84cGw4dFowN2tvaXg3N2JlYlB1QzJsVFJ2UzFOU1U0NDgvUG9jY2NralI4d0NBS2lTRUFVREJEampnZ095eHh4NjU1cHByY3RkZGQyWCtnN2RrL29PM3BIWEl5QXdlTlRGdHczZEp5K0QyOUc1dVMwTmo3OVRYTnhROUdWNnpVbWx6U3BzMlpNT2FsVm5UdVNnckZ6K1ZaZk1lemNxT2VVbTJmSC9lMUtsVGMvenh4MmZBZ0FFRnJ3VUFxcFVRQmdEYmdkYlcxcHgrK3VrNTVwaGpjdHR0dCtXQkJ4N0lpcVhQWlBYU1o0cWVCajJxdGJVMSsrNjdidzQ5OU5Ec3NNTU9SYzhCQUtxY0VBWUEyNUZodzRibDVKTlB6a2tublpRbm5uZ2lzMmZQenR5NWM5UFIwWkdWSzFkbXc0WU5LWlZLUmMrRTE2eSt2ajZOalkxcGEydkxrQ0ZETW5yMDZJd2ZQejdqeDQ5UFE0T3pIQUdBYlVNSUE0RHRVSDE5ZlNaTW1KQUpFeVlVUGFVbVhIUGZraHgvNFNOSnlpbGZlbGpSY3dBQTZDR3VHZ2tBQUFCQVRSRENBQUFBQUtnSlFoZ0FBQUFBTlVFSUF3QUFBS0FtQ0dFQUFBQUExQVFoREFBQUFJQ2FJSVFCQUFBQVVCT0VNQUFBQUFCcWdoQUdBQUFBUUUwUXdnQUFBQUNvQ1VJWUFBQUFBRFZCQ0FNQUFBQ2dKZ2hoQUFBQUFOUUVJUXdBQUFDQW1pQ0VBUUFBQUZBVGhEQUFBQUFBYW9JUUJnQUFBRUJORU1JQUFBQUFxQWxDR0FBQUFBQTFRUWdEQUFBQW9DWUlZUUFBQUFEVUJDRU1BQUFBZ0pvZ2hBRUFBQUJRRTRRd0FBQUFBR3FDRUFZQUFBQkFUUkRDQUFBQUFLZ0pRaGdBQUFBQU5hRlgwUVArTjQ3NDV4bTViZFp6QmJ6eUtVbVNiNTl4ZXdHdkRRRDBwRHIvZlFjQXFGb1ZmVVpZTVJFTUFLaGE1YUlIQU4xcGp4MWJpcDRBd0hhbW9zOEllMTc1MGtPMzZldWRkZFpaU1pLTEw3NTRtNzR1QUFBQUFLOWZSWjhSQmdBQUFBQ3ZsaEFHQUFBQVFFMFF3Z0FBQUFDb0NVSVlBQUFBQURWQkNBTUFBQUNnSmxURlZTT0w4dnpWSXdFQUFBRFkvamtqN0hVWVBYcDAwUk1BQUY3V3VuTGZvaWNBQUx5c3RyYTI5Ty9mdjVEWHJpdVh5K1ZDWHJrYjFKMXhlNUtrZk9taGhlNEFBTmhlck8zYW5MLzZ6dVA1cjcvWnZlZ3BBQURiSFdlRUFRQlVrVi9NZWk0M1BMUXNYUnRMUlU4QkFOanVDR0VBQUZYazZ2dVhaTlg2emJuMndhVkZUd0VBMk80SVlRQUFWYUpyWXluZis4M2lKTW5WOXdsaEFBQi9TZ2dEQUtnU3Yzejh1V3d1YmZuNjE1dG5Mcy9HVFQ0ZUNRRHd4NFF3QUlBcThlTUgvbkFXV09mYVRmbjV6TTRDMXdBQWJIK0VNQUNBS3JCeFV6ay91THZqQmNmKzlHY0FnRm9uaEFFQVZJRTduMXlSNVdzMnZlRFl6MmN1My9wUlNRQUFoREFBZ0tyd2t3ZGUvT1g0UzFadHpHMlArbmdrQU1EemhEQUFnQXEzdVZUT0ZiOTk2WTlCWG5uM2ttMjhCZ0JnK3lXRUFRQlV1THZuck16aWxSdGU4clliZjdjOFpaK09CQUJJSW9RQkFGUzg2MllzZTluYkZqN1hsVi9OZm00YnJnRUEySDRKWVFBQUZheFVLdWZ5T3hmLzJmdGM4VnNmandRQVNKSmVSUThBQU9EMW03KzhLeFBhbXpPaHZUbEo4c2lDTlZtMFlrTW03dGlTRVcyOWt5VHJObXo2YzA4QkFGQXpoREFBZ0FvMmVraWYzSExPWGx0L1B1M2lXZm4rWFl2enFiZnVuUGNjTkx6QVpRQUEyeDhmalFRQUFBQ2dKZ2hoQUFBQUFOUUVJUXdBQUFDQW1pQ0VBUUFBQUZBVGhEQUFBQUFBYW9JUUJnQUFBRUJORU1JQUFBQUFxQWxDR0FBQUFBQTFRUWdEQUFBQW9DWUlZUUFBQUFEVUJDRU1BQUFBZ0pvZ2hBRUFBQUJRRTRRd0FBQUFBR3BDcjZJSGRJZTZNMjR2ZWdJQUFBQUEyN21LUGlOczZxNzlpcDRBQUxEZGFlbGRuOTEzYUM1NkJnREFkcWV1WEM2WGl4NEJBQUFBQUQydG9zOElBd0FBQUlCWFN3Z0RBQUFBb0NZSVlRQUFBQURVQkNFTUFBQUFnSm9naEFFQUFBQlFFNFF3QUFBQUFHcUNFQVlBQUFCQVRSRENBQUFBQUtnSlFoZ0FBQUFBTlVFSUF3QUFBS0FtQ0dFQUFBQUExQVFoREFBQUFJQ2FJSVFCQUFBQVVCT0VNQUFBQUFCcWdoQUdBQUFBUUUwUXdnQUFBQUNvQ1VJWUFBQUFBRFZCQ0FNQUFBQ2dKZ2hoQUFBQUFOUUVJUXdBQUFDQW1pQ0VBUUFBQUZBVGhEQUFBQUFBYW9JUUJnQUFBRUJORU1JQUFBQUFxQWxDR0FBQUFBQTFRUWdEQUFBQW9DWUlZUUFBQUFEVUJDRU1BQUFBZ0pvZ2hBRUFBQUJRRS80L2F4Sm9Vb2FSN3I4QUFBQUFTVVZPUks1Q1lJST0iLAoJIlRoZW1lIiA6ICIiLAoJIlR5cGUiIDogImZsb3ciLAoJIlZlcnNpb24iIDogIiIKfQo="/>
    </extobj>
    <extobj name="ECB019B1-382A-4266-B25C-5B523AA43C14-3">
      <extobjdata type="ECB019B1-382A-4266-B25C-5B523AA43C14" data="ewoJIkZpbGVJZCIgOiAiMjUzMDg1NDIzNTUzIiwKCSJHcm91cElkIiA6ICIyNzc1MTQzNjQiLAoJIkltYWdlIiA6ICJpVkJPUncwS0dnb0FBQUFOU1VoRVVnQUFCTUlBQUFTakNBWUFBQUNjMzVaZkFBQUFDWEJJV1hNQUFBc1RBQUFMRXdFQW1wd1lBQUFnQUVsRVFWUjRuT3o5ZVpUVmhaM24vNytxQUNrMkFSRlJJcklJNGhKRVJEQ0NDOUVvWW1zd3hyWVRKVEZHVzJhU285RldaNGhJanlhdGRvaDI0cERXMFlqTHVIWWlna0FRa0VVMDRrVEVOc2FnMENocVZCUmNpQ0lXVUZEZlAveFJQMG9LWk5PYnFzL2pjWTZIdXAvdHZ1ODlISlNubjZXc3VycTZPZ0FBQUFEUXdKV1hlZ0FBQUFBQStDS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UXVOU0QxQWYvZHUvL1ZzV0xseFk2akVBQUFBQTZwMTI3ZHJsZi8ydi81V21UWnQrNGUvdGpMRHRJSUlCQUFBQWJKOTMzMzAzUzVjdUxjbDdPeU5zQjl4ODg4MmxIZ0VBQUFDZzNoZzFhbFNXTFZ1V1pzMmFsZVQ5blJF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BQUFRQ0VJWVFBQUFBQVVnaEFHQUFBQVFDRUlZUUFBQUFBVWdoQUdBQUFBUUNFSVlRQUFBQUFVZ2hBR0FGdmgxamxMODhiN3EwczlCZ0FBc0FNYWwzb0FBS2dQL3ZIMmhVbVNBZDFiNTh3ajlzaEpCN2RMMS9ZVkpaNEtBQURZRmtJWUFHeUR1WXYvbXJtTC81cmt2OUszUzZ0ODYvQTk4bmU5ZDhzQkhWdVVlalFBQU9BekNHRUFzTTJxazVSbC9pc2ZadjRySCtheS8zZ3BCK3pWUEdjZDBTR245R21YZ3p1MUxQV0FBQUJBSFlRd2dBYW83SHVQbG5xRUJxNXNreVV2TEYyVkt4NWNraXNlWEpKOTkyaVdzNDdZSTEvdnMzdjY3Tk15NWVXYmJnOEFBSHp4M0N3ZkFIYXl5alhyOHViN2EvTEJ4K3ZxYW1ZQUFFQ0pPQ01Nb0FHcXZtTlFxVWRvY0dxZlpmZkpwWkViNjlLdWFVN3EzUzVuSHRFaEE3cnZtckl5QlF3QUFQN1dDR0VBc00wK2lWejc3OVU4Si9iYUxXY2QwU0dIZFcxVjRwa0FBSURQSW9RQndEWTR1RlBMbk55N1hjNDZZbzhjK0NWUGlnUUFnUHBFQ0FPQXJYRFZON3JrckNNNlpOODltcFY2RkFBQVlEc0pZUUN3RmY1NWFKZFNqd0FBQU93Z1Q0MEV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0VNQUFBQUFBS1FRZ0RBQUFBb0JDRU1BQUFBQUFLUVFnREFBQUFvQkNFTUFBQUFBQUtRUWdEQUFBQW9CQWFsM29BQUdEclZWVlZaY3FVS1JrL2Zud1dMVnFVeXNyS1VvL1VvRlZVVktSYnQyNFpPblJvaGc0ZG1pWk5tcFI2SkFBQWRvQVFCZ0QxUkZWVlZVYU1HSkhaczJlWGVwVENxS3lzeklJRkM3Smd3WUxNbURFalk4YU1FY01BQU9veElRd0E2b2twVTZaazl1elo2ZHExYTBhT0hKbnUzYnVuVmF0V3BSNnJRVnU1Y21XV0xGbVMwYU5IWjk2OGVibjc3cnR6empubmxIb3NBQUMyazN1RUFVQTlNWDc4K0NUSnlKRWowNmRQSHhIc0M5Q3laY3YwNnRVclYxeHhSWkprMnJScEpaNElBSUFkSVlRQlFEMnhhTkdpSkVuMzd0MUxQRW54N0wzMzNrbVMxMTU3cmNTVEFBQ3dJNFF3QUtnbk50d1kzNWxnWDd3V0xWb2tTVmF2WGwzaVNRQUEyQkh1RVFiMWxDZkhVWjk1RWg4QUFGQUtRaGpVUTU0Y1IzM25TWHdBQUVBcENHRlFEM2x5SFBXZEovRUJBQUNsNEI1aFVBOTVjaHoxblNmeEFRQUFwU0NFUVQza3lYRTBGSjdFQndBQWZKR0VNS2lIUERtT2hzS1QrQUFBZ0MrU0VBWUFBQUJBSVFoaEFBQUFBQlNDRUFZQUFBQkFJUWhoQUFBQUFCU0NFQVlBQUFCQUlRaGhBQUFBQUJTQ0VBYjh6WnM5ZTNhdXUrNjZIVHJHRTA4OGtkZGZmMzBuVFpUY2NjY2RPZm5rayt0Y2QvTEpKK2Z1dSsvZTZtTTkvZlRUdFQ1ZmRYVjFyZlUzMzN4emJyenh4czg4enF1dnZwcHAwNlp0OWZzQ0FBQVVUZU5TRHdEVVQ3Tm16Y3AvL2RkLzdkQXhqam5tbU95Ly8vNmZ1ZDM4K2ZOejMzMzM1ZEpMTDkydTk1azdkMjR1dXVpaTlPclZLN2ZlZW12S3kzZjgvd0Y4K09HSFdicDBhWjNybGk1ZG1nOCsrR0N6Kzc3MDBrdTUrdXFyYy9YVlYyZXZ2ZmJLQ3krOFVQUDVxcXVyYytHRkY2WnIxNjc1cDMvNnB5VEpndzgrdUZYZjB4TlBQSkhycjc4K2d3Y1BUcEtzWGJzMmI3enh4bFovcG4zMjJXZW5mRGNBQUFCL3E0UXdZTHZNbWpVckR6Lzg4QTRkbzBPSERsc1ZlSGJFQ3krOGtCLy8rTWVwcnE3T2dBRURNbkhpeERxM2E5KytmUVlPSEZqbnVyNTkrMjcyK0p0Yk4zYnMySXdkTzdiV3N0YXRXMmZXckZscDM3NTkzbjc3N1Z4eXlTVzUvZmJiYTIxenp6MzNaTzdjdWZuYTE3NldKSG5qalRmeXpqdnZwRisvZnB1ZFlYUGVlT09OZlBPYjM5enE3YWRQbjU1MjdkcHQ4L3NBQUFEVUYwSVlzRU9lZXVxcE5HclVxTmF5Tld2V3BLcXFLczJiTjkvcTQ0d1pNeVozM0hISEZyZlpYSFJxMmJKbDVzeVpzOG55aFFzWDVnYy8rRUZXcmx5WkpMbnBwcHMyZSt6RER6OThzeUhzeHovKzhTYkxIbjMwMFR6NTVKTjFycnYyMm1zemNPREFISDMwMGJXV1YxUlVKRWwyM1hYWC9PUW5QOG1JRVNQeXlpdXYxS3hmdlhwMTdyenp6Z3diTml4RGh3NU44c2xsb1VreWFOQ2d6YzcrV1NaTW1KQk9uVHB0ZHYyamp6NmFTeTY1Wkx1UER3QUFVRjhJWWNCTzkvT2YvendQUHZoZzVzNmRtNlpObTI3VHZuV0ZwUmt6Wm1UZXZIbDFycHM2ZFdxZGwyZys5ZFJUTlpjYTNuYmJiZW5kdS9jbTI2eGF0U3JEaHcvUGtpVkxNbno0OE0zT2RQcnBwOWQ2dldMRml1eXl5eTUxcmt1U2NlUEc1Y2dqajZ4ejNRWjkrL2JOcEVtVFVsRlJrYWVlZWlwSjByUnAwOXg1NTUzWmM4ODlhN2FiUG4xNmt0U0VzVTk3OHNrbmM4UVJSMnh5N0ExekFBQUE4UDhuaEFFNzNZYWJ2WC82VExHdFVWYzhldVdWVnpKdjNydzYxeTFhdEdpVEVQWWYvL0VmK2JkLys3YzBiOTQ4WThhTXlaZS8vT1ZOOWx1elprMHV1ZVNTdlBUU1MvbmxMMzlaWnlpcnk5TlBQNTBMTHJnZy8vcXYvNXBmL2VwWGRXNXozMzMzYmZFWW16dXpiZVBsZ3dZTnl0bG5uNTAvLy9uUHVlQ0NDMnFkRWZiREgvNHdlKzY1WjBhTkdwWEdqUnZYQk1KNTgrWmx4b3dabXdURFUwODlkV3MrR2wrdysrNjdMMzM3OWsyUEhqMVNWbFpXNm5FQUFLQVFoREJncDZ1cXFrcFpXVmthTi83aS80aTUvLzc3OC9PZi96eWRPM2ZPTWNjY2s4V0xGMmZ4NHNXYmJQZklJNC9rcWFlZXlva25ucGczMzN3ekV5Wk1xRm0zNzc3N3BsZXZYblVlLzQ0NzdraDVlWGw2OSs2OXhYdUgxZVc0NDQ3TDZOR2phNTJwOWJ2Zi9TNjMzWFpia3VUZi8vM2ZhODRHYTk2OGVmN2xYLzRseVNmM0Z1dlNwVXZOUGl0V3JFaS9mdjFxbG0wSWhHdldyTW1NR1ROcVhtKzQ3SExqNDlibHFhZWV5czkrOXJOdCtpenN1QnR2dkRHclZxM0tsNzcwcFF3Wk1pUkhIbmxrRGpyb0lBOHNBQUNBejVFUUJ1eXdhZE9tMWJyWDFZc3Z2cGl5c3JMY2ZQUE5tOTNudE5OT1MvdjI3WGY2TE4vODVqZFRXVm1aTTg0NEkwY2RkZFJuYmo5MTZ0Uk1uVHExMXJKdmYvdmJkWWF3UC96aEQzbnl5U2R6NXBsbnBrMmJOcm55eWlzLzgvaFhYbmxsamo3NjZCeDc3TEhwMkxGamtxUkxseTVadlhwMWZ2R0xYMlRjdUhIcDNidDMvdmpIUDJiRWlCSDU2bGUvbWhFalJ1VEpKNS9NRTA4OGtTUjU4ODAzYTQ2M1lzV0tWRlpXWnUrOTkvN005OTdnUzEvNlVxMTdoRTJZTUNIWFhYZGRmdi83M3lmNTVONWx6Wm8xUzh1V0xiZjZtT3c4Yjd6eFJtNjk5ZGJjZXV1dGFkZXVYWVlNR1pLamp6NDZ2WHYzTGtsTUJnQ0Foc3gvWVFNN3BLeXNMTk9uVDgramp6NjZ5YnBiYnJsbHMvdDk3V3RmKzF4Q1dKTW1UZks5NzMydjV2VzN2LzN0WEhycHBiVzJXYjE2ZGRhc1daTldyVnB0c3YvbXp2S3FxcXJLOWRkZm55UTU1NXh6a2lTbm5ITEtaODV6NVpWWHBrZVBIclcyZmZMSkovT3YvL3F2V2Jac1dhNjk5dG9zWGJvMGYvempIL1B6bi84OGwxNTZhUll1WEppRERqb283ZHExUy92MjdiTnc0Y0thZlRkY0J0cXRXN2ZQZk8vTnFhcXF5c2NmZjF6emVzODk5OXlxejhMbjc5MTMzODNkZDkrZHUrKytPN3Z1dW1zR0R4NmNZNDQ1Sm4zNzlxMjVMeDBBQUxEOWhEQmd1MVJYVjZlc3JDemw1ZVUxZ1dpREgvemdCM25sbFZjeVpjcVVUZmI3di8vMy8rYUdHMjdZN0JNbHQzUzU0WmFlR3JrdGZ2bkxYK1kzdi9sTjVzK2Z2OVg3M0hMTExYbnBwWmVTSkx2dHRsdVNUMjYydjJ6WnNqcTMzL2hTeG8xTm1USWxvMGFOU3FkT25YTDc3YmRuLy8zM3oxMTMzWlVrNmRldlg4YU9IWnRSbzBibE85LzVUcjc5N1c5bjNMaHhlZmpoaDJ1Kzd4ZGZmREZKc3YvKysyOXk3UFhyMXlkSmZ2clRuMmJwMHFVMUFYQno5d2lyNi9zY08zWnNEam5ra00xOURaK3J3dzQ3TEdWbFpUV2ZOZmtrdEc1dTJZYWZOLzYxcm1VYnR2LzBmYmcrNjNnYjN2T3psbTN0REovK1BCdkh5THA4OE1FSCtlMXZmNXZmL3ZhM2FkYXNXWTQ5OXRqUC9BNEJBSUF0RThLQTdiSjI3ZHJObnFIeS92dnZwMDJiTm5XdTIvQ1gveFl0V3RSYS90V3ZmalY3N2JWWFZxNWN1VW5ZZXVpaGgvTHl5eS9uNG9zdjN1UjRtM3RxNU00MGYvNzgzSDc3N1pzc2Yvenh4M1A1NVpkdmRwKzZuSGppaWZud3d3OHpkT2pRVkZSVTVQcnJyOC83NzcrZnA1OStPa25Tdlh2MzNIdnZ2VFhocEhmdjNybi8vdnZ6L1BQUHAxZXZYcGs3ZDI0NmRPaFFjNW5saWhVcjh0dmYvalp6NTg3Tjg4OC9ueVNaTzNkdXZ2bk5iMmJ0MnJWSmt0dHV1eTJ0VzdldW1XSDY5T201K2VhYjYzeXE1RjU3N2JXMVg4dm5Zc09ERnFxcnEydCs1cFB2NC8zMzM2OFZCQUVBZ0cwbmhBSGJaZFdxVlp2RXJPU1RzNUplZmZYVkhISEVFWnZkTDhrbVo0UjkrY3RmenVPUFA1N3AwNmZuM252dlRiTm16V3JXL2U1M3YwdkhqaDNyZkdwa3k1WXRzMkRCZ2gzNUtGdjB4aHR2NUxMTExrdWJObTN5bGE5OHBjNnozS1pNbVpJT0hUb2tTZTY5OTk1TnpwRGIyS3BWcTNMNDRZZm5yYmZleXFwVnF6SnUzTGdjY2NRUmVmWFZWMnR0dCtHTXNxOTg1U3RwMUtoUkhubmtrWFR1M0RuUFBQTk1oZzRkV3JQZHNtWEw4bi8rei85SlJVVkZPblhxbEZkZmZUVy8rOTN2VWw1ZW5qLzg0UTlKa2dNT09LQld0Tnh3UnR2bXpsb3JsUTB4OE5NMmptSWJ4N0c2b3RtbkE5cW45OXVlWTIwNGc2dXVaVnM2L3VibTMvRHpQL3pEUDZTeXNuS3ozMGZMbGkzVHYzLy85Ty9mUDRNSEQ4NnV1KzY2elE5b0FBQUFhaFBDZ08zeTE3LytOVzNidHQxaytRc3Z2SkRWcTFkbjMzMzNyWE8vVmF0V1paZGRkcW56SnVBSEgzeHdicjMxMW93YU5TcWpSNDlPZVhsNUtpc3I4K0tMTCthRUUwNm84M2dubm5oaVRqenh4RzJhZmMyYU5WdDl2NlhWcTFlbnZMdzh2L3psTHpObnpweHRlcCs2eko0OWU1T2I3RC82NktPYjNHTnR3eGxsdSs2NmF3WU1HSkNKRXllbVdiTm1xYXFxeXVEQmcydTIrOUtYdnBRcnI3d3l4eDEzWENaTW1KRHJyNysrNXFtRGI3LzlkbHEzYnAzcTZ1cTgrKzY3TmZ0ODlORkhTVkpyV1ZsWldVMGcrMXRUMTJXTkRVRmRUNGZjRUZ5LzlyV3Y1YWlqam5LemZBQUEyTW44Rnphd1haWXVYWm9ERHp4d2srWFRwazFMOHNuOW51cnk0WWNmMW5rbVdaSU1IRGd3NTUxM1hrME11K3FxcXpKanhveXNXYk1tUng1NTVFNmIvYTIzM3FvejR0V2xXN2R1ZWZEQkI3UHJycnZ1bEJCMnlpbW41SlJUVHNrVFR6eVJDeSs4TUQvNzJjL3l0YTk5cldiOXFGR2o4dHBycjlYYTUxdmYrbFllZi96eGpCMDdOdnZ1dTIrdHM0SmF0R2l4MlJ2ZEwxNjhPSjA2ZGNxa1NaTnk3YlhYYnJKKzQ3aFlYbDZlZWZQbTdlakhZenUwYjk4K0F3WU15QWtubkpCKy9mcWxVYU5HcFI0SkFBQWFMQ0VNMkdadnYvMTIzbi8vL1hUdDJyWFc4cmZlZWlzUFB2aGdPblRvc05rUTlzRUhIMnp4NXZiLy9iLy85M3owMFVlNTc3NzdzblRwMHJ6enpqdHAzNzU5ampubW1KMHkrNG9WSy9Mc3M4OW05ZXJWdWZqaWkzUE9PZWZrNElNUDN1SSt1KzY2NnhiWG4zVFNTZHMwdzVvMWEzTDExVmVuVmF0V3RZTGNFMDg4a1ljZmZqaGp4b3lwdGYxWHZ2S1Y3TFhYWGxtNmRHbk9PT09Nclg2Zlo1NTVwbGFzck92Sm5ra3lmdno0VGQ2VHo5ODN2L25OSEhQTU1UbmtrRU1hNUJsdkFBRHd0MGdJQTdiWjQ0OC9ucVQyVXdkWHJWcVZ5eTY3TEI5Ly9IRkdqQmhSNTJWZnlTYzMwbS9WcXRVV2ozL3BwWmRtenozM3pDOSs4WXNrbnp4TjhkMTMzOTNtRzduZmRkZGRhZGV1WGEwWlI0MGFsY3JLeXB4ODhzbVpNMmRPSG52c3NSeDIyR0VaUG54NERqMzAwRXlmUHIzVy9jbTJ4aTIzM0ZMcmZUN0xMcnZza2wvODRoY1pPM1pzaGc4Zm5nTU9PQ0JEaGd6SnpUZmZuS0ZEaDI1eWY3VmJiNzAxUzVjdVRmTEpVemVQUGZiWXo3eU04WTAzM3NnTEw3eVFZY09HWmVYS2xVbXkyZSs5YWRPbVd6MDdPODlGRjExVTZoRUFBS0J3NnY2YktzQVdQUGpnZzJuWnNtVU9QL3p3Sk1ueTVjdHovdm5uWjhHQ0JSa3laRWhPUHZua092ZGJ1blJwWG5ycHBjOE1XaSsrK0dLbVQ1K2U1Sk1idXMrYk55OWYvL3JYTTN6NDhOeC8vLzE1NmFXWHR1cUpnZ2NlZUdBNmRPaVExYXRYWjl5NGNUbjk5Tk16ZCs3Y2ZQZTczODFWVjEyVnlaTW41OXh6ejgzenp6K2ZmL3pIZjh3UGZ2Q0RMRisrZkpNYitXOU81ODZkYzhZWloyUy8vZlpMbHk1ZGF2MlRwT1pHNkhXZDdkT3paOCtNSGowNmQ5NTVaMTUvL2ZWY2YvMzErZWlqajNMd3dRZG4vZnIxTmR2ZGR0dHR1ZW1tbTdMLy92dm5zc3N1eXh0dnZKSHp6ejgvYjczMTFoWm51L2ZlZTlPa1NaT2Rla2twQUFCQWZlZU1NR0NiVEo4K1BRc1hMc3l3WWNQU3RHblRQUDc0NC9uSlQzNlM5OTU3TDhjZGQxek5qZURmZmZmZC9QakhQMDdidG0zVHJGbXpWRmRYWis3Y3VWbTNibDJkTjc1ZnRteFovdC8vKzMrWk9uVnFubnJxcVZSVVZPUi8vSS8va1gvNGgzL0lDeSs4a0hIanhtWFdyRmsxVHhaczBhSkZ1bmZ2bnM2ZE8yZlBQZmZNN3J2dm5pNWR1dFNjcGZiQkJ4OWsvdno1bVROblRtYlBucDJWSzFlbWZmdjJ1ZnJxcTJ0dXJ0K3laY3Y4NEFjL3lCbG5uSkdiYnJvcEV5ZE96TEJod3pKNDhPQmNlT0dGTlUrQzNKejk5OTgvKysrL2Y2MWx2Ly85NzVNa2pSbzFxcmtVc1gzNzlwdnMrK2FiYjJiS2xDbjU3VzkvbTFXclZtWFlzR0Y1NFlVWDhwT2YvQ1NQUHZwb2Z2YXpuK1hhYTYvTnhJa1RzKysrKzJiTW1ESFpiYmZkc25MbHl0eDAwMDA1NjZ5emNzVVZWK1NZWTQ3Smh4OSttSll0VythbGwxNUtreVpOc21qUm9qend3QU01NFlRVGFsMkd1cVVuRG03dURENEFBSUNHUkFnRHRzbmpqeitlRmkxYTVPeXp6ODc4K2ZOejBVVVhwYnk4UE9lZGQxNkdEeDllRTFUYXRtMmJGMTk4c2VZSmhVblN1blhyL1BDSFA2eDFjL2pGaXhmbmdnc3V5TEpseTJyMkd6WnNXSVlORzViZGQ5ODlTWExBQVFma2lpdXV5STkvL09NOC8venplZWFaWi9MODg4OW44ZUxGK2RPZi9sUnpCdFVsbDF5U3RtM2Jac1NJRVhuNTVaZHJ6aG83K09DRE0zVG8wSngwMGtsMVBpMXk5OTEzejZoUm8zTEdHV2RrOU9qUm1UcDFhdWJNbVpQeDQ4ZlhHYkcyWk1LRUNaazllM2JONjY1ZHU5WUtmek5tek1pdmYvM3JMRjY4T0UyYU5Na0pKNXlRYzg4OU41MDdkMDZTekp3NU0rWGw1VG56ekRPelpNbVM5TzNiTjlkZGQxM05mY3JPTysrODdMcnJycm51dXV0eTVaVlhadHk0Y1RubGxGT3laczJhSk1uaGh4K2VhZE9tcGJxNk91ZWVlMjZ0MmNhTkcxZm56QTgvL0hCdXUrMjJiZnFjQUFBQTlaRVFCbXlUa1NOSDVvUVRUc2h1dSsyVzNYYmJMWmRmZm5uMjIyKy85T3JWcTlaMjVlWGxlZXl4eDdKKy9mcXNYYnMyMWRYVnFhaW8yT1I0M2J0M3owa25uWlNXTFZ2bTBFTVBUYTlldlRaN2RsS2pSbzNTdTNmdjlPN2R1MlpaVlZWVjNuNzc3Ynp6emp2cDBhTkhtamR2bmg0OWVxUm56NTdwMjdkdkJnd1lrRDMyMkdPclBsdlBuajF6NjYyM1p2TGt5WG4zM1hjM2lXQmYvL3JYdDNoV1ZmTEovYzNPUHZ2c0pFbEZSVVc2ZGV0VzZ5bUFCeDk4Y1BiWVk0OTg0eHZmeU9EQmd6ZDVldVZ4eHgyWEpIbjk5ZGZ6MTcvK05mL3R2LzIzTkc1Yys0L3FNODQ0SXdjY2NFRGVlZWVkN0w3Nzd2bmhEMytZOTk5L1AyM2F0TW5Rb1VQVHRHblRkT3JVcWVZU3phNWR1K2JVVTArdGVmMXAvZnIxeTN2dnZmZVozdzhBQUVCOVYxYTlOVGZhb1piaHc0Y25TVzYrK2VZU1QwSlJiWWd4OCtmUEwvRWtzT1A4ZnQ1NnZxdlM4djBEQU95NFVhTkdaZG15WmZuSlQzN3ltYmVqK1R5NEtRd0FBQUFBaFNDRUFRQUFBRkFJUWhnQUFBQUFoU0NFQVFBQUFGQUlRaGdBQUFBQWhTQ0VRVDFVVmxhV0pGbTNibDJKSjRFZHMrSDM4SWJmMHdBQUFKOG5JUXpxb1hidDJpVkpsaTlmWHVKSllNZXNXTEVpU2RLNmRlc1NUd0lBQUJTQkVBYjEwSUFCQTVJa2p6enlTSWtuZ1IwemQrN2NKRW12WHIxS1BBa0FBRkFFalVzOUFMRHR6anJyckV5ZE9qVTMzSEJEbm52dXVYVHYzajJ0V3JVcTlWaXcxVmF1WEprbFM1YmtrVWNlU2VQR2pYUHV1ZWVXZWlRQUFLQUFoRENvaDdwMzc1N3JycnN1VjExMVZXYk5tcFZaczJhVmVpVFlMcTFidDg2SUVTT2NFUVlBQUh3aGhEQ29wd1lPSEpoSmt5YmxzY2NleTZKRmkxSlpXVm5xa1dDclZWUlVwRnUzYmhrMGFGQ2FOV3RXNm5FQUFJQ0NFTUtnSG12YXRHbU9QLzc0SEgvODhhVWVCUUFBQVA3bXVWaytBQUFBQUlVZ2hBRUFBQUJRQ0VJWUFBQUFBSVVnaEFFQUFBQlFDRUlZQUFBQUFJVWdoQUVBQUFCUUNFSVlBQUFBQUlVZ2hBRUFBQUJRQ0VJWUFBQUFBSVVnaEFFQUFBQlFDRUlZQUFBQUFJWFF1TlFEQU51bnFxb3FVNlpNeWZqeDQ3Tm8wYUpVVmxhV2VpVFlhaFVWRmVuV3JWdUdEaDJhb1VPSHBrbVRKcVVlQ1FBQUtBQWhET3FocXFxcWpCZ3hJck5uenk3MUtMQmRLaXNyczJEQmdpeFlzQ0F6WnN6SW1ERmp4REFBQU9Ceko0UkJQVFJseXBUTW5qMDdYYnQyemNpUkk5TzllL2UwYXRXcTFHUEJWbHU1Y21XV0xGbVMwYU5IWjk2OGVibjc3cnR6empubmxIb3NBQUNnZ1hPUE1LaUh4bzhmbnlRWk9YSmsrdlRwSTRKUjc3UnMyVEs5ZXZYS0ZWZGNrU1NaTm0xYWlTY0NBQUNLUUFpRGVtalJva1ZKa3U3ZHU1ZDRFdGd4ZSsrOWQ1TGt0ZGRlSy9Fa0FBQkFFUWhoVUE5dHVERytNOEdvNzFxMGFKRWtXYjE2ZFlrbkFRQUFpa0FJQXdBQUFLQVFoREFBQUFBQUNrRUlBd0FBQUtBUWhEQUFBQUFBQ2tFSUF3QUFBS0FRaERBQUFBQUFDa0VJQTloQjY5YXR5ME1QUFpSSEgzMjAxS01BQUFDd0JZMUxQUURBem5iVFRUZWxZOGVPR1RwMGFNMnlWYXRXWmRteVpWdTFmL3YyN2RPaVJZdXRmci8xNjlmbnpqdnZ6TXFWSzNQNDRZZW5XYk5tMnp3ekFBQUFuejhoREdoUXFxcXFzbmp4NHR4NjY2MTU3cm5uTW1MRWlEUnAwaVNQUC81NExyLzg4cTA2eGs5Lyt0T2NkTkpKdFpZdFhMZ3dpeFl0MnV3K0J4MTBVS1pNbVpMUm8wZm4wRU1QclhPYm80OCtPcTFidDk3NkR3TUFBTUJPSllRQkRVcmp4bzN6ODUvL1BOZGZmMzN1di8vK0xGbXlKRGZkZEZQTitpbFRwcVJEaHc1MTdydGl4WW9jZDl4eGRhNmJPWE5teG80ZCs1bnZQM0hpeEV5Y09MSE9kVGVBem5nQUFDQUFTVVJCVkhmZGRaY1FCZ0FBVUVKQ0dORGdsSmVYNTdMTExzdnV1KytlcXFxcU5HM2F0R2JkNjYrL25vOC8vcmpPL1Q3ODhNUFBQUGI4K2ZOcmZwNDVjMmFtVFp1VzBhTkhiN0xkakJrejh2REREK2Y2NjYvZmprOEFBQURBNTBFSUF4cWNxcXFxTkc3Y09PZWNjODRtNjg0Ly8veWQ5ajVMbGl6SnpKa3o2MXozeWl1dnVIaytuMm55NU1rNTZLQ0QwclZyMTFLUEFnQUFoU0NFQVEzS0hYZmNrU2xUcHVTYWE2NUo5KzdkTjFtL3ZaZEdibkRra1VkdWNrWlozNzU5Tjd2OXh1czJQcHNNa3VUWHYvNTFYbi85OVhUdDJqVkRoZ3pKa1VjZW1mMzIyeTlsWldXbEhnMEFBQm9rSVF4b1VIcjA2SkdsUzVmbU85LzVUdjduLy95Zk9mWFVVMnV0MzlGTEkrKzU1NTVVVjFjblNSNTQ0SUhjZDk5OUdUZHUzQ2JiYldrZGZOcVNKVXR5NDQwMzVzWWJiMHpIamgwelpNaVFISDMwMFRud3dBTlRYbDVlNnZFQUFLREJFTUtBQm1YZ3dJRzU3YmJiY3VHRkYrYW5QLzFwOXRoamp3d1lNS0JtL1k1ZUd0bTVjK2Vhbjl1MGFaTWs2ZEtseXliYmJXa2RiTW1iYjc2WnNXUEhadXpZc1duZnZuMU9PT0dFREJvMEtBY2ZmSENwUndNQWdIcFBDQU1hbkI0OWV1U09PKzdJQXc4OFVDdUNKVHQrYVdSZHRuUnBKRnZ2c01NT1MxbFpXYXFycTJzdURTd3JLNnR6MmFkLzNmaFN3aTJ0Ly9RbGg1dmJadVAzM0hqNTV1YlkwdkhyV3IvaFdFdVhMdDNpZDdKOCtmTGNjODg5dWVlZWV6eHhGQUFBZGdJaERHaVFPblRva0IvKzhJYzFyL3YwNlpOYmJya2xMVnUyekpvMWErcmNwMm5UcHJuampqdXkxMTU3MVFvZVNiSm16Wm8wYmx6M0g1bGJ1alNTYmJQaHN0UHE2dXFhbi9uRSt2WHJTejBDQUFEVWUwSVkwQ0E5OGNRVHFhcXF5bEZISFpVUFB2Z2dRNFlNMmFiOUowMmFsSTRkTzlhOC92ampqOU8wYWRNa3licDE2NUlrMy8zdWQzUG1tV2ZXTE4vWXhSZGZuSXN2dmpqcjFxMUxlWG01bTU5dmhhZWZmcnJPNVJ0SHNZM2oyS2VYYmRqdTB3SHQwOXR0Q0VwMWJWZFhpTnNRUmJkbVdWMXoxalhiaGwrSER4K2V0OTU2YTdQZlNkdTJiZE8vZi84Y2Z2amhPZjc0NDNQVVVVZHRkbHNBQU9DekNXRkFnelJwMHFUTW5Ea3pjK2JNcVZsMjZxbW5wbi8vL3BrN2QyNG1UNTZjYTY2NUprbHkrZVdYWjhpUUlUbnFxS1B5N0xQUDVqZS8rYzBteDN2dnZmZHE3dnZWdjMvL2JacmxsbHR1Y2Zua0R2ajBwWThOU1YxbkdiWnYzejVISEhGRUJnOGVuSDc5K3FWUm8wWWxtQXdBQUJvbUlReG9rQllzV0pBZVBYcWtlZlBtTlpkQ0huREFBUms4ZUhEZWZmZmRUSjQ4T1lNSEQwN3lTUWpyMmJObkJnOGVuSFhyMXRVWndsNS8vZlhzdWVlZVNaSUpFeWFrc3JJeVAvclJqOUs4ZWZOY2M4MDFhZGFzV2EzdC8vS1h2MlRreUpIcDBLRkQ5dHR2djgvNTAxTGZkZXpZTVFNSERzemd3WU56eUNHSE5OandCd0FBcGVhWjdFQ0Q4OTU3NytXTk45NUluejU5ZHNyeDFxeFprNWRmZmpuZHVuVkxrblRxMUNrOWV2VElEVGZja0hmZmZUZFhYWFZWR2pWcWxFNmRPcVZUcDA1WnVIQmhMci84OG5UdTNEazMzM3h6V3JWcXRWUG1vT0U1N2JUVGN2ZmRkMmZTcEVrWk1XSkUrdlRwSTRJQkFNRG55QmxoUUlQejdMUFBKa2w2OSs2OVU0NzN6RFBQcEtxcWFwUGo5ZWpSSTdmZmZuc3V2dmppZk90YjM4cjN2Ly85UFBmY2M1a3paMDVPTysyMFhIYlpaZGxsbDExMnlndzBUR2VmZlhhcFJ3QUFnRUp4UmhqUTRNeWJOeS9Kemd0aGt5ZFBUcU5HalRKZ3dJQk4xdTI5OTk0NS8venpzM2J0Mm93Wk15Wno1c3hKdjM3OTh2M3ZmMThFQXdBQStCdmpqRENnd1prM2IxNDZkT2lRRGgwNjVJRUhIa2hsWldXUzVELy84eitUSkgvODR4K1RKQTg4OEVETlBuLzYwNS95d0FNUDVNOS8vbk9TNU9HSEgwN2Z2bjNUdW5YclRKOCtQVi85NmxmVHVuWHJyRisvUGkrLy9IS2VmZmJaekpzM0wwOCsrV1ErK3VpajlPelpNOS80eGpmeTdMUFBadnIwNlRuNTVKUFRzMmZQSEhiWVlUbnd3QU96eno3N3BGdTNicW1vcVBpQ3Z3MEFBQUEyRU1LQUJtWHAwcVZac21SSmpqLysrQ1RKdGRkZVc3TnU2dFNwbVRwMWFzM3JqZGZObkRrek0yZk9ySGw5NDQwMzVvd3p6a2lIRGgxU1hWMmQ4ODQ3TC9mZmYzOXV1T0dHbXB2dmQrM2FOYWVmZm5vR0R4NmNuajE3SmtuKy91Ly9QaGRkZEZHbVRadVd4eDU3TEwvNXpXK3lkdTNhTkduU0pCTW5UaFRDQUFBQVNrZ0lBeHFVWnMyYTVjSUxMMHpuenAyVEpQUG56OStoNDYxZnZ6NWR1blJKang0OTBxNWR1N3o5OXRzNThNQUQwN3QzNyt5eHh4NTE3dE8rZmZzTUd6WXN3NFlOeStyVnE3TjQ4ZUo4OE1FSG05MGVBQUNBTDRZUUJqUW9iZHEwMmFrM0lDOHZMOCtnUVlPU0pMdnR0bHQrOUtNZmJkUCtUWnMyelVFSEhiVFQ1Z0VBQUdEN3VWaytBQUFBQUlVZ2hBRUFBSVh3cXhsdjVPVmxINWQ2REFCS3lLV1JBQUJBSVZ4dzkzL2xnaVI5OW1tWnM0N29rTDg3cEYzMjM2dDVxY2NDNEFza2hBRUFBSVh5bjYrdHpIKyt0aktYL3NkTE9iQmo4d3dic0dkT1BxUmRldTNkb3RTakFmQTVFOElBQUlBQ3FrNVNsZ1Z2cnNybEQ3eWN5eDk0T2Z1MmI1WmhBenJrbEQ3dGNtam5saWtyS3l2MWtBRHNaRUlZMUVObFpXV3BycTdPdW5YcjBxaFJvMUtQQTl0dDNicDFTZUl2R3NBT0svdmVvNlVlZ1hwbjAzLzN2TFQ4NDF6MTBDdTU2cUZYMG1tM3BoazJvRU8rZnNqdTZkK3RWY3JML2JzS29DRndzM3lvaDlxMWE1Y2tXYjU4ZVlrbmdSMnpZc1dLSkVucjFxMUxQQWtBMUxhbXFqcHZ2cjg2Zi8yNEt0V2xIZ2FBbmNZWllWQVBEUmd3SUJNblRzd2pqenlTNzN6bk82VWVCN2JiM0xsemt5UzlldlVxOFNSQWZWZDl4NkJTajBBOVVQdk13VTh1amR6WTNtMmJac2pCdStYYlgrbVFRZnUzaVJPV0FSb2VJUXpxb2JQT09pdFRwMDdORFRmY2tPZWVleTdkdTNkUHExYXRTajBXYkxXVksxZG15WklsZWVTUlI5SzRjZU9jZSs2NXBSNEpnTUw1cEhKMTNiMGlKL1hlTFdkK3BVTUc5SENHTWtCREo0UkJQZFM5ZS9kY2Q5MTF1ZXFxcXpKcjFxek1taldyMUNQQmRtbmR1blZHakJqaGpEQUF2bEE5OTJ5ZXYvdi94YSsrWGYzUFJJQWlFY0tnbmhvNGNHQW1UWnFVeHg1N0xJc1dMVXBsWldXcFI0S3RWbEZSa1c3ZHVtWFFvRUZwMXF4WnFjY0JvQ0IrZlBJK09ldUlEam5vU3kxS1BRb0FKU0tFUVQzV3RHblRISC84OFRuKytPTkxQUW9Bd04rOGEwN3ZWdW9SQUNneFQ0MEVBQUFBb0JDRU1BQUFBQUFLUVFnREFBQUFvQkNFTUFBQUFBQUtRUWdEQUFBQW9CQ0VNQUFBQUFBS1FRZ0RBQUFBb0JDRU1BQUFBQUFLUVFnREFBQUFvQkNFTUFBQUFBQUtRUWdEQUFBQW9CQWFsM29BWVB0VVZWVmx5cFFwR1Q5K2ZCWXRXcFRLeXNwU2p3UmJyYUtpSXQyNmRjdlFvVU16ZE9qUU5HblNwTlFqQVFBQUJTQ0VRVDFVVlZXVkVTTkdaUGJzMmFVZUJiWkxaV1ZsRml4WWtBVUxGbVRHakJrWk0yYU1HQVlBQUh6dWhEQ29oNlpNbVpMWnMyZW5hOWV1R1RseVpMcDM3NTVXclZxVmVpellhaXRYcnN5U0pVc3lldlRvekpzM0wzZmZmWGZPT2VlY1VvOEZBQUEwY080UkJ2WFErUEhqa3lRalI0NU1uejU5UkREcW5aWXRXNlpYcjE2NTRvb3JraVRUcGswcjhVUUFBRUFSQ0dGUUR5MWF0Q2hKMHIxNzl4SlBBanRtNzczM1RwSzg5dHBySlo0RUFBQW9BaUVNNnFFTk44WjNKaGoxWFlzV0xaSWtxMWV2THZFa0FBQkFFUWhoQUFBQUFCU0NFQVlBQUFCQUlRaGhBQUFBQUJTQ0VBWUFBQUJBSVFoaEFBQUFBQlNDRUFZQUFBQkFJUWhoQUR0bzNicDFlZWloaC9Mb280K1dlaFFBQUFDMm9IR3BCd0RZMlo1NDRva3NYYm8wcDU5K2VzMnlqejc2S011WEw5L3FZM1R1M0RsbFpXVmJ0ZTM2OWV0ejU1MTNadVhLbFRuODhNUFRyRm16Ylo0WkFBQ0F6NThRQmpRNDA2ZFB6K1RKay9QMDAwL25uLy81bjlPOGVmUE1tVE1ubzBhTjJ1cGpQUDc0NDJuZXZIbk42NFVMRjJiUm9rV2IzZjZnZ3c3S2xDbFRNbnIwNkJ4NjZLRjFiblAwMFVlbmRldldXLzlCQUFBQTJLbUVNS0RCdWVxcXE5SzFhOWY4NmxlL3l1TEZpL1ByWC8rNlp0M01tVFBUcGsyYnplNzd3QU1QNU5wcnI5MWsrY3laTXpOMjdOalBmTytKRXlkbTRzU0pkYTY3NjY2N2hEQUFBSUFTRXNLQUJ1bDczL3RlOXRsbm43ejQ0b3RwMjdadHpmSy8vT1V2V2JGaXhXYjNlKys5OTdaNDNQbno1OWY4UEhQbXpFeWJOaTJqUjQvZVpMc1pNMmJrNFljZnp2WFhYNzhkMHdNQXNFSFo5eDVOa2xUZk1haWtjd0FOZ3hBR05EaVZsWldwcUtqSXNjY2VtMk9QUGJiV3V1OTk3M3M3N1gyV0xGbVNtVE5uMXJudWxWZGVjZk44UHRQa3laTnowRUVIcFd2WHJxVWVCUUFBQ2tFSUF4cVVDUk1tNU4vLy9kOHpjdVRJREJvMGFKUDEyM3RwNUFaSEhubGtQdjc0NDFyTCt2YnR1OW50TjE2MzhkbGtrQ1MvL3ZXdjgvcnJyNmRyMTY0Wk1tUklqanp5eU95MzMzNWIvYUFHQUFCZzJ3aGhRSVBTdjMvLzNIdnZ2Ym5ra2t2eWpXOThJNWRlZW1rcUtpcDIydkh2dWVlZVZGZFhKL2trbXQxMzMzMFpOMjdjSnR0dGFSMTgycElsUzNMampUZm14aHR2VE1lT0hUTmt5SkFjZmZUUk9mREFBMU5lWGw3cThRQUFvTUVRd29BR3BXUEhqcm45OXR0ejZhV1hadno0OGZueWw3K2NVMDg5dFdiOWNjY2R0MFBINzl5NWM4M1BHODRzNjlLbHl5YmJiV2tkYk1tYmI3NlpzV1BIWnV6WXNXbmZ2bjFPT09HRURCbzBLQWNmZkhDcFJ3TUFnSHBQQ0FNYW5CWXRXdVIvLysvL25ZY2VlcWhXQkV1U08rNjRJNjFhdGRyc3Z0T25UOC9OTjkrOFRlKzNwVXNqMlhxSEhYWll5c3JLVWwxZFhYTnBZRmxaV1ozTFB2M3J4cGNTYm1uOXB5ODUzTncyRzcvbnhzczNOOGVXamwvWCtnM0hXcnAwNlJhL2srWExsK2VlZSs3SlBmZmM0NG1qQUFDd0V3aGhRSVBVcEVtVG5INzY2VFd2Ky9UcGsydXV1U2I3Nzc5L2Z2LzczMmZDaEFtNTRZWWJraVIvK01NZmN0ZGRkK1ZuUC90WlRqcnBwSFR1M0RsTm16YXRkYncxYTlha2NlTzYvOGpjMHFXUmJKc05sNTFXVjFmWC9Nd24xcTlmWCtvUkFBQ2czaFBDZ0FicDFWZGZ6YTY3N3BxMmJkdm1UMy82VSs2OTk5NWNmZlhWS1M4dnordXZ2NTdmLy83M05kc3VXN1lzVHo3NVpOYXVYWnU5OTk0N1NYTDU1WmZubi83cG45S2hRNGNreWNjZmYxd1R4OWF0VzVjaytlNTN2NXN6enp4emsyaVdKQmRmZkhFdXZ2amlyRnUzTHVYbDVXNSt2aFdlZnZycE9wZHZITVUyam1PZlhyWmh1MDhIdEU5dnR5RW8xYlZkWFNGdXcxbGdXN09zcmpucm1tM0RyOE9IRDg5YmI3MjEyZStrYmR1MjZkKy9mdzQvL1BBY2YvenhPZXFvb3phN0xRQUE4Tm1FTUtCQnV1dXV1ekp4NHNSTW56NDl1K3l5UzZaUG41NGpqamdpWC8vNjF6OXozekZqeHVTSko1N0lKWmRjVXJQc3ZmZmVxN252Vi8vKy9iZHBsbHR1dWNYbGt6dmcwNWMrTmlSMW5XWFl2bjM3SEhIRUVSazhlSEQ2OWV1WFJvMGFsV0F5QUFCb21JUXdvRUg2ODUvL25EMzMzRE50MnJSSm16WnRNbkRnd054eXl5MzV1Ny83dXkzdTkreXp6MmJHakJtNTRJSUxzc2NlZTlRc2YvMzExN1Bubm5zbVNTWk1tSkRLeXNyODZFYy9TdlBtelhQTk5kZWtXYk5tdFk3emw3LzhKU05Iamt5SERoMnkzMzc3N2Z3UFNJUFNzV1BIREJ3NE1JTUhEODRoaHh6U1lNTWZBQUNVbW1leUF3M095cFVyczNqeDR2VHAwNmRtMlZsbm5aV2xTNWRteXBRcG05MXY3ZHExK1pkLytaZDA2ZElsWjUxMVZzM3lOV3ZXNU9XWFgwNjNidDJTSkowNmRVcVBIajF5d3cwMzVOMTMzODFWVjEyVlJvMGFwVk9uVHVuVXFWTVdMbHlZeXkrL1BKMDdkODdOTjkrOHhadnpVMnlublhaYTdyNzc3a3lhTkNralJveEluejU5UkRBQUFQZ2NPU01NYUhEKytNYy9adjM2OWJWQ1dQLysvYlBmZnZ2bG5YZmUyZXhON3hjdVhKamx5NWZuRjcvNFJabzBhVkt6L0psbm5rbFZWVlY2OSs1ZGEvc2VQWHJrOXR0dno4VVhYNXh2ZmV0YitmNzN2NS9ubm5zdWMrYk15V21ublpiTExyc3N1K3l5eStmeklXa1F6ajc3N0ZLUEFBQUFoZUtNTUtEQmVlcXBwNUtrVmdnckt5dkxQZmZjazNQT09XZXorMzM1eTEvTzczNzN1eHg2NktHMWxrK2VQRG1OR2pYS2dBRUROdGxuNzczM3p2bm5uNSsxYTlkbXpKZ3htVE5uVHZyMTY1ZnZmLy83SWhnQUFNRGZHR2VFQVEzT2swOCttYlp0MjZaejU4NUpra21USnRWYXYyREJnbHJMbjMzMjJTVEp0R25UMHJ4NTg1cnQ5dDEzM3pScjFpelRwMC9QVjcvNjFiUnUzVHJyMTYvUHl5Ky9uR2VmZlRiejVzM0xrMDgrbVk4KytpZzllL2JNTjc3eGpUejc3TE9aUG4xNlRqNzU1UFRzMlRPSEhYWllEanp3d095enp6N3AxcTFiS2lvcXZvaXZBQUFBZ0RvSVlVQ0RzblRwMHJ6MDBrczU5dGhqYTVaZGVlV1ZkVzc3NmVXalI0K3U5WHJZc0dGcDI3WnRxcXVyYzk1NTUrWCsrKy9QRFRmY2tEVnIxaVJKdW5idG10TlBQejJEQnc5T3o1NDlreVIvLy9kL240c3V1aWpUcGszTFk0ODlsdC84NWpkWnUzWnRtalJwa29rVEp3cGhBQUFBSlNTRUFRMUs4K2JOYzlGRkYyWHZ2ZmV1V1RaLy92enRQdDc2OWV2VHBVdVg5T2pSSSszYXRjdmJiNytkQXc4OE1MMTc5NjcxVk1tTnRXL2ZQc09HRGN1d1ljT3lldlhxTEY2OE9COTg4TUZtdHdjQUFPQ0xJWVFCRFVycjFxM3puZTk4WjZjZHI3eThQSU1HRFVxUzdMYmJidm5SajM2MFRmczNiZG8wQngxMDBFNmJCd0FBZ08zblp2a0FBQUFBRklJUUJnQUFBRUFoQ0dFQUFBQUFGSUlRQmdBQUFFQWhDR0VBQUFBQUZJSVFCdlZRV1ZsWmttVGR1blVsbmdSMnpJYmZ3eHQrVHdNQUFIeWVoRENvaDlxMWE1Y2tXYjU4ZVlrbmdSMnpZc1dLSkVucjFxMUxQQWtBQUZBRVFoalVRd01HREVpU1BQTElJeVdlQkhiTTNMbHpreVM5ZXZVcThTUUFBRUFSTkM3MUFNQzJPK3Vzc3pKMTZ0VGNjTU1OZWU2NTU5SzllL2UwYXRXcTFHUEJWbHU1Y21XV0xGbVNSeDU1SkkwYk44NjU1NTViNnBFQUFJQUNFTUtnSHVyZXZYdXV1KzY2WEhYVlZaazFhMVptelpwVjZwRmd1N1J1M1RvalJveHdSaGdBQVBDRkVNS2duaG80Y0dBbVRacVV4eDU3TElzV0xVcGxaV1dwUjRLdFZsRlJrVzdkdW1YUW9FRnAxcXhacWNjQkFBQUtRZ2lEZXF4cDA2WTUvdmpqYy96eHg1ZDZGQUFBQVBpYjUyYjVBQUFBQUJTQ0VBWUFBQUJBSVFoaEFBQUFBQlNDRUFZQUFBQkFJUWhoQUFBQUFCU0NFQVlBQUFCQUlRaGhBQUFBQUJTQ0VBWUFBQUJBSVFoaEFBQUFBQlNDRUFZQUFBQkFJUWhoQUFBQUFCUkM0MUlQQUd5ZnFxcXFUSmt5SmVQSGo4K2lSWXRTV1ZsWjZwRmdxMVZVVktUYi84ZmVmY2RWWGZaL0hIOGZPQ0FiQlJVSERoUlhpZ3YzeEpXam9ibTZIWlV6elpadFIyYm0zVEp0YUE0c2Y1a2pWMnFsTjJiT05EVm5abmVZcUtHNVJ3cUt5RDYvUDdnNWlSendnT1BMZ2RmejhlZ2g1N3F1Ny9WOWN4S1ZEOWQxZlN0VlV0ZXVYZFcxYTFlNXVMZ1lIUWtBQUFCQUlVQWhESEJBS1NrcEdqVnFsRFp0Mm1SMEZDQlBFaElTRkJrWnFjaklTSzFmdjE3VHBrMmpHQVlBQUFEZ3JxTVFCamlnaUlnSWJkcTBTVUZCUVJvN2RxeUNnNFBsN2UxdGRDekFibkZ4Y1lxT2p0YWtTWk8wZS9kdUxWaXdRQU1IRGpRNkZnQUFBSUFDampQQ0FBZTBjdVZLU2RMWXNXTlZyMTQ5aW1Cd09GNWVYZ29KQ2RIcnI3OHVTVnE3ZHEzQmlRQUFBQUFVQmhUQ0FBY1VGUlVsU1FvT0RqWTRDWEI3QWdNREpVbC8vZldYd1VrQUFBQUFGQVlVd2dBSGxIRXdQaXZCNE9nOFBUMGxTWW1KaVFZbkFRQUFBRkFZVUFnREFBQUFBQUJBb1VBaERBQUFBQUFBQUlVQ2hUQUFBQUFBQUFBVUNoVENBQUFBQUFBQVVDaFFDQU1BQUFBQUFFQ2hRQ0VNQUFBQUFBQUFoUUtGTUFBRnl2NzkrN1Z2M3o2all3QUFBQUFBOGlHejBRRUF3RjVyMTY3TjBsYTJiRm5WcWxWTGtwU2NuS3czMzN4VHdjSEJxbCsvL2kzblc3Smt5UjNKNWVUa3BGNjllbVZxQ3cwTnpkVWNnWUdCK3ZiYmIrOUlIZ0FBQUFDQWJSVENBRGlNTVdQR1pHbDc4TUVIcllXd21UTm42c1NKRXpweDRvVE5RbFNGQ2hXMFlzVUs2K3RKa3liZGtWeTJDbUdTdEhUcFVsV3NXUEdXMS8vMDAwLzY4TU1QNzBnV0FBQUFBRUQyS0lRQmNDaFBQZldVSG4vOGNWMjRjRUVQUC95d0tsU29JRW5hdG0yYjVzK2ZyMHFWS21uU3BFa3ltVXpXYXc0ZlBxd3hZOGFvYnQyNm1lYmF1M2R2anZmYXZIbXpYbnJwSlMxZnZ0eXVndGJOQmd3WUlDZW5XKzlBVDAxTmxiKy9mNjduQndBQUFBRGtEb1V3QUE3RmJEYkwxZFhWV3NScTA2YU4vdmpqRDQwZVBWcWhvYUg2NVpkZnRINzllZzBkT2xTU2RQTGtTWDM0NFljcVhicTBSbzRjZVUrenpwOC8zNjRDMnRhdFd6VjU4dVM3SHdnQUFBQUFDamtLWVFBYzB2YnQyMVdoUWdXVkwxOWVQWHYyVk5HaVJmWEJCeDlvMmJKbG1qNTl1cnk4dkZTOWVuVzkrdXFyTXBsTW1qVnJsbng4ZkxMTWs5TTVZWWNQSDVZa3JWbXpSbjUrZnRtT2UvVFJSMjIyOStqUncrN1BKekF3ME82eEtEaFdyMTZ0bWpWcktpZ295T2dvQUFBQVFLRkFJUXlBdzBsTlRkWFBQLytzN3QyN3k5blpXUjk5OUpGU1VsTGs3ZTJ0Z1FNSDZ0aXhZNW84ZWJKTUpwUEtseSt2YWRPbXFXelpzamJuc3VlY3NNOC8venpIZmx1RnNONjllMnZRb0VFNUZ0QXkvUG5ubjlxMGFkTXR4NkhnK2V5enozVHk1RWtGQlFXcGMrZk9hdEdpaGFwV3JacHBheThBQUFDQU80ZENHQUNIczMvL2ZsMjllbFZ0MnJTUkpPdjJ3N05uejJybHlwWGF1bldyekdhem5KeWNkT0xFQ2IzOTl0dHEzYnExR2pSb29LQ2dvQ3puZGozNzdMTWFNR0JBbHZ2YzZveXcrZlBuNitPUFA1WWtuVGh4UXQyNmRjdlV2M1RwMGx4OVh1SGg0WklrWDE5ZmJkeTRNVmZYd3JGRlIwZHJ4b3dabWpGamhzcVVLYVBPblR1clZhdFd1dSsrKyt3Nlp3NEFBQUNBZlNpRUFYQTQxNjlmbHlRZFAzNWNaY3FVMFRmZmZLTnQyN2Jwd0lFRE1wdk42dFNwazRZTUdTSjNkM2V0V0xGQ2E5YXNzYTc4OHZEdzBNQ0JBelZvMEtCTWM2YWxwZW1ISDM1UXUzYnQ1T0xpa3VXZTU4NmQwL1hyMTdNOTg2dHMyYkxhdkhuekhmbjhLSHdVYnFkUG45YWNPWE0wWjg0Y2xTaFJRdmZmZjcvQ3dzSlV1M1p0bzZNQkFBQUFEbzlDR0FDSDA2SkZDN1ZxMVVvelpzeFEyN1p0OWYzMzM4dmIyMXN2dmZTU09uWHFwR0xGaWlraUlrTGp4bzFUUkVTRWhnNGRxaE1uVG1qWHJsMDZjT0NBbWpScGttWE9mZnYyNlkwMzN0RHMyYk0xZXZSb05XellNRlAvUng5OXBBMGJOcWhidDI0YU1XS0VpaFVybHFuZnljbEozdDdla3FSang0N2w2bnl3RExkNmltVkIxNkJCQTVsTUpsa3NGdXZXUUpQSlpMUHQ1bDl2M0VxWVUvL05XdzZ6RzNQalBXOXN6eTVIVHZQYjZzK1k2OHlaTXptK0p4Y3VYTkRDaFF1MWNPRkMrZnI2NWpnV0FBQUF3SzFSQ0FQZ2tQcjM3NjhubjN4U3YvenlpK2JObTZkejU4NUprbUpqWXhVYkc2dUxGeTlLU245cVpNWUtzdERRVUlXR2h0cGMxZFdnUVFOOStlV1hHajkrdklZUEg2N2h3NGVyU3BVcTF2NkpFeWVxZXZYcSt1eXp6N1IrL1hxTkdUUG1saGwzN2RxVjZmVzZkZXMwZHV4WS9mVFRUM0oxZGJXMkh6dDJUTDE3OTg3MWUxQVFXU3dXNjY4Wkh5TmRXbHFhMFJFQUFBQUFoMGNoRElCRHFsdTNydHpkM2JWLy8zNzUrUGpZUE9OTGtwNTg4c2tzYmRtdHZLcFJvNFlXTEZpZ1R6LzlWRzNidHRXSkV5ZXNmUzR1TGhvd1lJRGF0Mit2Zi8vNzN5cFRwb3pPbmoyYlk4YTJiZHRtZXAyU2tpSko2dFNwVTZaMkNoenA5dXpaWTdQOXhxTFlqY1d4bTlzeXh0MWNRTHQ1WE1iN2JXdWNyVUpjeGlvd2U5cHM1YlNWTGVQWFljT0c1Zmo3cUZpeFltclVxSkVhTjI2c0RoMDZxR1hMbHRtT0JRQUFBSEJyRk1JQU9DUm5aMmVWS2xWSzU4K2ZWMGhJaUY1KytXVTVPVGxabitCNDQ5YklnSUNBVzg2WGtKQ2dxS2dvMWE1ZFd5KysrS0lrWlNxRW5UdDNUdjcrL2dvTUROU3NXYk1rcFcrbnpNbVBQLzZZNmZYYXRXczFac3dZclZ1M0xzdUtzTHhzcFN3c2J0NzZXSkNZelZuL0dpNVJvb1NhTm0ycWpoMDdxbUhEaG5KMmRqWWdHUUFBQUZBd1VRZ0Q0SkJTVTFNVkV4TWpWMWRYcGFhbUtqdzhQTnRWWWZaWXVIQ2haczZjcWE1ZHUycmt5SkhXODc0eTdqVjgrSEJKMHNpUkk5VzZkV3U3TTk0b1l4VlFhbXBxcHI2Yng2SHdLVk9takpvM2I2Nk9IVHVxYnQyNkJiYndCd0FBQUJpTlFoZ0FoM0xnd0FHTkd6ZE9wMDZkMHVYTGw5VzhlWE1kT0hCQVY2OWVWZE9tVGZNODc2QkJnK1R1N3E1cDA2WnB4NDRkbWpoeG9yWFAyZGxaa3lkUDFqdnZ2S01YWDN4UnpaczMxNmhSbzI0NVo2TkdqV3kydDJqUklzODVVYkIwNzk1ZGpSbzFVbzBhTll5T0FnQUFBQlFLRk1JQU9KVHk1Y3RyKy9idEtsS2tpRjU1NVJXRmhZVXBJaUpDa3RTM2I5OHM0N3QwNlpLbGJmbnk1VmtPekRlWlRPcmJ0NjhhTjI2c3Q5NTZTejQrUHJwNjlhcTF2M0xseXZyODg4KzFmUGx5aFllSEt6NCszbWErMU5SVWxTdFhMc3RCK1ZMMmgrWGZlSzBrdHNJVklrODg4WVRSRVFBQUFJQkNoVUlZQUlkU3RHaFJMVjI2TkZOYjY5YXR0WHo1OGt4dFc3WnMwU2VmZktMWnMyZkwzOTgvVTEvWnNtV3puYjl5NWNyNjhzc3ZKVW1uVHAzSzFHY3ltZFN6WjA4OS9QRERjblYxMWZidDJ6UDF4OGZIMjNXWSthMVdoR1YzbUQ4QUFBQUE0UFpRQ0FQZzhEdzlQZVhwNlptcExUSXlVcElVR0JobzEySDU5amgwNkpCaVltTGs3dTZ1dExRMGJkcTBTVVdLRkpIMHo1TUl0MjdkbXUzMUd6ZHUxUGp4NDdWeDQwYTV1TGhrT3k0K1BsNGVIaDUzSkRNQUFBQUE0QjhVd2dEQVR0dTNiOWVubjM2YXFhMS8vLzZTcEczYnRtbmt5SkYyemRPMmJkdGJqbUZWR0FBQUFBRGNlUlRDQURpTVJvMGFxWFRwMG5hTjlmZjNWMmhvcU0yenVHNDBaY29VVmFwVUtkdjdMVisrM0xxVnNtZlBubXJXckpsU1VsSmtzVmhVckZneGExL0xsaTBwWGdFQUFBQkFQa2NoRElERG1EbHpwdDFqR3pkdXJNYU5HOTl5WEZoWVdMWjlIaDRlbVE3VjkvYjJWclZxMWV6T0FBQUFBQURJWDV5TURnQUFBQUFBQUFEY0N4VENBQUFBQUFBQVVDaFFDQU1BQUFBQUFFQ2hRQ0VNQUFBQUFBQUFoUUtGTUFBQUFBQUFBQlFLRk1JQUIyUXltU1JKcWFtcEJpY0Jiay9HNytHTTM5TUFBQUFBY0RkUkNBTWNrTCsvdnlUcHdvVUxCaWNCYms5TVRJd2t5ZGZYMStBa0FBQUFBQW9EQ21HQUEycldySmtrYWQyNmRRWW5BVzdQOXUzYkpVa2hJU0VHSndFQUFQbkZySTJuNVROc3EvVy9ERGUyalY5NXpMaUFBQnlhMmVnQUFIS3ZYNzkrK3Y3NzcvWEpKNS9vd0lFRENnNE9scmUzdDlHeEFMdkZ4Y1VwT2pwYTY5YXRrOWxzMXVEQmc0Mk9CQUFBOG9sMk5ZdnBhbUxXSTBCdWJIdWt2dis5akFTZ0FLRVFCamlnNE9CZ1RaNDhXUk1tVE5ER2pSdTFjZU5Hb3lNQmVlTHI2NnRSbzBheElnd0FBRmhWQ1hCWFNLQ1hmanNaWjdPL2NrbDMxYTNBRDRFQjVBMkZNTUJCTlcvZVhLdFdyZEtXTFZzVUZSV2xoSVFFb3lNQmRuTnpjMU9sU3BVVUZoWW1kM2QzbytNQUFJQjhwbC9Ua2hxMXpIWWg3SUU2ckFZRGtIY1V3Z0FIVnFSSVNFbm9Gd0FBSUFCSlJFRlVFWFhvMEVFZE9uUXdPZ29BQUFCd3h6eFkxMStqbHYxcHM2OXZrNUwzT0EyQWdvVEQ4Z0VBQUFBQStVck5zcDZxV3NvalMzdDVmemMxcnV4alFDSUFCUVdGTUFBQUFBQkF2dE8vV1VDV3RpNjEvUXhJQXFBZ29SQUdBQUFBQU1oM0hxeVR0ZWpWcDBuVzRoZ0E1QWFGTUFBQUFBQkF2bE92Z3JjcStCZXh2aTd0NjZxV1Zka1dDZUQyVUFnREFBQUFBT1JML1p1VnNuN2NLY1JQSnBQSndEUUFDZ0lLWVFBQUFBQ0FmT25oZXY3V2ovczBaVnNrZ050bk5qb0FBQUFBQUFDMk5BenlVWEV2RjZXa1dkU3VSbEdqNHdBb0FDaUVBUUFBQUFEeUpaTkpHdEN5bE03RUpNckppVzJSQUc0ZmhUQUFBQUFBUUw3VnRWNXh4Y1NuR0IwRFFBRkJJUXdBQUFBQTdvS2twQ1NkT0hGQ0owNmMwQjkvL0tIVHAwOHJKaVpHU1VsSnNsZ3NSc2R6T0t1TUR1Q0FYRnhjNU83dXJwSWxTNnB5NWNxcVhMbXlBZ01ENWUvdmYrdUxnUUtLUWhnQUFBQUEzRUVuVHB6UXJsMjc5T09QUHlveE1kSG9PQ2pFa3BPVGxaeWNyQ3RYcnVqSWtTUFc5cXBWcTZwdDI3YXFWYXVXWEZ4Y0RFd0kzSHNVd2dBSGxaS1Nvb2lJQ0sxY3VWSlJVVkZLU0Vnd09oSmdOemMzTjFXcVZFbGR1M1pWMTY1ZCtRY1lBS0JBdUh6NXNyNzk5bHZ0MkxIamZ5MG1lUlFySlUrLzB2SXZmNSs4UzVSVEVVOWZ1WHI0eU1tWmI4VndkMWtzRnFVa3hpdnhXcXdTcmx6VXhlT1J1bnIrdU9MK1BxMm9xQ2hGUlVYSno4OVAvZnYzMTMzMzNTZVRpVFBZVURqd3B5L2dnRkpTVWpScTFDaHQyclRKNkNoQW5pUWtKQ2d5TWxLUmtaRmF2MzY5cGsyYlJqRU1BT0N3TEJhTHRtN2RxcSsrK2tvV2kwVm1WM2VWcUZSSFFZMjZ5S05vZ05IeFVFaVpUQ2E1dUhuS3hjMVRYdjVsVkR5b3RpUXBMU1ZaSi8rN1JhZCsvMG1YL2o2dHFWT25xbHExYWhvOGVMQjhmWDBOVGczY2ZSVENBQWNVRVJHaFRaczJLU2dvU0dQSGpsVndjTEM4dmIyTmpnWFlMUzR1VHRIUjBabzBhWkoyNzk2dEJRc1dhT0RBZ1ViSEFnQWcxK0xqNHpWLy9uenQyN2RQSmlkbmxhb2FxdXBoZldVdTRtNTBOTUFtSjdPTHl0ZHRwL0oxMituTUh6L3J5UFp2ZE9qUUlVMllNRUVqUm94UWNIQ3cwUkdCdThySjZBQUFjbS9seXBXU3BMRmp4NnBldlhvVXdlQnd2THk4RkJJU290ZGZmMTJTdEhidFdvTVRBUUNRZTFldlh0WGt5Wk8xYjk4K3VYcjZLclRIUzZyVmNUQkZNRGlNMHRXYnFObmpFMVV5dUw2dVhidW15Wk1uYSsvZXZVYkhBdTRxQ21HQUE0cUtpcElrZmxvRGh4Y1lHQ2hKK3V1dnZ3eE9BZ0JBN2x5NWNrV1RKMC9XcVZPbjVGdTZzcG85OXBhS2xxNXNkQ3dnMTV6TkxxcmRaWmlxdCtrcnlhVFpzMmRyNTg2ZFJzY0M3aG9LWVlBRHlqZ1luNVZnY0hTZW5wNlN4Qk8xQUFBT0pTa3BTZE9uVDlmWnMyZFZyRngxaGZaNFNXWlhONk5qQWJjbE1LUzFhdDQvU0NZbkozM3h4UmY2NDQ4L2pJNEUzQlVVd2dBQUFBREFUbWxwYVZxOGVMR09IVHNtbjRDS3F0LzFPVGs1T1JzZEM3Z2pTbFZycUJydEhwZkZZbEY0ZUxndVg3NXNkQ1RnanFNUUJnQUFBQUIyMnJGamg3WnQyeVpYRHgvVjYvcWNUQlRCVU1DVXFkRlU1ZXUxVjN4OHZHYk1tS0hVMUZTakl3RjNGSVV3QUFBQUFMQkRURXlNRmkxYUpKT1RzK284T0VJdWJwNUdSd0x1aWlvdGVzcTNkR1g5OWRkZmlvaUlNRG9PY0VkUkNBTUFBQUNBVzdCWUxGcXdZSUdTazVOVnZtNDcrWllLTWpvU2NOZVlUQ2JWN0RCQVRzNHVpb2lJMFBuejU0Mk9CTnd4Rk1JQUFBQUE0QllPSGp5bzMzNzdUUjVGU3lxNCtTTkd4d0h1dW96ZjZ4bm40Z0VGQllVd0FBQUFBTWhCV2xxYVZxeFlJU2w5eTVqSnhMZFJLQnpLMVE2VG0xY3gvZjc3NzRxS2lqSTZEbkJIOENjNEFOamgrdlhydHh4ejhPQkJUWjQ4V2ZIeDhmY2dFUUFBdUZjT0hEaWdFeWRPeUNlZ29rcFVxbU4wSE9DZU1UazVxL0wvVmtCKzk5MTNCcWNCN2d5ejBRRUE0Rzc0K3V1djgzUmRjSEN3NnRhdG02bnR6VGZmVkhSMHRPYk1tU096T2ZzL05xT2pvN1ZvMFNJTkhEaFFIaDRlZWJvL0FBRElmOWF0V3lkSnF0VG9RWU9UQVBkZXFhcU5kSFRIdHpwOCtMQk9uanlwd01CQW95TUJ0NFZDR0lBQzZkMTMzODNUZGIxNzk4NVNDS3RUcDQ1V3JWcWxhZE9tNllVWFhsQmNYSnkyYmR1VzVkcmZmdnROa3JSNTgyWjVlWGxsNlcvU3BJbDhmWDN6bEFzQUFCamoyTEZqT25Ma2lEeUtCcWg0VUlqUmNZQjd6bVF5cVdKb1IvMng2U3V0WGJ0V2d3Y1BOam9TY0Zzb2hBRW9zTHAzNzY0WFhuakI3dkV0VzdhMDJmN0lJNDlvMDZaTldyaHdvWm8zYnk1L2YzK05HVE1tMjNuZWVlY2RtKzF6NTg1VlNBai9nQVlBd0pIODlOTlBrcVN5dFd6L093RW9ERXBWYmFTb0xVdTFiOTgrUGZiWVkzSjFkVFU2RXBCbkZNSUFGRmhtczFrZUhoN2F0MitmL1B6OFZMRml4VXo5Rnk5ZTFNaVJJL1hTU3krcFhyMTZPYzQxZHV4WTllelpVNTkvL3JsbXo1NnR2WHYzWmhrVEVSR2hjZVBHNlljZmZwQy92LytkL0ZRQUFJQUJVbEpTdEhQblRwbWNuRlcyVml1ajR3Q0dNUmR4VitucVRYVHE5NS8wODg4L3ExVXJ2aDdndUNpRUFTalFFaElTOU5wcnI2bFlzV0thUDMrK2loUXBZdTJiT1hPbWpoNDlxbEtsU3QxeW5vQ0FBSDMwMFVlNjc3NzdKRW5KeWNtNmN1VktwakZ4Y1hHU3BNdVhMMmU1bnNJWWJGbTllclZxMXF5cG9LQWdvNk1BQUd3NGVQQ2drcEtTNUYrK3BzeXVSVzU5QVZDQWxReXVyMU8vLzZTOWUvZFNDSU5Eb3hBR29FQnpjM1BUK1BIak5YTGtTRTJhTkVuanhvMlRKQjArZkZqZmZmZWQrdlhycDlLbFM5czFWNE1HRGF3Zjc5dTNUeU5HakxBNTd0RkhIODNTWm1zRkdmRFpaNS9wNU1tVENnb0tVdWZPbmRXaVJRdFZyVnBWSnBQSjZHZ0FBUDN6OTNkQTFWQ0Rrd0RHSzFhdXVwek5yanAwNkpBU0V4TXovWUFaY0NRVXdnQVVlQzFhdEZDL2Z2MjBZTUVDTld6WVVCMDdkdFM3Nzc0cmIyOXZEUm8wS01kclY2MWFwWmlZR092cnh4NTdMRlAvVjE5OXBUSmx5a2hLZjZMVTIyKy9yUlVyVnNqUHowOVMrbU9tUC96d3d6djhHYUdnaVk2TzFvd1pNelJqeGd5VktWTkduVHQzVnF0V3JYVGZmZmZKeWNuSjZIZ0FVQ2haTEJZZE9IQkFra2tsSzljM09nNWdPQ2NuWjVXb1hGZG5EKzNTcjcvK3FrYU5HaGtkQ2NnVENtRUFDcXdiVjlVODg4d3oyck5uajk1KysyMzkrZWVmK3ZYWFh6VnUzRGo1K1Bqa09NZjgrZk4xOU9oUjYrdWJDMkVlSGg3eTl2YVdsTDc2VEpLOHZMeXNiZnlrRExsMSt2UnB6Wmt6UjNQbXpGR0pFaVYwLy8zM0t5d3NUTFZyMXpZNkdnQVVLaWRPbk5DMWE5ZmtYYUtjekVYY2pZNEQ1QXYrNVd2cTdLRmQrdjMzM3ltRXdXRlJDQU5RNEtTa3BFaFNwcFUwTGk0dWV1ZWRkOVN2WHovTm1UTkh0V3ZYVnRldVhXODUxOUtsU3lWSjRlSGhtajE3ZHBiK1U2ZE9LVFUxVlZMNjRmdFMraitjcjE2OUtrbTZkT25TN1gweWhVaURCZzFrTXBsa3NWaXNSVXlUeVdTejdlWmZieXg2NXRSLzg1YkQ3TWJjZU04YjI3UExrZFA4dHZvejVqcHo1a3lPNzhtRkN4ZTBjT0ZDTFZ5NFVMNit2am1PQlFEY1dVZU9ISkVrRlMwVGJIQVNJUC9JK0hySStQb0FIQkdGTUFBRlRrWWh6TVhGSlZONytmTGxWYTFhTmUzZnYxODFhdFM0SStjd1BmMzAwMW5hQmc4ZWZOdnpGbFlXaThYNmE4YkhTSmVXbG1aMEJBQW9WREpXaEJjdFc5WGdKRUQrNGU1YlhDN3UzcnA0OGFMaTQrUGw0ZUZoZENRZzF5aUVBU2h3NHVQakpVbnU3cG0zTVN4ZXZGajc5KzlYeVpJbHRYVHBVclZwMDBZTkd6Yk0wejBxVmFxa2NlUEdxVU9IRHZMMDlOVHk1Y3YxM252dktTMHRUV1BIamxYVHBrMVZ1blJwSFR0MlRQdjM3Ny90ejZrdzJMTm5qODMyRzR0aU54YkhibTdMR0hkekFlM21jUmtGSlZ2amJCWGlNbGFCMmRObUs2ZXRiQm0vRGhzMlRHZlBuczMyUFNsV3JKZ2FOV3FreG8wYnEwT0hEbXJac21XMll3RUFkOWFmZi80cFNmSXR4Wk45Z1J2NWxnclN4ZWdET25yMHFFSkNRb3lPQStRYWhUQUFCVTdHZHNTTWM3cWs5S2RFVHAwNlZhR2hvWHJ2dmZmMHIzLzlTK1BIajlmaXhZdHZlVTZZTFNWS2xGQzNidDJVa3BLaWp6NzZTS3RXcmRMamp6K3V1WFBuYXVyVXFmcmdndy9VdDI5ZkRSbzBTTjI2ZGJ0am4xdGhkUFBXeDRMRWJNNzYxM0NKRWlYVXRHbFRkZXpZVVEwYk5wU3pzN01CeVFDZ2NMdHk1WW91WGJva1Z3OXZ1WGtWTXpvT2tLLzRscTZraTlFSGRQandZUXBoY0VnOGlncEFnWFA2OUdsSjZRVUZTYnAyN1pwR2pSb2xOemMzVFp3NFVYNStmbnJqalRkMDd0dzV2ZjMyMjlicnpHYXprcE9USlVuejVzM1R3WU1IYzd4UFZGU1VCZzBhcE8rLy8xNnpaczFTNWNxVkpVbHo1ODVWang0OU5ILytmSFhyMWszZmZQTU4yOXFRb3pKbHlxaFhyMTc2L1BQUHRXYk5HbzBmUDE1Tm1qU2hDQVlBQnJsdzRZSWt5YU5vZ01GSmdQekhzMWdwU2Y5OG5RQ09oa0lZZ0FJbk1qSlNrbFN1WERuclZzWGp4NDlyd29RSkNnaEkvd2R0aXhZdDFLMWJONjFmdjE2clY2K1dsUDRFeUxpNE9FbnBoK1F2VzdiTTV2d1hMMTdVKysrL3IvNzkreXNsSlVWejU4NVYxYXIvbkIvaTdlMnRsMTkrV1Y5OTlaVktseTZ0aVJNbjZva25uckFXMllBTTNidDMxNElGQzdScTFTcU5HalZLOWVyVks3Q3Izd0RBa1dROEFNZk54OS9nSkVEKzQrNmQvbldSOFhVQ09Cb0tZUUFLbkMxYnRzalQwMU5WcWxUUmpCa3p0SFhyVmcwYk5reXRXclhLTk83RkYxOVVxVktsTkduU0pGMjhlRkYrZm40NmYvNjhwUFR0bGFWS3BmKzBLeTB0VFljT0haSWtKU1ltYXZYcTFmcjY2Ni9WcTFjdnpaMDdWNlZMbDdhWkl6ZzRXSFBuenRVTEw3eWdKazJhWkRtOEgzamlpU2RVbzBZTm8yTUFBRzVpWFJIbVc4TGdKUGZHcGZPbmJMWW5KVjVYVXVKMXUrZFpOWGV5NG1MVGo2aTRkdVZ5bG42THhhTHJjVmV5dFAreUpVTG5UaHkxK3o2MzYrY2Z2bGJpOVd2WjlsKy9kbFhiMWl6TzBuNXc3MVlsSnlWS2tpNWZPS045Vy81ejF6TG1aeGtGWWdwaGNGUVV3Z0FVS0wvLy9yc09IVHFrVnExYXljbkpTYzdPem1yWHJwMkdEQm1TWmF5bnA2Y21USmlnbDE1NlNjV0xGMWZGaWhWMStQQmhuVDU5V29tSmlTcGJ0cXhTVTFNMVpzd1liZG15Ulc1dWJobzNicHdlZmZSUkxWNjhXSys4OG9wY1hWMXp6T1BrNUtUKy9mdmJmTG9rQUFESW56Syt3WGYzS2ZpRnNEUEhvdlJLajdyNjhkc3ZNN1dmUG5aSVkvczIxUmZ2UEdmM1hQTW52NkxZUytjVisvYzVQZE94a3I1OC93VWxKeVpZKzNkdFdLbVJEMVhYN2czZldOdVNFcTlyNnFqK09uZnl6MXZPdjNYMXdqd1huM2F1WDZGVmM2ZElrajU4c1pjdVh6aVQ3ZGhMNTAvcGsxZjZaR283ZnlwYTQ1OW9wZlAveTdsMTlRSXRtLzVtbnJJNE9oYzNUem1iWFJVZkg4K09CemdrRHNzSFVLRE1uRGxUa3RTclZ5OUowbE5QUFdWOXdwOHREUm8wVUlNR0RTUkpiZHUyMWViTm0vWG9vNDlLa21yVnFxWFJvMGRydzRZTmV2bmxsMVc2ZEdtOSt1cXI2dG16cHpwMTZxU2dvQ0I1ZTN2TDJkbFpKcE5KdnI2K21qcDFxZzRlUEtpMHREU2xwYVVwTlRWVnljbkpTa2xKVWUzYXRWVytmUGw3OEM0QUFJRGJjZVZLK3FvbFZ3L3ZXNHgwZktVclZ0V1lXV3YwZjI4L28wYnRIcEc3bDQ4U0UrTDE5cE1kMWJ4TEgvVWE4V2F1NS9UMUQ5Q2JjemZydzVkNjY5RCs3WnE0WUp1Y25jMXEzTDY3a2hLdWE5cm94L1RDNUNXcTE2cUxmbGc4VTlmanJ1ajlweCtTeFdKUlNuS1NYRnlMU0pKU1VwTFZyR052UGYvQklrbVNsMDh4elJvL1JPMTZEbFdIM3NNMXJFMFpPVG45YzU2bVJSWlowdEl5dFVuU1oxdk9hZnVheFNwZkpVU3BxU21TcExTMFZPdkh6czVtbmYzcmlKN3JVa1ZMLzV2NXljOFpkbS84VmhXcTFWSFpTdWtydVhlc1hhWm1uUi9OVk9pN2tiT0xTNVljQlltcnA0K3V4MTVVYkd5c2loY3ZiblFjSUZjb2hBRW9VSm8xYXlZWEZ4ZlZxVlBIMm1idm1VdGR1blRSM3IxN3RYYnRXdlh0MjFjVktsU1FpNHVMK3ZYcnB6NTkwbjhxK01VWFgyak9uRGxhdW5TcDR1UGpjNVh0bTIrK3VmVWdBQUJndU5qWVdFbVNxMGZ1bnl6dEtQNVZPK3UzZ2dPYitTa3RMZFZhd1BudS96N1FkLy8zZ2JYL3ZvYXQ5Y2FjRFhiTlg2RmFIYjI3ZUplT0h6b2daK2QvN3RYeXdYNjZyMEVyK1pjcXA3Ti9IZEhTNmVQMTRrZkwxS2pkSS9wdHgzb3RtemxCYjgzYnFwVGtKRDNiT1ZoMW1uZTBYbHV2VlJkTit2b1hyZi82TXlVbHBQODdiUEdCRkd2L2h5LzJVb2t5RmZUWXk1TXpaYmw2K2FMMmJsNnRIV3VYYWNtbmIwaVNSajVZM2RyL3hZNnMyemh2dHVXN2VXcnp5RUJKMHZGRHYrcm9mM2ZyNkg5M2EvN2tWMnlPN3p2eVhYVWJNdXFXOHpvcVY0LzBRdGlWSzFjb2hNSGhVQWdEVUtEMDdkdFhYYnQyemRPMUpwTkpiN3p4aHQ1NDR3MXIyd3N2dkNBL1B6L3I2NW8xYStyRER6K1V4V0pSWEZ5Y2twS1NyQ3UrVWxOVFpiRllsSmFXSm92RmttbGVaMmRubFN0WEx1K2ZHQUFBdUdmK1dSRldjQXRoTnhhUWJ0Uzdsa2xUdnYydnlnWlZ0OW1mTVNZN0x6eGsrK3hMRHk5ZnpmMDVKdjJGeWFSL0Q3MWZkVnQwVXFOMmo2aFJ1MGVVbXBxaXI4TW42c1RoLytyY3lUK1ZjTzJxU3BTcG9KWVA5WmNrWFkrN29wM3JWeWlzMndEMUdQYTZZaTZldGM3ZHI3NmJKQ2s1S1ZGbUYxZDkvOVduMXI3NWU2NXAxWmRUVkxOeEc0MmU4UjlyL3FrUmgxV3FmTEIxM05YTDJaOTNGWDN3RjBVZi9NVzZNdTJiejk5VDUzN1BhZURvVDJ6T1ZSaTR1cWV2bHJ4NjlhckJTWURjb3hBR29NRHg5UFM4WTNObDl4TXVrOGtrYisrQ3YxMENBSURDS0NYbGYxdm16QVgzUVRkWFkvN1cwRllCTnZ0ZTZsckxabnRHOFd6TzFndFordjQ5cktPaUkvZkp1NmkvM2wyeVcrNDNiU3MxT2FVZlQvMzc3czM2K09WL0thaEdQWVYxR3lBdlh6L0ZYRHlybWVNR0tmNUtqSjU0N1NOTkdOaEd6MC82U20vTjIycTkvdlN4US9wODRnaGR2bkJHand3ZG5XbnU1S1JFemR0MVZXNGVYdGEyaFBnNFBkN0lXeGFMUlNHTjI2bkZBMzJ0V3lHbHpGc2piK1c3TDlKWHhUazVPZXQ0MUFIdFhMOUNuL3dueXE1ckN5cW4vMzF0SkNVbEdad0V5RDBLWVFBQUFBQndnNHdEd0UzT0JmZmJKZStpL2paWGhkbXpJc3k3V09ZZkZHNWR2VkNseWdVck9uS2ZhalpxbysrLytsU1B2eklsMDVpMHRGUXRtVFpPMzN6K25yb1BHNnVldzkvUXdYMWJ0UzFpc2JaOE4wOTFXM1RTK0M4MnljdlhUeTZ1UmZUTzhNNnEyYWlOd3JvTlVQMVdENmh5cllaNlplcEt2Zi9NdzNJdDRxYm1YVElmWnArVGlVTTdaR203Y1d1a0pMM3l5VXFiMTU0K2RrZzd2bDlxZmYzWmhPRnEyMzJ3U3BTcFlHMUxTVTdLZkZhWXlXUTk1NnlnY25KT0w0UnhXRDRjVWNIOWt4MEFBQUFBOGlEam0zdW5BbG9JMjdQcE8wMSt2bnUyL2RtdENKT3licW1NdlhSZUN6NThWYS9QL2tFNzFpNVYxMEd2YXZMSUhtcllwcXRxTkdobEhXZVNTYWVQSGRMTFUxZXFkcFAyU2tsTzByNGYvNlBZdjg5cDFJelZxbHFucVNRcE9URkJqZG85b3VDUVJsbzFkNHJXTEppcUJtMGVsaVRWYWQ1Uno3dzdUeTR1UlRLZFpTWkp3OXNHWnB2NTVnUHdiVzFuUFB2WEVadlhmdm4rQzJyY29idDJyRjBtU1dyenlFQTFiTmN0MDVnWHU5Yk05TnF2WkZuTjJuZ3kyendGUWNiWFJzYnFTY0NSRk13LzJRRUFBQUFnajV5Y25OTFAvRXhMazhuWnllZzRkMXlETmc5bmUwYllrbW5qMUxyckUzYWRlV1d4V1BUcDZNZlZ1SDEzbFF0T0x3YTVlWHByME9pcCt2aVZmK21kUlR2bFh5cjlqRlNUazVOZW1KSytzdXJtTThaMmJiQzlHc3ZXMlZ2MVduYVJ1NmUzVGg4N3BDTHVIdGIyV1J0UDJ0d2FlVHRTa3BNVWZ6Vld6N3c3MzFvSWE5ZHpxRjA1Q3pwTFdwb2t5ZG01NEQ0WkV3VVhoVEFBQUFBQXVJR3JxNnNTRWhLVWxwcFNZRmVGMlpLY2xLaVZuNzJydGoyRzJEVit3WlJYMDFkNWZidzhVM3ZEZHQzMDYvWWY5TzhuTzJyOC8yMVUwZUtsc2x4N1kvSG8ydFVZYmY1bXJoNTRiS1MxUDdzRCtWL3NXbE5qWmtib1NzeEYrUlFyWVcwZjNLSzQ5WE93dFMzeDV2bWU2MUxGK3JHdE04OGt5ZXppcWplLy9ESFRVeStSTGkwMWZkV2syY3g3QThmRDcxb0FBQUFBdUlHTGk4di9DbUhKa3R5TWpuUEgvWDN1cEo1cWwvM1RySisrdjZMTjlvQnlsVFZ0VGZvV3dtOCtmMDlyRjAzWGhIbGJWTVE5NjRPS0JvNytSTzgrOVlERzlXK3VWei85enJwaXpKWkxaMDlxd1pSWE14WENiRGwzOGs5ZHZYeFJwU3RXVmVUeUxRb29WMW1TOU1ucVEzSXlteFVRV0VtOWE1azA1NmVMK20zSGV0VnUxaUZURVd2MjVqTXFXcnhVcHEyUk9UMEJVNUpkUmJBYmkyb1o1bXk5a09Vc3RZSWs3WDhQR25CeEtiZ1BsRURCUlNFTWNFQW1rMGtXaTBXcHFha3NSNFpEUzAxTmxaVCtleG9BZ1B6QzNkMWRWNjllVlVwaXZGemRDOTVUb3YwREFyT2NtNVdjbEtnM0htdWhFbVVyNnNodnUvVFd2SzBxWHJwOGxtc3RGb3NXVEhsVnErZDlxQmNtTDFIbG1nMXMzc1BaN0tKWHBxN1VwR2U3YXZTakRkVm41RHZxMVBjWm00V2xzMzhka1g5QTltZDhaZmhqMzA4S0Rta2tzNHVyL3J0em80SkRHa21TRms5N1hXYVhJbnIydmZtU3BOU1VaQzJkOGFhTy9IZVgranovemkzbmxkS0xmQXYzWHJkcjdNMCsvUFozQlFSV3l0VG1VcVRnRlZCdmxKSVlMeW45YXdWd05BVnZ3enRRQ1BqNyswdVNMbHl3dll3YmNCUXhNVEdTSkY5Zlg0T1RBQUR3ajR5L2x4S3ZYVEU0eWIxeDRmUnh2VE9zazl3OHZQVDhCNHYwMElDWE5hWlBZMjFkdmNCNkZsU0dRNzlzVThTQ1QvVGMrd3ZWNVA2ZU9jNWJ4TjFUWTJhdFVhdUhIOU1QaTJmb2VsejYrM2xmZzlaeWRVc3ZvRnkvZGxYZnpaMnNDMmVPNjgwQllkcXcvSFBGeDhWbUdwUGh0eDNyVlNPMHBhNWN2cUI5Vy82ajBMQ0g5UHV1VFRxd1k3MGVlL2tENnpobnM0dGVtTEpFYXhaTzAzOTNiclNaTFNVNVNiRi9uNU9VdmdYU1pETGx1WGhsZG5HVlN4RzNUUDhWZElueDZmOHYrVGNjSEJHRk1NQUJOV3ZXVEpLMGJ0MDZnNU1BdDJmNzl1MlNwSkNRRUlPVEFBRHdEeDhmSDBsUzB2V3JCaWU1ZTJJdm5kZk85U3MwOWJWK0d2bGdOWlVvVzFHalp2NUh6czVtZGU3M3JKNTdmNkZXZnZhdW5tcGZYblArL2JTMnJKcXZxRjkzcUZyZFpwcTg4b0NhZC82WFhmZHhOcnZveWZIaGVtL3BYbm41K2ttU1h2djBPNTA1ZmxoZmZUeGF6ejlRVlphME5IMzYvWjlxK1ZCL2JmajZNdzF0WFVwK0FXVjE1dmhoV1N6L3JGejdiZWNHVmEvZlFncy9IS1VLVldzcnFFWTl6WGg5b0o1OFk1YThmUDBVYy9Hc1RDYVR6QzZ1S2xPeG1oNTlkcUsrZlA4Rm03a2lGbnlpSjhOS3EzNnJCK1R1NWFQVTFCUWRQckJUSjQ5R2F0ZjZGWEwzOHJuOU43a0FTNHBQLzlySStGb0JIQWxiSXdFSDFLOWZQMzMvL2ZmNjVKTlBkT0RBQVFVSEI4dmJ1K0F0MjBmQkZSY1hwK2pvYUsxYnQwNW1zMW1EQnc4Mk9oSUFBRlpGaXhhVkpDWEdYVFk0eWQxeCt0Z2h2ZnhJYlhuNkZGT0RzSWYwNzRVN0ZGU2pYcVl4dFJxMzFaU1Z2Mm4vdHJYYS92MFNMZnA0aklKck45WkxIMzJ0c2tIVmMzMVBkMDl2TGZuMERhMWZObHV4ZjUrVFQ3RVNxdFc0cllhK01Vc053aDZTeWNsSjdYb01VYnNlUTNUODBLOWF1M2lHM252cUFYWHM4N1Q2dnpSSjErT3VLTEJTRFFXSE5GTEV3cWthL1BwMG1WMWM5ZExIeTFVdXVKWUd0eXdoV1N6cTBIdTR6QzZ1a3FRdS9aNVRrdzQ5SkVuUGY3QkludDVGclhrZUh2aUtocjR4eTNvOGc3T3pXZThNNzZ4clZ5N0x0WWk3ZWozOVpxYjhMcTVGWkhMS3VvNGt1L2FDTEMwMVJjblhyOHJaMlZsZVhsNjN2Z0RJWjB5V0cwdnNzTXV3WWNNa1NlSGg0UVluUVdHMmJkczJUWmd3UVgvLy9iZlJVWUE4OC9YMTFhaFJvM1QvL2ZjYkhjVWhoSWFHU3BMMjd0MXJjSkxDaWZjZktEeCsvUEZIZmZYVlZ3cXMzVnJWdy9vYUhlZXVpTDEwWHI1K0pYTjFqU1V0N2JhS1BuK2ZQYUdUUnlOVnRsSU5tK2VQM2V6YWxjdEtTMHVUZDFIL1BOOFRkMTU4ekhsdG56ZE9KVXVXMU1TSkU0Mk9Bd2MwYnR3NG5UOS9YbSs5OVpZQ0FnTHUrZjFaRVFZNHFPYk5tMnZWcWxYYXNtV0xvcUtpbEpDUVlIUWt3RzV1Ym02cVZLbVN3c0xDT0dRVkFKRHZaSnpIZXYxS3dmMkJZMjZMWUpKdWUrV1RmNmx5OGkrVi9kTXFiK2JwVSt5MjdvZTdJK0hxSlVsUzhlSUY5Nm1ZS05nb2hBRU9yRWlSSXVyUW9ZTTZkT2hnZEJRQUFJQUNJK01iL0lRckZ3MU9BdVEvOGJIcEQreWlFQVpIVmJnMk13TUFBQURBTFFRRUJNaHNOdXZhNVhOS1MwMHhPZzZRcjF3OWYxeVNWTDc4cmJlM0F2a1JoVEFBQUFBQXVJSEpaRkpRVUpCa3Nlakt1ZU5HeHdIeWxkaXowWktreXBVckc1d0V5QnNLWVFBQUFBQndrNHh2OG1QT0hERTRDWkIvcENRbEt1N2lLYm01dWFsMDZkSkd4d0h5aEVJWUFBQUFBTnpFV2dnN2RkamdKRUQrRVh2MlQwa1dWYWhRUVNhVHllZzRRSjVRQ0FNQUFBQ0FtMVNwVWtXU0ZIUDZpQ3dXaThGcGdQemg4cWtvU1ZMMTZ0VU5UZ0xrSFlVd0FBQUFBTGlKdTd1N2dvT0RsWkowWFZmK2R5WVNVTmhkL1BOWFNWS2RPblVNVGdMa0hZVXdBQUFBQUxBaE5EUlVrblRtajU4TlRnSVk3OXJsczRyNys1U0tGeSt1c21YTEdoMEh5RE1LWVFBQUFBQmdROGFxbDR2SGZqTTRDV0M4aTlIcFh3ZTFhOWMyT0Fsd2V5aUVBUUFBQUlBTi92NytxbHk1c2hLdVh0TGxrMUZHeHdFTVk3RllkQ3B5bXlTcFJZc1dCcWNCYm8vWjZBQUE4aVlsSlVVUkVSRmF1WEtsb3FLaWxKQ1FZSFFrd0c1dWJtNnFWS21TdW5idHFxNWR1OHJGeGNYb1NBQUEyTlN5WlVzZFBYcFVmLzI2UWNVQ3F4b2RCekJFek9ramlyOTBSdVhLbFdOYkpCd2VoVERBQWFXa3BHalVxRkhhdEdtVDBWR0FQRWxJU0ZCa1pLUWlJeU8xZnYxNlRaczJqV0lZQUNCZmF0Q2dnWllzV2FLTDBiOHBNUzVHUmJ5S0doMEp1T2RPL0xwUmtoUVdGbVpzRU9BT29CQUdPS0NJaUFodDJyUkpRVUZCR2p0MnJJS0RnK1h0N1cxMExNQnVjWEZ4aW82TzFxUkprN1I3OTI0dFdMQkFBd2NPTkRvV0FBQlp1TGk0cUgzNzlscTFhcFdpZDBlb2VwdStSa2NDN3FtNFMyZDAvdWd2OHZIeFVkT21UWTJPQTl3MnpnZ0RITkRLbFNzbFNXUEhqbFc5ZXZVb2dzSGhlSGw1S1NRa1JLKy8vcm9rYWUzYXRRWW5BZ0FnZXkxYnRwVFpiTmJweU8xS3ZCWmpkQnpnbm9yZTlSL0pZbEhyMXEzbDdPeHNkQnpndGxFSUF4eFFWRlQ2WWEzQndjRUdKd0Z1VDJCZ29DVHByNy8rTWpnSkFBRFo4L1gxVmVmT25aV1dtcXdqMjc4eE9nNXd6MXc1ZjF6bm9uYXJhTkdpNnRpeG85RnhnRHVDUWhqZ2dESU94bWNsR0J5ZHA2ZW5KQ2t4TWRIZ0pBQUE1S3hkdTNieTlQVFVtVDkyNnRMSlEwYkhBZTQ2UzFxYUl0ZlBreVIxNmRLRjgxeFJZRkFJQXdBQUFJQmJjSGQzVjkrK2ZTVkxtZzV1bUtlMDFCU2pJd0YzMVYvNzF5dnU0a2tGQndlclZhdFdSc2NCN2hnS1lRQUFBQUJnaDlEUVVOV3ZYMS9YWXk5YVY4b0FCVkhNNlNNNnN2MGJ1Ymk0YU9EQWdUS1pURVpIQXU0WUNtRUFBQUFBWUFlVHlhUisvZnFWTFBsakFBQWdBRWxFUVZUSng4ZEhady90MVBHOVB4Z2RDYmpqRXVOaTlPdnFtYktrcGFwMzc5NHFYcnk0MFpHQU80cENHQUFBQUFEWXljdkxTODg4ODR5Y25aMTFaTWMzT25Ob3A5R1JnRHNtT1NGTys3NzlSTWtKY1dyV3JCbGJJbEVnVVFnREFBQUFnRnlvVUtHQ0JnMGFKRXRhcWlMWGZhblRCM2NZSFFtNGJVbnhWN1huNjhtNjl2ZHBWYTFhVmYzNjlUTTZFbkJYbUkwT0FBQUFBQUNPcGtHREJySllMSm96WjQ0aTEzK3B1QXNuVmFWbFQ4NVNna09LT1hOVXY2MlpyY1M0R0ZXdlhsMVBQLzIwekdiS0JTaVlXQkVHSU4vYnUzZXZmdjMxVjZXbHBWbmIxcTFicDlXclZ4dVlLdjhKRFEzVnRHblRqSTRCQUVDaDBiQmhRdzBmUGx4bVoyZjl0WCs5ZGk5OVQzRVhUeGtkQzdCYldrcXlqbXhmcWIzTHB5Z3hMa2IxNnRYVDAwOC9MVmRYVjZPakFYY05KVjRBK2Q1SEgzMmtVNmRPYWQyNmRYSnljcExGWXRHVUtWTlVzbVJKUGZqZ2c3bWFhKzNhdFhuSzBMRmp4enhkRnhvYW1xZnJNZ3dlUEZnalJveTRyVGtBQU1EZFU3ZHVYWTBiTjA3aDRlRTZmZnFZZGk1K1d3RlZHcWh5MDY1eTkvRTNPaDVnVTFwcWlrNUhibGYwN2dnbHhsMldrNU9UL3RXbmoxcTNiczJxUmhSNEZNSUEzQkd2di82NjFxeFpjMXR6N04yN04wdmIyYk5uZGZEZ1FUM3l5Q1BXNWRtLy9mYWJMbHk0b0NlZWVDTFg5eGd6Wmt5ZXN0bFRDTnU1YzZkR2pCaWhJVU9HNkttbm5ySzJOMnpZVU8zYnQ4OHkzbUt4S0MwdFRjN096amJuZS9mZGQvT1VGUUFBM0Z1bFNwWFNxRkdqdEhIalJxMWF0VXBuRCszVTJhamQ4aTBWcElDcURWVzhRaTE1RkMxaGRFd1VjaW5KaWJwODhwRE9IOTZyaThkK1UzTENOVWxTMWFwVjlhOS8vVXRseTVZMU9DRndiMUFJQTNCSE5HdldURVdMRnMyMmY5R2lSZkx4OGRFRER6eVFxM2wvK0NIOXNlUmR1blN4dHExWXNVSlNlaUVwSWlJaXgrdkxsaTJyT25YcVpHbWJOV3VXWGZjZlBueTRUcDJ5YjR2RDBxVkw1ZVRrcEI0OWVtUnFEdzRPVnMrZVBiT01uelp0bXViT25XdXpBQ2hsTG9TbHBxWnF6NTQ5dDh4dzVzd1o3ZHlaODlPckdqWnNLQ2NuZHNZREFIQW5GU2xTUkowN2QxYWpSbzIwWnMwYS9menp6NG85YzFTeFo0NHFTcEtyaDQvY3ZQMWtkbldYdVlpN1RFNjJmeEFHM0RrV3BTWW5LU1V4WHNuWDQzUXQ1cnhrK2Vlb2tZb1ZLNnBUcDA2cVc3Y3VxOEJRcUZBSUEzQkhkT25TSlZPeDZtYUxGaTFTc1dMRjlQTExMK2RxM20rKytVWVZLMVpVL2ZyMUpVbXhzYkhXN1kxVHBreTU1ZldkTzNmT1VnZ3ptODBxVTZhTVhmZTM5NURRYytmT2FjdVdMV3JkdXJWS2xpeHBjMHhjWEp4U1VsS3NyeE1TRWlSSk1URXhtY2JaS2lqR3g4ZmJ0VVZ5N2RxMXQ5eit1WFhyVm5sNGVOeHlMZ0FBa0h2Ky92N3EzNysvZXZUb29mMzc5K3UzMzM1VFZGU1VybDY5b3FUNEswYkhReUZtTnB0VnZueEYzWGZmZmFwZnZ6NHJ3RkJvVVFnRGtHL3QzYnRYeDQ4ZlYvLysvYTF0YytmT1ZYSnlzcFl1WGFyS2xTc3JORFJVQXdZTTBMUFBQbXRnVW1uNTh1VktTMHRUcjE2OXNoM3ozSFBQNmRkZmY4M1MzcTVkdTB5dmJhMFE4L1QwMU5LbFMzUE0wTHQzYjNYcjFrMTkrL2JOY1p5Ym0xdU8vYmgzbGl4Wm91Yk5teXN3TU5Eb0tBQ0FPOHpkM1YxTm16WlYwNlpOSlVsLy8vMjNMbDI2cEd2WHJpa2xKU1hUUTRDUXM4WXo0aVZKTzBmd2c3emNNcHZOS2xLa2lIeDlmUlVRRUNBWEZ4ZWpJd0dHb3hBR0lOLzY0b3N2SlAyekt1djgrZk5hc21TSjJyVnJwOHFWS3hzWkxaUGs1R1N0WExsU0ZTcFVVS05HamJJZE4zWHExRXdyd2o3NzdETXRYcnhZR3pac3VPVTluSnljN1BxY2l4WXRtcS9lRytSczBxUkprcVJxMWFxcGMrZk9hdEdpaFlLQ2dneE9CUUM0Ry96OS9lWHZ6K0g1ZVRKanN5VGwrTzhzQUxBWGhUQUErZEx2di8rdUhUdDJaR3A3Ly8zM2xaeWNyQ2VmZk5LZ1ZMWnQyTEJCbHk1ZDBzQ0JBM004WDhITHl5dlQ2NHlWV1RtZHJZYkM0ZENoUXpwMDZKQSsvdmhqQlFVRnFVdVhMbXJac3FXcVZLbGlkRFFBQUFDZ1FLRVFCaUJmbWpadG1seGRYWldVbENSSmlvcUswdWJObTlXblQ1OHNLNTZPSGoxcTg5QjhEdzhQaFlXRjJady9ZOTQ3WWRteVpYSnpjOU5ERHoxa3M5OWtNdW45OTkvUGRtdGphR2hvbGpaYjJ5TXRGb3ZOclpVM09uZnVuUGJ2MzU5dGY5MjZkWE84SHNhTGpvN1c5T25UTlgzNmRBVUdCcXBMbHk1cTFhcVZxbGV2Ym5RMEFBQUF3T0ZSQ0FPUTcvend3dy9hdlh1M1Jvd1lvUmt6WmtoS2Y2enpPKys4b3hZdFdtUVp2M1hyVm0zZHVqVkxlMkJnb00xQzJQSGp4NjNuZGR5dUkwZU9hUC8rL2VyV3JadTh2YjB6OVZrc0ZrbnAyeHFIRGgycVJ4OTk5TGJ1bFp5Y3JNR0RCK2M0WnMyYU5WcXpaazIyL2J0MjdaS3pjLzU4U2xXREJnMnNINXRNcGt5cjYyNThmZlBIOW83SnJzOWtNc2xpc2VScTNweXVzVGU3UFU2ZVBLblpzMmRyOXV6WkNnZ0lzUHM2QUFBQUFMWlJDQU9RNzJ6WXNFRTFhdFRRRTA4OFlTMkVTVkxIamgxdGpzL3RZZmwrZm40YU1tU0lYV00vLy94elhicDBLZHYrakZWZXRnN0p6emdFMTluWldYNStmdkx6ODdNN295MHVMaTZhTzNkdWx2YlkyRmlOR2pWSzE2OWZseVE5OE1BRDJSN2FuMStMWURleldDd2NJbnlUNU9Sa295TUFBQUFBRG85Q0dJQjhaOUNnUWZMMDlMUWVrbituZVh0NzI3MDZhOG1TSmRrV3dxNWR1NlkxYTlhb1ZxMWFOcmV0SlNZbVNwSmNYVjJ0YmJhMlFkN28yV2VmMVlBQkEyejJtVXdtaFlTRVpHcExUazdXTTg4OG82cFZxK3JYWDM5VlNFaUlmdmpoQjNYcTFFbk5talhMOFY3NXpaNDllN0swWmF5cXMxZ3Mxdi9zN2J1NS8rWnJjaHAzNCt1TTFWKzJ4dDdjbjl2NzllelpNOGYzcEdUSmttcldySmthTkdpZ1RwMDZaVm8xQndBQUFDRDNLSVFCeUhlcVZhdG1kQVM3ckY2OVd2SHg4ZG11dmtwSVNKQ1VmbGJaamZyMDZaT2xBSkthbXFyZXZYdm42djRwS1NrYU0yYU1qaHc1b2dVTEZ1akJCeDlVYUdpb21qVnJwbGRlZVVWVHBreFJreVpOY2pWbmZtTnJxMkpCVjZaTUdiVm8wVUtkT25WU25UcDFqSTREQUFBQUZDZ1V3Z0E0dkxsejU5cmNNaWhKRVJFUmQrMXNwV1hMbHNuWDExZjMzMysvemY3TGx5OUxrbng4ZkRLMUZ5MWFWQlVyVnN6VWxwcWFtcXQ3eDhmSDY5VlhYOVcrZmZzMFk4WU1sUzVkMnRvM2RPaFFuVDU5V3M4Ly83eGVlKzAxZGUvZVBWZHo0OTZyVUtHQ1dyUm9vYzZkTzZ0R2pScEd4d0VBQUFBS0xBcGhBQnhleTVZdHN5MUcrZnI2M3BWNzd0bXpSOUhSMFhyODhjY3piWDI4MGFsVHB5VHBqaGZpamg0OXFsZGZmVlZuejU3VlJ4OTlsT1ZKa0NhVFNXKzg4WWJNWnJQZWZ2dHQ3ZG16UjZOR2pjcFNrSVB4Qmc0Y3FNNmRPMmQ1RWlvQUFBQ0F1NE5DR0FDSFY3bHlaWFhwMHVXZTNuUFpzbVZ5Y25MSzhZeW52WHYzU2twLzR1V05aczZjcVprelorYjZucW1wcVZxNGNLRm16cHdwSHg4ZnpaNDlXelZyMXJRNTFzbkpTYSsvL3JyS2x5K3ZhZE9tYWRldVhYcm1tV2YwOE1NUHk4bkpLZGYzeHQzeHpEUFBHQjBCQUFBQWVUUnMyREM3eG9XSGgrZUw2eXBXcktqUm8wZmJOVWRCUmlFTXdHMWJ1SENoWW1OamJ6a3VKaVltMDFNZ2JSa3hZc1NkaXBXdHExZXZhc21TSlhhUHZkbUZDeGUwYWRNbU5XM2FWR1hMbHJWNVhXcHFxdGF0VzZmZzRHRDUrL3RuNnJOMVJsaUdqQ2RMWmh5b25uRTIxdDY5ZS9YKysrL3I2TkdqYXR5NHNmNzk3My9iOVJUS3h4OS9YSFhyMXRYNDhlTTFjZUpFTFZ5NFVDKy8vTElhTjI1OHkyc0JBQUFBMkdadlVVcVNsdjJldDN2YzZldU9IVHVXdHdrTEdBcGhBRzdiMHFWTGRmTGt5VnVPaTQyTjFadzVjM0ljY3k4S1laY3VYZEtrU1pQeWZQMktGU3VVbXBxYTdTSDVVdnJaWk9mT25WT2ZQbjB5dGIvenpqdXFVcVZLbGpQQzB0TFNKTW02V212WHJsMlMvamxvMzhmSFIzRnhjUm8zYnB5NmRldVdxN3kxYTlmV2tpVkxORy9lUEgzOTlkY3FWYXBVcnE0SEFBQUFZRnY3NThKdlBlZ09YSE83MTYyZmFuL2hycUNqRUFiZ3RuMzc3YmRHUjhpVkNoVXFhTVdLRlhhTjdkNjl1NDRmUDI1OW5acWFxcFVyVjZwTW1USnEzcng1dHRldFdyVktSWXNXVlk4ZVBUSzFkK3pZMGViNEN4Y3U2SUVISHBDcnE2dWNuWjBWSHg4dnM5bXNGaTFhU0pLcVZLbWkxYXRYNTNsYm82dXJxNFlNR2FKQmd3YXhOUklBQUFCQW9VVWhERUMrOXVDREQrYjRGTDFiOWQ5czNMaHg4dkx5c252OGlCRWpGQmNYWjMxOThlSkZQZkxJSTZwVnExYU9CYVh4NDhmcmp6LytzSzdvdXBXQWdBQU5HREJBQ1FrSnNsZ3M4dkR3VUZoWVdLWkQxRzlWd0pveVpZcktseStmNHhpS1lBQUFBQUFLTXdwaEFQSzFDUk1tM0ZiL3pYSzdyYkI5Ky9hWlhnY0VCTmgxSGtEWnNtV3pQVDhzTzdkN2NIcFlXTmh0WFE4QUFBREFQdUhoNFhrK3d3dkdZbWtBQUFBQUFBQUFDZ1VLWVFBQUFBQUFBQ2dVS0lRQkFBQUFBQUNnVU9DTU1BQUFBQUFBZ0Z6SU9EZTQvWFBoQmlleFQvdm53dFdycHRFcDhnZFdoQUVBQUFBQUFLQlFvQkFHT0NDVHlTUkpTazFOTlRnSmNIc3lmZzluL0o0R0FBQUFnTHVKUWhqZ2dQejkvU1ZKRnk1Y01EZ0pjSHRpWW1Ja1NiNit2Z1luQVFBQUFGQVlVQWdESEZDelpzMGtTZXZXclRNNENYQjd0bS9mTGtrS0NRa3hPQWtBQUFCUWNLMmZPc3g2cmxsaHgySDVnQVBxMTYrZnZ2LytlMzN5eVNjNmNPQ0Fnb09ENWUzdGJYUXN3RzV4Y1hHS2pvN1d1blhyWkRhYk5YandZS01qQVFBQUFDZ0VLSVFCRGlnNE9GaVRKMC9XaEFrVHRISGpSbTNjdU5Ib1NFQ2UrUHI2YXRTb1Vhd0lBd0FBQUhCUFVBZ0RIRlR6NXMyMWF0VXFiZG15UlZGUlVVcElTREE2RW1BM056YzNWYXBVU1dGaFlYSjNkemM2RGdBQUFJQkNna0lZNE1DS0ZDbWlEaDA2cUVPSERrWkhBUUFBQUFBZzMrT3dmQUFBQUFBQUFCUUtyQWdEQUFBQUFBREloZkR3Y0MzNzNlZ1V5QXRXaEFFQUFBQUFBS0JRb0JBR0FBQUFBQUNBUW9GQ0dBQUFBQUFBQUFvRnpnZ0RBQUFBQUFESWhXSERoa21TMmo4WGJuQVMrN1IvTGx5OWFocWRJbjlnUlJnQUFBQUFBQUFLQlFwaEFBQUFBQUFBS0JRb2hBRUFBQUFBQUtCUTRJd3d3RUdscEtRb0lpSkNLMWV1VkZSVWxCSVNFb3lPQk5qTnpjMU5sU3BWVXRldVhkVzFhMWU1dUxnWUhRa0FBQUFvc05aUEhhYjFrc0xESGVOTXM3dUpRaGpnZ0ZKU1VqUnExQ2h0MnJUSjZDaEFuaVFrSkNneU1sS1JrWkZhdjM2OXBrMmJSakVNQUFBQXdGMUhJUXh3UUJFUkVkcTBhWk9DZ29JMGR1eFlCUWNIeTl2YjIraFlnTjNpNHVJVUhSMnRTWk1tYWZmdTNWcXdZSUVHRGh4b2RDd0FBQUFBQlJ4bmhBRU9hT1hLbFpLa3NXUEhxbDY5ZWhUQjRIQzh2THdVRWhLaTExOS9YWkswZHUxYWd4TUJBQUFBS0F3b2hBRU9LQ29xU3BJVUhCeHNjQkxnOWdRR0JrcVMvdnJyTDRPVEFBQUFBQ2dNS0lRQkRpampZSHhXZ3NIUmVYcDZTcElTRXhNTlRnSUFBQUNnTU9DTU1BQUFBQUFBZ0Z3SUR3L1hzdCtOVG9HOFlFVVlBQUFBQUFBQUNnVUtZUUFBQUFBQUFDZ1VLSVFCQUFBQUFBQ2dVT0NNTUFBQUFBQUFnRndZTm15WUpLbjljK0VHSjdGUCsrZkMxYXVtMFNueUIxYUVBUUFBQUFBQW9GQ2dFQVlnazlEUVVFMmVQTm42ZXZMa3lRb05EYzMxUE9mT25WTmtaS1ROdnNqSVNKMDdkODZ1ZVdKalkzWGl4QWxaTEpaY1o4aHZlRThBQUFBQXdGaHNqUVJ3Vjh5ZlAxK0xGaTNTM3IxN3MvUTk5dGhqNnRPbmoxNSsrZVZienZPZi8veEhIMy84c2RhdFc2ZkxseS9iSE9QcDZha3JWNjVrYVM5WnNxUzh2YjB6dGExZHU5Yk96eUN6amgwNzV1bTZHL0dlQUFBQUFJQ3hLSVFCeU5mMjc5K3ZrSkFRWGJ0MlRUMTY5TEE1cGtlUEhscStmSG1XOWpmZmZGTVBQZlJRcHJZeFk4YmtLWWM5UlorZE8zZHF4SWdSR2pKa2lKNTY2cWs4M2NjZWp2U2VBQUFBQUREZStxbkR0RjVTZUxoam5HbDJOMUVJQXdxaHBLUWtOVzNhTkZmWFpMYzljdlBtelFvTEM4djFkWXNXTGRLaVJZdXl0SC8xMVZlcVZxMmFKQ2sxTlZWNzl1elJvRUdEclAzdnZmZWUyclp0SzBsYXZYcTEzbnJyTFkwWk15WkxNU2VuN1p4bHk1YlZyRm16c3UyLzBmRGh3M1hxMUNtN3hpNWR1bFJPVGs3cTBhTkhqdmN2VE84SkFBQUFBT1FuRk1LQVFzaHNObXYwNk5FMis5NTk5MTJiN2RtTmQzTnowMHN2dlpTbGZkT21UZHEzYjUvTnZpbFRwcWgrL2ZwcTA2Wk5scjZTSlV0YVA5NnpaNDlpWTJQVm9VTUhwYWFtU3BKTUpwT2NuWjBsU1U1T2VUdm0wR3cycTB5Wk1uYVB0Y2U1YytlMFpjc1d0VzdkV2lWTGx1UTlBUUFBQUlCOGlPOW1nRUxJeWNsSlBYdjJ0Tm1YWFNFc3UvR1MxTGR2M3l4dHAwK2YxcjU5KzJ6MlRaa3lSZFdxVmJQWmQ2TjE2OVpKa2dJQ0FuVDY5T2tjeHhwdCtmTGxTa3RMVTY5ZXZTVHhuc0ErUzVZc1VmUG16UlVZR0doMEZBQUFBS0JRb0JBRzRLNHdtODF5ZFhYTjgvVnhjWEg2L3Z2dnM3U1BIVHRXNDhhTmt5VHJpcWpubjM5ZVAvMzBVNTd2ZGJ1U2s1TzFjdVZLVmFoUVFZMGFOY3AyWEdGNlQyQ2ZTWk1tU1pLcVZhdW16cDA3cTBXTEZnb0tDakk0RlFBQUFGQndVUWdEY05zc0ZvdU9IeitlcWExYnQyN3ExcTJiamgwN2xtVjh4aUh1Ti9hVkwxOCswN2ErNzc3N1R0ZXZYODl5N1FzdnZLQW1UWnBJU3Q5cStPbW5uMnI4K1BGS1NFaklOTzdtQStIdnBnMGJOdWpTcFVzYU9IQ2dUQ2FUSk40VDVNNmhRNGQwNk5BaGZmenh4d29LQ2xLWExsM1VzbVZMVmFsU3hlaG9BQUFBUUlGQ0lRd29wTFp0MjZZelo4N1lQZjdycjcvTzB1YnY3NjgyYmRvb09UazUyNmNYMnV2SEgzK1VsNWVYSkNreE1WSHo1czJUcjYrdlltTmpNNDByWHJ5NEtsYXNLRWxxMzc2OWloY3ZMajgvdnl6elBmdnNzNnBSbzBhMjkwdEtTcnF0dkRkYXRteVozTnpjTWhXYUN2dDdncnlMam83VzlPblROWDM2ZEFVR0JxcExseTVxMWFxVnFsZXZiblEwQUFBQS9FOTRlTGlXL1c1MEN1UUZoVENna0ZxMGFKRjI3TmhoOTNoYlo0ZlZxbFZMYmRxMGtkbHMxclJwMDdMMFAvdnNzMnJjdUxINjkrK2Y3YnpMbHkvWDVzMmI1ZUhoWVcxYnNtU0pZbU5qTlhUb1VFMmZQajNiYTh1Vks2ZHk1Y3BsK3pURWhRc1hXcy9VdXRIeDQ4ZHovZFRNN0J3NWNrVDc5KzlYdDI3ZDVPM3RiVzB2ek85SlhqVm8wRUJTK3VIL0dTdnJNbDdmMkc2ci84YTJqSTh0Rm92TmEyNGVkL004dHU1MTgxeTJ4dHZLa2xNK2U1dzhlVkt6WjgvVzdObXpGUkFRWU5jMUFBQUFBTEpISVF3b3BENzk5Rk9iN2RrVlVQYnUzWnZ0WEU1T1RtcldySm5OdmhJbFNtVGJKNlZ2SzNSM2Q4KzBCZkQ2OWV0NjdMSEhWS3BVcVN6algzdnR0VXl2UjQ4ZXJiQ3dNSGw2ZW1yUW9FR1NwTFMwTlBYcjF5L1QweFp2NU9mbnB5RkRobVNiNlVhZmYvNjVMbDI2bEczLzBxVkw5Zi9zM1hkOG5WWDlCL0JQa3U2bVRVdlREUzJyQ0pRcFE1YXlDb295UkNtZ2lLSWdZV2hWRk5rSWlDaUlJZ2hJbEZGQmtDRWdGQnhRcGdxSUlMTk15eXlsZSs4MnllOFBmcjAwdE5BQnpVMXkzKy9YcXkvdWM1NXpudWQ3Yi9vcXlTZm5uQ2RKWVpQOHhVcjVNL213R2hvYVVsOWZ2OXF1MzFJdFhMaXcyQ1VBQUVDTEp3Z0RpbXJXckZtRjVYK0xEUjA2TkowN2Q4NDk5OXl6VlAvamp6KytzQjlXOHM3eXpGbXpadVhCQng4c0xBOTg0WVVYc21EQmdrYjlsdFNsUzVjY2ROQkJLMVRmRFRmYzhMNmh6K3pacy9QWHYvNDFtMnl5eVVlNmJLMGxmeVlmeG1PUFBkYm91S0dob2ZEZnhYK1dQTGVpN2UrOXp2S3UrWDczWGp3cmJGblhmKys0eFVIZThtbzQrT0NEUC9BejZkV3JWN2JmZnZ0c3VlV1cyWHZ2dlF1ejVnQUFnRlVqQ0FPS2FzcVVLZW5hdFd1anRtWHRiN1hZa3Z0aExiYk5OdHZra2tzdXlkU3BVOU85ZS9mQzByKzk5OTc3STY5M1NYZmNjVWZtekptejFHeXdENnNsZnlZZnBmY3VPeXdWL2ZyMXkwNDc3WlRQZk9ZejJYenp6WXRkRGdBQXkxQlRVNU1rR1RLc3RzaVZySmdodzJvemRIQ3hxMmdlQkdGUWdtYk1tSkdKRXlldTFKalJvMGN2czcxNzkrNGZHTklzejlpeFk5Ty9mLzhWN2o5cDBxUkdUMVpzMTY1ZE50cG9vL1RxMVN1MzNucHJEajc0NE54eXl5M1pjY2Nkczg0NjY2eHlYU3ZpcHB0dVNsVlZWZmJjYzgrUDlMb3QrVE5oMVF3Y09EQTc3YlJUOXRwcnJ3OThvQUVBQVBEaENNS2dCUDMxcjMvTmVlZWR0MUpqRGp6d3dHVzJIM25ra1lYZmhxeXMxMTkvUGVQR2pjdVdXMjY1d21OKy92T2ZOenJlWUlNTjhzYy8vakZEaHc3TjhPSEQ4L3JycjJmdTNMbjUzdmUrdDBvMXJhakhIbnNzcjc3NmFyNzYxYSttWGJ0Mkg5bDFXL0pud3NyNyt0ZS9ucjMyMml2cnJiZGVzVXNCQUlDU0lBaURFclQ3N3J2bll4LzcyRExQSFg3NDRjdHN2K0tLSzViWnZxek4yNWRsNGNLRitkNzN2cGRldlhxbHNySXk4K2ZQejczMzNwc2syVzIzM1Zib0drbHk3cm5uWnNpUUlVdTFIM1RRUWJudXV1dHl4eDEzNVBqamoyK1MyV0RsNWVVNTRJQURWdmthcmUwelllVjk2MXZmS25ZSkFBQlFVZ1JoVUlLcXE2dFRYVjI5VW1PMjJHS0xEM1hQdG0zYlp2cjA2WG44OGNlemNPSENsSldWcFgvLy9qbmlpQ05XS3ZSNVAzZmRkVmVtVHAyYUpMbnZ2dnV5NTU1N3Z1K1N6Wmt6WithR0cyNVlvZXZPbkRsenFiYUpFeWZtdnZ2dXkvYmJiNzlTU3hqZnF6VjlKZ0FBUVBNMThxS2FqRXhTVzlzeTlqUmJuUVJoUUpPNTVwcHJQdkpyVHA4K1BiLzYxYTl5KysyMzUzT2YrMXgyM0hISG5ISEdHUms2ZEdpT1B2cm83TGZmZm1uYnRtMmpNVk9tVEZucHBhRkx1dVdXVzFKWFYvZVJiSkxmV2o0VEFBQ0Fsa0FRQnJSWXc0Y1B6L0Rod3pOMzd0d2NlK3l4K2ZyWHY1NnlzcktzdGRaYU9mWFVVL1BUbi80MDExMTNYYTYvL3ZwRyszZ05IRGd3dDl4eXl3cmQ0d3RmK0VKZWYvMzF3bkZkWFYxdXZmWFc5T3ZYTHp2dXVPTkgvcDQrckdKOEpnQUFBQzJGSUF4bzVQSEhIMjkwL0lNZi9DQS8rTUVQVnVsYW4vLzg1N1A1NXB1dmNpMXQyN1pOWldWbGtxU2lvaUs5ZXZWS3g0NGRDK2Y3OU9tVExiZmNNdC82MXJjYWJUYSs4Y1liNS9ycnI4OGYvL2pIckwzMjJvMENuOU5PTzYxd3pSVnh6REhIWk5hc1dZWGpTWk1tWmYvOTk4OG1tMnlTOHZMeWxYNVByZkV6QVFBQWFDbktHaG9hR29wZFJFdXorQWw1MXRaU0xGdHR0VldTcFVNcmFJbjhmVjV4UHF2aTh2a0RGRWZaWWZjblNScUc3MUxVT21CSmkzT0JJY05hUmk0dzhxTG1rMk9jZHRwcG1UQmhRczQ2NjZ6MDd0Mjd5ZSsvOHRNWkFBQUFBS0FGc2pRU0FBQUFZQ1hVMXRibXBsSEZyb0pWWVVZWUFMUVFiZHE4OC91cmVmUG1GYm1TMHJOZ3dZSWs3MzROQUFCb21RUmhBTkJDOU8vZlAwa3lkdXpZSWxkU2VpWk9uSmdrNmRtelo1RXJBUURnd3hDRUFVQUxzZWVlZXlaSkxyLzg4aXhjdUxESTFaU09SWXNXNVpwcnJrbVNiTC85OWtXdUJnQ0FEOFA4Zm1pQnlzckswdERRa0xxNnVsUlVWQlM3SEZobGRYVjFTZDc1TzgzeWZlbExYOG9kZDl5UnYvLzk3L25uUC8rWk5kZGNNNVdWbGNVdXExV2JQWHQyeG80ZG14a3pacVM2dXJyd2hDZ0FvTFMxdEtkR0RobFdtNkdEaTExRjh5QUlneGFvUjQ4ZW1UUnBVaVpPbkpnK2Zmb1V1eHhZWmRPbVRVdVNWRlZWRmJtU2xxR3FxaXJEaHcvUHVlZWVtd2NlZUNBdnZ2aGlzVXNxQ2VYbDVkbHBwNTN5d3gvK01OWFYxY1V1QndDQUQwRVFCaTNRRGp2c2tOdHZ2ejEzMzMxM0RqMzAwR0tYQTZ2c29ZY2VTcEpzdXVtbVJhNms1YWl1cnM3UGYvN3p6Snc1TTIrODhVYm16cDFiN0pKYXRRNGRPbVROTmRkTXQyN2RpbDBLQUFBZkFVRVl0RUNISEhKSS92YTN2K1hDQ3kvTTAwOC9uZlhYWHo5ZHVuUXBkbG13d21iTm1wVlhYMzAxZDk5OWQ5cTBhWlBERHorODJDVzFPRjI2ZE1uZ3dlYTNBd0RBeWhDRVFRdTAvdnJyNS96eno4K1paNTZaZSsrOU4vZmVlMit4UzRKVlVsVlZsUk5QUE5HTU1BQUFXSTFHWGxTVGtVbHFhMXZHbm1hcmt5QU1XcWdkZDl3eEkwYU15SU1QUHBpWFhub3A4K2JOSzNaSnNNSTZkT2lRZGRkZE43dnNza3M2ZHV4WTdISUFBSUFTSVFpREZxeDkrL2JaWTQ4OXNzY2VleFM3RkFBQUFHajJ5b3RkQUFBQUFBQTBCVUVZQUFBQUFDVkJFQVlBQUFCQVNiQkhHQUFBQU1CS3FLMnR6VTJqaWwwRnE4S01NQUFBQUFCS2dpQU1BQUFBZ0pKZ2FTUUFBQUROeGhVUHZKMHpiM3R0cWZZQnh6MWNlRjJ6UzcrY3N1L0FKcXdLYUMwRVlRQUFBRFFiT3d5cXlwdFQ1aS9Wdm1UYnB6ZGRveWxMZ3FYVTFOUWtTWVlNcXkxeUpTdG15TERhREIxYzdDcWFCMHNqQVFBQWFEWTI2dGNwRy9Yci9MN24xNjd1a0szWDZkS0VGUUd0aVNBTUFBQ0FadVdRN1hxOTc3blBidGFqQ1NzQldodEJHQUFBQU0zS1BsdFd2Kys1TDIzWHN3a3JnYWF6Y1A2OGpCNzFXTEhMYVBVRVlRQUFBRFFybTYzVk9ldjI3TEJVZS8vdTdiUFRCdDJLVUJHc2ZoUEd2cGFURHRwbXRWeDc1RVUxaFgzTlNwMGdEQUFBZ0dibmtPMTdMOVcyMTJZMnlRYytIRUVZQUFBQXpjNit5MWdlZWZDMjc3OTNHTUNLRUlRQkFBRFE3R3kxZG1YVzdONitjTnlyUzl2c3RuSDNJbFlFdEFadGlsMEFBQUFBdkZkWldWa08yYUYzenIzempTVEpaemJya2JLeUloY0ZUZURBVFpiOUYvM2F4K2VtYmZ1bDk4NWo1UWpDQUFBQWFKYjIzYUpISVFnN2FGdFBpNlEwWEREaStXVzJ0Mm5YZnBudHJCeEJHQUFBQU0zU2R1dFZwVmVYdGxsVW4zeDZVeHZsMDN6VTF0Ym1wbEdyNTlyOTE5bHc5VnlZSklJd0FBQUFtcW55OHVUTDIvZk91T2tMVWxGdVhTVHc0UW5DQUFBQWFMWSsvL0hxVEptOXNOaGxBSzJFSUF3QUFJQm1hOGRCVmFsdmFDaDJHVUFySVFnREFBQ2cyV3BUVVpiRXNraWFsNXFhbWlUSmtHRzFSYTVreFF3WlZwdWhnNHRkUmZNZ0NBTUFBQUJvSWdzWHpNK01xUk9YYXA4K2VYeVNaUEw0TWU4N3RrZnZOVmRiWGFWQ0VBWUFBQURRUkY1NC9CLzU4VGYzZU4velIrKysxdnVldS9GWnk0US9MRUVZQUFBQVFCTVovSWxkYy9Xak00dGRSc2tTaEFFQUFBQTBrZkx5aW5Ub1ZObWs5eHg1VVUxR0pxbXRiUmw3bXExTzVjVXVBQUFBQUFDYWdpQU1BQUFBZ0pJZ0NBTUFBQUJvWXZYMWRjVXVvU1FKd2dBQUFBQ2EySzIvUFNlWG5ISllvN2IvUGZOb3Z2YUpydStjLzkwNXVlM0s4OUpRWDErRTZsb3ZRUmdBQUFCQUUxb3dmMjcrOXNkTHN0MmVCelJxYjl1K1ErYk9mdWVKa3AvYyt5dDVkT1F0T2UvYit4V2p4RmJMVXlNQkFBQUFWa0p0YlcxdUdyWHE0KysrNGJMMEhUZ29XKzI4ZDZQMjloMDZKVWtXTHBpZjZyNERjc2J3QnpMNjJmOWs2c1MzMDcxbjN3OVRNdjlQRUFZQUFBRFFSR2JQbUpwYmYvZlRuSGpwSFhucjFSZnltMU8va1VPUFB6L1RKNC9QbU5IUEpVa3UrdUdYTTIzeStFd2U5MmFtVGhpYmRoMDc1ZklIeHFkdCt3NUZycjdsRTRRQkFBQUFOSkZyTHpneFcrMnlkOVlidkhWKzhiMEQwbWZBK3ZuYmRSZG55b1MzVXQxbnJTVEp1b08zenNDUGJaYnF2Z1BTbzg5YTZkeWxXNUdyYmowRVlRQUFBQUJONVBIN1IyVDY1QWw1NExhcjA4Z0orWmdBQUNBQVNVUkJWS0ZUWlg1MXh3dnBWdDJuY1A2UnUyL08xcnZ1bTdYV0gxeG9hNml2VDEzZG9yUnAyNjRZSmJjcWdqQUFBQUNBbFZCVFU1TWtHVEtzZHFYSFhqRGkrYlJwMnk0bkhieHRQdk9sWXdzaFdFTjlmU2E5L1VZNlZWYmwzcHN2VDNsRlJkNSsvZVdNZStOL0dUL21sUngreXNYWjdRdUhyMUs5UTRiVlp1amc1ZmNyQllJd0FBQUFnQ2JTcWJJcU4xeDhlcnBVOWNpUW9lOEVhaWNjdUZYZWZQblp0R3ZmTWZYMWRYbmhpWDlsOHgzMnpMYTc3NTh1M2F1ei9pYmJwS3BIN3lKWDNqb0l3Z0FBQUFDYXlOTVAzNTNicnp3dlI1eDJhZTY2NFRlWk1XVkNqdjNKOEhTcjdwT3UzWHRtK00rK20vcjZ1aHc4N094TW56dytweDZ5UXc3K3prK3k0MTRIRjd2MFZxRzgyQVVBQUFBQWxJb0hicnM2OWZYMXVmMnE4L1BzSS9la3NxcEhCZ3phTkYyNzkweVNiTERGOWhuMW4vc3plZHliT2ZNYnUyV0RMWGJJRHA4NXFNaFZ0eDVtaEFFQUFBQTBrY05QdlRqSC9PU3FWRlFzTzVMWmZNZFA1OWNuSHBvZkhyQmxQclhQb2ZucThiL0l5SnQrbTc0REIyV1RUK3kyU3ZjY2VWRk5SaWFwclYzNVBjMWFHelBDQUFBQUFKcElwOHFxekpnOElmKysrK1pjOWRQdjVJY0hiSmt4bzU5TGtreDg2N1g4OW95YTFDMWFtRDREQitWckoxeVFzdkx5UEhiZmJYbjl4YWVLWEhucklBZ0RBQUFBYUNJbkhMaFZqdGxqWU83NC9TL1RvVlBuZk9rNzUyVCt2RG41eldtSDU3djdiSmp5OHZMOCtKcC9ac3ovUnVYbXkzNmMrZlBtWlBTemoyWDlUYmN0ZHVtdGdxV1JBQUFBQUUza3FETXZUOStCZzlLaFUyV1M1QjkzWEp2enZyVnZ0aDJ5Zjg2Kzl1R3NzOUdXU1pJZlhueDdmdm05QS9LbnkzNmN2Z01IWmREbTJ4V3o3RlpERUFZQUFBRFFSQllIWFl2dDlOa3ZaWk50ZDAzM1h2MGF0US9lWnBkY2N0ZHJlZVc1eDdQMmhsdWt2THlpS2N0c3RRUmhBQUFBQUVWU1ZsNitWQWkyV0lkT2xkbDQ2NTJidUtMV1RSQUdBQUFBc0JKcWEydHowNmhpVjhHcXNGaytBQUFBQUNYQmpEQUFBQUNBSW1pb3I4K2lSUXV6WU42Y3pKc3pLM05uejh5czZWTXljK3FrekpnMktWUEd2NVVwNDhkazhMYTdacWZQZmJuWTViWUtnakFBQUFDQUpuYlFwdVZwYUdoSWtwU1ZsYVZkKzQ3cDBMbExPbmJ1a2s2VlZlbmN0VnNxcTlaSVpWV1BMRnE0b01qVnRoNkNNQUFBQUlDVlVGTlRreVFaTXF4MmxhL1IwTkNRYzI5OFBHdXV0M0hhdHUvd1VaVzJURU9HMVdibzROVjZpeGJESG1FQUFBQUFSZEN4c3V0cUQ4Rm96SXd3QUFBQWdDSVk5dGxCSzlUdmdoSFBwLzg2RzY3bWFrcURJQXdBQUFDZ0NINXk3Y041Y01RMW1mVDJHNms1ODNkTG5iLy96OE56MjVYbnBicnZnQ0pVMXpwWkdna0FBQURRaEJycTY1TWszWHIyelc1ZlBDSlBQWFJYNnVvV3BWdDFuOEtmTHQycjg4QnR2OCtRb1VlbWZZZE9IK3ArSXkrcUtleHJWdW9FWVFBQUFBQk5hTjdjMlVtU0RwMHFzODVHVzJiVDdZZmsybCtlMEtqUFg2NjVNRE9uVGM3bmp6aXhHQ1cyV29Jd0FBQUFnQ1kwZGVMWXRHM2ZJWlZWYXlSSnZuN2loWG5zdnR2emp6ditrQ1I1OGNtSDhzY0xUODQzVC85Tk9uZnBWc3hTV3gxN2hBRUFBQUEwb1RkZWVpYjkxOWt3WldWbFNaSStBOWJQMFdkZGtZdFArVm9tanh1VFAxLytzK3h6MkEveWlUMitXT1JLV3g4endnQUFBQUNhME5NUDM1ME5QNzVUbzdidDlqd2dXK3owbVZ6M3E1T3lSdS8rK1VMTktVV3FyblVUaEFFQUFBQTBrVG16cHVkZmY3MCsyKzg1dE5EMjVELy9scE8vOUlrOCs4ZzlPZWhiWjJYaGd2bjU3dWMrbGhIRHo4LzB5ZU9MV0czclkya2tBQUFBd0Vxb3JhM05UYU5XYmV3Zkx6d2xmUWNNeWhwOTFzek5sLzA0RDk3eGg0eC9ZM1ErdWZjaCtjRkZ0NlpIN3pXeno5ZC9rTDllKyt2Y2Z0WDUrY012VDhpNkcyK1Z2UTc1ZGo2MXo2RWY3UnNwUVlJd0FBQUFnQ2JTYiswTnN2TytYMDFEZlgwZSt2dU4yVzZQTDJiSTBKcjA3RGV3MEtkZCs0N1o3eHMvek9jTy9XNytjKzl0K2MrOWY4N2diWGN0WXRXdGh5QU1BQUFBb0luc2RjaXd3dXRmM1ByTUIvWnQwN1pkdHYvMDBHei82YUVmMkk4Vlo0OHdBQUFBQUVxQ0dXRUFBQUFBSzZHbXBpWkpNbVJZYlpFcldURkRodFZtNk9CaVY5RThtQkVHQUFBQTBJUVdMVnlReCs4ZjhiN243L2o5TDV1d210SWlDQU1BQUFCb1FxOCsvMFN1UE9mYjczditob3RQYjhKcVNvdWxrUUFBQUFCTjZJWC8vbU9wcDBBZXRHbDVxdnNPU0pJc21EY254KzY1ZHVIYzdCblRNdnlSYVUxWllxc2xDQU1BQUFCb1FvL2ZmMGVlZSt5QjNQL240VW1TMHk0Zm1ZNmR1K2FTdTE1TGtoeTZUV1hoZFpJY3RsMjNEM1cva1JmVlpHU1MydHFXc2FmWjZpUUlBd0FBQUdnaTQ4ZThrdGRmZWpwL2VIeE81cytabldQMlhEdnJiTFJsNXM2ZWthTjJXelBKT3pQQ0ZyL21veVVJQXdBQUFHZ2l0MTk1WGo2MXo2SDU3d04zWnVyRXQ3UDVEbnVtc21xTkhIRDBqekwwbUI4bGVXZEcyR1gzamltTXVlblNNNHRWYnFzakNBTUFBQUJvSWh0c3NVTTIyWGJYSEQxa1FINXp6NXZaOHBON0ZaWSszbm4xQlVtUytYTm5MN1VjOHJIN2JzdTVOLzIzeWV0dGJRUmhBQUFBQUUxazUzMi9Xbmpkby9jN3l4OXRoTjkwQkdFQUFBQUFSWGJVYm11bXJtN1IrNTZ2dmUrdGxKZFhOR0ZGclpNZ0RBQUFBR0FsMU5iVzVxWlJIKzAxcDAwYWwydWZtSmVLaWpiNTAyL095aGRxVGlrRVh3ZHYxaVlORFEwZjdRMUxWSG14Q3dBQUFBQW9WWlBIajJsMHZIRCt2UHpwTjJlbHJFeGtzenI0VkFFQUFBQ0s0S1duSHM0SkIzdzhVeWUrWFdoNzl0SDcwcm1xZXlhODlXb1JLMnU5QkdFQUFBQUFUV2pPck9sSmtwOGMrZWtjUE96c2RPL1pOeisvNWFrOC85aUR1ZXowdzdQdDd2dm41Qzk5SXI4KzhkQzg5Y3J6K2ZrdFQ2V2l3dTVXSHdXZklnQUFBTUJLcUttcFNaSU1HVmE3U3VOSFAvT2ZkS3FzeXZFWDNacDFOdjU0L243OXBYbm9yOWRuek9qbmN0U1psMmViM1QrZnIzei92SXk0NnZ5Y2RQQzIyZktUZStWTDN6a25mUWFzdjByM0d6S3NOa01IcjlMUVZzZU1NQUFBQUlBbXRPbjJRL0tyTzE3STRHMTNUZnNPbmZMc3YrL054M2ZlTzcvKzIraHNzL3Zua3lTZHUzVEx3Y1BPem9WM3ZKak9YYnVuckt5c3lGVzNEbWFFQVFBQUFEU3hidFY5a2lRVmJkcm0reGY4NlgzN2RlL1ZMMGYrYU5WbW5yRTBNOElBQUFBQUtBbUNNQUFBQUlCV2JPUkZOWVY5elVxZElBd0FBQUNBa2lBSUF3QUFBS0FrQ01JQUFBQUFLQW1DTUFBQUFBQktnaUFNQUFBQWdKTFFwdGdGQUFBQUFMUWt0YlcxdVdsVXNhdGdWWmdSQmdBQUFFQkpFSVFCQUFBQVVCSUVZUUFBQUFDVUJIdUVBUUFBQUt5RW1wcWFKTW1RWWJWRnJtVEZEQmxXbTZHRGkxMUY4MkJHR0FBQUFBQWxRUkFHQUFBQVFFa1FoQUVBQUFCUUVnUmhBQUFBQUszWXlJdHFDdnVhbFRwQkdBQUFBQUFsUVJBR0FBQUFRRWtRaEFFQUFBQlFFZ1JoQUFBQUFKUUVRUmdBQUFBQUphRk5zUXNBQUFBQWFFbHFhMnR6MDZoaVY4R3FNQ01NQUFBQWdKSWdDQU1BQUFDZ0pBakNBQUFBQUNnSjlnZ0RBQUFBV0FrMU5UVkpraUhEYW90Y3lZb1pNcXcyUXdjWHU0cm13WXd3QUFBQUFFcUNJQXdBQUFDQWtpQUlBd0FBQUtBa0NNSUFBQUFBV3JHUkY5VVU5alVyZFlJd0FBQUFBRXFDSUF3QUFBQ0FraUFJQXdBQUFLQWtDTUlBQUFBQUtBbUNNQUFBQUFCS1FwdGlGd0FBQUFEUWt0VFcxdWFtVWNXdWdsVmhSaGdBQUFBQUpVRVFCZ0FBQUVCSkVJUUJBQUFBVUJMc0VRWUFBQUN3RW1wcWFwSWtRNGJWRnJtU0ZUTmtXRzJHRGk1MkZjMkRHV0VBQUFBQWxBUkJHQUFBQUFBbFFSQUdBQUFBUUVrUWhBRUFBQUMwWWlNdnFpbnNhMWJxQkdFQUFBQUFsQVJCR0FBQUFBQWxRUkFHQUFBQVFFa1FoQUVBQUFCUUVnUmhBQUMwYUEwTlNYMTlRN0hMQUFCYWdEYkZMZ0FBQUQ2TS83NCtNelBtMW1YWGpib1Z1eFFBU2tSdGJXMXVHbFhzS2xnVlpvUUJBTkNpM2Y3RXBGejM4UGhpbHdFQXRBQm1oQUVBMEtKZCsvQ0V6RnRRbDRhR2hwU1ZsUlc3SEFDZ0dUTWpEQUNBRnV2cE4yZGw5SVM1ZVd2YWdqejB2eG5GTGdjQWFPYk1DQU1Bb01VYThjVGt3dXZySGg2ZkhRZFZGYkVhQUVwRlRVMU5rbVRJc05vaVY3SmloZ3lyemREQnhhNmllVEFqREFDQUZ1dmFKZllHKzh0VFU0cFlDUURRRWdqQ0FBQm9rWjRmT3p2UHZ6Mm5jUHphNUhsNTdOV1pSYXdJQUdqdUJHRUFBTFJJZHk1akJ0aTFuaDRKQUh3QVFSZ0FBQzNTc2tLdnZ6eHRlU1FBdk5mSWkyb0srNXFWT2tFWUFBQXR6dWdKYy9Qa0c3T1dhbjlwM0p3ODgrYlM3UUFBaVNBTUFJQVc2TTZuRmo4dHNtR0oxbmRlWC92d2hDYXZCd0JvR1FSaEFBQzBPTmNWd3E2eUpWcmZlWDFISVNRREFHaE1FQVlBUUl2eXh1UjUrZmNyTTk3My9LaTNadWVsY1hQZTl6d0FVTG9FWVFBQXRDaC9YWUVOOFQwOUVnQllsamJGTGdBQUFGWkd6YTc5VXJOcnY4SngyV0gzSjBrYWh1OVNuSUlBS0RtMXRiVzVhVlN4cTJCVm1CRUdBQUFBUUVrUWhBRUFBQUJRRWdSaEFBQUFBSlFFZTRRQkFBQUFySVNhbXBva3laQmh0VVd1Wk1VTUdWYWJvWU9MWFVYellFWVlBQUFBQUNWQkVBWUFBQUJBU1JDRUFRQUFBRkFTQkdFQUFBQUFyZGpJaTJvSys1cVZPa0VZQUFBQUFDVkJFQVlBQUFCQVNSQ0VBUUFBQUZBU0JHRUFBQUFBbEFSQkdBQUFBQUFsb1UyeEN3QUFBQUJvU1dwcmEzUFRxR0pYd2Fvd0l3d0FBQUNBa21CR0dBQUFBTUFxR0hsUnpRcjFHektzdHFqamVKY2dEQUFBQUdBbERSMmNqRnlKdmtzcXhyaCsvZnF0NE9qV1RSQUdBRUNyVUhiWS9VMSt6MjNYN1pKL243NVZrOThYZ09haHRuYlZabDYxbEhHdGtUM0NBQUJvMGJaZHQwdlI3djNvS3pPTGRtOEFZT1daRVFZQVFJdFdyQmxaeFppQkJnQjhPR2FFQVFBQUFGQVNCR0VBQUFBQWxBUkJHQUFBQUFBbFFSQUdBQUFBUUVrUWhBRUFBQUJRRWdSaEFBQUFBSlFFUVJnQUFBQUFKVUVRQmdBQUFFQkpFSVFCQUFBQVVCSUVZUUFBQUFDVUJFRVlBQUFBQUNWQkVBWUFBQUJBU1JDRUFRQUFBRkFTQkdFQUFBQUFsQVJCR0FBQUFBQWxRUkFHQUFBQVFFa1FoQUVBQUFCUUVnUmhBQUFBQUpRRVFSZ0FBQUFBSlVFUUJnQUFBRUJKRUlRQkFBQUFVQklFWVFBQUFBQ1VCRUVZQUFBQUFDVkJFQVlBQUFCQVNSQ0VBUUFBQUZBU0JHRUFBQUFBbEFSQkdBQUFBQUFsUVJBR0FBQUFRRWtRaEFFQUFBQlFFZ1JoQUFBQUFKUUVRUmdBQUFBQUpVRVFCZ0FBQUVCSkVJUUJBQUFBVUJJRVlRQUFBQUNVQkVFWUFBQUFBQ1ZCRUFZQUFBQkFTUkNFQVFBQUFGQVNCR0VBQUFBQWxBUkJHQUFBQUFBbFFSQUdBQUFBUUVrUWhBRUFBQUJRRXRvVXV3QUFBR0Q1YW1wcVZxaGZiVzF0azQ0NzU1eHowcU5IajhMeGozLzg0NHdaTTJhNTQ0NCsrdWhzc2NVV2hlUGh3NGZuNFljZlh1NjRmZmJaSjN2dnZYZmgrSjU3N3NtTk45NjQzSEZiYkxGRmpqNzY2TUx4U3krOWxGLzg0aGZMSGRlalI0K2NjODQ1aGVPNWMrZm11OS85N25MSEpVMzd0ZWpjdVhOT1B2bmtWRmRYcjlBOUFFcVZJQXdBQUpxNUZRMVFrdVNtVWF0MmoxVWRkK2RMRGVuWTlkM2phZk5XYk55LzNraGVidnZ1OFd2VFZtemNxQWtObWJ0RXJXKzh2V0xqM3ByUjBPZzlUaDNUc0VMalppOW8vTmtzbkw5aTQ1S20vVnJNbmowN3I3NzZxaUFNWURuS0dob2FWdnhmY3BLOCs0M0llMzlUQXdCQTZTZzc3UDRrU2NQd1hWYjd2UlovL3psa21POC9XYmJ0MTByVzdMcjhmZ0RGZHRwcHAyWENoQWs1NjZ5ejBydDM3eWEvdnozQ0FBQUFBQ2dKZ2pBQUFBQUFTb0lnREFBQW9BV2JNMzFpeG85OU0zUG56aTEyS1FETm5pQU1BQUNnQlh2aHZ1dnkyd3ZPenZQUFAxL3NVZ0NhUFVFWUFBQUFBQ1ZCRUFZQUFBQkFTV2hUN0FJQUFJQVAxcjkvLzB5YjExRHNNZ0NneFJPRUFRQkFNM2Y2NmFmbnBsSEZyZ0lBV2o1TEl3RUFBQUFvQ1lJd0FBQUFBRXFDSUF3QUFKcTVLVk9tWk43TUtjVXVBd0JhUEVFWUFBQTBjeWVkZEZMK2VkVkp4UzREQUZvOFFSZ0FBRUFMVmxIUk5tM2J0VTlGUlVXeFN3Rm85Z1JoQUFEQU10WFgxK1hObDU5TlhkMmlEK3czZThiVVhITEtZWms4Zmt5ajl1dCtkVkttVFJxM1V2Y2NQK2FWL1BpSUlaazFmY1dYZ3I3NHhML3k3NUczTkdxYlAyOU9yanpuMjVrODdzMmwrci8xeXZONS9yRUhWNnF1Wlhsd3hEVkx0YjMrMHRPWk11R3REMzN0bGJINVBzZmt4SjljbE0wMzM3eEo3d3ZRRWduQ0FBQ0FaWm81YlhLK3YvK21tVDFqNmdmMnUvcm4zOC9rY1c5bWpaNzlNblhpMjRYMk82KytJRE9uVGtxU1RCNC9KclZuSEprUnc4Ly93R3RWOTFrckU5NTZMWGRlZmNFSzExbFp0VWF1UE9mYm1UOXZUcUh0RCtjZm4rZis4MEE2VlZZdDFmL2xwLytkbng3enVZd2U5VmlTNU1CTnlwYjdaL2JNYVV0ZHAvWkgzMXlxN2JkbkhKbFJqOTYzd3JVRDBMVGFGTHNBQUFDZ2VJN2RjKzFNSFB2NlV1MDNQdHVRK3JxNkpFbEZ4ZnYvMlBEdzMyN01rLy82ZTM1MncyTlp0R2hoVGpwb20zem52T3V5MGRhZlNwSzg4YjluYytjMXY4by83N3d1bSsyd1I0WU1QYkl3OXNCTnl0NzN1amZYbnAyYmE4OWVxdjJDRWMrbi96b2I1cHM3OTJuVVBtL09ySHpyMCtzV2pxZFBIcCtPbFYwejdITWJGTnArOThBN3M5TjIrZnhoZWZucFIvS3pveitYODI1K01rbHkxY05UMDdsTHR5VEpaYWNma2NOUHZTUnQyN1Z2Vk9leGU2N2Q2SjRMRjh3dnRCMXc5T25wVnQwM0x6Lzk3NHg1NWZsY2NmYTNDdjJPUHZ2S2ZHTElGOTczdlFMUWRBUmhBQUJRd3M0WS9rRHFGaTNNc004T3lpbS8vWHQ2cjdsdXBrMGFsNGx2dlpZcEU4Y21TYVpOR3BjNU02Y1h4blJkbzJmYWQreWN4Kzhma2QrZVdaUHYvZkxHTEZxNElHTkdQNWZ0UHowMHRXY2NtVi84K1pra3lXV25IWjZkOWo0a1A3MyswYXcxYUpQY2ZlTmxHYkQrSm1uYnZrT1M1T2UzUEpWK0F6ZFl1ckJsT0dTcmpvWFhpME90OXpwd2s3TDg5djYzMDYyNnp6TFBMM2JZQ2I5S2p6NXJMYlBmdmJkY2tjTk8vRlVoQ0Z2c2tydGV5L2MvdjBuaHVLeXNMQjA2VlNaSnR0dHphSTcvd3VicDNxdGZMaHY1WnNyS3kzUEpLWWRsMS8yL25vMjMzbm1GM2g4QXE1OGdEQUFBU2xqUGZnTUxyNnY3RGtpZkFldm5zdE9QeUhPUFBWQm8vOTYrR3pjYTgrMmYvU0dmM1B1US9QZkJ2MlQyekduNTJURjdwMnYzbnVuU3ZUcVZWV3VrdktJaWY3dnU0aVRKR2I5L0lPc04zanBKTW52bXRQenVyS096N2U3N3A2cDloMnl6MjM3cDBxMUhJUlJibm0xMjJ5OGRPM2NwSEw5M2h0WmlKeDIwVGNyZnMzSDh4bHZ2bkdQUCtYM2h1RzM3RHZuQ2thYzA2blBZZHQwS3I0L2FiYzBreWZtM1B0Mm96NFMzWHNzMS81bVZKRG5rNHgzeWl6OC9tME8zcWN6VjV4MlhkaDA2cHJydmdQeDc1QzNaZEx2ZDg5eGpEK1NvTTMrM1F1L3R3L2p2bnkvTXlEZWVTMDFOVFQ3KzhZK3Y5dnNCdEdTQ01BQUFvSkV6aHQrZjVKM044Zy9lckUwdXVQMjU5Rjkzb3lUSjkvYlpxREJUNnF2SG41OHZmKytuaFNXRmkwMGU5MmJHakg0dTdUdDJ6cVN4cjJmdERiZElrano5cjd2U3NiSnJxbnIwVHBJY2Y5R2Y4K2JMenhaQ3ArVzU2Qzh2WjQxZS9RdkhsOXoxMmxKOUR0eWtMRCs5NFQvdk95UHNGOTg3SVArKysrWWs3eXovWE5Md1I2WVZybkhadldNS3M3Mld0R0QrM01Lc3NFVUxGK1Q3bjk4a0MrYlB6ZUduWHBKcGs4WmwwdHR2NU1ManY1UkJtMitYVCszOWxWUzBhYnRDN3cyQXBpRUlBd0FBbG1uKzNIYzJuMi9YL3QwbGlRc1h6QzhFWWUwN2RzN1hObXVUOXAwNnB5enY3S1BWa0liTW56TTcxeis5S1BzYzlvTmNmUExYTW4vdTdDUko1NjdkYytBeFp6UzZ4NXJyRDg2MWo4OWRvWHJhTExGVThiMTdoQzNwQi90dmxyTHlwWjhMMW12TmRYTFc3eC9NOUNrVGxobStMV3RHV0VXYnhqOHlIZmVMRzlPdFo5OWNkYzZ3VkxScG0vME9QeUZ0MjNWSW03YnRVdDEzUUxwMHIwNVZqOTU1NUs0LzVRY1hObjZTSlFERkp3Z0RBQUNXYWRxa2QvYmg2dHFqVjZGdDBjSUZqUUtwK3ZxNm5QUEhmNmYvT2hzbVNjYTk4YjhNKyt5Z0pNbiszendwKzMvenBBKzhSMWxaMlFvdmpWelM0ajNDeHI3MllxNzh5YmR6NnUvdVN2TE9iSzd6YjMwNjNhcjdaTXFFdDNMOEY3Zkk2WmVQek1DUGJWNFkyN1p0KzJWZWMvR01zUGRhdkZuKzlNbmo4K3lqOTJYUzJOZHp3aVVqY3N3ZUEvUGlFLy9LaERHdlpwTnRkODJqOTl5YW0ydlBUbFdQM2hsNnpJOXl3WEVIWnZDMnUrYXJQL3hGQmd6YWRLWGZJd0FmUFVFWUFBQTBjNWRkZGxsdUd0WDA5eDM3Nmd2cFZ0MG43VHQwS3JRdFdyZ2c3ZG8xRHE3T09uejN0UG4vSllCMWl4WVYycis1YzUrY2M5MGo2ZGwvN2RRdFdwajdiL3Q5L3Z2Z25UbnVGemVtb2szYkQzeHE1UHNadE5rbjhwUHJIaWtjOXhtd2ZpYSsvWHJHdnprNnZkZGFyMUhmRzM1OWV2b09HUFNCSVZSRGZYMlNwTHhzNlJsa1M1bzFiWEorOVlPRHMvK1JKMmZiM2ZkL1oweDVlYjU1K21WNTZxRzc4dW9MVCtTMks4L0xYb2Q4TzU4OTlMdXBxR2lUclhmWk43ZGRlVjU2OWgzNGdkY0dvT2tJd2dBQW9Ka3JLeXRMMmNwblJxdXN2cjR1NWVVVmVlcWh1L0t4TFhkc2RHN0IvTGxwMTZGam83YlRyN2hubVRQQ3BrOGVuMm1UeHVXaHY5K1l1NjYvTk5YOUJ1YUlVeTh0N0p0MTlhTXpDOWVvcTF1VWIreXdSczYvNWVuMDdMOTJKcjM5Um83YmIzQ3UrT2VrUms5dkxLK295TC92dmptWG4zMXNveHBPL2NvN2RWYjE2SjNqdjdoRm8zTkg3dHF2OFBxOVQ1dWNQWE5heXNySzBxNWpweHk0U1ZrNlZWWVZ6czJaTmIyd2oxaGx0eDQ1NjVwLzVwdWY2cDFMVC9sNmtxUnR1dzZObGxNbXljMlhuWjJiTHp1N2NQekRpMjlMeDhxdUFhQjVFSVFCQUVDSld6RC9uVDI2N3ZqOUx6UCt6ZEY1WmRUanVlVHUxL0xQTzYvTE4wKy9yRkhmK2ZQbU5Ob3piSGxPUFhUSDlCbXdmcjc4M1o5bXg4OStxZEc1SlRlamYvMmxwMU5lMFNaOUJxeWZ0dTA3RkdhaGRlall1YkIwY3U3c21Xblh2bU0rc2NjWDg0azl2cmhLN3pWSkZpeVlseVM1NWJjL3llUDNqMGpYTlhxbG91S2RINDErOThDNHRHM2ZJUXZuejhzaFd6VituMjNidFYvbThzbDVjMmJscTl0MldXcnpmUUNhSDBFWUFBQ1VxUHI2dXB4VHMxZWVmL3pCbEpXWDU3WG5uOGdtMisyZS9RNC9JVGY4K3JSMDZWNmRUK3p4aFVML0JmUG5wcUcrZnFrWlllKzNOREpKdnZiRFgrWXpYLzVXeXNzcmtpVG5mbXZmSEhYbTd3cFBqbHpzM3B1dnlPQnRkdm5BL2NLdVB1KzR2UGprUS9uSnRRK25ZMlhYekp3NktZZC9zbWQ2OXZ2Z3BZY1R4NzZlSy80eE1WMjZWeWRKL3Z2QW5VbVNteS83Y1FZTTJyVHdWTXZrZ3pmaFgyeit2RG41N1JsSDV0cy8rME9qOXZmT0RodXd3YVk1NitwL0xQZDZBRFFkUVJnQUFDMWUyV0gzRjd1RTFlcW9vNDVLUTBNeVpOaGx5Kys4RXNyTEs3TCtwdHRtMS8yL25zMjIzNk1RRk4xejgrVzU2L3JmNUVkWDNWY0lzSkprenN6cFNSclA1RXJlZjJsa2tuejhVNThyWEdQZW5GbDUvUDRScWYvL2Zia1dlK0lmZjgxZDExK2EwNis0NTkzR1phd0ZuVDF6V3NhKyttTGFkK3JjcVAyU3UxNzd3UGY1M3IzSTF2N1k1dW5SWjYwY2Y5R3R1ZUxzWTdQbEovY3FuRnM4SSt5RExGcTRJUCs0NDlxbGdyRDMyMndmZ09aREVBWUFBS3Rvay82ZGw5L3BJOURRc1BxVzNCMDg3TjM5ckJZdFhKQ2JMajBqdDExeFhvNDY2L0pzdE5Vbjg5WXJ6MmZCdkxscDM2bHovdldYNjlPNWEvZDA3ZDV6cWV2VUxWcVlKSms4Zmt4aFdXUDdqcDB6K3RuL0ZJS3paeDY1SngwcnU2WmI5VHV6cnViTW1wNFJWNTJmMjY0OEwxLzUvbm5aYU90UEZhN1h1V3UzbEpXVjVkbEg3OHY2bTJ5VHVYTm1adlNveDlKMzRLQkc0VnlTSEx2bjJpdjFuZ2R0dmwxK2Z2T1RlZWFSZXpKbTlIUDUxRDZISmttK2NmS3ZVOUgyblpsdEU4ZStuZzRkT3hlZW5QbmVCd1FBMERJSndnQUFhUEVhaHU5UzdCSmFoVXRQL1hxZWVYaGtUcmhrUkdHVzFKUC8rbnV1UHUrNE5EUTBwSDJIVGpuc3BBdFRWcjcwRXhaZmUvR3AvUEs0b1duYnRuME9PT1pIU1pJRGpqNDlmL2pGRHd0N2tIWG8zQ1ZmT2U2OGxKV1ZaZUxZMTNQY3ZodW51dStBbkhEeDdkbDh4MDgzdWw2bnlxcnMvYlhqOHZOaG44K2loUXVTSkoyN2RNdUJKMTI0MUwxWGRrWllrbFJXclpISDd4K1JRNDQ3TjVWVmF5UkpQdlBsYnhYT1gvRDlBL08vWng1TldYbDVkdHpyNExSdDMzaGovRTZWVlI5NHZLUnYvZlRxYkwzcnZoOVk0NGV4eFQ3SDVoUDk2ek53amJhcjdSNEFyVVZadytyODlWSXJWVk5Ua3lTcHJhMHRjaVVBQUpTQ3hkOS9EaG0yZXIvL25EbDFVc29yS3RLNWEvZWx6dFhWTFVwNWVVWEtQc0xIVjc3Ni9CTlplOE10VnZtYWRZc1c1c2wvL1QxYjdiejNCL1o3NXVHUjJYaWJuUXRQcTF4czRmeDVIN2dNc3FHaElXbG9XR2J3MTl4c3YxYXlwb2RUQWkzQWFhZWRsZ2tUSnVTc3M4NUs3OTY5bHovZ0kyWkdHQUFBa0NTRlBjS1daZkZURlQ5SzYyeTA1WWNhWDlHbTdYSkRzQ1RaZFBzaHkyeGYzbDVnWldWbHk5eXJESUNXcS9uL2FnTUFBQUFBUGdLQ01BQUFnQmJzcVJHWDV0eFRoK1dwcDU0cWRpa0F6WjRnREFBQW9BV3JxMXVZQmZQbnA2NnVydGlsQURSN2dqQUFBQUFBU29JZ0RBQUFBSUNTNEttUkFBRFF6RjE2NmFYNTAzUEZyZ0lBV2o1QkdBQUFOSE1WRlJVcHQ1WURBRDQwL3pzRkFBQUFvQ1FJd2dBQUFBQW9DWUl3QUFCbzVvNDU1cGpjOCt1amkxMEdBTFI0OWdnREFJQm1ycTZ1cnRnbEFFQ3JJQWdEQUlBVzRza1JGeS9WMXJGcmRUNjI4OEdGNC9tenArZjVlNjlaN3JYS0s5cG1zOC9XTFBmNnk3TFpaNDlLZWNXN1AwbzgvWmZmcHI1dXdYTEhiYkxuNFduVHZtUGhlTlJkVjJYaC9ObkxIYmZSYm9lbWZlZXF3dkZ6OTF5ZEJYTm1MSGZjaGp0L09SMjZybEU0ZnZHQjZ6TjN4cVRsamh1MDR3SHB2RWFmd3ZITC83dzVzNmUrdmR4eDYyMjNYN3IwWEt0dy9PcWpkMmI2K0ZlWE8yN05UWGRKOWRxYkZJN2ZHdlhQVEh6bHllV082N1hlbHVtMzhZN1o5Tk9INStOOTZySmU3MDdMSFFOUTZnUmhBQURRekhYczJERno1ODdOcEZlZldlcGM3NzVyWnFjQjd4NVBtYndnLzFoR3YvZHExNzU5bzNGSk1uSUZ4aVhKOW1zMXBPMFNQMGs4K09heldUQi8vbkxIYmROM1VUcFh2bnY4eU5qbk0ydkc5T1dPMjdMWGdxelI0OTNqeDk5K01WT25MRC9RMnV5QWVlblYrOTNqWnlhK25FbGp4eXgzM0g1N2Z6WnJMZkhadkRobGRDYTlObnE1NC9iYVkvZXN0OFM0Tis5NWZabGZzL2ZhYnF2TnN2VVM0LzcrNU50NWZnWEdiVEN3Ny85L0RTdlR2V01hZlUwQVdEYi9WQUlBUUROMzhza25aOXk0Y2NzODE3Rmp4L1R0OHU1eGovWlZPZmJZWTVkN3pmTHk4a2Jqa3F6UXVDUlpxMXVibEpXOWUzeFVUYzBLTGQ5Y3UyZkh0Rm5pSjVBanZ2SDFMRnk0Y0xuakJ2V3JTcnQyN3g0ZjlyVkRzMkRCOG1lZ2ZXeXRIbW5mL3QzalE3OThjT2JPbmJ2Y2NldXYyeWVkbHBoYzlhVUR2NWpaczVjL2MyM2RkZGRLNVJKQjN4ZjMrMXltNzdMVGNzZjE3OTgvNkl6TkZ3QUFJQUJKUkVGVVBaYjRXdXk1NjQ3NStLWWZXKzY0bmoxN0x2VTFCT0NEQ2NJQUFLQ1o2OVdyVjNyMTZyVkNmZHUxYTVmTk50dHNsZTZ6cXVNR0R4NjhTdU0yMm1palZScTM0WVlicnRLNFFZTUdyZEs0OWRaYmI1WEdEUnc0Y0pYRzlldlhMLzM2OVZ1bHNRQjhNRStOQkFBQUFLQWtDTUlBQUFBQUtBbUNNQUFBQUFCS2dpQU1BQUFBZ0pJZ0NBTUFBQUNnSkFqQ0FBQUFBQ2dKZ2pBQUFBQUFTb0lnREFBQUFJQ1NJQWdEQUFBQW9DUUl3Z0FBQUFBb0NZSXdBQUFBQUVxQ0lBd0FBQUNBa2lBSUF3QUFBS0FrQ01JQUFBQUFLQW1DTUFBQUFBQktnaUFNQUFBQWdKSWdDQU1BQUFDZ0pBakNBQUFBQUNnSmdqQUFBQUFBU29JZ0RBQUFBSUNTSUFnREFBQUFvQ1FJd2dBQUFBQW9DWUl3QUFBQUFFcUNJQXdBQUFDQWtpQUlBd0FBQUtBa0NNSUFBQUFBS0FtQ01BQUFBQUJLZ2lBTUFBQUFnSklnQ0FNQUFBQ2dKQWpDQUFBQUFDZ0pnakFBQUFBQVNvSWdEQUFBQUlDU0lBZ0RBQUFBb0NRSXdnQUFBQUFvQ1lJd0FBQUFBRXFDSUF3QUFBQ0FraUFJQXdBQUFLQWtDTUlBQUFBQUtBbUNNQUFBQUFCS2dpQU1BQUFBZ0pJZ0NBTUFBQUNnSkFqQ0FBQUFBQ2dKZ2pBQUFBQUFTb0lnREFBQUFJQ1NJQWdEQUFBQW9DUUl3Z0FBQUFBb0NZSXdBQUFBQUVxQ0lBd0FBQUNBa2lBSUF3QUFBS0FrQ01JQUFBQUFLQW1DTUFBQUFBQktnaUFNQUFBQWdKSWdDQU1BQUFDZ0pBakNBQUFBQUNnSmdqQUFBQUFBU29JZ0RBQUFBSUNTSUFnREFBQUFvQ1FJd2dBQUFBQW9DWUl3QUFBQUFFcUNJQXdBQUFDQWtpQUlBd0FBQUtBa0NNSUFBQUFBS0FtQ01BQUFBQUJLZ2lBTUFBQUFnSklnQ0FNQUFBQ2dKQWpDQUFBQUFDZ0pnakFBQUFBQVNvSWdEQUFBQUlDU0lBZ0RBQUFBb0NRSXdnQUFBQUFvQ1lJd0FBQUFBRXFDSUF3QUFBQ0FraUFJQXdBQUFLQWt0Q2wyQVFBQXdPcFRVMU96UXYxcWEydU5hMFhqQUZnMlFSZ0FBSkNiUmhuWGtzY0JzR0xLR2hvYUdvcGRSRXV6K0xjeWZ1c0NBRUJ6SjFncERVTUhGN3NDZ0JWejJtbW5aY0tFQ1RucnJMUFN1M2Z2SnIrL1BjSUFBQ2dKYjA2Wm45cjd4aGE3akNaMXp6MzM1STBuN2lsMkdRRFFiRmdhQ1FCQXF6VjZ3dHpjK2RUa1hQZndoUHo3bFJsSmtwcGQreFc1cXFaejQ0MDNKa2tHYkxsN2tTc0JnT1pCRUFZQVFLdnkvTmpadWVQSnlibnVrUWw1OG8xWnhTNEhWcnVSRjlWa1pHemRBckFpQkdFQUFMUjRUNzg1T3lPZW1KUnJIeDZmNTkrZTg1NnpEVW5LaWxFV0FORE1DTUlBQUdoeEdocVMvNzQrTTdjL01TblhQandob3lmTS9ZRGVqVU93c3NQdVg2MjFOU2RIdGk5MkJRRFF2TmdzSHdDQUZxZWhvU0V6NXRabDdOUUZtYmVncnRqbEFBQXRoQmxoQUFDME9PWGxaZGwxbzI3WmRhTnVhV2hveUVQL201SHJIaDZmdnp3MUphOU5udmVlM28yWFJqWU0zNlVwU3kycW1wby9GcnNFQUdoV0JHRUFBTFJvWldWbDJYRlFWWFljVkpVa2VlelZtYm4yNGZINXk5TlQ4dEs0T2JFL0dBQ3dtQ0FNQUlCV1pldDF1bVRyZGJya2dpOG56N3c1SzljK1BDRjNQRFU1bzk2YVhlelNBSUFpRTRRQkFOQnFiYnBXWlg2MlZtVitkdUM2ZVduY25Gejc4UGhpbHdRQUZKSE44Z0VBS0FrYjlPbVVNL2RmcDlobE5LbmRkOTg5YTIyeDIwZCszWVh6NTJYMHFNZFdxRzk5ZmVrOXpHRFJ3Z1Y1L1A0UjczditqdC8vc2dtckFXQkpab1FCQUVBcmRlQ0JCK2FtVVIvOWRTZU1mUzBuSGJSTmJueTJZYmw5Yi8zdE9SbjM1dWdjKzVQaGhiYi9QZk5vZm56RWtQeiszek55NisvT1NYbEZtK3g3MkE5U1Z0Nzhmay9mVUYrZlJZc1dac0c4T1prM1oxYm16cDZaV2RPblpPYlVTWmt4YlZLbWpIOHJVOGFQeWVCdGQ4MU9uL3R5a3VUVjU1L0lsZWQ4TzF2dHNzOHlyM25EeGFkbjc2OGQxNVJ2QTREL0p3Z0RBQUJXaXdYejUrWnZmN3drUjUxMWVhUDJ0dTA3Wk83c21VbVNUKzc5bFZ6dy9RUHp3dVAveUFtWHZEdUw2cEc3L3BSZkhqZTBjTnl4YzVkc3ZNMHUrY1pKRjZWbi83V1g2bmZSWDE1T253SHJON3JQKzUzNzN6T1A1cS9YWHBUbkhuc3cweWFOUzBWRm0xVDNIWkJ0ZHRzdmh4eDNicUhmUVp1V3A2SGhuYkN2ckt3czdkcDNUSWZPWGRLeGM1ZDBxcXhLNTY3ZFVsbTFSaXFyZW1UUndnV0ZjUy84OXg4WnZPMnVqV281YU5QeVZQY2Q4TTduTW05T2p0M3ozZmN3ZThhMERIOWsyZ3A5cHNzeVpGaHRoZzVlNWVFQUpVVVFCZ0FBckJaMzMzQlorZzRjbEsxMjNydFJlL3NPblpJa0N4Zk1UM1hmQVRsaitBTVovZXgvTW5YaTIrbmVzMitqdnFkZmNVOTY5RmtyNDk3NFg2NzY2YkNjYy9Sbjg4dmJScVdzYk5XZUJucnpaVC9Pbnk3N2NYYjd3amR5ek5sWFpZM2UvVE4zMW95ODlzS1RlZW1waHh2MWJXaG95TGszUHA0MTE5czRiZHQzV09GN1BINy9IWG51c1FkeS81K0hKMGxPdTN4a09uYnVta3Z1ZWkxSmN1ZzJsWVhYU1hMWWR0MVc2YjBBc1BJRVlRQUEwRXJkYzg4OWVlUHRaTUNXdXpmNXZXZlBtSnBiZi9mVG5IanBIWG5yMVJmeW0xTy9rVU9QUHovVEo0L1BtTkhQSlVrdSt1R1hNMjN5K0V3ZTkyYW1UaGliZGgwNzVmSUh4amNLbmFyN0RraWZBZXVuNzhCQm1Ucnh4RngyK2hHWk11R3Q5T2k5NWtyWGROK3RWK1dtUzgvTThiLys4MUxoM1BxYmJwc2hRNDljYWt6SHlxNHJGWUtOSC9OS1huL3A2ZnpoOFRtWlAyZDJqdGx6N2F5ejBaYVpPM3RHanRydG5ab1h6SnRUZUExQTB4S0VBUUJBSzNYampUY21XWDFCMklHYkxIdFcxcldQejgyMUY1eVlyWGJaTytzTjNqcS8rTjRCNlROZy9menR1b3N6WmNKYnFlNnpWcEprM2NGYlorREhOa3QxM3dIcDBXZXRkTzd5d1RPakZzNmZsN2J0MnFleWFvMlZyclcrdmk1L3ZQRGtEQmw2NUZJaDJBY1o5dGxCSzlUdmdoSFBwLzg2RytiMks4L0xwL1k1TlA5OTRNNU1uZmgyTnQ5aHoxUldyWkVEanY1UmhoN3pveVR2ekFpNzdONHhoYkUzWFhybXlyMFpBRmFaSUF3QUFGZ2xGNHg0ZnBudGJkcTF6K1AzajhqMHlSUHl3RzFYcDBPbnl2enFqaGZTcmJwUG9jOGpkOStjclhmZE4ydXQvKzdtVmczMTlhbXJXNVEyYmRzdGRjM1hYbmd5dHc4L1B3Y2NmWHBoYWVYS2VQWDVKekp0MHJoc3QrY0JLelh1SjljK25BZEhYSk5KYjcrUm1qTi90OVQ1Ky84OFBMZGRlVjVoLzY4TnR0Z2htMnk3YTQ0ZU1pQy91ZWZOYlBuSnZRcExIKys4K29Ja3lmeTVzNWRhRHZuWWZiZmwzSnYrdTlMdkswbEdYbFNUa1VscWEydFhhVHhBS1JHRUFRQUFxNlQvT2h1Kzc3a0xSanlmTm0zYjVhU0R0ODFudm5Sc0lRUnJxSy9QcExmZlNLZktxdHg3OCtVcHI2akkyNisvbkhGdi9DL2p4N3lTdzArNU9MdDk0ZkRDZFk3YmIzQWFHaHBTdDJoaE50aDgrMnk4OWM2clZPdlVDV09USk4xNzlXdlUvcDI5UDVaSlkxOHZIUC95OXVmU2U4MTEwMUJmbnlUcDFyTnZkdnZpRVRubHk5dWxybTVSb3lXWmRYV0w4c0J0djgrUW9VY1d3cm1kOS8xcTRmeml2aDltSTN3QVBscUNNQUFBNENQWHFiSXFOMXg4ZXJwVTljaVFvVFZKa2hNTzNDcHZ2dnhzMnJYdm1QcjZ1cnp3eEwreStRNTdadHZkOTArWDd0VlpmNU50VXRXamQ2UHJuSERKaUZUM0haQjVjMmJsNWFjZXljK08zU2U3Zi9HSWZPWDc1eVZKeXNyTGs2VHdkTWNsTFc0cnI2aEl4ODVka2lTenBrOXAxT2ZrMy93bGl4WXR6Tk1QM1pXcmZ2cWRRZ0EyYis3c0pFbUhUcFhwMlc5Z050MStTSzc5NVFrWmR1NjFoYkYvdWViQ3pKdzJPWjgvNHNUbGZoNUg3YlptNnVvV3ZlLzUydnZlU25sNXhYS3ZBOENISXdnREFBQStjazgvZkhkdXYvSzhISEhhcGJucmh0OWt4cFFKT2ZZbnc5T3R1ays2ZHUrWjRULzdidXJyNjNMd3NMTXpmZkw0bkhySURqbjRPei9Kam5zZDNPZzZ2ZGRjTjMwR3JKOGtXVy93MW1sb2FNanduMzBubnovaXhGUldyVkhZVjJ6NjVQSHBPN0R4Zmw0enAwMUtXVmxadW5TclRwZXFIcWxvMHpaUFAzUlhQcmJGRHU5ZWY2MzFraVJ2dnZ4c283RlRKNDVOMi9ZZEN2dVJmZjNFQy9QREE3Yk1QKzc0UXo2NTkxZnk0cE1QNVk4WG5wenZuSGZkY3ZjMlM1SnBrOGJsMmlmbXBhS2lUZjcwbTdQeWhacFRDc0hYd1p1MVdXYVFCOEJIcjd6WUJRQUFBSzNQQTdkZG5mcjYrdHgrMWZsNTlwRjdVbG5WSXdNR2JacXUzWHNtU1RiWVl2dU0rcy85bVR6dXpaejVqZDJ5d1JiLzE5NmR4dGxaRUdZZnZtY21rMGxtSnBuc3lVQWdnV3hJQ0lRbFlZbklYbEJSTVN5Q0NGS3B4YnJXVndTdDhyNHRxRzJ0UzFXc1lLbUNsWUlLS0lzVjJRUVhrRDFnSUJDSUpJR0VaTElNMlROWnpuay9wRVFSa0tVemVYTE91YTVQekhPMk8veCt3SmsvenpuUFFUbm9tSGU5NHZPV3k2VVgvTHpMRy9aT1E2L0cvT2EvcjNqUmZYOTcwMVhaZWZ5ZTZkdlNMMzFiKytmdzZXZm1odTk5TlU4LytjZ3J2czc4MmIvTGpydnNscnE2TFJjRUdMSHoyUHpOK2YrUmkvN2YrL09UUy80cC8vaUJ0K1J0WjV5ZC9ZODYvczgrejdMRno3emc1NDFkNjNQVnQ4NVBYWjFmeFFDSzRJd3dBQUNnMjUzNTJRdnp3YzkvTncwTkwvMHJ4MTdUanM0M1BuVmF6amxoNzd6cGJhZmw5RTkrT2JmODZOdHBIelV1ZSt4LytOYjdMWDEyZnBJdEFlbXhCMytUSDMzejd6UHRMYWRzUFZPcnBmL0FISDN5Qi9QZjMvOWFTcVhOMmZ2Z3QyVHo1azM1MWZYZnp5UDMvQ0puZiszSFc1L3I5SE8rbkFXL241WFB2dWVnSEh2Nng3UFh0S1BUMmpZb25SMExjK2VOUDNqQnZvZnZ1am03N2ZQR0Z4dzc0QzlPeUs5L2RrWCs2MTgvblpGamRzLzBzejd6Wi84ZXpIN29ybnp4dysvSXYxenowTlpqTSsvNVJWcmFCcVpqd1ZNWlBuTFhWL0YzRW9EdUpJUUJBQUF2YWVPR3JxenNYUEtpNHl1V0xVN3k0ck9kL3RqZzRTUFQyYkV3c3grNks0L2U5OHZNdXYrWCtlZy9YNTZSWTNiUGtnVno4LzJ2bkp2Tm16Wm14S2h4ZWUrNVc2Nm1lTjh2cnMyZUJ4NzFnaEIyL3BsSEpFa2FHbnBsMk1oZGN1d1puOGc3M25mT0MxN3J2ZWQ4SlFPSHR1Y1hQLzV1ZnZIajc2WlhZKy9zOG9hOTg2bC8rMm4yUHZqTlcrL1gxS2M1NS8zSExibnQ2a3R5eDdYZnl3MlhmU1ZkNjlhbTM0REJHVFZocjV6NW1Rc3pwSDNuckYyOUlyLzUyWlg1MUlYWGIzM3NqRi9mbUI5ODQ3d3NuUHQ0M3ZYaDgzUDd0WmZsYjk4NklXODU3V041MDl0T2U4RjNtNjFkdlNKSjh2bS9QanFubmYybERCemFubis1NXFITXV1K1h1ZWovbnBtcFI3d3pmM2ZLL3BrODdaaE0vK3UveTc5Yzg5RExCa01BdXBkLzJ3SUFBQy9wc2Z0L2xRdmVmOVRMM3Y0M1IrejBzcmZ0c3ZzK21mLzR3eGs3YVdwMm4zSklUdm5ZRjlLMWZtMitkZDZaK2ZWUEw4L1VJOTZaQy83ejEvbkNCOTZjcXkrNklNZWU4WW5NbVhsZnB2LzFsck9zRHZpTEUvTERtYS91ZTdQcTZ1dnpqalBQelR2T1BQY1Y3OXZRMEN0SG5mU0JISFhTQjE3MlBwZDk4ZitrZmVkeEdUUmlaSzYrNklMODhvYnZaL0g4T1RuNDJGTno5dGQvbk1IRFIrWnRmM2wyZm5iNU4zTGRkNytVNzMvbDNPeTYrNzU1ODZrZnladmVkbHJtL083ZU5MZTI1Wk5mLzNGMjJYMmYvUHpLZjh1ZFA3c3l6OHg1TkIvNGgwc3k1WWpqOHA1UGZESFhmL2RMK2ZUSlU3UDN3Vy9PS1IvN3d0YnZRZ09nNXdoaEFBQlFwWTQ0NG9qTVh2YjZ2NFI5NHY2SDVYdjNySHBkajMxMjNoTnBIelV1ZlpwYmt5Uy91dUh5ZlBIRGI4L1VJOStaejExK1YzWjV3OTVKa25NdXZDNWYrZmdKdWVxaUM5SSthbHpHN1hYQTY5N2JYWFlZUFQ2SHZQMzBsRXVsM1BuekgrYUFvNDdQa1NlZWxhRTdqTnA2bjk1TmZmT085NTJUdDU3MnQ3bjN0bXR6NzIwL3ljU3BoeVZKSmgxNFpQNzFoc2N5WU1pSWJONjBNVFB2dmkzN0hISnN6djNtOVdsdWJVdVN0UFFia0pNLytya2NmZklIODZOdi9jUFc3eUlEb0dmVmxWMmU1RFU3NjZ3dGwzKysrT0tMQzE0Q0FBQi8zbzllK1h2aHQ0bHlxWlRubGk3S3dHRTd2T2kyOVd0WDUvZVAzcC9SdTAzZUdvcDQ5Vzc1dXQ5UGdNcHgzbm5ucGFPakkrZWZmMzZHRHgvK3lnL29aczRJQXdBQWVseGRmZjFMUnJBazZkUGNtdDMzTzJRYkw2b2VSMzcwNHB3NHNlZ1ZBSlhCTlhzQkFBQUFxQWxDR0FBQVZLbGJiNzAxOHgrOHRlZ1pBTERkOE5GSUFBQ29Vai84NFErVEpEdnZmVVRCU3dCZysrQ01NQUFBZ0FwMnk5ZlAybnBCTHdEK1BDRU1BQUFBZ0pvZ2hBRUFBQUJRRTRRd0FBQUFBR3FDRUFZQUFBQkFUWERWU0FBQXFISVAvdVJyR1hQZ2Nlay9mTlRXWTAvZTlaT3NXanp2RlIvcmNaWDlPQUJlU0FnREFJQXExZHJhbXRXclYyZlovRWZ6NXFPUHpOaWQvM0RiM0p2bVo5bjhSMS94T1NyMWNWZGQvRWdHZE0zZjduZDIxK09hbTV0ZjhUa0FTT3JLNVhLNTZCR1Y1dmxMRTE5ODhjVUZMd0VBZ0plM2ZQbnlMRnk0TUVreWV2VG90TGEyYnIxdDNyeDVXYlZxMVNzK1I2VStidWhmWHBNK1daK2ZmV0xQN1hwbmR6MXUrUERoR1RwMDZDcytEMERSemp2dnZIUjBkT1Q4ODgvUDhPSER0L25yT3lNTUFBQ3ExS0JCZ3pKbzBLQ1h2RzNVcUZFdmVmeVZWTXJqbHBhMy9MbjMyR09QYmZKNmxmSTRnRnJueS9JQkFBQUFxQWxDR0FBQUFBQTFRUWdEQUVoU2Q4YnRxVHZqOXFKbkFBRFFnNFF3QUFBQUFHcUNFQVlBQUFCQVRSRENBQUFBQUtnSlFoZ0FBQUFBTlVFSUF3QUFBS0FtQ0dFQUFBQUExQVFoREFBQUFJQ2EwS3ZvQVFBQVJiajFrYzc4N0hmTFgzVDg3Q3ZuYlAzckE4ZjB6L0ZUaG03TFdRQUE5Q0FoREFDb1NiMGE2dkxsRzU5KzBmRS9QbmJOUnladXkwa0FBUFF3SDQwRUFHclN0SEZ0R2RUUytMSzM5Ky9Ua0xmdU5YZ2JMZ0lBb0tjSllRQkFUZXJWVUpkMzdmL3lIM3M4Y3VMQTlPN2xyUklBUURYeDdnNEFxRm5UOTMzNUVIYmlsR0hiY0FrQUFOdUNFQVlBMUt5RHg3ZWxmOThYZjJWcVMxTkRqdHQzU0FHTEFBRG9TVUlZQUZDem1ocnJjOEorTHc1ZWg3OWhRUG8wZXBzRUFGQnR2TU1EQUdyYThmdTkrT09STDNVTUFJREtKNFFCQURYdDBOMEdwS1dwWWV2UGZSc2JoREFBZ0NvbGhBRUFOYTI1cVNISDdUTjQ2OCtIN05hVzFqNE5mK1lSQUFCVUtpRU1BS2g1Sit6M2h5dEVIcmVQTDhrSEFLaFdMNzVNRWdCQWpUbGk5NEhwMDFpZlVxbWNrNmI2V0NRQVFMVVN3Z0NBbXRldmIwT08zV3R3bHEvWm1JRXRqVVhQQVFDZ2h3aGhBQUJKVHRwL2FCWTl0NkhvR1FBQTlDQWhEQUMyUStWeU9VOC8vWFRtelp1WE9YUG01T21ubjA1bloyZldyMStmelpzM0Z6MnZLbTFJNzVUS2RUbnJxcTZpcDFTbCt2cjZORFUxWmRDZ1FkbHh4eDB6ZHV6WWpCbzFLanZ2dkhQcTYzMXRMUUN3YlFoaEFMQWQ2ZXpzek4xMzM1MDc3cmdqeTVjdkwzcE9UZW1kRFVsZDBTdXFWNmxVeXJwMTY3Smd3WUlzV0xBZzk5eHpUNUprd0lBQk9mamdnN1AvL3Z0bjZGRGZ6d1lBOUN3aERBQzJBMnZYcnMxTk45MlVtMjY2YWVzWlgzM2JocVd0ZlpjTWFCK2Ivc05IcDIvL1FXbm8zVGYxOVEwRnI0WFhybFRhbk0wYjFtZjlxdVZaMlRFdnp5MThNaXNYUFpYbk9oZmwrdXV2ejA5Lyt0TWNkdGhoZWN0YjNwTFcxdGFpNXdJQVZVb0lBNENDUGZ6d3c3bjAwa3V6WnMyYTFOVTNaTVNFcVJrNTZaQzB0WTlKWFoxVGxLZ085ZlVOcWUvVGtzWStMZWszZEtmc09QR05LWmZMV2RreEw4ODhmSHNXejc0M3Q5NTZhKzY4ODg2Y2V1cXBtVEpsU3RHVEFZQXFKSVFCUUVFMmJkcVU2NjY3TGovLytjK1RKRU5HVDhxNGcwOU15OERoQlMrRGJhT3VyaTV0dzBlbjdhZ3pzdXYrYjhzVHYvcFJPdVk4bUVzdXVTUlBQUEZFVGp6eHhEUTJ1b29uQU5COWhEQUFLTURHalJ0enlTV1haTWFNR1dsbzdKUGREbnQzMm5mYnYraFpVSmkrL1Fkbno3ZCtJRXQrUHlPUDNIeFo3cmpqaml4YXRDZ2YvdkNIMDd0Mzc2TG5BUUJWd2lWNkFHQWIyN2h4WXk2NjZLTE1tREVqZmR1R1p1cTdQaTJDd2Y4WXV1dms3SC9LWjlNeWVJYzgvdmpqK2RyWHZwYXVMbGZ5QkFDNmh4QUdBTnRRcVZUS1paZGRscGt6WjZaNXdQRHNkOEluMHpKb1JOR3pZTHZTdC8vZzdEdjlFK2szWktjOCtlU1QrZmEzdjUxU3FWVDBMQUNnQ2doaEFMQU4zWGpqamJuMzNudlRwLy9nN0hmQ0o5UFUwbGIwSk5ndTllN2JtbjJtZnp3dGc5b3pjK2JNWEhQTk5VVlBBZ0NxZ0JBR0FOdkk0NDgvbm11dnZUWU5qVTNaNjlnUHBuZHp2Nklud1hhdHNVOUw5anIyZytuVjFEYzMzM3h6SG5qZ2dhSW5BUUFWVGdnRGdHMWcvZnIxdWV5eXk1SWtiemo4UGVrM1pHVEJpNkF5TkE4WWxrbkh2RDlKY3VXVlYyYnQyclVGTHdJQUtwa1FCZ0Rid0hYWFhaZGx5NVpsMk5oOU1tTEMxS0xuUUVVWlBHcGlkdHpqNEt4WXNTSlhYSEZGMFhNQWdBb21oQUZBRDF1MGFGRnV1KzIyTlBacHlXNkh2YnZvT1ZDUnhrNmJudDdOYmJuMzNuc3piOTY4b3VjQUFCVktDQU9BSHZhVG4vd2s1WEk1by9kN2MzcjM5YjFnOEhvME5qVm4zQnVucDF3dTU2cXJyaXA2RGdCUW9ZUXdBT2hCYytmT3pZTVBQcGcrL1FabHA4bUhGejBIS3RydzhWUFNQR0I0WnMrZW5WbXpaaFU5QndDb1FFSVlBUFNnVzIrOU5Va3lldDlqVWwvZlVQQWFxR3oxOVEwWmM5QnhTWktiYnJxcDREVUFRQ1VTd2dDZ2gzUjJkdWErKys1TFk1L1c3REJ4V3RGem9Db00zV1hQTkxXMFpkYXNXZW5vNkNoNkRnQlFZWVF3QU9naGQ5NTVaMHFsVXRyZmNFRHFHM29WUFFlcVFuMURyK3c4K2NpVXkrWGNjc3N0UmM4QkFDcU1FQVlBUGFCY0x1Zk9PKzlNa3V5MDEyRUZyNEhxTW1LM3FVbVNHVE5tcEZRcUZid0dBS2drUWhnQTlJQzVjK2RtNmRLbDZUOXNWUHIySDFMMEhLZ3FUUzBETW1pbjNiSml4WW84OXRoalJjOEJBQ3FJRUFZQVBlREJCeDlNa2d3ZE03bmdKVkNkUmt6WVAwbHk5OTEzRjd3RUFLZ2tRaGdBOUlBWk0yWWtTWWFQbjFMd0VxaE9nM2JlUFVreWUvYnNncGNBQUpWRUNBT0FiclpzMmJJc1hydzRmZm9QVG5QYjBLTG5RRlhxMHpvZ0xZUGFzM3o1OGl4YXRLam9PUUJBaFJEQ0FLQ2JQZm5razBtU0FlMWpDMTRDMVczSTZFbEprb2NlZXFqZ0pRQkFwUkRDQUtDYnpaa3pKMGt5Y01keEJTK0I2alpnaHpGSmtxZWVlcXJnSlFCQXBSRENBS0NiUFIvQzJ0ckhGTHdFcWx2cjRKRkprZ1VMRmhTOEJBQ29GRUlZQUhTanJxNnVMRml3SUEyTlRXa1oxRjcwSEtocWZmb1BUcSttdmxteVpFbldyVnRYOUJ3QW9BSUlZUURRalpZc1daSnl1WnptZ1NOU1YxZFg5QnlvYW5WMWRlazNiRlRLNWJLendnQ0FWMFVJQTRCdXRIVHAwaVJKMy82REMxNEN0YUZsNElna3ljS0ZDd3RlQWdCVUFpRU1BTHBSUjBkSGtpMGYyUUo2WHZPQVlVbVNaNTk5dHVBbEFFQWxFTUlBb0JzOWYwWlljOXV3Z3Bmd3B6WjJyYytjUis1N1ZmY3RsVGIzOEJxNlM1OStnNUlrbloyZEJTOEJBQ3FCRUFZQTNXakZpaFZKa3FhV3RvS1g4S2M2RnM3TnA5ODE1VlhkOThmZi9rSysrWmt6WG5Ec3lkL2RrL2Z1MzMvTDdmLytoVno3blMrbVhDcDE5MHhlbzhZK3JVbVNOV3ZXRkx3RUFLZ0VRaGdBZEtQblExanY1djRGTCtIMTJ0QzFMamRlOGMwYzhCY252T0I0WTFPZnJGdXpLa2x5OExIdnlUMjNYSk12ZnVRZFJVemtqelQyYlVtU3JGNjl1dUFsQUVBbDZGWDBBQUNvSnF0V2JRa2xUVUpZeGJyNUJ4ZWxmZFM0N0h2SXNTODQzdFNuT1VteWNVTlhoclR2bkwrLzlJN01tWGx2T3BjOG00RkQyNHVZU3BMR3BpMGh6QmxoQU1DcklZUUJRRGRhdjM1OWtxUytzYW5nSmJ3ZWExWjI1c2YvL28vNTFML2RrQVZQUFpadmZmWjlPZTJUWDhxS1pZdnp6SnhIa3lSZlArZmRlVzdaNGl4YjlIUTZPeGFtZDkvbVhITEg0alEyOVNsNGZXMnE3OVdZSk5tNGNXUEJTd0NBU2lDRUFVQTMyclJwVTVJLy9ITE85dWVrUGVwZTh2amw5Ni9MNVYvOVZQWTk5TmlNbWJoZnZ2enhFekppNTdHNThiOHV6UEtPQlJreVlxY2t5YTRUOTh1b0NYdG1TUHZPR1R4aXA3VDBHN0F0NS9NbjZodTJ2SjE5L3A4OUFJQS9Sd2dEZ0c2MFljT0dKSC80NVp6dHoxZXZuL1dTeDN2MWJzcjl0MStmRmNzNmNzZTEzMHVmNXRiODZ3MlBaY0NRRVZ2djg5dWJyODUraDcwOU80MmR1UFZZdVZUSzVzMmIwcXV4ZDQ5djU4WHE2eHVTQ0dFQXdLdmpYVG9BVUZOMjNHVzNsNzN0cTlmUFNxL0czdm4weVZOenpDa2YyaHJCeXFWU2xqNDdQODJ0YmJudDZrdFMzOUNRWitjOWtVWHpuOHppWjM2Zk16OXpZUTZmZnVhMitpUHdBbHZPOEN1WHl3WHZBQUFxZ1JBR0FOMm9zYkV4WFYxZEtXM2V0UFZNRlNwSGMydGJmbkRoLzAyL3RzRTU4c1N6a2lUbm5yUnZubjVpWm5vMzlVMnB0RG1QUGZpYjdIWFFYMlRxRWU5TXY0RkRNbmFQS1drYlBMemc1YldyVk5weUpsaGpvNDhqQXdDdlRBZ0RnRzcwZkFncmI5cVkrTUw4aXZQd1hUZm51dTk4TVg5MTNyL2xwaDk4S3l1WGQrUkRuNzgwQTRhTVNQK0JRM1BwUC8xdFNxWE5PZm1qbjh1S1pZdnoyVk1QeXNrZiszeW12Zm5rb3FmWHJOTG16VW1TWHIyOHJRVUFYbGw5MFFNQW9KbzBOVzJKWDVzM2JTaDRDYS9ISGRkK0w2VlNLZGQ5OTB1WitkdGIwOW8yT0R1UG01VCtBNGNtU2NaUFBqQ1AzSHQ3bGkxNk92L3d2c016ZnZKQk9laVlkeFc4dXJhVk5tKzVXcVF6d2dDQVY4UC9PZ09BYnRTL2YvOHNXN1lzRzlhdVRKOStnNHFldzJ0MDVtY3Z6QWMvLzkwMHZNekZEdmFhZG5TKzhhblRjczRKZStkTmJ6c3RwMy95eTdubFI5OU8rNmh4MldQL3c3ZnhXcEprMC9vMVNaTG01dWFDbHdBQWxVQUlBNEJ1MUw5Ly95UkoxOXFWQlMrcFhSczNkR1ZsNTVJWEhWK3hiSEdTWk5uaVoxNzJzWU9IajB4bng4TE1mdWl1UEhyZkx6UHIvbC9tby85OGVVYU8yVDFMRnN6Tjk3OXlialp2MnBnUm84Ymx2ZWQrTlVseTN5K3V6WjRISGlXRUZXVEQvNFN3MXRiV2dwY0FBSlZBQ0FPQWJ0VFcxcFlrMmJCbVJjRkxhdGRqOS84cUY3ei9xSmU5L1crTzJPbGxiOXRsOTMweS8vR0hNM2JTMU93KzVaQ2M4ckV2cEd2OTJuenJ2RFB6NjU5ZW5xbEh2RE1YL09ldjg0VVB2RGxYWDNSQmpqM2pFNWt6ODc1TS8rdlA5TVFmaFZkaDQ3clZTWktXbHBhQ2x3QUFsVUFJQTRCdU5HVElrQ1RKMmhVZEJTK3BYUlAzUHl6ZnUyZlY2M3Jzcy9PZVNQdW9jZW5Udk9Yc29sL2RjSG0rK09HM1orcVI3OHpuTHI4cnU3eGg3eVRKT1JkZWw2OTgvSVJjZGRFRmFSODFMdVAyT3FEYjl2UGFkSzN1VEpJTUhEaXc0Q1VBUUNVUXdnQ2dHdzBiTml4SnNuN0Zzb0tYMUs3NitvYXRJZXUxZWo1MFBlK05iemtsZTB3OUxBT0g3ZkNDNHhPbkhKcHYzalEzdjMvMC9vemViWExxNnh0ZTkxNytkOVkrdCtVanIrM3Q3UVV2QVFBcWdSQUdBTjFvOE9EQlNaSjFxNFN3YWxCWFgvK2lDUGE4UHMydDJYMi9RN2J4SXY3VW1zNUZTWVF3QU9EVnFTOTZBQUJVazZGRGg2YXVyaTVyT3hlblhDNFhQUWVxV3JsY3pxcU8rVW1TSFhmY3NlQTFBRUFsRU1JQW9CdjE3ZHMzN2UzdDJiUmgzZGFQYkFFOW8ydjE4bXhjdnlaRGhnenhaZmtBd0tzaWhBRkFOeHN6Wmt5U1pNV3p2eTk0Q1ZTM1ZVc1hKSEUyR0FEdzZnbGhBTkROZHQxMTF5Uko1NExaQlMrQjZ2WjhiTjVsbDEwS1hnS2phb1Z2QUFBSmhrbEVRVlFBVkFvaERBQzYyYmh4NDVJa3p5MmNVL0FTcUc1TDUvNHVTYkxubm5zV3ZBUUFxQlJDR0FCMHM2RkRoMmJJa0NGWnQ2SWo2MWN0TDNvT1ZLV3V0U3V6ZXVrekdUQmdnSTlHQWdDdm1oQUdBRDFnOHVUSlNaTEZzKzhyZUFsVXArWHpaeVZKeG84ZlgvQVNBS0NTQ0dFQTBBUDIzbnZ2SkVuSG5BY0xYZ0xWYWRIajl5Ukpwa3laVXZBU0FLQ1NDR0VBMEFOMjNYWFhEQmd3SUNzV1BaWDFxenVMbmdOVlpjUGFWVmsyNzVHMHRyWm0wcVJKUmM4QkFDcUlFQVlBUGFDK3ZqN1RwazFMVXM0ekQ5OWU5QnlvS290bTM1dWtuTW1USjZldXJxN29PUUJBQlJIQ0FLQ0hISGpnZ2FtcnE4dkNSKzlLYWZPbW91ZEFWU2lWTm1mK2pGdFNWMWVYd3c4L3ZPZzVBRUNGRWNJQW9JY01IVG8wa3lkUHpvYTFLN0xvOGJ1TG5nTlZZZG04UjdKKzViS01Iei9lMVNJQmdOZE1DQU9BSG5UVVVVY2xTZWJlZDJQS3BjMEZyNEhLVmk2Vk11ZXVhNU1rUng1NVpNRnJBSUJLSklRQlFBOGFNMlpNSms2Y21MWFBkZVNabWI4cWVnNVV0STQ1RDJiMTBtZXk2NjY3WnM4OTl5eDZEZ0JRZ1lRd0FPaGgwNmRQVDExZFhaNjY1Nyt6c1d0dDBYT2dJbTNhc0Q1UC9QcnFKTW54eHg5ZjhCb0FvRklKWVFEUXcwYU9ISmxwMDZabHc5b1ZlZnlPSzR1ZUF4WHA5Nys5THV0WExjdmVlKytkc1dQSEZqMEhBS2hRUWhnQWJBUFRwMDlQVzF0YkZqMTJkNWI4L3VHaTUwQkY2Vnp3Uk9iUHVEV3RyYTA1OWRSVGk1NERBRlF3SVF3QXRvR1dscGFjZHRwcFNaSkhidjVPMWo3WFVmQWlxQXpyVjNmbTRmKytLRWx5NG9rbnBsKy9mZ1V2QWdBcW1SQUdBTnZJcEVtVGN2VFJSMmRUMTdyTXVQNmIyYmgrVGRHVFlMdTJhY1A2UEh6RHQ3SngzZW9jZlBEQk9lQ0FBNHFlQkFCVU9DRU1BTGFoNDQ0N0xwTW1UY3JhemtWNTRKcXZac082MVVWUGd1M1NwcTUxbVhIZE43S3lZMTdHamgyYmQ3LzczVVZQQWdDcWdCQUdBTnRRZlgxOTN2Lys5MmZzMkxGWnRmVHAzSC9ObDdOdTViS2laOEYycFd2TmlqeHc3ZGZ5M01JbnM5Tk9PK1ZESC9wUTZ1dTliUVVBL3ZlOG93Q0FiYXlwcVNrZis5akhNbUhDaEt4WnRqQjNYL0c1TEozN3U2Sm53WGFoODVuSGMvZC9YWkNWaTU3S3FGR2pjdmJaWjZlNXVibm9XUUJBbFJEQ0FLQUF2WHYzemtjKzhwRk1tell0bTdyV1pzWjFGK2FSbTc2YmRhdVdGejBOQ3RHMVprVm0zWFo1N3IvbUs5bXdibFdtVEptU3M4OCtPMzM2OUNsNkdnQlFSWG9WUFFBQWFsVmpZMk5PUC8zMGpCOC9QbGRlZVdXZWZleTNXZnpFZlJtNTU2RnAzKzJBdEE0Wm1icTZ1cUpuUW84cGw4dFowN2tvaXg3N2JlYlB1QzJsVFJ2UzFOU1U0NDgvUG9jY2NralI4d0NBS2lTRUFVREJEampnZ095eHh4NjU1cHByY3RkZGQyWCtnN2RrL29PM3BIWEl5QXdlTlRGdHczZEp5K0QyOUc1dVMwTmo3OVRYTnhROUdWNnpVbWx6U3BzMlpNT2FsVm5UdVNnckZ6K1ZaZk1lemNxT2VVbTJmSC9lMUtsVGMvenh4MmZBZ0FFRnJ3VUFxcFVRQmdEYmdkYlcxcHgrK3VrNTVwaGpjdHR0dCtXQkJ4N0lpcVhQWlBYU1o0cWVCajJxdGJVMSsrNjdidzQ5OU5Ec3NNTU9SYzhCQUtxY0VBWUEyNUZodzRibDVKTlB6a2tublpRbm5uZ2lzMmZQenR5NWM5UFIwWkdWSzFkbXc0WU5LWlZLUmMrRTE2eSt2ajZOalkxcGEydkxrQ0ZETW5yMDZJd2ZQejdqeDQ5UFE0T3pIQUdBYlVNSUE0RHRVSDE5ZlNaTW1KQUpFeVlVUGFVbVhIUGZraHgvNFNOSnlpbGZlbGpSY3dBQTZDR3VHZ2tBQUFCQVRSRENBQUFBQUtnSlFoZ0FBQUFBTlVFSUF3QUFBS0FtQ0dFQUFBQUExQVFoREFBQUFJQ2FJSVFCQUFBQVVCT0VNQUFBQUFCcWdoQUdBQUFBUUUwUXdnQUFBQUNvQ1VJWUFBQUFBRFZCQ0FNQUFBQ2dKZ2hoQUFBQUFOUUVJUXdBQUFDQW1pQ0VBUUFBQUZBVGhEQUFBQUFBYW9JUUJnQUFBRUJORU1JQUFBQUFxQWxDR0FBQUFBQTFRUWdEQUFBQW9DWUlZUUFBQUFEVUJDRU1BQUFBZ0pvZ2hBRUFBQUJRRTRRd0FBQUFBR3FDRUFZQUFBQkFUUkRDQUFBQUFLZ0pRaGdBQUFBQU5hRlgwUVArTjQ3NDV4bTViZFp6QmJ6eUtVbVNiNTl4ZXdHdkRRRDBwRHIvZlFjQXFGb1ZmVVpZTVJFTUFLaGE1YUlIQU4xcGp4MWJpcDRBd0hhbW9zOEllMTc1MGtPMzZldWRkZFpaU1pLTEw3NTRtNzR1QUFBQUFLOWZSWjhSQmdBQUFBQ3ZsaEFHQUFBQVFFMFF3Z0FBQUFDb0NVSVlBQUFBQURWQkNBTUFBQUNnSmxURlZTT0w4dnpWSXdFQUFBRFkvamtqN0hVWVBYcDAwUk1BQUY3V3VuTGZvaWNBQUx5c3RyYTI5Ty9mdjVEWHJpdVh5K1ZDWHJrYjFKMXhlNUtrZk9taGhlNEFBTmhlck8zYW5MLzZ6dVA1cjcvWnZlZ3BBQURiSFdlRUFRQlVrVi9NZWk0M1BMUXNYUnRMUlU4QkFOanVDR0VBQUZYazZ2dVhaTlg2emJuMndhVkZUd0VBMk80SVlRQUFWYUpyWXluZis4M2lKTW5WOXdsaEFBQi9TZ2dEQUtnU3Yzejh1V3d1YmZuNjE1dG5Mcy9HVFQ0ZUNRRHd4NFF3QUlBcThlTUgvbkFXV09mYVRmbjV6TTRDMXdBQWJIK0VNQUNBS3JCeFV6ay91THZqQmNmKzlHY0FnRm9uaEFFQVZJRTduMXlSNVdzMnZlRFl6MmN1My9wUlNRQUFoREFBZ0tyd2t3ZGUvT1g0UzFadHpHMlArbmdrQU1EemhEQUFnQXEzdVZUT0ZiOTk2WTlCWG5uM2ttMjhCZ0JnK3lXRUFRQlV1THZuck16aWxSdGU4clliZjdjOFpaK09CQUJJSW9RQkFGUzg2MllzZTluYkZqN1hsVi9OZm00YnJnRUEySDRKWVFBQUZheFVLdWZ5T3hmLzJmdGM4VnNmandRQVNKSmVSUThBQU9EMW03KzhLeFBhbXpPaHZUbEo4c2lDTlZtMFlrTW03dGlTRVcyOWt5VHJObXo2YzA4QkFGQXpoREFBZ0FvMmVraWYzSExPWGx0L1B1M2lXZm4rWFl2enFiZnVuUGNjTkx6QVpRQUEyeDhmalFRQUFBQ2dKZ2hoQUFBQUFOUUVJUXdBQUFDQW1pQ0VBUUFBQUZBVGhEQUFBQUFBYW9JUUJnQUFBRUJORU1JQUFBQUFxQWxDR0FBQUFBQTFRUWdEQUFBQW9DWUlZUUFBQUFEVUJDRU1BQUFBZ0pvZ2hBRUFBQUJRRTRRd0FBQUFBR3BDcjZJSGRJZTZNMjR2ZWdJQUFBQUEyN21LUGlOczZxNzlpcDRBQUxEZGFlbGRuOTEzYUM1NkJnREFkcWV1WEM2WGl4NEJBQUFBQUQydG9zOElBd0FBQUlCWFN3Z0RBQUFBb0NZSVlRQUFBQURVQkNFTUFBQUFnSm9naEFFQUFBQlFFNFF3QUFBQUFHcUNFQVlBQUFCQVRSRENBQUFBQUtnSlFoZ0FBQUFBTlVFSUF3QUFBS0FtQ0dFQUFBQUExQVFoREFBQUFJQ2FJSVFCQUFBQVVCT0VNQUFBQUFCcWdoQUdBQUFBUUUwUXdnQUFBQUNvQ1VJWUFBQUFBRFZCQ0FNQUFBQ2dKZ2hoQUFBQUFOUUVJUXdBQUFDQW1pQ0VBUUFBQUZBVGhEQUFBQUFBYW9JUUJnQUFBRUJORU1JQUFBQUFxQWxDR0FBQUFBQTFRUWdEQUFBQW9DWUlZUUFBQUFEVUJDRU1BQUFBZ0pvZ2hBRUFBQUJRRS80L2F4Sm9Vb2FSN3I4QUFBQUFTVVZPUks1Q1lJST0iLAoJIlRoZW1lIiA6ICIiLAoJIlR5cGUiIDogImZsb3ciLAoJIlZlcnNpb24iIDogIiIKfQo="/>
    </extobj>
    <extobj name="ECB019B1-382A-4266-B25C-5B523AA43C14-4">
      <extobjdata type="ECB019B1-382A-4266-B25C-5B523AA43C14" data="ewoJIkZpbGVJZCIgOiAiMjUzMjY1OTQ1MjY5IiwKCSJHcm91cElkIiA6ICIyNzc1MTQzNjQiLAoJIkltYWdlIiA6ICJpVkJPUncwS0dnb0FBQUFOU1VoRVVnQUFBeThBQUFIK0NBWUFBQUNWMERHVEFBQUFDWEJJV1hNQUFBc1RBQUFMRXdFQW1wd1lBQUFnQUVsRVFWUjRuT3pkZDNoVVJSZkg4ZThtSVEwQ1NPOEJwRWl2b2RmUWl5SUlrWTZDZ0NEdFJYcHZvWGRwb1JjcEJrVUVJaENhMGlRMDZVMVE2UjNwNmRuM2o1aVZKWVdGQkpZTnY4L3o1REU3TTNmdTJXeFc5bVR1bkdzd0dvMUdSRVJFUkVSRTNuSjIxZzVBUkVSRVJFVEVFa3BlUkVSRVJFVEVKaWg1RVJFUkVSRVJtNkRrUlVSRVJFUkViSUtTRnhFUkVSRVJzUWxLWGtSRVJFUkV4Q1lvZVJFUkVSRVJFWnVnNUVWRVJFUkVSR3lDa2hjUkVSRVJFYkVKU2w1RVJFUkVSTVFtS0hrUkVSRVJFUkdib09SRlJFUkVSRVJzZ3BJWEVSRVJFUkd4Q1VwZVJFUkVSRVRFSmloNUVSRVJFUkVSbTZEa1JVUkVSRVJFYklLU0Z4RVJFUkVSc1FsS1hrUkVSRVJFeENZb2VSRVJFUkVSRVp1ZzVFVkVSRVJFUkd5Q2toY1JFUkVSRWJFSlNsNUVSRVJFUk1RbUtIa1JFUkVSRVJHYm9PUkZSRVJFUkVSc2dwSVhFUkVSRVJHeENVcGVSRVJFUkVURUppaDVFUkVSRVJFUm02RGtSVVJFUkVSRWJJS1NGeEVSRVJFUnNRbEtYa1JFUkVSRXhDWW9lUkVSRVJFUkVadWc1RVZFUkVSRVJHeUNraGNSRVJFUkViRUpTbDVFUkVSRVJNUW1LSGtSRVJFUkVSR2JvT1JGUkVSRVJFUnNncElYRVJFUkVSR3hDVXBlUkVSRVJFVEVKaWg1RVJFUkVSRVJtNkRrUlVSRVJFUkViSUtTRnhFUkVSRVJzUWxLWGtSRVJFUkV4Q1lvZVJFUkVSRVJFWnVnNUVWRVJFUkVSR3lDa2hjUkVSRVJFYkVKU2w1RVJFUkVSTVFtS0hrUkVSRVJFUkdiWVBQSlMxaFlHTDYrdnZUdjN4K0FIVHQya0RkdlhyT3ZUcDA2cVU5OTZsT2YrdFNuUHZXcFQzM3FlNFcrN2R1Mzg5bG5uM0h1M0Rtc3pXQTBHbzNXRGlJK1ZxOWV6ZHk1YzVrd1lRSkZpeGExZGpnaUlpSWlJb2xLY0hBd0sxYXNZTzdjdVd6Y3VKR1VLVk5hTFJhYlQxNnFWYXZHdUhIaktGbXlwTFZERVJFUkVSRkp0RWFNR0lIQllHRHc0TUZXaThIbUx4dTdjK2NPQlFvVXNIWVlJaUlpSWlLSldvTUdEVGg4K0xCVlk3RDVsWmNQUHZpQTA2ZFBZekFZckIyS2lJaUlpRWlpRlJ3Y3pKa3paeWhTcElqVllyRDU1T1hCZ3dla1NKSEMybUdJaUlpSWlNaHJadk9YalNseEVSRVJFUkY1TTd5OHZLeDZmcHRQWGp3OFBLd2Rnb2lJaUlqSU8rSG8wYU5XUGIvTkp5OFBIejYwZGdnaUlpSWlJdklHMkh6eUlpSWlJaUlpN3dZbEx5SWlJaUlpWWhPVXZJaUlpSWlJaUVXKysrNDdxNTVmcFpKRlJFUkVSTVFtMlB6S2l4SVhFUkVSRVpFM1E2V1M0MG1sa2tWRVJFUkUzZ3lWU280bmxVb1dFUkVSRVhrMzJIenlJaUlpSWlJaTd3WWxMeUlpSWlJaVloT1V2SWlJaUlpSWlFVlVLam1lVkNwWlJFUkVST1RkWVBNckwwcGNSRVJFUkVUZURKVktqaWVWU2hZUkVSRVJlVE5VS2ptZVZDcFpSRVJFUk9UZFlQUEppNGlJaUlpSXZCdVV2SWlJaUlpSWlFMVE4aUlpSWlJaUloWlJxZVI0VXFsa0VSRVJFWkYzZzgydnZDaHhFUkVSRVJGNU0xUXFPWjVVS2xsRVJFUkU1TTFRcWVSNFVxbGtFUkVSRVpGM2c4MG5MeUlpSWlJaThtNVE4aUlpSWlJaUlqWkJ5WXVJaUlpSWlGaEVwWkxqU2FXU1JVUkVSRVRlRFRhLzhxTEVSVVJFUkVUa3pWQ3A1SGhTcVdRUkVSRVJrVGREcFpMalNhV1NSZVI1b2FHaDJQZ1ZzU0lTVHhFUkVZU0VoRmc3REJGSllBN1dEa0JFSkNFWWpVWldyVnJGb2tXTHVISGpCc0hCd2RZT1NVU3N5R0F3NE9qb3lBY2ZmTUNRSVVNb1dMQ2d0VU1Ta1FTZzVFVkVFb1ZWcTFiaHY5bVB4UXVta2o1OVdtdUhJeUp2QWFQUlNNRCt3M1RyMXBVbFM1YVNOV3RXYTRja0l2Rms4NWVOaVlnQUxGcTBDTytSQTVTNGlJaUp3V0NnVE9rU2RHemZpaGt6WmxnN0hKRkV3ZHFsa20wK2VkbS9mNysxUXhBUkt3c05EZVhHalJ0S1hFUWtScVU4aXJGbnp4NXJoeUdTS0JRdFd0U3E1N2Y1NUVXbGtrWEV3Y0ZCZTF4RUpGWlpzbVRpd1lQN1BINzgyTnFoaU5nOGxVcU9KNVZLRmhHRHdXRHRFRVRrTFdablo0ZXJxNnVxajRra0FKVktqaWVWU2hZUkVSRVJlVGZZZlBJaUlpSWlJaUx2QmlVdklpSWlJaUppRTVTOGlJaUlpSWlJUlZRcU9aNVVLbGxFUkVSRTVNMVFxZVI0VXFsa0VaSDRlZlRvTVVGeGxKcisvY2h4QWdPRHpOcisrZWNCZCs3Y2k5ZDVmYjlmUjRPR3JUbDQ2RWk4NWduWWY1Z3g0NmFaSGh1TlJyUCttYk1XTXUyYmVmRTZ4NnZ5bWJ1RTM0OGNqN0h2K3ZXYnpKMi9qTXVYcjFvODM2UEhqL2xwM1NZZVBEQXZWck40NlNwMjdkNW5ldnowYWFERmM3NnUxMWRFRWllVlNvNG5sVW9Xa1hmZHFkUG4rUDZIOVhGK3hhVjB1ZHBNbVRvbnhyNEhEeDd5V2R0dTlPazMzS3k5WmV0T1ZLcjYwU3ZIdkdUcGR3d2ZNWUZVcVZLU08xZE9VL3ZTWmI3OGZmRnluTWVlUC84WExWdDM0dHExR3dDY09uV1daZCt1QmlJVGw0NmRlekZ1L0RlbThiN2YvOFNaTTMvRU9XZDRlRGlYcjF4ajErNTkrTXhkUXRmdS9mR3MwZWlGUDd1NG5EaDVobW5mek1QZi81Y1kremY1NzJEcU5CK3VYcnR1OFp4YnR2eEsvNEdqOFAxK25Wbjc5Ry9tczJYcnJ3Q2NQWGVCS3RVK1p0bzM4d2dKQ1kxenZ0ZjErb3BJNG1YdFVza09WajE3QWxDcFpCR3hOVTFiZE9EWXNWUHhudWZVOGQwQTdOaXhtNW16RjhZNXR2RW5Id0tSSDlMRHdzSnhjbkswNkJ5Yk5tOG5ORFNVano2c0hiOWcveFVlRWNHRWlUTll1c3lYNXMwYTBiOXZkK3p0N1lISXYvYjdydjZKcWRQbjBxOXZON3dheC96aE9WMjZORnkvY1lzdTNmdXo0bHZ6cEd2SnN1L1l2VHVBMmpVOUFiaHk5VHEzYjkrbDlHZkZZNXhyOWZmcm1MOXdPZGV1M1NBOFBCd0F0MlRKeUowbko5VThLNUUxYTJZQURoOCtGdWZ6U3BjK0xWa3laelJyKzNHdEgzWjJkalJ2L2ttTXgvajc3eUJkdWpTVThvZzV0cGlzOS9QSDJja3AyczhtSWlMY2RMK2o3TzVaK2JCK1RYem1MbUhiOXAxTUdEZU12SG5lajNHK2hINTlSVVJlTjV0UFhrUkViRTJqait0UnRremNxOGJmK2E3bC92MEhkT3pReHVKNW81S1paODJjdGRBc3NaazJmUzd6Rnk2UGNXeE1mTDlmUjZwVTcxR2xjam1MeGwrNWVwMGhROGN5WkhBdnNydG5OZXU3ZVBFS1E0YU41ZlNaUDVnOGNRUzFhM21hK2lJaUluQjJkc0puemtUNjlCM0JzT0hqMmJmdklDT0g5eU5wVWxlemVaSW5kMlBzNk1IMDdEV0V2LzY4YUdvUENnNW13Y0lWZk5hNktZMGExZ05nNjdiSTFZaHFWU3ZHR0crK2ZIbW9XcVU4MmJKbXdkblppVUZEeGpCMFNDL3ExcWx1TnE1bG04NXhQdTlXTFp2UXYyOTNBTk5xelFhL0xXVE9uSkdBZ0VNRUJCd0NJSGZ1bkJRcFhJQS8vN3JJMFdNbktWZ3dIMHVXUnQvOG1qbFRCbXJXckdyVzl0ZmZsOWkvL3pCTkduOUVpaFRKemZyQ3d5T3dzNHU4bU1MSnlaSEJBNyttZEtrUzlCODRpaUhEeHJGcXVVK01OM05OeU5kWFJPUk5VUElpSXZLR2VUVnA4TUl4L3Y0N3VILy9BZDI3dG4vcCtVZU5ua3psU3VXb1dLSE1xNFJuc21mdmZrNmZQa2ZuTHo4blNaSWtMeHdmR0JoRXR4NERPSFBtRDM0L2N0enN3MjNBL3NPMGE5K0RpSWdJM055U01YN2lERVo1VHlZNEpJVGc0QkRDd3NLaXpiZHA4M2JPbmJ2QXJCbmp5Sll0aTFtZlI4bWliTm5raTdPek0vditUUXljblp4WXRjS0hqQm5TbThadDNMUWRnRnAxUDQweDVsUEhkMU93d0FjQVhMcDBKYzduVjZkMk5WcTNpbjZ0ZDdNV0hjMGVEeGsyenZUOW8wZVB6UjYzYXRtRUlvVUxzSHAxNUdWZkowNmM1c1NKMDlIbXJGU3hiTFRrWmZHU1ZUZzRPTkRoaTFabTdSRVJFWVNIaDBkN2pXcldxRUtPSE5sd1M1WXN4c1FsSVY5ZkVaRTNSY21MaUVnaVlqUWFXYkZ5RGFsU3ZSZnY1R1hlL0dVQU5HdmE4SVZqdzhQRDZkNXpJR2ZPL0VHcmxrMW8yS0N1V1grUnd2bXBXN3NhR1RPbUo1bGJNcElsVFVwWVdCaXpmUmJUcFhNN2loVXRSTktrcnJpNE9PUHE2b0tMaXd1Nzl3UXdmdUlNSEorN3hDMS9vUW94eHZCc3UyZlZpbnpScmdYSGo1L2lmejIrcEpybmZ5c3Y3VHYySkdQRzlJd1kxdGZpbndWQW1qU3BLRks0Z0VWanZabzBvSHZYRG1adDVTdEZyZ1k5ZlBpSTFUK3NvMmFOS2t5YU1EemFzUjZsYTVJa2lmay96emR2M1diZCtrMDBhbGlQVEpreXNIdDNnS2t2TkRSeVg4dXQyM2ZNMmszSGNwdno1LzhpYmJvMFpwZVBKZVRyS3lMdkRtdVhTcmI1NUVXbGtrWEVsczFiOEMwcFV5U25TU3o3TzE1V1ZLVXRPMFA4NnJIczJMR2IvUWQrQnlCMTZsUnhqZzBMQzZOWDMrR1JlMDFxZWRLM2Q5ZG9ZNXlkblJrL2JxaFpXNjgrd3dnTURLUkMrZEs4LzM3MmFNZFU4NnhJcFlwbG9xMEtiRmkzM1BUOXV2V2JtVHR2S1FEemZDYVRNV1BrcWt2U3BLNE1IVFllZ0pRcGtwTXpoN3ZwbUgvK2VVQ1pVaVhJbWNPZFduVS9qVmJ0cTFlZllmVHFNOHowMk5KTDdKN2w1T1RJZSsvRlhBMXo0ZUtWQkFZRzBiRjlhOU4rbjJlRlIwUkVlODVUcHM0aE9EZ0VqNUtSSlVvN2RQbzYybkgrL2p2dzk5OFJhMHoxNjlWay9OZ2hRTUsvdmlMeTdyQjJxV1NiVDE1VUtsbEViTm1VcVhQSWtUMWJnaVV2RVJFUkFOalp2M3J5RWhvYXl2aEpNeXdhR3hRVXhOZTloN0xqbHoxVXJWS2U4V09IbVBaZVFHVEZMYSttWDhRNXg0Y2Z0N1RvWEw2cjVsT3d3QWZrek9GT1VIQXdFeWJPd05mM0o0b1ZMY1R2UjQ3VHM5Y1FxbGVyek9CQlBkbTdkejg3ZC8wR3dOVi9xNUpCWk9JU0ZCUmsyb2cvZis0VTA4ckY5Ry9tNGIvbEYvcjA3a0tsaW1VdGl1bGxoWVNFc24zN2J1clZxVTYrZkhsaUhCTVdGb2FqNDMvSnkvSGpwMWkvd2Q5c3pDYS9WYWJ2TDErNVJ2dU9QZm1xVTFzdVhiN0srZzJiemZxalJPMGRTc2pYVjBUZVBWNWVYdmo2K2xydC9EYWZ2SGg0ZUhEZ3dBRnJoeUVpOGxyTW5CVnpGVEVQajJLVThpZ1dyVDJxTk82ekgzNWYrcHl6RjNIeDRoV1NKVXZLNDhkUDRoemIrck11bkRoNWhnWWYxV2JVaVA3UlZoSnk1OHBwdGxJU0hoNk85K2dwSERwMGxPSEQrbEswYUVHejhlTW56T0RJMFJOTUdEZVV6TTlWNzhxY0tmTHg3ajBCalBTZXpLMWJ0NWswWVRoWHI5M2c5eVBIbVQ3Rm0yNDlCbkw2ekRrS0Y4eEhtalNwU0pjMmpWbVo1SFBuemdPWVZucXlac2tFUlA3Y292Yk9wRXVieG15bEppRTVPaWJocHgrWGN2bktOYjdxMW84K1gzZkIzZjIvL1R4R294R2owWWlqWStTbGNzSEJJZlFmTkJwSHh5UUVCNGVZeGoyN0IramVQL2NCY0hmUHdqLzM3MGZyZjE1Q3ZyNGk4dTZ4ZHFsa20vL3ppVW9saTBoaU5uUDJ3aGkvRHZ4N3ljL3pvajdndWpnN3Y5TDVqaDQ3eVlJRjMrSlJzaWhWS3NWZWdTcjgzeFdlVTZmUDhWWG50b3dlTlRER0Q3Wk9Ubzdrek9GT3poenVwRXlaZ3JIanBuUDQ5K09NR3p1RVJnM3JrVE9ITzhtU0ptWGhvaFdzWGZzelV5YU5KR2NPZHdZTUdzMzE2emROeCtiTTRZNlRreVByTjJ5bXc1ZGZZekFZV0w1c2p0bW05dEtsUzdCczZVeU1SaU9mZjlhY1JmT25VNnhZWVk0ZFAyVzZuTzdVNlhNQTVNOXZ2dXJoOTdNL0R4OCtBbURqcG0zTTlsbjhTaisvS1BmdlArU1A4MythZlVWeGRYVWh1VnN5RGg4K3hsZmQrdkhreVZOVFgyaG9aT0dDcU9SenRzOWkvdnp6Yjc3cTNDN1djMFZkOXBZaFE3b1h4cFhRcjYrSXlKdG04eXN2SWlLSjJjdnV0M2dhR1BsQitQbnl3cGJhdm4wWExxNHVqQnJSbjI5bUxvaldmKy9lUHd3Wk50NVVtV3YyelBFV0ZRYll2bU1YSTBaTklqZzRoUGx6cDFES294ZzNidHhpMFpLVnJQNStQUzR1VG5UdjFoRm5aeWNXenA5S24zNGphTit4Sng4M3FNTlhuZHVhVmwzcTFhM0J3MGVQK2FSaFBaeWRuUms3ZmpyMzd0M241TEZkQU9USi9UNXJWaTh5VmRjcVhxd1F5MWQ4ejdIanB5aFN1QUM3ZHU4alE0WjBwdmtnY3JWandhS1Y1TXVYaDlPbnozSGp4aTIyYmQvRjA2ZUJmUDIvVHEvMGMxeS9ZVFByTjJ5T3RUOWp4dlNNSGpXUXI3cjJaY0FnYjZaTjhRWXdWVjF6VEJLNThwSXlaWEkrckYrTG10VXJNM25LN0Jqbk9udnVBb0JGcTBXdjYvVVZFWGxUbEx5SWlDUWk5KzlIcmthblRQbHErd0c5dkJxUVAzOWUwNTZRS0JFUkVmeTQ5bWNtVDUzTi9mc1BjWEJ3SUN3czdJVWZiTStldThEVWFUNzh1bk12SlVzVVpkalEzdno5OXlXKzZ0YVBuVHQvdzlYVmhiYWZOYU5ONjA5eCszYzFJakFvaUdsVHZQbDIrZmRNbmU3REJyOHRWSzFTbnViTlBpRi8vanlVTFZPU2E5ZHY4dlJwSUw2K1AxRytmQ24rK3Z1UzJYbWpQc2lYSyt1QnZiMDltelp0Sjd0N1ZnNGVPbXE2QjB5VW45WnQ0czgvLzJiVWlQNE1HaktHeno5cnh1SGZqN0ZnNFhMczdlem8wZDI4RkxJbGF0V3NTcXNXVGN6YW5yOVhUT1J6YXNTS2xXdFl2dUo3V2pSdlRFaEk1TXBaMU1yTFJ4L1d4cXR4QSs3Y3VSdnJ1UUlDRHBFMVN5WlNwWHJ2aFhFbDlPc3JJdkttS1hrUkVVbEVybCsvQ1dCMnI1T1hrVGxUUnJOVkNZQUhEeDdTNXZPdW5QdmpBdTd1V1pnMnhadWh3OFpIU3hoaWN2andNUTcvZm95Qi9YdFF1bFFKR251MUl5Z29pTnk1Y3RLdmJ6YysvcWdPU1pPNjh2dVI0OHoyV2N6dTNRRVVMMWFJTXFWTDBLcGxFenc5S3pCajVnTDhmdDVLczZZTjJicHRKd01IalRZN3g3YnR1OWkyZlpkWlc5U0tWWW9VeWFsWW9UUnIxdnJoNHVwTVdGZ1k5ZXJXTUkxNytqU1FhZC9NbzNpeFFwUXNVY1RVUHFCZkQyN2V2TTJseTFkTmw1eTlqSFRwMGxDOGVPRVhqdXZab3hPLy9McVhOV3QvcG1uVFJnVC9tN3c0T1RzQmtPcTlsSEVlZi9uS05VNmRQbWR4d1llRWZuMUY1TjJqVXNueHBGTEpJaUwvT1hMMEJCQzVyeUtocEVpUm5QejU4MUMvZmsxYXQvUjZZVEdBVTZmUHNXNzlKcnlhTktCWjA0YlVyMWNETjdka0FBenMzNE5DaGZLUkovZjdQSHI4bUUyYnQ3TmkxUnBPbno1SHpwelptVHh4QkxWcVZpWENhR1Jmd0VIS2xDN0pHTzlCOU83VnhmUkJ2bUdEdXV6YXZZK09uWG94WmRKSWFqMno3NlZ2LzVGY3ZIVFpMSjRXelJ2enk2OTc4Wm03bE55NWNwcktEUU5NbWpLTG16ZHZNWEc4ZVJsbk96czdKb3dmaHIyZFhZdzNlRXdvcnE0dStNeWFTT1lzR2JHM3N5TW9NQmlJdk9HbUpiNy9maDFHbzVFNnRhdkZPVzc4aEJsa3k1YVpwcDlHdjZkTGZGN2YxMVhZUUVUZVhpcVZIRThxbFN3aTc3b21qVCtpY3VWeVJFUkVzSGx6NUgwK21yZnF4T3daNDB4OThUVjYxRUNMeDE2NWNvMmx5M3pKN3A2Vm5EbmNUWWtMUUNtUFl1dy84RHRUcHZxdzk3Y0RoSVdGVWI1Y0tlYk1ta0RGQ21Vd0dBenMvZTBBRXliTjVOeTVDNmIyWjFjZ2dvTkRHRHA4UEc1dXlYanZtZlpkdS9leHdjOGZuOWtUemVJcFg2NFVtVEpsNE5xMUd6UnYxc2lzNzhqUms5U3RVNTBTeFl1WTlubEVzVFNCaUs5bjczRVRHQmdJZ0pNRjU3NS8vd0VyVnEwaFo4N3NNVmFlZTliQlEwZlk1TDg5eHVRRjR2ZjZpc2k3UmFXUzQwbWxra1hrWFpjdVhSclNwVXZEZDc1cnVYcnRPaFVybEdIdjN2MjBiTk9acVpOR1VhRkNhZFBZbnYvclJNOVgzSVJ1cVN0WHJnR1FKWE1tVTF0b2FDZ05QL21NUC8rNmlNRmdJSCsrUEhUcjhnVzFhM3VTT1ZOR3dpTWkyTFo5RjR1WHJPVHc3OGY1NElQY0xGNzRqZGtxU1JRbkowZG1UaCtMejd5bGZONnVHd1h5NTZWK3Zack1uTFdRUmczclVhRjhhYlB4YzN5V2NPM2ZlNzBzWExTQ0d0VXJtL2FIZE9yNEdjV0xGYkxvZWQyNWM0K2p4MDYrMHMvRVVnOGZQUWJBeGZYRjFlSW1USnJGa3lkUDZmQkZxeGV1RHQyK2M0L01tVjd0VXNMbnhmVDZpc2k3dzlxbGttMCtlVkdwWkJFUk9IbnFMT01uemlCSDltek0vR1lzdS9mczUrdmVRK2pjdFMvZUkvdnpZZjFhTVI3M0t2czU0TCtiWUQ1Ni9CaTNaTW5NK280ZFB3V1lyeWdrU1pLRUxsKzF3MkF3NE9GUmpGVHZwY1JvTkhMaXhHbFdyRnpEQmo5L2J0KytTOTQ4N3pOaDNERHExcWtXNXdmeWZQbnlNSFh5S0k0ZlAwV0hUcjBZTzM0NkJvT0JZa1VMRVI0UmdmMi9OMUtjTzI4cDAyZk1JMysrUERUOHVDN2VZNmJTK3ZPdXpKc3ppWXdaMDFPOVdpV0xuL1BHVGR2WXVHbWJSV09YZmJ1YVpkK3V0bmp1S0NkUG5RVWc1UXV1S3ZEZjhncy9ydldqY09IOGZGaS9wcW5kWUloODNzSEJJVGc1UlZZcysrZWZCOXkrZllmeTVUd3NqdU5sWDE4UmtUZkY1cE1YRVJGYnNtanhTaVpNbW1uVzl0ZmZsOGhmcUVLTTQyTnJqM0xxK0c1Mjd3N2c2OTVEc2JPelkrcVVVVGc0T0ZDbGNqbVdMWmxGaDQ0OTZUZGdGQThmUGFaRnMwKzRlL2NlQm9PQnBFbVQ0cERFZ1czYmRnSXZmNGxVbnR6dmMrSEMzM1QrcWk5bHk1YkU3dDhQelpjdlgyWEwxbC9Ka1QwYkdUT2EvNlcvUm8wcS9QWG5SYlp2MzhYQlEwZlkrOXNCN3R5NWg0dUxNOVdxVnFSeDQ0OWVlUGxUbEt2WHJyTnUvV1pXZmZjalQ1NDg1Zk0yVFRsNTZpeURob3hoMi9hZFRKNDRraEdqSnZIaldqOXk1OHFKeit5SnBFNmRpa2VQbmpCOXhqd2FmOXFXNFVQN3ZsVHlVcjl1RGRwKzNqeGFlNk1tbjBkcksxNnNFSlVybHpkcm16SjFqdG5qUll0WGN2M0dMYkpselVUeTVNbTVjZk1XQ3hZc0owbVNKQlF1bEMvV09FNmVPc3ZBd2FOeGRuWm05TWdCWmtsZWh2UnBBZWpXWXdDRkMrVW5QQ0tjblR0L0l5SWlnckpsTEU5ZVh1WDFGUkY1RTVTOGlJaThRVVdLRktSamh6WUpOdCtZY2RQNGR2bjNwRTc5SHJPK0dVZnVYRGxOZmZuejVXSFowbGwwNlBnMUtWSWtCMkRGeWpYUmJzQm9NQmlvV1BIbFN1TDI2dG1aZS9mKzRmRHZ4emwwK0w5TENCd2NIQ2hjS0QvRGh2WXhHNzk3VHdEZHVnOGdLRGh5UTNwMjk2eDRWcWxBeFlwbEtWL09BMmNMYjZycDc3K0RXWE1XYys2UEN5Ukprb1E2dFQzNXN1Tm5aSGZQR3RtLzVSZnM3T3o0eEtzdGYvNzVONlU4aWpGdGlyZnArWC9ac1EzSms3c3hadHcwQmc0YVRmRmloU3dxTVF6d1hxcVVmUEJCYm92R0ZpandBZTNidFRScmV6NTVDUW9PNXR2bDVxc3p6azVPREJ6d1AxS25UaFhyM1BQbUwrUEprNmVNSFQyWW5EbXptL1Y5MHFnK0FRY09jK2p3VWZidTNROEdBNjZ1TG5nMWFVQ2QycDRXeFE0di8vcUtpTHdwU2w1RVJONmc0c1VLV2J6SHdoSWJmdDVDbmRyVjZOZW5HMm5TUlAvQW15TjdOdnpXcnpCVmtLcFN1UndQSHo0aXdoaDVCL1drcnE1VXFWSWh4cGhLbGl5S2cwUE1kMVhQbURFOWl4Wk10empPOHVWSzBhZDNGN0pseTBLK0QvTHczbnV2Vm15bFNOR0NwRXVmaGlhTlA2Uk9uZXJSU2duWHJGRUZpRndoZVBEZ0lWMithb2VEZy9rL2RjMmJOYUpBZ2J6Y3ZuM1hMSEZ4Y1hHaFF2blNwRTJiSnRwNTkrejB3OWs1NXRXcDUvdm16cDVFcHN3Wm9vM2I1TGNLTnpjMzArTldMWnBRbzFwbGdvS0NDQTBMSTRtREF6bHl1TWQ0ZzlHa1NWMnBVN3NhbVRKbFlPeVl3ZFNzVVlXNmRhcEhHNWN5WlFybXpwNFVZNXpQUzhqWFYwVGVIZFl1bFd3d3Z1b0Z6MitKQnc4ZXFPS1lpSkEzYjk2WHZodTlpTHc3eWxXc3g4YU5tMGlWS3ZaVkxSRjUrOWxaTzRENFV1SWlJaUlpSXZKbWVIbDVXZlg4TnArOGVIaFl2Z0ZSUkVSRVJFUmVuYlZMSmR0ODhxSlN5U0lpSWlJaTd3YWJUMTVFUkVSRVJPVGRvT1JGUkVSRVJFUnNncElYRVJFUlNmVEN3c0tzSFlKSW9tRHRVc2sybjd6czM3L2YyaUdJaUpXRmhJU1k3bU1pSXZLOCsvY2ZFQm9hUnZMa3lhMGRpb2pOSzFxMHFGWFBiL1BKaTBvbGk0aWpveU91cmttNWYvK0J0VU1Sa2JmUWpsLzJVS3BVcVdnM0xCV1JsNmRTeWZHa1Vza2lBdEMyYlZ1R0RoL1BreWRQclIyS2lMeEZqaDQ5d1pScGMvbmYvLzZYNEhOSFJFUWsrSnp5YmdvUEQ3ZDJDQmF6ZHFsa20vOFRoRW9saXdoQSsvYnRtVHo1RWJYck5hVnd3WHdVTGx3QUZ4ZG5hNGNsSWxZU0hCTEN2bjBIT1gvaEltUEdqS0ZBZ1FJSk52ZVpNMmNZUG53NFI0NGNVUUlqQ2NMT3prQzVjdVVaTldvVUdUTm10SFk0YnpXRDBXZzBXanVJK01pYk55OW56NTYxZGhnaThwWjQrUEFoTzNiczRPelpzOXFnKzQ0N2YvNDh1WExsc25ZWVlpWDI5dllVS2xTSTZ0V3I0K2pvbUdEemJ0MjZsVkdqUmpCcnhqank1dEh2bHlTYzdUdDIwVy9BS05hdS9ZbXNXYk5hTzV4WVdmdXp0NUlYRVJGSmxQVHZnN3dPRFJzMnhIdGtIeVV1OGxxczM3Q1pMZHQrWStiTW1kWU9KVmJXL24rcnplOTVFUkVSRVhrVHdzTEMrUFBDQlNVdTh0cFVyMWFaSFR0MkVCSVNZdTFRWXFWU3lmR2tVc2tpSWlMeUp0aloyUkg4Rm4rb0ZOdm40dUpNanV6Wk9ILyt2TFZEaVpWS0pjZVRTaVdMaUlqSW0yQm5aNGVOWDIwdk5zRE5MUm1CZ1lIV0RpTldLcFVjVHlxVkxDSWlJaUtKaGNGZzdRamladTFTeVRhZnZLaFVzb2lJaUlqSXU4SG1reGNSRVJFUkVYazNLSGtSRVJFUkVSR2JvT1JGUkVSRVJFUXNvbExKOGFSU3lTSWlJaUlpYjRaS0pjZVRTaVdMaUloSVloQVdGc1kvL3p3Z1BDSWlRZVk3ZWVvc1M1ZjVFaFFjSEszdjZMR1QzTHYzVDdUMjRPQVF3c1BERStUOEx4SWNIUE05Yy94KzNrcUhMNzkrcVdOZVZWQlFFSGZ1M0V2UU9STTdhNWRLZHJEcTJST0FoNGNIQnc0Y3NIWVlJaUlpSXZGeTRPQVIyclh2d1laMXk4bVp3eDJJL0hCOTdmcE5pNDZQT2liS3hrM2JXTDE2SFMxYU5EWnJ2Mzc5SmkxYmRhSlJvL29NSDlySDFHNDBHaWxXMHBNMnJUNmxiNSt1MGViL2VlUFdsMzFLQU5TdFV6MWFXM2g0T08wNjlNRFZ4UVh2a1FOSW16YTFxZS95NWF2czNoTmdOdDVvTkRKbjdoTFdyUEZqMlpLWlpNaVFEb2hNK0M1ZHZtcFJIRG15WjhQd1hCM2lIMzcwdzN2MEZFNGQzeDNuc1pjdVhTRmJ0aXdXblNleHMzYXBaSnRQWGxRcVdVUkVSQktyMzQrY29GMzdIaGFOZmY0RCtNRkRSL0R3S0lhOW5SMEhEaDdoMEtHamZObXhEUmt6cHVmREQydnh3NW9OTkcvYWlMeDVjd0dZYnNENS9BZjhLTDM2REh1bDV4QlQ4bUp2YjAvN2RpM3BQOUNiano5cHpiZ3hRNmhRdm5TTXh6OTU4cFFCZzd6WnN2VlhXcmZ5TWt0MHJsMjdRZjJQV2xnVXg4R0FMYXpmc0puaEl5ZStNRmt4R28yY09IR2FiVHQyczMzSExzNmYvK3VGeDhpYllmUEppNGlJaUVoaXQzSzVEMFVLRjRpeGI0N1BFcWJQbUdmV2R1Zk9QVTZjT01QUXdiMEEyUHZiQVh6bUx1SExqbTBBNlBUbDU2emY0TS80aVROWU1HOHFBQkgvWHE1bVp4Lzdyb0tzV1RLeGNNRTBpMkp1MjY0N2w2OWNpN1cvY3FWeXJGbTlpSzdkKzlPbFd6LzgxcThnYzZhTVptTWlJaUw0dkYwMy9yNTRtY2tUUjFDN2xxZFpmN1pzV1V4SlJmNUNGZWpmdHp1dFdqWUJZUG5LSHl4YVZZbEpsV29mYy92MjNaYytUbDQvSlM4aUlpSWlWaElZR01UMUc1R1hoZDM0OTc5WHIxNlA5N3orVzM0aElpSUN6Nm9WWXV6UG1pVVRIOVd2eFk4Ly9jenUzUUZVcUZDYTBOQXdBSklrU1JMcnZBNE9EdEVTakxqR3ZraUdET2xZdG1RbVI0K2RpbkZlT3pzN2hnejZtaFFwa3BNMWErWlk1L2x2MWNpaTBGN0l6YzJOeG8wK3BHYk5xalJ2MlpIQXdLQ0VtVmppVGNtTGlJaUlpSlVFN0Q5TTV5NTl6Tm82ZHVwbCtqNXFWZVJscmQrd0dZRFVxVlBGT3FaZHV4YXM5L1BuMklsVC95WXZvUUE0T1RxKzBqa3RWYWhJSll1S0V1UXZGSFBpQldCdlo4ZnhvenROajZPU0YzdjdoUGxvdStHbmJ4Tmtuc1RJMnFXU2JUNTVVYWxrRVJFUnNWVlZLcGN6WGRZMGYrRnlKcEdxNDhZQUFDQUFTVVJCVkUrWmJiWmgvN2Q5QndHNGVlTVdsMUxHWEdIMXdRUHovYi9IajUvaTZMR1RMengzemh6dWJQUC93YlNISkRBb2NuWEJ4Y1g1MVo2TWhkYjk5SzBwMlhqV0QyczJzSGpKS25Ka3o4YWZmMTFrMG9UaFpIZlBpcE96VTdTeFVmdHluazl3Um5wUFlxVDNKTE8ycURGMWFsZWpsRWV4aEhvYTd5eHJsMHEyK2VSRnBaSkZSRVFrTWRpMGFWdXNmVDIrSG16eFBFdVcrVm84OXRuTjcwOGVQd0hBelMyWnhjZS9paHpaczVrOXZudjNIbVBIVDJmanB1ME1IdGlUKy9jZk1uM0dQTVpQbUVGd1NBaGVUUnJRb3RrblpyRkcyYkJ1T1FCWHJsemp5ODY5R1RtOEg4V0tGWXJzOC9ObmpzOFMwNWhrU1pPeTR4ZHR1bzh2THk4dmZIMHQveDFMYURhZnZLaFVzb2lJaU5pNkV5ZlBjT3IwT1FBMisrK2daSW1pZUpUODd5L2MzeTZkVFpIQytXTTgxbWZlVW1iTVhBREF1VDh1c0duemRsS2xlaS9HKzdqRTVmNzl5QldjbENtVHh6ckdhRFJhZksrVm1GWlhudlhvOFdOV2ZiZVdlZk9YWVc5dnoreVo0NmxZb1F4emZKWUFzRzd0TWxhdVdzT3k1ZCt6YVBGSzZ0ZXJ5ZWR0bXBJclZ3N1RIRkVyVkFFQmh3R29VS0UwNmRPbEJmNjdaTzdaRXRKcDA2YW0rTC9KamJ3YWxVcU9KNVZLRmhFUmVmZjQrZm5oNStkSGVIZzQ0ZUhoR0kxR3dzUERpWWlJaVBZNHF1MzV2bWY3by9xZTczOStuaGQ5SUg5Vmk1ZXNNaVVjVzdiK3lvS0Z5NWsvZDRxcDM5N2VEbnQ3K3hpUHRUUDhWeDFzMnZTNXBFMlRtcnAxcXJGb3lhcVhpdUhHelZzQXBFdWJKdFl4ZjErOFRMR1NuckgyVytMRWlkT3M5L1BueDdVLzgvanhFeXBWTE12d1lYMU1TVWNVTjdka2RHamZtdGF0UDhYWDl5Y1dMRnJPMnA5K3BrcmxjblJvMzlwVWZlM0prNmZNVzdDTVFvWHlSNXZqZVo1VksrSlp0YUxwY1VnQzMvUlNYaitiVDE1RVJFVGszWFB3NEVIYzNOeW9YYnMyOXZiMjJOblptYjZlZlJ6Yjl5OTZiRzl2ajcyOVBRYUR3ZFJ1YjI5UHZuejVFdnk1bkRwOWpvMmJ0dEh1OCtiTVg3aWNVU1A2TTJ6RUJMN3MzSnR1WGRxLzFGeEpYVjNwMXEwOWx5NVpkdVBHWjUwN2R3RUFkL2Vzc1k1Sm5UcVZxZHp5aTh6eFdjTGR1K1ozcjkremR6L3RPL1lFSUcrZTkrbldwVDFWbjZ1STFxaGhQYXBXS1c5NjdPemtST3RXWG5oNU5lRGI1ZDh6ZjhHM05HdlJrYmx6SmxHNlZIRys3ajJVR3pkdU1iRC8veXlLYSthc2hUZzdPMkV3R0ZpeGFnMHBZOWxMSkc4bkpTOGlJaUppazRvVUtVTFZxbFd0SFVhOGhFZEVNTXA3TW5uejVxSnNXUS9tTDF5T3M3TVRzNzRaeDVTcGM4aVVLUU1RdVNuL3pwMTdNYzd4OU9sVDAvZGR1M3hCbGl5Wm1ENWovZ3ZQZmUzYURSWXNXczdnZ1Y4RGNQRHdVYkptelJ6bm5wZmtic2xvMGV3VGk1N2JpaFUvUkV0ZXlwY3JSWTl1SFNoWU1CL2x5bnJFZU56VTZUNzg4dXRlOXU3eU0ydDNkbkxpaTdZdGFOeW9Qb3VYcktKTTZSSWNQWGFTMy9ZZHBIN2RHbFR6ckdnMlBuMjZ0R2FYM2tWWnQyRXpseTlISm5jcFU2YWdWOC9PRmowZmVUc29lUkVSRVJHeGtuWHJOM0hrNkFsbXp4eHYxcDRtVFNxOFJ3MHdWUnY3c25OdmkrYUw2MTRvVVl4R0k3NnJmMkxDcEprNE9Ua3llT0RYM0x4MW15TkhUdENrOFVjdi95UmV3cE1uVDBtYkxnMDNiOTNteDU5K2puSE0wYU1uY1hWMWliVWZ3RDE3Vm9LRFF5aFJ2QWdMNWsyaGNLSG9OL0NzWHEwUzFhdFZvbGJkVDJuZXRCRnRXbjhLd0NhL1ZZU0hoNXRXMmVUbHFGUnlQS2xVc29pSWlOaXFFc1VLNDFtMUlwVXJsVE1sS2pGWk1HOHFCUXQ4RUdQZndzVXI4Wm03eEtMelhicDBoU0hEeHJIL3dPL2t6WnVMa2NQN0FiRHMyOVZFUkVSUXMwYVZsMzRPTCtQdTNYc01IRFRhb3JFdkdsZWlXR0dTSm5XbFpJbWkvTHh4YTZ6akxsKyt5cUhEUjJPc1ZnYVFLVk1HaWhZcGFGRk1vbExKOGFaU3lTSWlJbUtyc21YTHdzVHhRMTg0enRYVkpkYkx1U3k1cWVTalI0OEErTGhSRzhMQ3cvbXFjMXM2dG0rTmc0TURmMSs4ekxmTFZ3T1JoUU5LbHlyKzJsWWtzbVhMWXJxdlRVeG0reXptbXhuenlaWXRDL1oyZHF6K2JnR3VyaTR2bkxkWG4yRng5bS9kdHBPdDIzYkcyRmVuZGpVbEx5OUJwWkxqU2FXU1JVUkV4Slk1TzcvZW0wSStmUnJJWnY5ZmdNamtZZXpvUVh6d1FXNEFBZ09EK0YvUFFSaU44UGxuelZpMGVDVVRKODJpVCs4dXJ6V21tQncrZkl3NVBrdW9VYjB5M2J1MnAwblRMK2owVlc5bWZqT09aTW1TeG5sc1hBbFIva0lWNk5paERkMjdXbDc4WU5Ub3lhYnZRMFBEb3JVQkRCclEwK0w1RWhPVlNvNG5sVW9XRVJHUnhDNDhQTEtVYzB3aWpCRnhIdXZxNmtMVkt1VnhjbktpVDYrdlNKSWtDUkI1bjVWT1gvWGg3TGtMRE96Zmd4Yk5HM1B2M2o4c1hycUszSGx5MHJCQjNXaHpQWHowbU9VcmY3QW81b2VQSGxzMER1REh0WDZNOUo1Q2xzd1pHVDYwRHlsVHBtRHE1RkYwNnpFQXI2WmZNR3BFZjRvWEwyenhmUEcxWXVXYUY3YTlxOG1MdGRsODhpSWlJaUtTMkxWczNTbGV4dzhiMHR2c1VyQWpSMC9RdDk4SUxsKzVSdWN2UDZkRjg4WUFEQm5VaTkrUG5HRDRpQW5rek9GdXVwZEtsTHQzNytFOWVnb0o0ZW5UUUxadDM4bXliMWR6NHVRWlNwY3F6c1R4dzB5bGl5dFdLTU9pQmRQcDNXYzRMZHQwcGtMNTBqVCs1RU1xVmlpRGkwdmthbFZjZTEyZWRlSENYeThjNitsWkVXY25KeUR1bFJ5eExpVXZJaUlpSW0rNXFaTkdtaTcxZXQ3S1ZUK3laRm5jRmFDZVRWek8vWEdCVm0yK3dzSEJuaEhEK3RMNGt3OU5mUzR1em93ZFBZaHVQUVlRRkJRY2JaNGMyYlBodDM2RlJUSFgrN0E1Zi8xOXlhenR4SW5UK1AyOGxlTW5UM1A4K0dsQ1EwUEprVDBiWTBjUHBuNjlHdEgyMmhRdFVwQjFhNWV4Y1BFS2xxLzRnZDE3QXJDM3R5ZFBudmY1MU90amhnMDNyOUlXbTdqMnZFVFp2blVOR2RLbnMyZytzUjRsTHlJaUlpSnZBVHM3T3h3ZGs4UzRXVDU5aG5Sa3k1WWx4dU5TcEVnZXJhMXd3WHg0TldrUTQvZzh1ZDluMHZoaDVNcWRrNXc1M0tQMUZ5MVNFUCtOdnRIMjRvd1kxcGZrY2R3RDVubmR1N2FQZHVsWXVuUnArZkdubjhtU09TTXRtMzlDTmM5S0w3d2N6TVhGbWE4NnRlV0x0aTM1OWRjOTdQaDFENmRPbmFOS3BYSmFJYkVDYTVkS05oaU5ScU5WSTRpbkJ3OGVxT0tZaUloRWt6ZHZYczZlUFd2dE1PUTFHVDU4T0xsejU2WjU4K1p2OUx4NTgrYlZCK1o0aW9pSTBQMVY0dEN5ZFNkNjllNVBpUklsckIzS1c4bm1mM09VdUlpSWlJallEaVV1dHMzTHk4dXE1N2Y1M3g0UER3OXJoeUFpSWlJaThrNndkcWxrbTA5ZVZDcFpSRVJFUk9UZFlQUEppNGlJaUlpSXZCdVV2SWlJaUlpSWlFMVE4dkthaFlhR1l1TUYzZVFkRXg0ZVRraElpTFhERUJFUmVTZUZoSVphTzRRNFdidFVzczNmNTJYLy92M1dEaUVhbzlISXFsV3JXTFJvRVRkdTNDQTRPUHBObmtUZVZnYURBU2RIUndvWEtjTGd3WVBKa3llUHRVTVNFWGtyQkFVRjRlenNaTzB3SkJHTGlJamcvUG0veUpZdG03VkRpVlhSb2tXdGVuNmJUMTdleGxMSnExYXR3bit6SDRzWFRDVjkrclRXRGtma3BSbU5Sbjc1ZFM5ZmZ0a1JYOS9WcEVtVHh0b2hpWWhZbmJPek02bFNwZWJpcFN1NHgzTERTSkg0OFB0NUN3VUtGQ1J0MnJmMzg2T1hseGUrdnI1V083L05YemIyTnBaS1hyUm9FZDRqQnloeEVadGxNQmlvV3FVOHpUNzltTm16WjFzN0hCR1J0OGJYWDM5TngwNjl1SFhyanJWRGtVUm15OVpmR2VrOW1hRkRoMW83bERoWnUxU3l6YSs4dkcybGtrTkRRN2x4NDRZU0Ywa1VTcFVxVHI4Qm82MGRob2pJVzZOZXZYcTR1cnJTcU1ubnVMbzRrelp0R2h3Y2JQN2psRmhSaERHQ216ZHZZelFhV0xSb01Ybno1clYyU0c4MXZkc1NtSU9EZy9hNFNLS1JLMWNPTGw2OGFPMHdSRVRlR2dhREFVOVBUM2J1M01YbHk1ZTVkKzhlRVJFUjFnNUxiRnlxVktsd2QzY25TWklrMWc3bHJhZmtKWUVaREFacmh5Q1NZSnlkbkFnUEQ3ZDJHQ0lpYjUwa1NaS1FNMmRPY3ViTWFlMVFSTjRwTnIvblJVUkVSRVJFM2d4cmwwcTIrZVRsYlN5VkxDSWlJaUtTR0ZtN1ZMTE5KeTl2WTZsa0VSRVJFWkhFeU12THk2cm50L25rNVcwc2xTd2lJaUlpa2hoWnUxU3l6U2N2YjF1cFpCRVJFUkVSZVQxc1Bua1IyNVMvVUFWKy9Pbm5hTzAzYnR5aTdSZmQrZnZpWlZQYmthTW42UERsMXdRSGh5Um9ERUZCUWR5NWM4K2lzYjdmcjZOQnc5WWNQSFFrWHVjTTJIK1lNZU9tbVI0YmpVYXovcG16RmpMdG0zbnhPb2VJaUloSVlxVlN5WW5RamwvMmNPL2VQM3pTcUg2MHZxWExmR005cm1EQmZCUXZWc2lzN1pkZjk5SzVTNTk0eFhQcStHNkx4ejROREdSZndDRWVQMzVpYXJ0Nzl4OTI3d21JVnJJM0xDeU1TNWV2V2pSdmp1elpvcFd4L3VGSFA3eEhUM2xoZkV1V2ZzZjRpVE1vNVZHTTNMbitLNG01ZEprdmxTcVZKYnQ3MWxpUFBYLytMNGFOR00vNHNVUEpsQ2tEcDA2ZFpkbTNxK25mdHp0R281R09uWHZ4Zm83czlPM1RGUURmNzM4aWZ6N2RuRXBFUkVRa0prcGVFaG1qMGNqU1pkK3gvOER2QkFVRjBhSjVZN1Arc2VPbngzcnNGMjFiUkV0ZW91elk5aU91TGk0QVhMeDRHYTltN1FuWXU4blVIMWViSmRwKzBSMkFvS0RJRzN5TzlKNU1VdGZJOC8zenozMEFPbmZwZzUxZDVHSmg2VkxGcVZPN0d2VS9hbUhSL0FjRHRyQit3MmFHajV4b2NUSVZIaEhCaElreldMck1sK2JOR3RHL2IzZnM3ZTMvamVrQnZxdC9ZdXIwdWZUcjJ3MnZ4aC9GT0VlNmRHbTRmdU1XWGJyM1o4VzNjOHo2bGl6N2p0MjdBNmhkMHhPQUsxZXZjL3YyWFVwL1Z0eWkrRVJFUkVUZU5KVktqaWVWU2pabk1CaVkrYzA0aWhZcGlQZVlxYXhjOWFPcEwvemZPd0IzK0tJVnA0N3ZOdnQ2RWJka3lYQnppL3h5VGVvYTJlWm1XWnNsY3VaMEoyZE9kN0preVFSQTVrd1pURzNwMDZjRElMdDdWbE5idW5ScHlKWXRpMW44L2Z0Mk56MGVPT0IvQUtiSHJ2OG1RcGE2ZVBFS2JkdDFZODJQZmt5ZU9JSkJBM3FhRXBlSWlBaWNuWjN3bVRPUmZCL2tadGp3OGZUc05ZUW5UNTVHbXlkNWNqZkdqaDdNN2R0MytldlAvKzVVSHhRY3pJS0ZLL2lzZFZNYU5hd0h3Tlp0dndKUXJXckZsNHBWUkVSRTVFMnhkcWxrbTE5NVVhbms2RnhkWFpnMVl4enQydmZBM3NIZTFQN25uMzhEa0NyVmV5ODlaOG5TTmFLMTVTOVV3YUsyS0hmdTNPUGhvMGVteDdkdjMrWFB2eUkvMEE4YTBETXl4cjh1c3NIUG43YWZONmRnZ1E4QTJMWjlGenQzL1VhZjNsMWpURUtpOW8wOGQxWFlLd3ZZZjVoMjdYc1FFUkdCbTFzeXhrK2N3U2p2eVFTSGhCQWNIRUpZV0ZpMFl6WnQzczY1Y3hlWU5XTWMyYkpsTWV2ektGbVVMWnQ4Y1haMlpsL0FJU0R5enZXclZ2aVFNVU42MDdpTm03WURVS3Z1cHpIRzlUS1gzNG1JaUlpOERsNWVYdmo2eHI0TjRYV3orZVRGdzhPREF3Y09XRHVNdDA2S0ZNbFovZDBDMHo0UG85SEl6RmtMQVNoZHVrUzA4WFoyZGx5OWRvUHdpQWpzN2Y1YmtNdVhMemZqeGd5bVNwWHkyTnZabXgzejlHa2czL211cFhyMXltVDlkOFhrK2Y3Zjl2MzMya3o3Wmk0L3JObGdlangxbWc5VHAva0FjUGpnTnE1ZHV3SEFoblhMQVV5SlRZNGMyZGl3YmprM2J0NENJSE9takRnNU9acm1pVXBlN08wVDV0ZTVTT0g4MUsxZGpZd1owNVBNTFJuSmtpWWxMQ3lNMlQ2TDZkSzVIY1dLRmlKcFVsZGNYSnh4ZFhYQnhjV0YzWHNDR0Q5eEJvN1B4QVd4SjNQUHRudFdyY2dYN1Zwdy9QZ3AvdGZqUzZwNS9yZnkwcjVqVHpKbVRNK0lZWDBUNUxtSmlJaUl4SWUxU3lYYmZQS2lVc24vZWZMa0tZR0JRYWJIeWR5UzR1emt4S1BIanhrNWFqTCtXMzZoZGkxUDh1WjVQOXF4QlFwOHdNWk4yOWk0YVJzQTVjdVY0cHRwbzdHM3M2ZHNHUStDZzZKWCtycDkrdzR6Wnk4a1c3Yk1wSTVsTmFkc0dRL3UzTGxIbWpTcEdEbThIeU9IOStQN0g5WXpaTmc0dkVjTm9HR0R1Z0FjUG55TWxtMDZXL1E4Vnk3M29VamhBdEVTZzVIZWt4anBQY21zTFdwTW5kclZLT1ZSektMNW5aMmRHVDl1cUZsYnJ6N0RDQXdNcEVMNTByei9mdlpveDFUenJFaWxpbVZJa2lTSldYdFVJZ2F3YnYxbTVzNWJDc0E4bjhsa3pCaTU2cEkwcVN0RGg0MEhJR1dLNU9UTTRXNDY1cDkvSGxDbVZBbXpOaEVSRVpGM2xjMG5ML0tmNlRQbXNlemIxYWJISTRiMXBWSERlbnpSb1NmSGo1K2lUT2tTakJ6ZUw4WmpmV1pOWU12V1gwMVZ2dDUvUHpzclYvM0loRWt6WDNqZXZ2MUh2bkRNczVjODdkNFRBRUJvU0NqQndTRm1xeWcvL2JqVXJLTFhzODZjK1lOR1RUNDNQWTVLREs1Y3VjYVhuWHN6Y25nL2l2MWJjR0NEbno5emZKYVl4aVJMbXBRZHY4UjkyZFdKazJmd2F2cEZuR00rL0xobG5QMVJmRmZOcDJDQkQ4aVp3NTJnNEdBbVRKeUJyKzlQRkN0YWlOK1BIS2RucnlGVXIxYVp3WU42c25mdmZuYnUrZzJBcS8rdVBrRms0aElVRkVUV3JKa3RPcWVJaUloSVlxZmtKUkg1cEZGOVNua1U1K0dqUnd3Y05CcUl2QnhzalBkQUFnSU84NmxYQTFPMXJ1ZWxUSm1DSnM5VnpLcFVzU3lmZjlZTW85Rm9Wcm80eXExYmQvanc0NVpNbWpDY0N1VkxSK3QzY1hIR3djSDhWeXdvS01pMDcyUGFOM1A1NWRjOVRKODYydFRmb0dGcmk1OXYxR3BFUU1CaEFDcFVLRTM2ZEdrQlNKMDZsZGtZZ0xScFU4ZGFUUTBnZDY2Y1ppc2w0ZUhoZUkrZXdxRkRSeGsrckM5Rml4WTBHejkrd2d5T0hEM0JoSEZEeVp3NW8xbGY1a3lSajNmdkNXQ2s5MlJ1M2JyTnBBbkR1WHJ0QnI4Zk9jNzBLZDUwNnpHUTAyZk9VYmhnUHRLa1NVVzZ0R2s0YytZUDB4em56cDBIaUhHbFIwUkVST1JkcE9RbEVjbVQrMzN5NUg0LzJvMFhjK1p3cC81SExhSmRVaFdUT3JXck1XbkNjTE8ydTNmL29WTFZtRXNCQTN6ZGUyaU03ZVBHRE9iRCtyWE0yclp1MzBXK2ZIa0lDRGhFazA4K1l0R1NWUXdkTnQ1MFQ1cVozNHpEM1QxTFROUHgxMStYNk5xOXYxbmJreWRQbWJkZ0dZVUs1VGNsTHJIeHJGb1J6MmNxZVlVOGQ5TkxKeWRIVTdKejc1Lzc5TzR6ak1PL0gyZmMyQ0hVclZNZGlFellwcytZUjZyM1VqSmwwa2phdGUvQmdFR2pHVHQ2RU9YTGxUS2JiLzJHemZUdFA1SnMyYkt3Zk5rYzh1Zkx3NkxGSzRISWZVZkxsczZrYi8rUmZQNVpjMXExOUdLVjcxcjhmdDZDMFdqRVlEQnc2dlE1QVBMbnp4UG44M3BUSWlJaVRGL1BQallhaldiZlAvODRwakV4emZQOCtHZkh4VFIvVFA5Tmt5WU5CUXNXak90cFNDSTNaY29VTm16NGIyOWR0V3JWQUNoZnZqd2pSb3l3VmxnaUlvbUd0VXNsMjN6eW9sTEpscGs0ZmhpemZSYno4T0VqK3ZidUdxMy9sMS8zc3NIUG53d1owc1U2eDl6Wms2aFFJZm9LUzB4aTI2aSthdFVhYXRYMEpDRGdFTzdaczlLc2FVUDI3VHVFNTcrYjFETmxUSTk3dHBpVGwyZjM4d0NFaG9ieWRlK2gzTGh4aTRIOS8yZFJYRE5uTGNUWjJRbUR3Y0NLVld0SW1USjZ0YnJ0TzNZeFl0UWtnb05EbUQ5M0NxVThpbkhqeGkwV0xWbko2dS9YNCtMaVJQZHVIWEYyZG1MaC9LbjA2VGVDOWgxNzhuR0RPbnpWdWExcDFhVmUzUm84ZlBTWVR4cld3OW5abWJIanAzUHYzbjFPSHRzRlJDYWJhMVl2TWhWVktGNnNFTXRYZk0reDQ2Y29VcmdBdTNidkkwT0dkS2I1ckduSmtpV01IVHNXZzhHQW5aMGRCb1BCN0hzN096dXo3NTl2aTJsTVRIMXh6ZjJpdnBzM2IzTGx5aFVPSFRwazdSK1hXRkhod29XWk0rZS9leXBkdVhJRmdFS0ZZbDkxRlJFUnk2bFVjanlwVkxKbDZ0YXB6c09IanhneGFoS1pNMmVrU09FQ3ByN3dpQWhtelY2RXM3TXpuN2RwRnVzY0hUcDlIYThZamh3OXdaR2pKNWs4Y1NSanhrMERvRXZuZHZUczBZa1RKMDREMExEeFp4YlBkK3o0S1g3YmQ1RDZkV3VZVmVnQ1NKOHVMUjRsbzcrNTFtM1l6T1hMVjRISVMrVjY5Znl2U01EWmN4ZVlPczJIWDNmdXBXU0pvZ3diMnB1Ly83N0VWOTM2c1hQbmI3aTZ1dEQyczJhMGFmMHBibTdKT0h6NEdJRkJRVXliNHMyM3k3OW42blFmTnZodG9XcVY4alJ2OWduNTgrZWhiSm1TWEx0K2s2ZFBBL0gxL1lueTVVdngxOStYekdLS1d1MHBWOVlEZTN0N05tM2FUbmIzckJ3OGROUjBEeGhyYTlPbURXM2F0TEYyR0hHNmVQRWk3ZHRiZGxOVVNiektsaTJMbzZNaklTSC9yYXc2T2pwU3UzWnRLMFlsSXBKNHFGUnlQS2xVc3VVYWZseVBlUXUrWmN5NGFheFlOc2UwLzJYWnQ3NzgrZGRGZXZYc1RKbzBxV0k5ZnM2c0NkRXVqWXBOb2FLVm83WE5tNytNU2hYTGtDNWRHbE5ic21SSkFYQnlkaUpyMXN3TUg5cWJUQmt6WURSQzNRK2IwYTlQTnlwWEtndkE1U3ZYR0RGcUVrNk9rUnY4U3hRdndvSjVVeWhjcUVDMGMxV3ZWb25xMVNwUnErNm5ORy9haURhdEkrK2Rzc2x2RmVIaDRhYS8xai9yOE9GakhQNzlHQVA3OTZCMHFSSTA5bXBIVUZBUXVYUGxwRi9mYm56OFVSMlNKblhsOXlQSG1lMnptTjI3QXloZXJCQmxTcGVnVmNzbWVIcFdZTWJNQmZqOXZKVm1UUnV5ZGR0TzA5NmpLTnUyNzJMYjlsMW1iVkhGREZLa1NFN0ZDcVZaczlZUEYxZG53c0xDcUZjMyt2MTFSQ1IycnE2dVZLdFdqWTBiTjVyYVNwUW9nWnVibXhXakVoRkpQRlFxT1o1VUt2bkZnb0tDY0hSMHhNbkprUUg5ZXRDMWUzOW16bHBJMXk1ZmNPVG9DYVpPODZGa2lhSzBhZE0wem5tKzdOdzdYbkhrelpzcnh1UW5PRGlFWE8vbllOMlB5MHh0RHg4K3dtZzBraU43TnRLbmo3eVVMWDM2ZEtZeFVmdENTcFlveXM4YnQ4WjZ6c3VYcjNMbzhGSFNwazBkWTMrbVRCa29XaVJ5ajBTenBnMnBYNjhHYm03SkFCall2d2VGQ3VValQrNzNlZlQ0TVpzMmIyZkZxaldjUG4yT25EbXpNM25pQ0dyVnJFcUUwY2krZ0lPVUtWMlNNZDZENk4yckM2bmVTd2xBd3daMTJiVjdIeDA3OVdMS3BKSFVxbG5WZE82Ky9VZHk4ZEpsczNoYU5HL01MNy91eFdkdVpOVzFtRmFQUkNSdWRlclVNVXRlYXRUUUh3RkVSQklMbTA5ZUpHNUhqNTJrMzRDUkxGODJoMVR2cGFTYVowVmF0bWpDYkovRkJBVUY4ZjJhRFdUTW1KNXBVN3pOYms0WmsvaXV2SHpSdGlXdXJpN1Iyb3VWOUl4MW50Z3VWZHV5ZWJWcEwwaXZQc1BpakdYcnRwMXMzYll6eHI0NnRhdVpraGZBbExnQWxQSW94djREdnpObHFnOTdmenRBV0ZnWTVjdVZZczZzQ1ZTc1VBYUR3Y0RlM3c0d1lkSk16cDI3WUdxUFNsd2dNakViT253OGJtN0plTytaOWwyNzk3SEJ6eCtmMlJQTjRpbGZyaFNaTW1YZzJyVWJORy9XS003bkpTSXhLMSsrUEE0T0RvU0ZoV0Z2YjArOWVtL0g1WmNpSWhKL1NsNFNvYWhydmIvelhjdnBNMytRSVVNNkRCaE0vYjE2ZG1iUG5nQVdMVm1GcTZzTDgrZE80YjMzWHYvZW9aZ1NGNGhNUko3MTlHa2czWHNNSkpsYk1zNmVQVSt6cGcxcDFiS0oyWmdNNmY4ckxQRHNQV1NlbDc5UUJUcDJhRVAzcnBidmhRZ05EYVhoSjUveDUxOFhNUmdNNU0rWGgyNWR2cUIyYlU4eVo4cEllRVFFMjdidll2R1NsUnorL1RnZmZKQ2J4UXUvaVhHVnhNbkprWm5UeCtJemJ5bWZ0K3RHZ2Z4NXFWK3ZKak5uTGFSUnczclJTa3pQOFZuQ3RYL3Y5Ykp3MFFwcVZLOU1xbGh1QUNvaU1VdVdMQmxWcWxSaDY5YXRGQzllbkpRcFU3NzRJQkVSc1FsS1hoS2hIYi91QWVEa3FiTjROV2xBbjE1ZGNIVjFJU1FrRkwrZi9mR1p0NHhMbDY1UW9uZ1JqaHc1VHB2UHU5S2hmV3MrK3JBV3prNU9zYzRiMzh2R1l2TnNOYTNkZXdJWU8yNDZTWklrWWU3c2lSdzlkcEtldlladzc5NTkrdlRxRXVlZW5JU1NKRWtTdW56VkRvUEJnSWRITVZLOWx4S2owY2lKRTZkWnNYSU5HL3o4dVgzN0xubnp2TStFY2NPb1c2ZWFxV0pZVFBMbHk4UFV5YU00ZnZ3VUhUcjFZdXo0NlJnTUJvb1ZMVVI0UklScHhXdnV2S1ZNbnpHUC9QbnkwUERqdW5pUG1VcnJ6N3N5Yjg0a01tWk0vOXFmdDBoaVVyTm1UYlp1M1VyVnFsVmZQRmhFUkN5bVVzbnhwRkxKMGJtNnVwRHF2WlI0anhwQXhRcGxPSHJzSkQ5djNNYkdqVnU1OTg5OTh1Zkx3OEw1VXlsVHVpVEhqcDFpcFBja2hnMGZ6NlJKczZoY3VSd1ZLNVNtV0xIQ09EallBL0RQdmZ0QTVIMWJQRHlLV1JTRFovVkdQSHo0aUJzM2J3R1FNa1Z5bkoyZG80MExEQXppeE1rei9MYnZBUDcrdjNEeDRtVWFOcXhIbjE1ZFNKWXNLWlVybGVPSDFZc1lOSGcwMVdwK2dtZlZDcFF0NjBITjZwWForNXRsaFJvdVhQZ3J6bjB4QUo2ZUZjMFN0eG8xcXZEWG54Zlp2bjBYQnc4ZFllOXZCN2h6NXg0dUxzNVVxMXFSeG8wL29wU0ZQNHVyMTY2emJ2MW1WbjMzSTArZVBPWHpOazA1ZWVvc2c0YU1ZZHYyblV5ZU9KSVJveWJ4NDFvL2N1ZktpYy9zaWFST25ZcEhqNTR3ZmNZOEduL2FsdUZEKzFLOVdpV0x6aWUySlNJaUl0YWJ4OHFycTFneHNnTGhoeDkrYU9WSUVwK28reTNwOTFidlgwazQ0ZUhoMk52Yld6c01pMWk3VkxMQmFEUWFyUnBCSXBRM2I5NDRMMlY2RXg0OGVJaUxpd3VOR2tkZS9tUm5aMGY1Y3FWbzBmd1RLbFVzYXpiV2FEU3lkZHRPbGl6N2pzT0hqd0V3ZEhBdmhvK2NHTlBVcjhSNzFBQWFOcWhyZXB5L1VBVzhSdzBnYzZhTWZOYTJLeGt5cEtOT0xVKzhtbndjNjAwcTkvNTJnSldyMXJBdjRCQ2JOL3BTb1ZMOUJJdHYrOVkxcGt2UmR1OEpvRnYzQVFRRkJ3T1EzVDBycFR5S1ViRmlXY3FYODRneENZdUp2LzhPWnMxWnpMay9McEFrU1JMcTFQYmt5NDZma2QwOWEyVC9sbCt3czdOajZ2UzUvUG5uMzVUeUtNYTBLZDZrU0pIY05NZUtsV3NZTTI0YXJpNHViUFJiYVpWTHlQSVhxc0RaczJmZitIbGZWbFNwWkg5L2YydUhZcEdUSjA4eVlzUUlqaDA3WnJwaHB5U3NxTUlla3ZEczdlMXAyTEFoQXdZTUlHblNwRmFKWWZqdzRlVE9uWnZtelp1LzhYT2ZPWE9HNGNPSGMrVElFYjEvSlVIWTJSa29WNjQ4bzBhTkltTkc2OS9mTFM0cWxSeFBLcFVjczZnUHdQMzdkZWVQODM5U3U1YW4yVDZSWnhrTUJtcFVyMHlONnBXNWZQa3FSNDZlNE1QNnRXajhTY0w5eGZMNXYweHRXTGVjdEdsVDQ1WXNHZHY4ZjdEb3NxaHlaVDBvVjlhRDBOQlFraVJKOHRvU3hQTGxTdEduZHhleVpjdEN2Zy95dlBKK29DSkZDNUl1ZlJxYU5QNlFPbldxbTIza0I2aFpvd29RV1JIdHdZT0hkUG1xSFE0TzVtL0o1czBhVWFCQVhtN2Z2cXU5TDRuSTFxMWJHVFBHbTFrenhwSHIvUnpXRGlmUkNna0p4ZEV4aWJYRFNKUWlJaUpZdlBRN1B2NzRZelpzMklCVEhKY2NKelpidDI1bDFLZ1J6Sm94anJ4NWNsazdIRWxFdHUvWVJmMzY5Vmk3OWlleVpzMXE3WEJpWmUxU3lUYS84cEkzYjk2MzdxL0NiOFBLaTBoQzBjcEx3bXZZc0NIalJnL2cvZmV6V3pzVWtYaVpOSGtXenE3djBhMWJ0emQrYm11dHZEUnMyQkR2a1gyVXVNaHJzWDdEWnJacys0MlpNMmRhTzVSWVdmdXp0eTdVRkJGNWc4TEN3dmp6d2dVbExwSW9WS2xTbnUzYnQxczdqRGNtNnYycnhFVmVsK3JWS3JOanh3NVQ1VmlKVHNtTGlNZ2JaR2RuUjdEK1VaSkVJaytlWEZ5NGNNSGFZYnd4ZXYvSzYrYmk0a3lPN05rNGYvNjh0VU41YXlsNUVSRjVnK3pzN0xEeHEzVkZUSklsZFgybi9rS3M5Nis4Q1c1dXlRZ01ETFIyR0xHeWRxbGttMDllVkNwWlJFVEVPbFROVFNUaHZlMXZLMnVYU3JiNTVDVkZpdGQvWjNnUkVSRVJFWWtzbFd4Tk5wKzhlSGg0V0RzRTNMdWMxUUFBSUFCSlJFRlVrVVJMbDBlSWlJaklzNnhkS3RubWs1ZUhEeDlhT3dReklTRWh1cStBSkJyWHJ0L2d2ZmQwZnhrUkVSRjVPOWg4OHZLMmNYUjB4TlUxS2ZmdlA3QjJLQ0x4dG5YclRzcVVLV1B0TUVSRVJFUUFKUyt2UmR1MmJSazZmRHhQbmp5MWRpZ2lyMnpmdm9QTVc3Q2NIajE2V0RzVUVSRVJFUUFjckIxQVl0UytmWHNtVDM1RTdYcE5LVnd3SDRVTEY4REZ4ZG5hWVlsWUpEQXdrRDIvSGVEcTFadE1uejZkN05teld6c2tTU0FMRjYwZ2E5Yk0xS2hlK1lWand5TWlzTGVML3ZldHMyZlBjL0hpWldyV3JHclc3dSsvQTNmM3JPVE5HL2ZOKzN6bUxxRlVxZUlVSzFvb1d0LzE2emRaNytkUG5WcWVaTTJhK1lVeDJvTDhoU3JnUFdvQURSdlVOV3UvY2VNV0F3WjVNMlJ3TDdLN1p3WGd5TkVUekpxOWlHK21qY0hKeVRIQllnZ0tDdUx4NDZla1NaTXF3ZWFVMXlNc0xJeEhqNTZRUElWYmpPKy9sM1h5MUZrT0hUcUtsMWNEbkoyY3pQcU9IanRKMWl5WlNKWEsvTkxnNE9BUUhCenNzYmUzai9mNVh5UTRPQ1RHMzNXL243ZnkwN3FOekowenllSmpYcFhlSHkvUDJxV1NiVDU1ZVJ0TEpkdloyZEdyVnk4NmRPakFqaDA3T0h2MkxQY2Y2akl5c1EwT0RnNTg5dGtYVktsU2hTUkp0SC9MRm9TR2hoSVJFWE54aGFoLzVCODllc3kwYitaUnU1Ym5DNU9YOFJObWNPYnNIOHlmT3dXNzV6NUFyVm5yeDdKdlYzUHErRzZ6OWg1ZkQ2WlZ5eWIwNzlzOTFubFBuRHpEdEcvbTBhYlZwekVtTDV2OGR6QjFtZytGQytWTE5NbExiSjRHQnJJdjRCQ1BIejh4dGQyOSt3Kzc5d1FRSGg1dU5qWXNMSXhMbDY5YU5HK083Tm1pbFMvKzRVYy92RWRQaWZhYXlkdm53TUVqdEd2Zmd3M3JscE16aHpzUStlSDYydldiRmgwZmRVeVVqWnUyc1hyMU9scTBhR3pXZnYzNlRWcTI2a1NqUnZVWlByU1BxZDFvTkZLc3BDZHRXbjFLM3o1ZG84My84OGF0TC91VUFLaGJwM3EwdHZEd2NOcDE2SUdyaXd2ZUl3ZVFObTFxVTkvbHkxZlp2U2ZBYkx6UmFHVE8zQ1dzV2VQSHNpVXp5WkFoSGFEM3gvL1p1Kyt3S0s0dWdNTS9kcGV1MkJzQ2RvbTlkK3dtTWRGb2JNU0tGWHVMQlhzdm56SDJhS3dJV0luWWU4R2FxREVxc1dCRGpWSHNSdXpTZDc4L2tKV1ZCUllCbDVYelBrOGUyYmwzWnM0YVIrZk0zSHV1TVJpN1ZMTEpKeS9wdVZTeW5aMGR6WnMzTjNZWVFvalBYS2N1L2JodzRiTGV0dGgva1AwUEhTTXlNcExtelJvbmVieVNKWXZqdmNxWHhVdTg2ZGUzVzZyRnVXWHJMaFFLQmUzYnQ5TGJ2bi8vWVhMbnprblZLaFdUUE5hYk4yOVp2Y2FQQXdlUDh1Ky9kNGdJajhBMmt5MkZDam94d21NQTVjdVZqcmRQdEZyTm5yMEgyYlAzSUpjdVhlWHAwMmVZbVptUkxWc1dpaFlwaEh1UGpsU3ZWbG5idjJRWkZ3QXFWeXJQS3UrRkNjWlNxV29qUWtQRERMcjU2ZFlqSnJrTEN3c0hZTXEwT2RqYVdBUHc3Tmx6QVByMjk5QW1qZFdxVnVTYnhnMXAycXhEa3NjR09IUHFBRHQyN21QU2xGbHlNL2FaK1B0Y0lOM2REUnUrKytILzh6Tm56MUdsU2dXVUNnV256NXpqN05uejlPN1ZtWHo1OHZEZGQxK3phZk5PMnJkdHFYMWpHbHRoTXFIMWU0WjVUUHlvNzZBdmVWRXFsYmgzNzhpb01kUDR2cFViUC8xdlBDNjFxdW5kLzgyYnQ0d2VPNDBEL2tkeDYrU3FrK2pjdi84d1RhNlBmMjdkWnRXcTN6aHg4alNQSHYrSGxaVWxsU3FXcFgrL0hwUXNVZHlnODMydVhGMWQyYkJoZzlIT2IvTEpTNVVxVlRoOStyU3h3eEJDQ0tNWk5LQ245c1kzMXQ1OWgvQS9lRXo3ZWN1VzNXVE9sQWtMQzNNQ0FpN29QVTdXckhZVUxseVFwazIrNHNUSjB5eFo2bzJMU3pYS2xTM0ZmLytGQU85dnVtTS94eFVXRnE3ZG5qbHpKdTFibjQyYmRnQ3djOWNCOHVmUHg2bFRaemwxNml3QXhZb1ZwbHpaVXZ4ejZ6Ym5MMXlpZE9rUytLeUtQeVFodjMxZTdWQzFCdzhlMGFYYkFJTHYzcWQ0c1NKODA3Z2hDb1dDdTNmdkUvRDNCVzdjdUJVdmVibDU4MStHRHA5QTBQV2JXRnRiVWJGQ1dlclV6a04wdEpvN2QrNXk1dXg1S2xZb3E1Tzh4RHB6OWh4YnR1Mk9OL1RyWXhRdUhQTmsvT1hMMTV3N0gwaCsrN3hrejU0VmdMdDNMYmdXZEpPQ0JSeFJtY2Y4ODV3N2QwNmNuQnkwTjFvbHk3Z3dhc1FnT25Wc0E4RGE5WnZrcVhFR3NYN3RVc3FWTGFXM2JjbFNIeFlzWEs2ejdiLy9RZ2dNdk1xRWNjTUFPSEh5TkV1WCtkQzdWMmNBK3ZUdXlvNmQrNWs1YXlHZXkrY0JvRmFyQVZBb0V4Nnk1dWhnejByUCtRYkYzSzM3SUlMdjNrK3d2VzZkbW16MjgyTEFvRkgwSHppU1hUdldrZDgrbjA0ZnRWcE4xKzREK2ZkMk1ITm1UYWJ4MXcxMDJ0UGkrcmh5SllpMkhYcWhWQ3FwWHEwaU5XdFU0ZnFOV3h3NWVvSVRKMCt6eW1zUlpjdVdUTll4UHlmR0xwVnM4c2xMZWl1VkxJUVFuMXFONnZGdnVLL2Z1S1ZOWG03ZnZzdlpnUE5vTkJyY3V2UlA4RGdONnRkbTRZTC9BVERTWXlCL0hEK0YvOEZqbEN0YmlqcjFtK24wL2ZBemdOL0c3Zmh0M0E3QXJKa1R0VTlieDAvOFNkdm4xYXZYT3A4N2RXeER1YktsOFBPTDJTOHc4QXFCZ1ZmaUhidE83UnJhNU9WL1A4MG4rTzU5aGcvclQ5Zk9iWFg2UFgvK2dtY2ZWSHU4ZnVNZk9uWHV4K3ZYYitqcDdvWjc5NDdZMnRybzlIbjEraldQSGo2SmQ5N01tVEtoUWNPczJZdG9VTStGTEZuczR2WDUwSC8vaGZEeTFTdnQ1eWRQbnZMUHJkc0FqQjA5QkloNXFydHoxMzY2ZFcxUDZWSmZBSER3ME84YysvMGtIc01IWVBQdWJVeGM3NStLSnhtQ01DR2hvV0U4ZUJnekxPemh1MS92M1h1UTR1UHVQM0FFdFZwTmcvb3VldHNkSGV4cDF2UnJ0bXpielI5L25NTEZwUnFSa1ZFQWlRNFpWcWxVOFJLTXhQb21KVy9lM0t6MldjVDVDNWYxSGxlaFVEQis3RkN5WkxGTGREaHBhbDRmejErOHBQSFhEUmpwTVpCczJkNlA4Rm04MUp0ZkZxNWczb0tsckZ4aFdBSW5VcC9KSnk5Q0NDRVN0MmF0SHhxTmhtVkxacE01Y3lidDl0dTM3ekp5OUJUNjl1NUs3ZHJWZFc3TTdld3lzMjdOVWh6eXg5eE0vREkvSnFuWnRIa0hSNDZlMEg2T05XRFFLT3JWclVtcmx0OEJVTHIwRnpydHJtMmFNMmhBVDUxdHRlbzBBZURseTFmNGJkck9WMS9XWS9iUGsrTEZYNlhhVjVpYnYvL242c1RKMDZoVUtqcDNpci9LYzlhc1djaWE5ZjNOUm1Sa0pEOE9HY2ZMbDYvMFRweVBsVGxUSmpJWHphUzNyYWU3RzNQbUxtYlduRitaTW1tazNqNXh6ZjlsR1pzMjc5UituamQvS2ZQbUx3VWc0TXhCN3Q5L0NNRE83V3NCdElsTm9VSk83TnkrbG9lUEhnT1EzejZmenNUazJKc3pwVkwrNmY2Y25Qb3JnTDc5UFhTMjllb3pUUHR6N0Z1UjVOcXhjeDhBT1hJa1BCRzllL2NPN05pMW53dUJsOThsTDVFQVdGcWszb1I0ZmNxVXEwUDB1N2M4aVlrZHVxbVBVcUhnNHZuM2I1ZFQ4L3FvVUw2MDNvZENYZHphc25DUkorY3ZYRXJ4T2NUSGs3OEJoUkFpbGZ6NjY2K1VMbDJhc21YTGtqVnJWbU9IQThDTEZ5L1p2SFVYQUE0Tzl0cktWckZ0QUJVcmx0VTdIQ1UyY1FGbzJLQTJFSE9qWldabXB2MGNsNk5qZnIzYklhWndRTndubUhHdDlGNVBhR2dZdmR6ZDlGWTRpbGFyZFo0RUt4UUtvcUtpdUhmL0lZNE85bnFQR1d2bnJ2MzhjK3MyRFJ2VS9xaGhYOUhxYUxxNC9jRDJIWHZadkdVWExiNXZRc1VLOFlzTnhEVmwwa2ltVEJySnhrMDdHRC94SjUya0tTRGdBaDA3OXpYbzNMSERoRDY4Z1pzeWJUWlRwdWxXWVlydDgwM2pobFN0VXNIUXIvZEpoSVNFTUcvZVBQYnQyOGVwVTZlUzNpR0RxVmUzcG5aWTA0cVZhNWt6ZDdIT2hQMlRmNTRCNE5IRHg5ekpxdjhhaXIyV1kxMjhlTm1nRyt6Q2hRcHdjUDhtN1J5UzBMQXdnRFN2a0xwOTJ4cHRzaEhYcHMwNzhmYnhwVkJCSi82NWRadlpQMCtpWUFGSExLMHM0L1dOblplVEZ0ZUhsWlgrNzI5bFpZbFNxVVJQNk9JVGt1UkZDQ0ZTeWU3ZHU1ay9mejRhalFaN2UzdCsvUEZIYXRTb1FlN2N1WTBXaytmS3RVUkhSNk5TcWJoMjdZWk84dkx2djhFQU9rTXh0bXpiemZObjc0ZGRkZTNTVHVkNCttNDRVaUlpSXBKRGgvNmd5VGVOS0pIQUpOaW9xQ2dzTE40bkx3M3F1N0I5eHo3NjlQUGdwLytObzFSSjV3U1B2MmZ2SVFEYS90RGlvK0xUYURTb1ZDb21qaHRPcHk3OW1EVDVaelp2OURLb2pHeHN0YVRJaU1oNDVWMjNiVmxGc2FLRjllNTM5ZXAxV3JicHF2MGMrNGJtN3QzNzlPNDduQ21UUmxMaFhRSzFjOWQrbGl6MTBmYkpaR3ZMNFNQR24vL3k1TWtUWnMyYXhjR0RCM2tWWndpZFNOemV2UWNUYkJzOGRKekJ4L0ZaYmZoazZyaVQzOSs4cTM0WDl3MXRXaWhVMEVubjg5T25JY3lZdVlBOWV3OHhic3dRbmo5L3lZS0Z5NW41ODBMQ0l5SndiZE9jRHUxYTZjUWE2MU5lSDBIWC95RXFLaXBEejNjQktaV2NZdW14VkxJUUltTXpNelBqd1lNSGVIakVEQVhKblRzM3c0Y1BwM3IxNm1tU3lNeVp1NWdWSzlmcWJRdThkSlUyclpweDl1OExuRDkvaWEvanJNOXk5ZHAxcksydHlHK2ZWN3ZOeTNzOU4yN2MwbjZPbjd5b1VhVGlwQXNMQzNPMmJWbEY4TjM3OUJzNEVvK2gvU2xRd0NITytUUm9OQm9zNGd4akdURjhJRUhYLytIcTFldjgwTTZkYnhzM3BFK2ZydkZ1aUFBdVh3a0MwRnVhT1RrcVZpeExxNVpOMmJocEI5NCt2blR2bG5oMW83Q3dNUDU4VjVSZy9pL0xPSEwwT0F2bVRkZTJOMi9oWnZDNVk1L0Fuem9WQUlDTFN6WHk1TTRGdkI4U0ZMZEVicTVjT1pKOE81UVdnb09EbVQxN05rZVBIdVh0VzFta09ia0NMMTNWL25uZHQvOHdsU3VWcDBybDl5VnAxNnhhVExrRWJwcVhMbC9Gd2tXZUFBUmR2OG5lZllmSW5qMGJJU0hQa2hYRDgrY3hiM0N5WmsxNGJwZEdveUU4UE1LZzR5WDFzT1BWNjlmNC9yYVY1U3RXbzFRcVdieG9KclZkcXJOa3FROEEyN2V1WnIzdlpsYXYzWWlYOTNxYU52bUtycDNiVXJSb0llMHhQdVgxNGVtNUJnRFgxaG03a3F5VVNrNmg5RndxV1FqeDZXZzBHbTdmdmsySERvYVZ6RXdMZCsvZTFidjk4ZVBIREI4K0hJQzhlZlBxN1pNYXBrMGRyZjNaMy84b2g0OGNaL3EwTWFpVUtuNVp0SUlUSjNVck01NE51RUNwa2wvb3JPV3lmY3RxQUJiOXVwSkZpMWNDOE51R3JkcjJvS0IvNG0zVHRsMy9SMmQ3NjliTnRBdnRQWC8ra3VzMy90RWJ0NDJOTlhhWk14RVFjSUYrQTBmeTI3cGwyZ24xc1JPSTQ3NTV5Wll0Qyt2WExHWHBjaCs4Zlg1ajUrNEQ3Tmw3RUZmWDVnd2IwazlueU11TDV5K3dzRERYT3dFK3VZWU42Y3VodzMvdzZ4SXZ2djJtRWZueTVVbXdyLytoM3lsUm9qaW5UcDJsVGF0bWVQbjRNbUhpVEZxMWJBckFvbDkrMGtuUzRycDE2dzREQm8zUzJmYm16VnVXZTY2bVRKbVMyaHV6aERTb1g1c0c5ZDhQMzRzdzhFWXpKZHEyYlV0QVFFQ0NKWFpqbFNuei9xYlIwTGQ0Q2ZXTGpvNG1VNlpNckY2OUdvMUdnMXF0MXY0S2FEL0gvVS9mTm4zYkUrcVgybThlNC9MMjhkVW1IQWY4aitLNWNpMHJsczNWdGl1VmlnVGYrQ25NM2wvRDh4Y3NJMWZPSEh6N1RVTzhmSHlURlVQc2ZLdmN1WEltMk9mZjI4RlVxTndnd1haREJBWmVZY2V1L1d6WnVwdlhyOTlRcDNZTkprMzBpUGRuTzNQbVRQUjBkOFBON1FjMmJOaUdwOWRhdG03YlRiMjZOZW5wN3FZZDd2b3BybytkdS9hemMvY0JxbFdyeEhkTnYwcm1OLzY4U0tua0ZKSlN5VUlJZUYvaU03MHVyS2xVS25GMmRtYkxsaTA0T3ljOHpDa2w0czdwc0xXMnh0Yldscng1WXQ3MDFLcFpGYitOMjduMTd4MEtGWFRpMXI5M0NBNitaOUM2TDVPbXpESm9XOXdTeUFEZk4vOFc1YnVoVWp0Mjd0Tk9JTlluWDc0OFRKODZobjREUmpCNjdEVG16NTBHeEF3WkE3QXcxNTFBYkdscHdjRCs3clJ2MjRvVks5ZmcrOXNXMXZ0dUlTRGdBdDRyZjlFV0g3Q3l0dUxObTdkRVIwZW5lTVZ3Tzd2TWpCamVueEdqcGpEMWYzTlp0R0JHZ24xOWZUZno5VmNOT0hYcUxBVUtPdEt1YlF2Ky9QTXNEZDdOQ2JMUGw0Y0NUdnFUbDlEUU1KM1BrWkdSREIwK2dZY1BIek5tMUk4R3hicm8xNVZZV1ZsaVptYkdPdC9OT2tVTTBvS3ZyeTlyMTY3Rnk4dUxCdzhlRUJrWnFUZVJhZGl3SWZCK3ZrTGNYL1Z0aXhVM3dZN3QrK2VmZitMaTRrSzNidDB3TXpORG9WQm8yejc4TDdaTlg1L2tiQVBTNVBxOWZDV0lQWHNQMHIxcmUxYXNYTXZVeWFPWU9QbG5ldmNkenNEKzdzazZscTJORFFNSHVuUG5qbUVMTjhZVkZIUVRnQUp4aHBkK0tFZU83TnB5eTBsWnN0U0hwMDkxeTZvZlAvRVg3cjFpcXU0NUZ5L0N3UDd1MVArZ0lsckxGazJvWDYrVzlyT1ZwU1Z1blZ4eGRXM09tclViV2VHNWhuWWRlckZzeVd5cVZhMlk1dGZINlRQbkdEditmemprejhmc21ST1RUTkkvZDFJcU9ZV2tWTElRQW1LU2d3SUZDdUR0N1cyMEdKbzJiY3IxNjllMW42MnRyUms4ZURCdDI3YkYwdEx5ay82RDk5Vlg5YldsaFFGY2FsWER5c29LUDcvdGVBenZ6OWF0dTJQNk5hcVg1TEhpcnBIUTRNdVcyT2ZMdzVwVmkzWDZsQ3pqUXFlT2JSZzFZcERlWTN6OVZYMDZkV2lqcyszRGlldjE2OVdpZmJ1V3JGdS9tYlhyTnRLaGZXc2lJbUtlaXNaOTh4Slh6cHpaR2VreGtBN3RXakZnMEdpdUJkMWs1cXhGVEpzUzgrWWl2MzArZ3E3ZjVGclF6VlJaV082N3BsK3paZXR1RGgvK2cwT0hmOWQ1Z2h2cjNQbEF6cDIveEp4WlUvamZUekhsVlB2MzdjNlF3WDIwWmFCYnRPNWk4RGt2WEx6TXlUL1AwUFRiTCtNVlJNaVRPNWZPMEtKWTIzZnVJL2pkcXVOWnMyWmgyQkREaWdTa1JJY09IYlJ2UHUvZnY4L28wYU1KQ0FnZ1BEeGMyMmZldkkrcm5LWFBwRW1US0Zhc0dBVUxGa3kxWXhwRHRGck4xR2x6Y0hZdVNvMGFWVml4Y2kxV1ZwYjgrc3RQekoyM0JQdDN3enBmdkhpcGQzMGxRR2VZM29EK1BYQndzR2ZCd2hWSm52disvWWQ0ZXExbDNKaWhBSndKT0kralkvNUU1N3pZWmM1RWgzYjZGNXI5MExwMW0rSWxMN1ZxVm1Yd3dKNlVMbDJDbWpXcTZOMXYzb0tsTVd1cS9MNUxaN3VWcFNVOXVuV2dkY3VtZVB2NFVyMWFKYzVmdUpTbTE4ZUZDNWZwMjk4RE83dk1MRjg2bCt6WnN4bjAzVVhhTWZua1JRZ2gwZ3NiR3h0c2JHejQ4Y2NmYWRhc0dWbXlaRWszVCtoc2JLejVydWxYL09hM2xWWXRtK0s3WVNzVks1VFJHVHVlbE9zMy91SGh3OGMwL2ZiTFpKOC9kKzZjVkt4WU5zbCtRd2IzNGNqUkUyemV1cHUyYlZzUy9pNTUwVmR0S0M1SHgvek1uenVOYjVxMnhkLy9xRFo1cVZHOU1rSFhiN0pqeDc1VVd4Vjd3cmpoTkcvWmlXbi9tMGVONnZGdnZwYXZXRTJkMnRYSm5mdjkwSnRNbVd5MTM4UFJNVCtUSmd6SFBsOWVOQnI0OXJ0MmpQUVlTTjA2TlFBSXZudWZ5Vk5uYTh2VlZxcFlEcy9sY3lsYkpuNUZ1RVlONjlDb1lSMisvdllIMnJkdFNXZTNId0RZdTh1WDZPaG9GQXFGemx1TFQ4WGUzbDc3SUNFa0pJVFJvMGR6OHVUSlR4NkhLZGkrWXkvbnpnZXllTkZNbmUwNWMyWm4ydFRSMm1wanZmc09OK2g0aWEyRkVrdWowYkRCYnhzL3oxNkVwYVVGNDhZTTVkSGpKNXc3RjBpYjF2SFhjRXBOYjk2OEpWZnVuRHg2L0lRdDIzYnI3WFArL0NWc2JLd1RiQWNvVU5DUjhQQ0lOTDArTGw4SndyMzNFS3l0cmZCYXNTREJvWjdpMDVMa1JRZ2hVc21hTld0MEpwWWIyL2tMbHloVjBsbTdVRnozcnUzWnRuMFBiVHYwNU0yYnQvVHYxejFaeC9OOFZ4U2djZU9HcVI1ckxCc2JhNWIrT292OER2bFFLaFNFaGNZOHRiZXlURHg1QVhCMHRFZXBWQkt0anRadWE5KytGV3ZXYldTZDcyYSthZHd3VmFvRUZTamdRRTkzTnhZdThtVFI0cFdZbTV2ckRQVnlkaTVLclpwVjQrMFhIaDVCMFNLRnRQT0tJR2FORzQxR1E2R0NUdVI1TjhRdlQ1N2MyajRhalFZek16TXFWeXJQN2ozK0NjWVVISHlQc3dIbjlWWmpBckMzejB2NWNxVS82dnVtVlBiczJWbXlaSWxSem0wS0tsVW9TNFA2dGFsYnA2WTJVZEhIYy9rODdZS21IMXJwdlo2bHkzd01PdCtkTzNjWlAvRW4vanI5Tjg3T1JiVnJGNjFlNDRkYXJlYXJMK3NsK3pza3g5T25JWXdaT3ozcGpwQmt2MG9WeW1KcmE1TW0xMGZROVp2MDZQa2pWbGFXZUhrdTBKbjBMNHhMa3BjMEZoa1ppVXFsU2pkUFg0VklTblIwTk5IUjBlbnFKdHhVcEpmZnMrczMvbUgrZ3VVY092dzdXemY3VUx4WUVRQ2NuQnlvV2FNS1I0NmVvRUw1TWxTdkZuOFJ0b1FjOEQvSzloMzdjS2xWTGRYZVlDU2tTSkdDMnA5RFEwTUJzSXlUdkV5Wk5wdmVQYnZFdXhIWnVIa24wZEhSVktwWVRydk4wY0dlSVQvMjRlZFpDK25lY3pEanh3Nmx5YmRmeG52YSt2RGhZeDQ5ZnFKM3ZSdDkzTHQzWk5ldUE2eGU0NGRLcFR1WHBrZTNqbm9MQkNRMnlibG5uNkY2dHgvWTU2ZGRkWHlZeDhSRVkvSS9lQXovZzhmMHRuM1R1S0hSa2hlUk9DY25CMmJObkpCa1B4c2I2d1NIY3hteXFHUnN5ZXJ2VzNZbUtqcWFmbjI3MGN2ZERaVkt4YiszZzFtejFnK0lLUnhRcldyRk5IdGo1K1Rrb0RNVTlVT3hxOWc3T1RtZ1ZDancrODNUb0lJYnFYbDkvUFBQdjNUck1SaExDd3U4Vmk3UUtURXZwRlJ5aXFYSFVza2FqUVpmWDErOHZMeDQrUENoem5oZklkSTdNek16TEMwc0tGdXVIT1BHamFONDhiUzlVUlVwRjF2LzZQS1ZJSllzOWViZ29kK3h0YldoVDY4dTJodmZpSWhJWnN4Y3dKR2pKN0N4c2VidmN4ZVpQbU0rdzRmMjFWdms0TzY5KzBETWVQdzlldzh5WnV4MHNtU3hZOEw0WWZINnBxV1hyMTREWUczenZvTFlldDh0YlBEYlRwblNKU2hVcUFCS3BZSnJRVGU1ZVBFeTJiTmxaY1R3L2pySDZOcTVMUkJUVW5yRXFDbk1ucnVZQ3VYTGtEVnJGdDYrRGVYR3pWdGN2WHFkdnIyN0dweThtSnViTTJIOGNMcDBHNkJkbFR4V1FqZGFCL2I1Nlh4Kyt6YVVRWVBIa0NsekpxNWR1MEc3dGkzbzFGRjNYbEJzd1FVZzBSdStrbVZjNk5Xek00TUdKRzl5dDBnZkVsb1VNYlc4ZlJ2S3Z2MUhnSmprWWNiMHNYenhSVEVncGtERWowUEdvdEhFbEViMzhsN1ByTm0vNHZIQmRmUXBCQVJjWU1sU0g3NXNWSmRCQTl4cDA3WUhmZm9OWjlFdlAybUhYaVlrTmErUHJqMEdFUkx5ak5vdTFiVkozWWZHamg1aTBMRStSMUlxT1lYU1k2bGtYMTlmOXUvYmhiZm5QUExrU2J4a254RHBrVWFqNGNqUkUvVHUzWXNORy96SW1UUGhzcG5DK0I0K2ZBUkFhOWR1V0ZsWjRkNjlJOTI2dHNmT0xqTUFaODZlWS9MVTJkeTRjWXZhTHRXWk9XTThrNmZPWnMxYVAwNmZEbUNFeHdEdFc1aG90WnJKVTJheGJmdGV6TXpNR0R0dU90MjdkcUJVU1dmR2pQNVJtd3dsMStvMWZxeGVvLzhtSURHWExsOERJR3Vjdit2SGpCck0wV01uQ2JwK2s0dUJWekEzTjhmUndaNXVYZHZUeGEwdE9YTm1qM2VjcnAzYjBxaEJiZGF1MzhUSmsyZjQ0L2dwd2tMRHNMR3h3ZEhSbm80ZFd0T2tTZkxtOGxTdFVvSHZtMy9EMW0xN0RPb2Y5L2Z1aitPbm1QSFRBc3pOelZtMmVCYm5MMXhpeUxEeGhJUTh4Mk5ZZjczZlFXUnMwZEZxb3FPajliYXBOZXBFOTdXeHNhWit2VnBZV2xyaU1heWY5b0hGcTlldjZkUFBnMnRCTnhremFqQWQycmNtSk9RWjNxdDhLVmE4c0U0RncxZ3ZYNzFtN2ZwTkJzVWMrL0RCRUZ1MjdtTEt0TGs0NU0vSHBBa2VaTTJhaFhsenBqSnc4R2hjMi9aZzZ1UlJCczJiU3cxUG5qd0Y0UGMvL2t5d1QwWk9YcVJVY2dxbHgxTEpYbDVla3JnSWsyWm1aa2I5ZXJXNGRlczJpeGN2WnR3NHcxZDJGcDlXdEZyTnFiOENVQ29VdEdyWmxMNTl1bWtuaWwrOGVKa2x5M3c0Zk9RNGxwWVdEUDJ4RDEyN3RFT2hVREQ3NTBtVUwxZWF1Zk9XMEszSFlDcVVMMFA3ZHEzWXMvY2dodzcvVGs5M040b1ZMY3pJMFZNNGNmSTBqUnJXNGV6WjgxeTVFb1M1dVRrcWxRcHpsUktGVWtsVVZCUXpwbzhqTWpLUzliNWJpSXlNSkNJeWtoOWNtNU01VTh3d2w0b1Z5bEMzYmkyZDJPZk8wNTBINGVXOW5nY1BIK1BrYUkrZG5SMFBIejNHMDNNdDV1Ym1sQzFUUXR1dlEvdldkR2pmT3RtL1Y0Nk8rUm5wTWREZy9vazl5WTAxZmVvWXBrOGRrMlMvME5Bd0FpOWQ1ZVNmcDltLy93aTNid2ZUb2tVVFBJYjFKMU1tVytyV3Fja21QeS9HanB0T3c2OWEwYUMrQ3pWcVZPR3JSblhqcmMrVGtKczNieVU2N2grZ1FZUGFCczBmRXVsUFI3YytLZHAvNHZqaE9rUEJ6cDBQWk1USXlRVGZ2VS9mM2wyMTE5VDRzY1A0KzF3Z2t5Yi9UT0ZDQmVLOWpYejZOSVJwMCtlU0d0NitEZVhnb1dPc1h1Tkg0S1dyVkt0YWtWa3pKMnBMRjlkMnFZNlg1d0tHZTB5aVkrZSt1TlNxUnV0VzMxSGJwYnAyUGFlay9zekhTczcxWWNpMW41RkpxZVFVU20rbGtpTWpJM240OEtFa0x1S3pVTFZxUlVhT05teGlwVEFPcFVMQjJORkR5Sm8xQzFXclZOQnVQL1ZYQU4xNkRFS2owZENvWVIyR0QrMFhyd3BScDQ1dHFGZXZGai9QV29qL3dXTzBhZDJNckZudDZPTFdsc0VEZXdKUXJGZ2hmRlp0NEkvamY3Rmx5MjdDREJ3R215OWZIbnJFV1lXK1ZLa3ZjTy9lVWFmUGg4bExXSGg0dkNFYVZwYVdqQm45bzNhbGJGTjFNZkFLWGJvTklHL2UzSHp6ZFFOYzI4UmZwTEpnQVVmV3JGck1pWk9uV2UrN21aOW5MYVJSd3pwSmp1V1BsZGlZL2xpSC9EZnJERVVUcG1QZTdDbmFvVjRmV3UrN0JaL1ZpYzlEaUp1NEJGMi9TYWZPL1ZDcGxFeWVPSUxXcmI3VHRsbGJXekZqK2xnR0RoNU5XRmo4NjcxUVFTZDI3VmhuVU14TnZtdlByWC92Nkd3TERMekNydDMrWEx4MGhZc1hyeEFaR1VtaGdrN01tRDZPcGszaXowY3JYNjQwMjdldVpxWDNPdGF1MjhRZngwK2hWQ29wWHJ3SVA3aCt6OFJKdWxYYUVpTFh4K2ZENUpPWDlFYWxVc2tjRi9IWktGcTBFTGR2M3paMkdDSUorcW9EVmF0YWtja1RSL0RGRjhVb1ZUTGhSZlVjSGV4Wk1HODZkKzdjeGNuSmdmcjFhbW1IbXdFVUwxWkVXM1k0Vm1Sa0pGRlIwVVJGUmVrTVk0bTd1R0RjZVRUTEZzL0dQbi9lZU9mZXU4dVh6Sm5mbjZ0VGh6WjgyYkF1WVdGaFJFWkZZYTVTVWFoUUFXeHRiWkwrVFVpbmRtNWZTNjVjT2NpY0tSTUg5MjhpWDc0OFNlNVRzMFlWYXRhb1FtUmtKT2JtNXZJVU9BTlJLQlJZV0pqcm5TeWZKMjl1bkJKWTJEUjJVZGE0eXBZdWdXdWI1bnI3Rnk5V2hOa3pKMUswV0dHOVZiVEtseXZOL2owYjRzM0ZtVHh4QkhhSnJBSHpvVUVEM09NTkhjdWRPeGRidHUzR0lYOCtPclp2UmNNR2RaSWNEbVp0YlVXL1B0M28wYTBqUjQ4ZTUvRFI0MXkrSEVTOU9qWGwrc2lBekRRYWpTYnBidW1YczdNejE2NWRNM1lZT3B5ZG5lVmlFcCtOa21WYzB0MDFwcy90MjdkeGQzZG4vLzc5eGc0bFNmSjNoUGljR092dmlOaEZLdHUzYi85Snp5dlhiOHFwMVdxanJEOWtLanE2OVdIWThGRlVxbFRKMktIb1pleDdiL21USTRRUVFnZ2hQaGxKWEV5YnNVc2xtL3lmbnZSWUtsa0lJWVFRUW9qUGtiRkxKWnQ4OHBJZVN5VUxJWVFRUWdqeE9YSjFkVFhxK1UwK2VhbFNwWXF4UXhCQ0NDR0VFQ0pETUhhcFpKTlBYdEpicVdRaGhCQkNDQ0ZFMmpENTVFVjh2TC9QWGVUbldRdFQ5WmlIRC8vQjVpMjdFdTJ6ZW8wZit3OGNJVG1GN3Y0K2Q1SFEwRENkYmMrZXZlQy8vMEkrS3M2SER4OFRlT21xM3JiQVMxZDUrUER4UngwMzFweTVpOW16OTJDS2ppR0VFT21kaVJjc0ZTSmRpb2lNTkhZSTZab2tMeG5ZNVN0QmVQbjRzbmZmb1ZRNzVtOSsyL2hsa1dlQzdmZnZQMlFxbVprdUFBQWdBRWxFUVZUbXo3K3d3VytiZGsySXBMeDQ4Wkl1M1FiaU1YS1N6dmFPYm4yb1U3L1pSOFhwNWJNZTE3WTk5TGE1dHUyQmw4LzZqenB1ckJVcjEzTDR5UEVVSFVOOG5zTEN3ckN5a2hYT3hlZmgrbzEvc0xlM04zWVluNHhjdnlLdHFkVnFidHk0aFpPVGs3RkRTYmRra2NvTTdJYzJ6ZkZjdVpZNWN4ZnpaYU82S0pWS0FDcFZiUlR2TFljK2VYTG40dkRCTFRyYmdvUHZVYmhRd2hlY2wvZDZOTURRSC9zWUhPZmVmWWVJakl5azJYZU5EZDRuUGJqLzRDRzc5L2duMnFkOHVkTFkyOGRmdkU5OHZxeXNyTWllUFFkMzd6M0FJWDgrWTRjalJJcHMzYmFIT25YcUdEdU1UeWIyK3IxOTV5NEZFbGd3VW9pVTJMWDdBS1ZLbFNaWHJsekdEaVZCeGk2VmJQTEppNVJLL25ncWxZcUo0NGVUTTJjT2JlSUMwS043UnlJaVlsNVpMbCt4bW9JRkhQbnlneFc4dDI3Ymc0V0Z1YzYycUtnbzdnVGZ3OFdsbXQ3elBYNzhIeHMzNzZENWQ0MHBVYUk0QUpzMjcyVEwxbDE0ci93RmxVci9IOGNORzdlVFBYczI2dFd0YWREM3VudnZBZU1uekdEOHVHRVVMT0JJeVRJdUNmWk5xRzMxR2o5V3IvR0x0MzJ6bnhkZmZGSE1vRGdDQWk0UUVIQWgwVDQvL1crY0pDOFowTkNoUStuZGR4amVucitRTTJkMlk0Y2p4RWRaNmJXT3ZmdU9zR3RYNGtPRlB6ZERodzZsVjU5aHJQSmFTTzdjT1kwZGp2aU1IUEEveXBScGMxaTNMbVdqUDlLYXNVc2xtM3p5SXFXU2syKzU1eHJtemx1aXQrM3l4VC9vMDZzTEVET1dlZWt5SDBxV2RHYlFBSGVkZnNlUG55SXNQQnlBbXpmLzVlOXpGM24rNGlYUjBkR0VoRHhqNDZZZDJyNnRXMzBId01KZlBWR3BWQXdlMUV2YjV1QmdUOERmRi9GZTlSczl1bldJRjgveEUzOXg1VW9RZlh0M3hkemNQRjc3aDBKRHd4ZzRlRFJYcjE3bjczTVhLVmpBa1pFZUErUDE4ejk0akRObnorbHRtekZ6QVpVcmxhZFJ3L2hQRTNQbk1meEpTT092R3pCcGdrZWlmYXl0clF3K252aDhOR25TQkhOemM1cTNkTVBXMW9aY09YTWttTHlMai9mZmZ5R1NIS2FCcUtnbzdqOTRTTTZjdWZIMTlTVlRwa3pHRHVtVGF0S2tDVFkyTnJSczB4VWJheXR5NWNvcDE2OUlFYlZHemFOSFQ5Qm96UER5OHNiWjJkbllJU1hLMWRXVkRSczJHTzM4Sm4rMVZhbFNoZE9uVHhzN0RKTlN1MVkxN0RLLy84Zm16WnUzekptM2hCdzVzdW4wQ3d1TFNVNXNiS3pqSFNNeUtncExDd3NBL3Z6ckxOT216OVcyN2RydHo2N2Q3NGRMdFc3MUhWZXZYbWZMbGwwTStiRVB1WExsMExaVnExcVJPclZyc0dTcE44Mi9hNnpUQmpGdmZnRGF0VzJSNVBlS2pvNW0wSkF4WEwxNm5VNGQyOUNpK2JjQXVIV0tYNC84M3YwSG5EbDdUbS9iakprTEtGR2ltTjYyNUZDcFZHVE9uTEgrVVJlR01UTXo0K3V2djZaKy9mb0VCd2Z6N05rejFHcTFzY1A2N0hUcTFJbkpVNllhTzR6UGprS2hJRmV1WERnNk9tYklsZExOek14bzBLQUJ4NDc5VG5Cd01DRWhJWEw5aWhUTG5qMDdCUW9VTU9oQnJiRVp1MVN5eVNjdlVpbzUrYjc0b3BqTzBLZnBNK2FqVnF1Wk1tbWtUcjlYcjE0RDZMMEJqNHlJeENaTFRGTFR1dVYzZk51NEVTczhWN05xOVFiOEQyekN3dHlDK2I4c1krZXUvWVNIUnpCdXdnd0tGeTVJeHc2dGVmMzZEYTlmditIVjY5ZThlZk9XcWxVcWNPejNrOHhic0l4cFUwWnB6M0g0OEIvOGRmcHZBSExrU1B6cGFWUlVGTU5HVE9LUFAwN1IrT3NHakJnK0lOSCtLcFVxM3JDM2ovSGJocTBKdHQyK2N6ZkI5cUpGQzFHcFlya1VuMStZTmdzTEM0b1VLV0xzTUQ1clZhdFdOWFlJNGpObGJtNU80Y0tGS1Z5NHNMRkRFU0pETWZua1JhUk13TjhYV2I5K0UrM2F0cUJPN1JyOGRmcHZLcFF2amJtNU9TRWh6d0RJbmkxcnZQMGlJaUt3dEl4NTgySnBhWUdscFFXMzc5eWpjT0dDNU1rZE03VHE5ZXMzNU0yYmg1R2pwM0RwOGpWVUtoVVZLamZVKzRSS3FWU3liZnNldW5adVM5R2loWWlNakdUbWJNUEtPSWVGaFRGMCtBUU9IemxPL1hxMW1EbGp2TTdUUUkxR3c2MS83K2pzMDZwbFUxcTFiTW8vdDI3SE85N083V3NCZE5vS0ZIQkVxZWNKNDZRcHN4S002K0xGeTF5OGVGbHZtMnViNXBLOENDR0VFRUlra3lRdkdkano1eThZNWpHQmtxVytZS1RIUUFJdlhhVzcrMkI2ZE8vSW9BSHVQSDd5SDBDOG9Wd0E0UkVSV0ZycWxvdThkT21xem1UOWUvY2VVTUFwUDNWcVYwZXRWbE80Y0VGeTVzaEdqaHpaeVpZdEs5bXpaeVZiMXF6WTJXWG05cDFndm0vWm1ZV0xWekp2OWhRV0xmYmk5dTI3Wk1wa3krdlhieEw5SG01ZCtoTjQ2U3JObXpWbTZ1UlJPc1VIQUNJaUltbmFMUDU4bXVRNGRYSXZtUk1ZMTkycVpkTjRiNjBTazFnQkFTR0VFRUlJa1RCSlhqS284UEFJK2c4Y3ljT0hqNmxTdVFLdlg3OWx5TkJ4T0RyWTQ5NjlJd0QzN2owRXdENWYvR3BZRVJHUjJqY3ZBRStlUE9YUjR5ZFVLRjhHaUhuYmNmM0dQM1JvMTRvVzN6ZWh4ZmRORW8ybldOSENkSEg3Z1VxVnluSCt3aVU4UGRkUXBYSjU4dVRPeGM3ZEIvVHVFLzN1RGM3bEswSDA2OXVOdnIyNzZsMDd4dHhjeGJMRnMrTnQ3OWxuS0RXcVY2WnI1M1lKeHZXYjMxWU9Idm9kR3h1YlJPTVhRZ2doaE1nSXBGUnlDa21wNU9RTEN3dGo0STlqdUhUNUdnQTdkdTdqNEtGamFEUWFmbHUzWER0Qi85NzlCd0I2Uy9tR2gwZGdZZkUrZVRsM1BoQ0FLcFZqeXVjRkJkM2s3ZHRReXBRcENaRGdhdlp4ZGVuY2pseTVjakIzM2hLc2JheVpPbm1VM2dVdlEwS2VNWDdpVE83Y3VRdkE0a1V6cWUxU1BjSGpLaFNLQk1zMzU4bVRLOEUyZ1AzK1I3QzJ0dEk3WkN3ajJiUnBFNHNXTFFKMFY5Uk82bWN6TTdOazlVL3E1OWprVkYrZnlNaklkRjBYWHdnaGhQZ2NTS25rRkpKU3ljazNZK1l2bkRoeG1ubHpwakp3OEdqcTEzZmh5cFVnbmo1OXh1OS8vRW1SSWdVeE16UGo4dVZyMk5yYTZLMWpIeDRlcmxQbTkyekErWmdLR2U5dUxuOC9mZ3FsUXFGTlpoSmF6VDZ1Z2YzZDZkMnJNNjZ1elNsWjBobEh4L3c2N1dxMW1pMWJkek5uM21LZVAzK0pTcVVpS2lvcTBjUWxwVjYrZXAxa3hiQjc5eDZ3Zi8vaE5Jc2hQV2pRb0FHbFNwWFNmbzVOSXBMemE5emt3OUJmazN1K0Q0Y3lDaUdFRUNKMVNhbmtGSkpTeWNsWHJteEpLbGNxcDEzSHBFeXBFdnh2NmhqR1RaakJ6N01YRVJvV1J1ZE9QL0QzdVl0VXFsZ3VYaW5NOFBBSU5CcU56bzFpcTVaTjJiZnZNRCswYzJmQnZHbHMzYnFiS2xVcWtDV0xuYlpQaC9hdGNXM1RURzlNelZ1NGFYL09iNStQL1BhNks0Ky9lUEdTemwwSEVIVDlKZ1VLT0RCLzdqUW1USndaYnlKK2FndDUrZ3c3dTh5Sjl2bnoxRm4rUEhVMlRlTXd0bXpac3BFdFc3YWtPd29oaEJEaXN5YWxrbE5JU2lVbm43NzVKM1oybVprL2R4cWJ0K3lpWVlQYTdOcDlnUER3Q0wwTE5ZYUdoZ0pnRldmT1M3R2loVm0zWmduZDNRZlR0ZHRBb3RWcSt2ZnJyck5manV6WktGYjA0MHBLWnNsaVI4bVN4V25hOUN2Y09yb21XZWI0OHBVZ3R1L1lpMnViNWhRdVZPQ2p6Z2t4UStjYzh1ZEx0TTkzVGIvV3U5aGxRbXJWU1h6K2p4QkNDQ0dFME0va2t4ZVJ1bHEyYUVKNGVBVExWNnpCMXRhR0prMitqTmZuemR1M0FGaC9zSGhsdm54NVdMcGtOdDgyYVF2RURLZEtUZE9uampHNDc5Mjc5MW0xZWdNRkN6aCtkUEx5NysxZ0hqeDRsR0JKWTdWYWpkOXZuaFFwVWhBclMwdmV2ZzNseXRVZ2JYK05Sc09wdjg1aWEyT2puZnNEc0hMRlBQTG50LytvbUlRUVFnZ2hNakpKWGtROEN4WXU1OTc5Qi9UdDNWVnZlZUFYTDE0QllQdEJCUzZOUnNQOEJjdkF6SXlpUlFzeGUrNWlYcjk1eTZBQjdwOGs3cmp1M3IwUGdJT0JTVUprWkNUOUJvd2tkKzZjWk02VWlmQ0lDQTc0SHdYZ3kwWjE5ZTdqdDNFNzAvNDNEMi9QQlZTc1dKYjV2eXhqNDZZZEhEMjBqVXlaYkltS2ltTDRpTWtVS09EQUdwOWZnWmlxYkQxN0Q2TmhnOXJNblQwbEZiNnBFRUlJSVVUR2tiRkxLSWw0OXV3OWlMZVBMNFVLT3RHalIwZTlmVTY5bTkrUkwxOGU3VGFOUnNPVWFYUFl2Y2NmajJIOVdiOW1LWlVybFdmRml0VmNDN29KUUhSME5PSGhFWHIvK3hnS1pjd2YzMWV2WDhkcnUvQnVjY2dpUlFvYWRDeHpjM09lUDMvQnpsMzdXYlZtQTM1KzI3QzF0V0hNNkIvMUppOGhJYytZTzM4cFRrNE9sQ3NYTTVIOTY2OGFFQm9heHU0OS90cGp1clp1UmtEQUJXMjF0Vnk1Y3VEYXBobjc5aC9tNUo5bmt2MmRoUkJDQ0NHTVNVb2xwNUNVU2s0OSsvY2Zac1NvS1ZoYld6Rm45aFNzTEMwSkRRMmpWNTloWkxiTGhJMjFGVzlEd3poMjdDUlpzdGhSczBZVkFGNi9mc09ZY2RNNTRIK1VibDNiMDZsakd3Q1dMWm5GNlRQbmNDNWVCSUJGaTFleWFQSEtWSXUzZUxFaTNMejVMMzM3amFCR2pjb296R0tTbWVEZ2V4endQMHFoZ2s0NkNWWlNOdml1TUxqdjVLbXplZm55RmZQblROVXVpbG1oZkdseTU4N0o3ajMrdUxacERzUVVNbGl5ekFlL2pkc3BYZW9MQVByMTZjNzJIZnVZOGRNQ3RtenlqbGNRUVFnaGhCQWl2WkpTeVNra3BaSlR4NXMzYjVremZ5a3FsWXFGQy82blRUaXNyYTBJZWZhY3Y4OWRKRG82R3FWU3lSZk9SUms5YWpDMnRqSER4djY5SGN5aHczL1FyMDgzK3ZYdHBqMm1sWldWVGhuanJwM2IwcjU5Szczbi8vTHJOc21PZWRpUXZvU0VQQ1BnNzR1Y0RYaGYrVUtsVWxHMlRFa21UdkJJOWpFTmNlclVXZllmT0VLTDV0OVNyVm9sN1hZek16UHExSzdCQWYramhJV0ZZV1ZsaGIxOVhxcFhxNFQ2M1lLYUFObXlaY0d0b3l1L0x2SGkyTzkvVXE5dXpUU0pVd2doaEJBaXRVbXA1QlNTVXNrcE0yYjBqNVFyV3dwYld4dldydnFWQnc4ZVVicDBDWjArTzdldFNmUVlwVXQ5d2JiTlBoUXVYRERCUHExYU5xVnExWXJ4U2lESGNtM1RuRktsbk9OdHIxeTVQQ3FWVXU4KytmTGx3Y3R6UWFLeEphWlZ5NlpVckZBbTJmdFZxMWFKbVRQR1U2OXVyWGh0Z3dhNE0zYjBFSjFxYU11WHpvbjNkcVZMNTdhVUxGbGNFaGNoaEJCQ21CUmpsMG8yMDhSZHF0b0VPVHM3YyszYU5XT0hvY1BaMlpuTEYvOHdkaGhDcElxU1pWelMzVFVtaENIUzQ3OFBJdlZNbWpTSllzV0swYjU5ZTJPSElrU0dZdXkvVzAzK3pZc1FRZ2doaEVnYkowK2U1TXFWSzVRcVZZcHExYXFsYVI4aERDSEppeEJDQ0NHRWlHZmx5cFVzV3JSSSszbkFnQUYwNmRJbFRmb0lZU2dwY3lTRUVFSUlJZUpadlhxMXptY2ZINTgwNnlOTWg3RkxKWnQ4OGlLbGtvVVFRZ2doaFBnMGpGMHEyZVNURnltVkxJUVFRZ2lSK2pwMjFGMnN1blBuem1uV1I1Z09WMWRYbzU3ZjVPZThTS2xrSWRLT2lSY2pGRUlJa1FMZHUzZm5peSsrNE5xMWF3bE90RSt0UHNKMEdMdFVzc2tuTHk5ZnZqUjJDRG9pSWlKMDF2Z1F3cFRkZi9DUWJObXlHVHNNSVlRUVJsS3JWaTFxMVlxL3JsbGE5QkhDRUNZL2JDeTlzYkN3d01iR2x1ZlBYeGc3RkNGU3pOLy9HTldyVnpkMkdFSUlJWVFRZ0NRdmFhSmJ0MjVNbURTVE4yL2VHanNVSVQ3YW4zK2VZYm5uV2dZUEhtenNVSVFRUWdnaGdNOWcyRmg2NU83dXpwdzVyMmpjcEMxbFM1ZWdiTmxTV0Z0YkdUc3NJUXdTR2hySzhaT251WGZ2RVFzV0xLQmd3WUxHRGtrSUlZUVE2WVN4U3lXYmFVeDhSdTZMRnkvU2JjV3hseTlmY3Zqd1lhNWR1MFpVVkpTeHd4SENJQ3FWaWdvVktsQ3ZYajNNeldYK2xqQmR6czdPWEx0MnpkaGhpRFF5YWRJa2loVXJSdnYyN1kwZGloRGlFekw1TnkvcE5YRUJzTE96bzNuejVzWU9Rd2doaEJCQ2lGVGg2dXJLaGcwYmpIWitrNS96VXFWS0ZXT0hJSVFRUWdnaFJJWmc3RkxKSnArOHBMZFN5VUlJSVlRUVFvaTBZZkxKaXhCQ0NDR0VFQ0pqa09SRkNDR0VFRUlJWVJJa2VSRkNDQ0dFRUVJWXhOaWxrazArZWZucnI3K01IWUlRUWdnaGhCQVpRdm55NVkxNmZwTlBYdEp6cVdRaGhCQkNDQ0UrSjY2dXJrWTl2OGtuTDFJcVdRZ2hoQkJDaUU5RFNpV25rSlJLRmtJSUlZUVFJbU13K2VSRkNDR0VFRUlJa1RGSThpS0VFRUlJOFJIVWFyV3hReENmaWVqb2FHT0hZREpVeGc1QUNDR0VFTUtVWEwxNmxVbVRKbkh1M0RsSllFU3FVQ2pNcUZtekZsT25UaVZmdm56R0RpZFJ4aTZWYlBMSmk1UktGa0lJSWNTbjR1L3Z6OVNway9sMTRVODRGeTlxN0hERVorVFE0ZDlwMnJRSlc3ZHV3OUhSMGRqaEpFaEtKYWVRbEVvV1FnZ2h4S2V5YU5FaVNWeEVtbWhRdnpianhneGh4b3daeGc0bFVWSXFPWVdrVkxJUVFnZ2hQb1dvcUNqK3VYbFRFaGVSWmhvMXJNdmh3NGVKaUlnd2RpZ0prbExKS1NTbGtvVVFRZ2p4S1NnVUNzTFQ4VTJsTUgzVzFsWVVLdWpFalJzM2pCMUt1bVh5eVlzUVFnZ2h4S2VnVUNqUWFEVEdEa044NWpKbnprUm9hS2l4dzBpM0pIa1JRZ2doaEJBaW5UQXpNM1lFNlpza0wwSUlJWVFRUWdpREdMdFVzc2tuTDFJcVdRZ2hoQkJDaUU5RFNpV25rSlJLRmtJSUlZUVE0dE9RVXNrcEpLV1NoUkJDQ0NHRStEU2tWSElLU2Fua2o2TldxNDBkZ2pCQWRIUzBzVU1RUWdnaGhFZzNWTVlPUUh4YVo4K2VaZXJVcVZ5OWVnVzFXc285cG5jS2hZSXlaY293ZS9ac0hCMGRqUjJPRUVLSU5CUVZGY1dyVjIrd3k1SVpwU0xsejVjdlhiN0cyYlBuY1hWdGpwV2xwVTdiK1F1WGNIU3dKM3YyYkRyYnc4TWpVS21VS0pYS0ZKOC9LZUhoRVZoYVdzVGJ2bXUzUDl1MjcySFprdGtHNy9PeHdzTENlUDM2TFRselprKzFZNHEwSmNsTEJ1TG41NGVYMXdwKy9lVW5IQjN6R3pzY1lhQ3pBZWRwMGVKN2ZIMS9vMmhSV2RWWkNDRStWNmZQbktPNysyQjJibDlMNFVJRmdKaWI2L3NQSGhtMGYrdytzZmJzUFlpZjMzWTZkR2l0cy8zQmcwZDA3TlNIbGkyYk1tbUNoM2E3UnFPaFF1VUdkTzcwQXlNOEJzUTcvdTQ5L3NuOVNnQjgrMDJqZU51aW82UHAzbk13TnRiV1RKc3ltbHk1Y21qYmdvUHY4Y2Z4VXpyOU5Sb05TNWI1c0huekxsYjdMQ0p2M3R4QVRNSjNKL2llUVhFVUt1aUUyUWQxaURkdDJjVzA2WE81ZlBHUDVINHRZU1NTdkdRZ0sxYXNZUG1TbjhtZlA1K3hReEhKVUtsaU9lYk9uc0w0OGVOWnQyNmRzY01SUWdqeENmMTlMcER1N29NTjZ2dmhEZmlacytlb1VxVUNTb1dDMDJmT2NmYnNlWHIzNmt5K2ZIbjQ3cnV2MmJSNUorM2J0c1RaT2ViQldPd0NuQi9lNE1jYTVqSHhvNzZEdnVSRnFWVGkzcjBqbzhaTTQvdFdidnowdi9HNDFLcW1kLzgzYjk0eWV1dzBEdmdmeGEyVHEwNmljLy8rUTVvMjYyQlFIR2RPSFdESHpuMU1takpMa3BVVU1IYXBaSk5QWHFSVXNtRWlJeU41L1BpUkpDNG1xbExGY3Z6OTkxREN3c0t3c3JJeWRqaENDQ0Urc2ZWcmwxS3ViQ205YlV1VytyQmc0WEtkYmYvOUYwSmc0RlVtakJzR3dJbVRwMW02eklmZXZUb0QwS2QzVjNiczNNL01XUXZ4WEQ0UGVEOGZWcUZNZU1pYW80TTlLejNuR3hSenQrNkRDTDU3UDhIMnVuVnFzdG5QaXdHRFJ0Ri80RWgyN1ZoSGZudmQreFMxV2szWDdnUDU5M1l3YzJaTnB2SFhEWFRhblp3Y3RJbEl5VEl1akJveGlFNGQyd0N3ZHYwbWVhdVNCb3hkS3Rua2t4Y3BsV3dZaFVKQldGaTRzY01RSDhuUzBvSlNKWjBKREF5a2N1WEt4ZzVIQ0NGRUtna05EZVBCdzVoaFlRL2YvWHJ2M29NVUgzZi9nU09vMVdvYTFIZlIyKzdvWUUrenBsK3paZHR1L3ZqakZDNHUxWWlNakFMQTNOdzh3ZU9xVktwNENVWmlmWk9TTjI5dVZ2c3M0dnlGeTNxUHExQW9HRDkyS0ZteTJDVTY1UDM5V3lPRFFoTXA0T3JxeW9ZTkc0eDJmcE5QWHFwVXFjTHAwNmVOSFVhNnAxUXFwY0tZaWN1V05RdXZYNzgyZGhoQ0NDRlMwYW0vQXVqYjMwTm5XNjgrdzdRL3g3NFZTYTRkTy9jQmtDTkh3aFBSdTNmdndJNWQrN2tRZVBsZDhoSUpnS1ZGNmsySTE2ZE11VHBFRzNCUFVyS00vc1FMUUtsUWNQSDhNZTNuMk9SRnFUVDVXOXQwejlpbGtrMysvN0NVU2hZWmhqeE5Fa0tJejA2OXVqVzF3NXBXckZ6TG5MbUxkU2Jzbi96ekRBQ1BIajdtVGxiOW8wMWV2TkM5RjdwNDhUTG5MMXhLOHR5RkN4WGc0UDVOMmpra29XRmhBRmhicCszdzVPM2IxbWlUamJnMmJkNkp0NDh2aFFvNjhjK3QyOHorZVJJRkN6aGlhV1VacjIvc3ZKd1BFNXdwMDJZelpacHVsYkxZUHQ4MGJralZLaFVNaXJGa0dSZXNyYTM0NitRK2xpNWZ4YWJOTzNueTVDa08rZlBSMDkyTjc1dC9ZOUJ4Uk9veitlUkZDQ0dFRU9KenNIZnZ3UVRiQmc4ZFovQnhmRlliUHFRbjd1VDNONi9mQUpBNWN5YUQ5LzhZaFFvNjZYeCsralNFR1RNWHNHZnZJY2FOR2NMejV5OVpzSEE1TTM5ZVNIaEVCSzV0bXRPaFhTdWRXR1B0M0w0V2dMdDM3OU83NzNDbVRCcEpoUXBsWXRwMjdXZkpVaDl0bjB5MnRodytrcno1TDJQSC80L1RaODVSczBZVjd0OS95TWsvenpCNjdEVHM3RExSb0g3dGovbjZJb1VrZVJGQ0NDR0VNTExBUzFlNWZDVUlnSDM3RDFPNVVubXFWSDQvTVhyTnFzV1VLMXRTNzc1TGw2OWk0U0pQQUlLdTMyVHZ2a05rejU2TmtKQm55WXJoK2ZPWU56aFpzOW9sMkVlajBSQWVIbUhROGZTOVhZbnIxZXZYK1A2MmxlVXJWcU5VS2xtOGFDYTFYYXF6WktrUEFOdTNybWE5NzJaV3I5MklsL2Q2bWpiNWlxNmQyMUswYUNIdE1XTGZVSjA2RlFDQWkwczE4dVRPQmJ3Zk1oZTNoSFN1WERtbytDNjVTVXBvYUJqMzdqMWs1L2ExMm5WeTVpMVl4ckxscTFpOWRxTWtMMFlpeVlzUVFnZ2hUSktucHlkSGp4NGxPam9halVaRGRIUTBhclU2M3VmWWJSKzJ4VzJQYmZ1dy9jUGpKSFZEL3JHOGZYeTFDY2NCLzZONHJsekxpbVZ6dGUxS3BTTEJoU01WWnUrcmc4MWZzSXhjT1hQdzdUY044Zkx4VFZZTUR4ODlCaUIzcnB3Sjl2bjNkakFWS2pkSXNOMFFnWUZYMkxGclAxdTI3dWIxNnpmVXFWMkRTUk05dEVsSHJNeVpNOUhUM1EwM3R4L1lzR0Vibmw1cjJicHROL1hxMXFTbnU1dTIrdHFiTjI5WjdybWFNbVZLeGp2R2h4clVyNjJUZEVRa2tZaU5IREZRWjRIUGRtMWJzR3o1S3E2OFN6UXpJaW1WbkVKU0tsa0lJWVRJZUxwMzcwNnRXclZRS21OV2cxY29GTnIvNG41TzZPZWtQc2NlMTh6TVRMdGRxVlJTb2tTSlZQOHVsNjhFc1dmdlFicDNiYytLbFd1Wk9ua1VFeWYvVE8rK3d4blkzejFaeDdLMXNXSGdRSGZ1M0RGczRjYTRnb0p1QWxDZ2dHT0NmWExreUs0dHQ1eVVKVXQ5ZVBvMFJHZmI4Uk4vNGQ1ckNBRE94WXN3c0w4NzlUK29pTmF5UlJQcTE2dWwvV3hsYVlsYkoxZGNYWnV6WnUxR1ZuaXVvVjJIWGl4Yk1wdHFWU3N5ZFBnRUhqNTh6SmhSUHhvVTE2SmZWMkpsWlltWm1SbnJmRGVUTllHNVJDcVZpaEpmRk5QWmxpZDNMc3pOelhuMUt1TVcwSkZTeVNra3BaS0ZFRUtJak1mQndRRUhCd2RqaDVGaTBXbzFVNmZOd2RtNUtEVnFWR0hGeXJWWVdWbnk2eTgvTVhmZUV1enQ4d0l4ay9MLyt5OUU3ekhldm4yci9YbEEveDQ0T05pellPR0tKTTk5Ly81RFBMM1dNbTdNVUFET0JKekgwVEYvb25OZTdESm5va083VmdaOXQzWHJOc1ZMWG1yVnJNcmdnVDBwWGJvRU5XdFUwYnZmdkFWTE9YTDBCQ2QrMzZXejNjclNraDdkT3RDNlpWTzhmWHlwWHEwUzV5OWM0dVNmWjJqNjdaYzBiS0E3akN0UDdsdzZRKzlpYmQrNWorRGdtT1F1YTlZc0RCdlNWMjhjNXVZcXZRdDJxbFJLYldXMmpFaEtKYWVRbEVvV1FnZ2hoS25hdm1NdjU4NEhzbmpSVEozdE9YTm1aOXJVMGRwcVk3MzdEamZvZUltdGhSSkxvOUd3d1c4YlA4OWVoS1dsQmVQR0RPWFI0eWVjT3hkSW05Yk5rdjhsa3VITm03Zmt5cDJUUjQrZnNHWGJicjE5enArL2hJMk5kWUx0QUFVS09oSWVIa0dsaXVYd1hENlhzbVhpTCtEWnFHRWRHaldzdzlmZi9rRDd0aTNwN1BZREFIdDMrUklkSGExOXl5YVNSMG9scDVDVVNrNy9QaXhqcUZBb3lKWXRLMVVxbDZkUDd5NFVLMW80d1gyeVpMSGpzUDltZzFhVmI5R3FNOWVDYm1KdGJjWFp2L3gxMnQ2OGVjdnFOWDRjT0hpVWYvKzlRMFI0QkxhWmJDbFUwSWtSSGdNb1g2NTBndkYrU0ZicUZVSUlrVm9xVlNoTGcvcTFxVnVucGpaUjBjZHorVHhLbC9wQ2I5dEs3L1VzWGVaajBQbnUzTG5MK0lrLzhkZnB2M0YyTHNxVVNTTUJXTDNHRDdWYXpWZGYxa3YyZDBpT3AwOURHRE4ydWtGOWsrcFhxVUpaYkcxdHFGeXBQTHYzK0NmWUx6ajRIbWNEenV1dFZnWmdiNTlYNXo1QXBHOG1uN3dJMDZCU3FYQnRFL00wSnlveWlzQkxWOW03N3hCSGpoeG5sZmRDU3BmV1A0YjR4WXVYYk4yMmg3WS90RWowK01kUC9NVzFkMk4xUC9UZ3dTTzZkQnRBOE4zN0ZDOVdoRzhhTjBTaFVIRDM3bjBDL3I3QWpSdTM0djJsRlRkZUlZUVFJcTA0T1Rrd2ErYUVKUHZaMkZnbk9KekxrRVVsWDcxNkJjRDNMVHNURlIxTnY3N2Q2T1h1aGtxbDR0L2J3YXhaNndmRUZBNm9WclZpbXIyUmNISnlTUFFoNE9LbDN2eXljQVZPVGc0b0ZRcjhmdlBFeHNZNnllTU84NWlZYUx2L3dXUDRIenltdCsyYnhnMGxlVEVoa3J5SVQ4TGNYTVhZMFVOMHRzMmJ2NVJsSzFZemU5NFN2RmJNajdkUDl1elplUFhxTmF2WCtQR0Q2L2Q2eDUzRzh2Ynh4ZExTQW10cmE4TER3M1hhL3ZmVGZJTHYzbWY0c1A1MDdkeFdwKzM1OHhjOGUvN0NvSGlGRUVLSXRHREk2SUtVZVBzMmxIMzdqd0F4eWNPTTZXUDU0dDFFOU5EUU1INGNNaGFOQnJwMmFZZVg5M3BtemY0VmorSDkwelFtZlFJQ0xyQmtxUTlmTnFyTG9BSHV0R25iZ3o3OWhyUG9sNS9JbE1rMjBYMFRTNGhLbG5HaFY4L09EQnFRdk9JSEluMlM1RVVZVGErZW5WbnV1WVlMQ2F3Q3JGYXJxVkc5TXNkK1A4bXgzMDlTdDA1TnZmMkNydC9rK0ltLytMSlJYWTZmaUY5OTdzVEowNmhVS2pwM2NvM1hsalZybGdTcmpBZ2hoQkRwUlhSMFRDbG5mZFFhZGFMNzJ0aFlVNzllTFN3dExmRVkxZzl6YzNNZ1pwMlZQdjA4dUJaMGt6R2pCdE9oZld0Q1FwN2h2Y3FYWXNVTDA2TDV0L0dPOWZMVmE5YXUzMlJRekMrVFVaRnJ5OVpkVEprMkY0ZjgrWmcwd1lPc1diTXdiODVVQmc0ZWpXdmJIa3lkUElxS0Zjc2FmRHlSZHFSVWNncEpxV1RUWldscGdVS2hJS0dTK1pHUmtYVHEySVpqdjUvRWU5VnZDU1l2M3UvcTJMdDFjdVhnb2QreHROUjlmYTVRS0lpS2l1TGUvWWM0T3RpbjZuY1FRZ2doUG9XT2JuMVN0UC9FOGNOMWhvS2RPeC9JaUpHVENiNTduNzY5dTlLaGZXc0F4bzhkeHQvbkFwazArV2NLRnlxZ1hVc2wxdE9uSVV5YlBwZlU4UFp0S0FjUEhXUDFHajhDTDEybFd0V0t6Sm81VWZ0UXNiWkxkYnc4RnpEY1l4SWRPL2ZGcFZZMVdyZjZqdG91MWJHMmpubGJsZGhjbDdodTNyeVZaTjhHRFdwcjEzUko3RTNPaC9OcU14b3BsWnhDVWlyWmRKMDRlWnJvNkdncTZ5bGpDREhWVUdyVnJFcnhZa1U0ZGVvczE0SnU0bHk4aUU2Zng0Ly9ZOWR1ZjBxWExrR2xpdVZRcStNL2ZXcFEzNFh0Ty9iUnA1OEhQLzF2SEtWS09xZko5eEZDQ0NIU3lyelpVN1JEdlQ2MDNuY0xQcXNUZnhvZU4zRUp1bjZUVHAzN29WSXBtVHh4QksxYmZhZHRzN2EyWXNiMHNRd2NQSnF3c1BCNHh5bFUwSWxkTzlZWkZIT1Q3OXB6Njk4N090c0NBNit3YTdjL0Z5OWQ0ZUxGSzBSR1JsS29vQk16cG8ramFaTXY0ODIxS1YrdU5OdTNybWFsOXpyV3J0dkVIOGRQb1ZRcUtWNjhDRCs0ZnMvRVNicFYyaEtTMkp5WFdJZjhONU0zVDI2RGpwZVJTYW5rRkpKU3lUVzF3QlVBQUNBQVNVUkJWS1luUER5Q0V5ZFBNMzdpVDFoYVdqQjRZRSs5L1dKWE1lN2MrUWZHakozT3FsVy9NVzNxYUowK2E5ZHRKREl5a2k3dnloL3FNMkw0UUlLdS84UFZxOWY1b1owNzN6WnVTSjgrWFNsVTBDbkJmU0lqbzVnNmZVNjg3WFZxMTZCTzdScUdmRTBoaEJBaVdSUUtCUllXNW5vbnkrZkpteHNuSi8zcjJtVEpZaGR2VzluU0pYQnQwMXh2LytMRmlqQjc1a1NLRml0TTRVSUY0cldYTDFlYS9YczJ4SnVMTTNuaUNPd1NXUVBtUTRNR3VNY2JPcFk3ZHk2MmJOdU5RLzU4ZEd6ZmlvWU42aVE1SE16YTJvcCtmYnJSbzF0SGpoNDl6dUdqeDdsOE9ZaDZkV3BLQlZBak1IYXBaRE9OSnFGQk82YkIyZG1aYTlldUdUc01rK0RzN0d5VWkxeGY2V0dGUWtIMWFwVVk4bU1mU3BZb3JuZWYySkxIa1pHUk5QcTZOUzlldk9UZy9rM2t5SkVkaUhuZDNPRExsdGphMnJCL3p3YVVTcVhPZm5HRmgwZXdkTGtQM2o2L0VSWVdobEtod05XMU9jT0c5Tk8rZWs0czNsajkrblNqWDk5dUgvUGJrR0s5K3c2amZZY3UxS2xUQjdVNlp1eHozRjlqZjlab05FUkhSK3RzMTlmdnc4OEovYXhVS3FsWHI1NVJ2ck1RS1NIL1BvaTBZS3gvU3o4bmFyVmExbGRKUkVlM1Bnd2JQb3BLbFNvWk94UzlqUDEzcThtL2VSR21JYmIwY0ZoWU9NZFBuT2EvLzU1U29Yd1p2WW5MaDh6TnplblF2alh6NWk5bHZlOFcrdmZyRHNEbUxUdDUrZklWdlhwMlJxbFVKbm9NUzBzTEJ2WjNwMzNiVnF4WXVRYmYzN2F3M25jTEFRRVg4Rjc1Uzd5blZ2b1NvUFRBMjlzYkR3OFBGQW9GU3FWUzc2OGYvcXhRS0ZDcFlsWUpOblMvdU5zT0hUckUyYk5uamYzVmhSQkNmQ1lrY1JFcEljbUwrQ1RpbGg0T0RRMmpXNDlCTEZxOEVudjdQTFQ0dmttUys3ZDEvWjZseTN6dy9XMEw3ajA2b1RKWHNXcjFCbXh0YldnVFo2eHVVbkxtek01SWo0RjBhTmVLQVlOR2N5M29Kak5uTFdMYWxGRWYvZDArcGE1ZHUzN3l0eURwOWNtUEVFSUlJVEllU1gzRkoyZHRiY1hNbnlaZ2FXbkJqSm0vRUJMeUxNbDk3T3d5MC9MN0pvUThlODdPWGZzNWN1UTRkKzg5b0hYTDc1S3MvYTZQbzJOKzVzK2RCb0MvLzlGazd5K0VFRUlJa1JFWnUxU3l5U2N2VWlyWk5EazYyTk81MHcrOGV2V2FuMmN2TW1nZk43Y2ZVQ2dVYk5pNG5VMmJkNkJVS09qVXNjM0h4K0JvajFLcEpGcXR2MjYrRUVJSUlZVFFaZXhTeVNhZnZFaXBaTlBsM3FNVE9YSmtaL3VPZlFRRVhFaXl2Nk9EUFkwYTFpRXc4QXJIZnYrVEw3K3NoNzE5M2lUM216SnROaytlUEkyM2ZlUG1uVVJIUjFPcFlybVBpbDhJSVlRUUlxTnhkWTIvNlBlblpQSnpYcVJVc3VteXRiVmhZUDhlVEpnMGt5blRaclBSend0bEVwUDR1blJ1eS80RFI5Qm9OSFJ4YTJ2UWVkYjdibUdEMzNiS2xDNUJvVUlGVUNvVlhBdTZ5Y1dMbDhtZUxTc2podmVQdDA5Q3BaSUI3ZHdkSVlRUVFvalVGaEVaYWV3UUVtWHNVc2ttbjd5OGZQblMyQ0dJRkdqVnNpbnIxbS9pV3RCTjFxM2JsT1F3c1BMbFNsTytYR25Nek13b1c3YWtRZWNZTTJvd1I0K2RKT2o2VFM0R1hzSGMzQnhIQjN1NmRXMVBGN2UyNU15WlBkNCtVVkZSckZ1L1dlL3hKSGtSUW9pTUtTd3NEQ3NyUzJPSElUNWphcldhR3pkdTRlU1U4RnAwR1ozSkp5OGkvVXVzSHI1Q29XRExKcDlrN2JOdXpaSmtuYXREKzlaMGFOODZpU2dOTzdjUVFvaU15OHJLaXV6WmMzRDd6bDBLSkxCZ3BCQXBzV3YzQVVxVktrMnVYTG1NSFVxNlpmSnpYb1FRUWdnaFBwV2hRNGZTcTg4d0hqLyt6OWloaU0vTUFmK2pUSmsyaHdrVEpoZzdsSFJOM3J3SUlZUVFRaGlvU1pNbTJOalkwTEpOVjJ5c3JjaVZLeWNxbGR4T2lZK24xcWg1OU9nSkdvMFpYbDdlT0RzN0d6dWtSQm03VkxMSlgyMVNLbGtJSVlRUW40cVptUmtOR2pUZzJMSGZDUTRPSmlRa0JMVmFiZXl3aEluTG5qMDdCUW9Vd056YzNOaWhKTW5ZcFpKTlBubVJVc2xDQ0NHRStOVE16YzBwWExnd2hRc1hObllvUW54U3JxNnViTml3d1dqbk4vazVMMVdxVkRGMkNFSUlJWVFRUW1RSXhpNlZiUExKaTVSS0ZrSUlJWVFRSW1NdytlUkZDQ0dFRUVJSWtURkk4aUtFRUVJSUlZUXdDWks4Q0NHRUVFSUlJUXhpN0ZMSkpwKzhTS2xra1ZHRVIwUVlPd1FoaEJCQ1pIREdMcFZzOHNtTGxFbzJ6TnUzYjdHMXNUWjJHT0lqcWRWcUxsNjhRckZpeFl3ZGloQkNDQ0V5TUZkWFY2T2UzK1NURnltVmJCZ2JHeHVzYld4NS9PUS9ZNGNpUHNMSlA4L2c0T0JJL3Z6NWpSMktFRUlJSVRJd0taV2NRbElxMlhBOWUvYWtiMzhQWHJ5UTN6TlRjamJnQWtPSFQyREtsQ25HRGtVSUlZUVF3cWhVeGc1QWZEcHVibTdZMmRuUnVFazdzdGhsSW1mT0hDaVZTbU9ISlJLZzBhaDU4dDlUM3J3SlpkR2lYNDAreGxRSUlZUVF3dGdrZWNsQXpNek1hTkdpQmQ5ODh3MTM3OTdsMmJObmFEUWFZNGNsRXBFbFN4WUtGaXlJcGFXbHNVTVJRZ2doaERBNlNWNHlJQ3NySzRvV0xXcnNNSVFRUWdnaGhJbVJVc2twSktXU2hSQkNDQ0dFK0RTTVBZemQ1Sk1YS1pVc2hCQkNDQ0hFcHlHbGtsTklTaVVMSVlRUVFnanhhVWlwNUJTU1VzbENDQ0dFRUVKa0RDYWZ2QWdoaEJCQ0NDRXlCa2xlaEJCQ0NDR0VFQ1pCa2hjaGhCQkNDQ0dFUWFSVWNncEpxV1FoaEJCQ0NDRStEU21WbkVKU0tsa0lJVVNzK2ZQbjA3aHhZeG8zYmd5Zy9YblNwRWxHamt3SUlUNFBVaW81aGFSVXNoQkNpRmpPenM3Y3VuV0xXN2R1QVdoL0xsS2tpSkVqRTBLSXo0T1VTazRoS1pVc2hCQWlWdTNhdGJHd3NORFpabTV1VHJObXpZd1VrUkJDaU5SazhzbUxFRUlJRWN2VzFwYjY5ZXZyYkt0VXFSSjJkblpHaWtnSUlVUnFrdVJGQ0NIRVp5VjJ2a3VzUm8wYUdTa1NJWVFRcVUyU0Z5R0VFSjhWRnhjWFZDb1ZBRXFsa3FaTm14bzVJaUdFK0h4SXFlUVVrbExKUWdnaDRyTDdmM3YzSGRiVTljWUIvSnV3OTFCUlZOeEtVWEhqcW5zaEN0YUpvdFpaOXg1MWp5cHFmMXIzcWh1M3VNQ0ZBMGZkQzBGVUZFZmRBeGNxUXhtQjVQZEhKQ1VrZ1NndDF5dmZ6L1A0bE54ejdyMXZ3T0o5Yzg1NWo3VTE2dGF0QzBCWjB0UE96azdnaUlpSXZoOHNsWnhOTEpWTVJFUVplWGg0QUFBYU4yNHNjQ1JFUk44WGxrck9KcFpLSmlLaWpOSkdYcnk4dkFTT2hJam8rOEpTeWRuRVVzbEVsRk5rTWhrVUNvWFFZWkFlN08zdDBhOWZQemc0T0FnZEN1a2hLU2xKNkJDSVNDUU1oUTZBaU9oYnBsQW80Ty92RHo4L1A3eDgrWklQV1NLemN1VktvVU1nUFppWUdNUGEyZ2FEQmcyQ2o0K1AwT0VRMFRlTXlRc1JVU2I4L2YwUmZDUUk2OWN1UlA3OCtZUU9oK2k3OWZyMVc0d2Q3NHZVMUZSMDdkcFY2SENJNkJzbCttbGpSRVQvSlQ4L1A4ejBuY0RFaGVnLzV1Q1FGLytiTlFsLy92a25VbEpTaEE2SGlIUmdxZVJzWXFua3J5T1h5NFVPZ2ZTUW1wb3FkQWk1bWt3bXc4dVhMNW00RU9XUS9Qbnp3U0dmUGNMQ3dvUU9oWWgwRUxwVXN1aW5qYkZVOHBjSkRRM0ZqQmt6Y1B0MkpPUnlManorMWttbFVyaTZ1bUxldkhsd2NuSVNPcHhjeDlEUWtHdGNpSEtZYTNrWDNMbHpCOVdyVnhjNkZDTFN3dHZiR3p0MjdCRHMvcUpQWHR6YzNCQVNFaUowR0tLd2MrZE8rUG10d2ZJbHMrSGtWRWpvY0VoUG9XSFgwS1pOYS9qN2IwZXBVcVdFRGlkWGtVZ2tRb2RBbE91WW1abENKcE1KSFFZUjZjQlN5ZG5FVXNuNlc3Tm1EVllzKzRPSmk4aFVyVklSQytiNVlzcVVLVUtIUWtSRVJDUW8wU2N2cEIrWlRJYlhyMStoVUNGSG9VT2hyMUMxU2tWY3ZYb1ZpWW1KUW9kQ1JFUkVKQmdtTDdtRVZDcEZZaUxuN291VmlZa3h5cFYxUmtSRWhOQ2hFQkVSRVFtR3lVc3VZV0Jnd0FwakltZG5hNFA0K0hpaHd5QWlJcUpjaktXU3M0bWxraW5YNE5weElpSWlFcGpRcFpKRm43eXdWRElSRVJFUlVjN3c5dllXOVA2aVQxN2MzTnlFRG9HSWlJaUlLRmRncWVSc1lxbGtJaUlpSXFMY1FmVEpDeEVSRVJFUjVRNU1Yb2lJY3NpcDArY3hjZkx2WDF6NUx6NytJNEtQbmtSMDlMc3ZPdS9CdzhjSTNIdFE0M2haMXpwYWo3OTgrUnE5ZmhtR1I0K2ZxbzZGWDR0QTMvNmprSlNVL0VYM3prcGlZaUxldnYyeTkvTTFVbE5Udi9yYysvY2ZZZjZDUHhFZi8xSHQrTFhyTjdGMDJWcDgrQkNqODl3REI0OWl3cVNaWDMzdmY4dmJ0KzhRRmZWSzlUb3hLUWtiTm03SGxkQndBYU1pSXZwNmhrSUhRRVNVVzF3T3VZckFQVUVvVWJ3SWV2ZnFvdmQ1NXkrRVlQaklTVmkzWmlGT243Mm9zMStwRXNYZzZscFc5ZnJDeFN1WU9Xc0IydnpVUXEvN2ZFcEl3TVZMb1dvUDY5SFI3M0gyM0NXTkpDQWxKUVZQbmo3WDY3ckZpeFdCUktKZUxtOTNZQkJtemxxQVd6Zk9BZ0QySHppaTgzdzN0OG80ZnVLTVh2Y0NnSFp0V3NMVTFCUjc5eDNHbW5XYnNYTDVYQlFzV0FDUEh6L0Q5UnMzZFo3bjVlbXU5dnJSNDZkWXMyNExPbmR1QjB0TEM5WHgxV3MyNDNKSUdMcDJhYS96V2pkdTNNS2V2WWN3YThiRVRHTk5sY3Z4T0YyeStDWHM3V3hoYTV0NTBab1pzK2Jqek5tTE9IcDRKK3p0N1FBQXE5ZHNRc21TeGJEQmI2bGU5N24zOXdQODFLWWIxcTVlaUZvMXEybkVuNWlRaU1URVJDUWtKaUVtSmhidjNyMUhkUFI3dkh2M0hnWUdCdWplcmVOWHZUOGkrallKWFNwWjlNa0xTeVdMVTFuWE9nQUFHeHRyL0hVc0FLYW1wbG1lMDZaZGQ5eTVleDltWnFZSXZYeE1aNytJaUVoNCsvUUJBS3hadFFDMWEra3U2cEFXaHk1cEQxWkUvNGFoZy9zZ09QZ2t3cTlGUUtGUWFEelE2M0x4VWlpc0xDMVJyV29sVktqY1FHZS9uN3QyVUV0ZTlOWHJsMkVBb05ySTFuZm1mRmlZbXdFQTNyLy9BQUFZT0hnTXBGTGxZSDJONmxYZzBid3hQRnZwbDRCZHVYUVUrdzhjd1RUZnVUci9ueG83M2xmbitVc1cvWTc1Qy81VU95YVh5NUdVbEF3VEUyTlZYR2s4M0J2QjFOUVV6bVZLNHUzYmQrank4d0NzWGIwQUlWZkNNYzEzcnM3N2VIbTY0OURoNDVnMDVYZGN2aGlzdGMrREI0L3cxOG16R0RTd1Y1YUpnejVpWStMMC9qNW1OSFJ3SC9UdjExMW5lM0R3WHdnK2VoSStuZHFvRWhkVEV4UDA3T0dEZVF2K3hORmpwOUMwU2YydnVqY0FWS3pTRURLWlRPMllSQ0tCalkwMThqdmtoWU5EUGhRbzRJQ0VoRVNZbVdYOU81Nkl4RUhvVXNtaVQxNVlLbG5jWW1KaXNXZnZJWFRxMkNiVGZ1Zk9YOGFkdS9mMXV1YXVnQU9xcndNQ2d6Sk5YZ0RBME5BUTNoMWE2WFZ0b3N6OFBuc1JObTNlbVdXLzV5K2lVSzVDWFozdFAzZnRnUEZqbFFtRlFxSEFxZFBuMGF4WkF4Z2FHdUxXamJOSVRVMkZXNDFtR0RDZ0ovcjA3cW82TDFVdWg5LzZiYWhmcnhaS2xDaW1kOXdsU2hRRkFNVEd4aVA4V2dRS0ZTd0FlM3RiQU1Delo4YTRjL2MraWhWMWdxR1I4cDhNQjRlOEtGS2tzQ29SS2V0YUIrUEhEc1BQWFRzQUFMWnMyNjAycXFLUGpIMFRFeFBoMDdVL2toS1RVTDE2WlkwUExIYnMyb2ZmcHMzQnJ1M3JVTEtrOXZmNnd3K2xzWGIxUXZUb05RUTllZzlGajI2ZHRONXIrNDQ5cXFRbUpTVUZDUW1KZ0VLaDlackxWNnlIdmIyZDZscHA1MmQwOTk0RG5XMlZLN3VpVE9tU2FzZW1UaDZOanQ2dHRjWjE3blFRN096VS82M0w2b09YcUtoWG1ESnREZ29XTElDUnd3ZW90WFh0MGdFN2R1N0ZOTis1cUZMWkZYbnkyR2Q2TFYxa01obmF0RzZKcnAzYndjcmFDdFpXbHJDMHROQklKb25vKytMdDdZMGRPM1lJZG4vUkp5OXVibTRJQ1FrUk9nejZDdmIyZG9pTGk4ZW16VHZSMGJ0MXBwOUNyOS9nRHhNVFk1aVptU0VwS1VsbnY4U2tKQnc2ZEJ6RmlqcEJKa3ZCOFJPbkVSc2JCMnRySzUzbkdCa1pZdEtFa2RsNkwwVHBqUnN6OUt2UC9kK2N4V3F2dzY5RklDcnFGZHEyYWFrNkZubjdIaEtUa2xDcFlubTF2aW15RlB3eGJ4bnk1clhYU0Y3ZXZuMkgyTGc0MWVzM2I2THg0T0ZqQUZEOS9YL3c4REVPQkFXalY4L09LRi91QndEQThSTm5jUHJNQll6NWRRak1QNC9HcEtmNC9KQ3Y1eUJTcG03Y3VJV0hqNTZpbFpjN0preWFoZWZQbytDL2RSV3NMQzAxK3Q2N2V4OFdGdVlvWHJ4SXB0Y3M2MUlHeTViTXhxdFhyL0h4NHlmVjhaZXZYdVBtelR1b1Y3ZW0zdkZGUnQ3Rm9jUEhNV1hTS0ppYm0rSFI0NmZJbHpkUHBxTTUydHJHalJtcWtieThlLzhCVDU0ODB6Z0dBTStmdjBCY3VwOWRWaElURXpGazJIaDhqUCtJNVV0bXc4TENYSzNkeE1RWU0yZE1RSTllUXpGbzZEaXNYN3RZNitqM3dVUEtoUEhWcXpjQWxOTWUzNy8vQUVORFF6UnIyZ0FBVU5BeFAxeGN5dWdkR3hHSm45Q2xra1dmdkxCVXNuako1WExVcWxrTnA4OWN3T2t6RjFDL1htMnQvZTdldTQ5ejV5K2phWlA2T0hjKzgybUN3Y0VuRVJjZmovYnR2WkNjbEl3dDIzWmpmMUF3dXZpMCt5L2VBcEZXM1g1V2J1QjE3dnhsbEN4WkRBWHlPNmkxQngwOGhsdVJkL0RycUVFYTUyWk1YZzRFS2Fjdk9aY3BwVHAyK1hJWURBd01rQ2VQSFo2L2lBSUFtSm1hd3NMQ0Fyb3NXcklLdTlPTlNpNWN0QklMRjYwRUFJUmRPWTRYTDE0cTc3ZHZDd0NvRXB2aXhZdmd3TDR0ZVBucU5RQ2dVRUZIbUpnWXE2NlRscndZR0dUL241T0xsOE93Y05GS0JCMDhpclBuTG1IcDR2K2hSSEhscUpCTUpzUFJZNmRVZmErRWhpTlBIbnNjUG5KQzdScXU1VjNnNUZSSTdaaGJOZVVVaC9TaklDRWhWekYydkMvT25RN1NPNzdmWnk5RzZWSWwwTDU5SzZTa3BHRHdrSEZJU1UzRmpmQlRNREF3eU5CWE9RcW43K2pUa3FWcnNHVHBHcTF0YWROZzlaR1Nrb0xoSXlmalZ1UmRqUGwxTUtwVXFhQzFYN1dxbFRCeWVIL01uYjhjZmZxTnd2SmxzeldTeE5GamZsTjd2WExWQmdDQW1abXBLbmtoSXNwcG9rOWVTTHhrTWhsKzd0b0JwODljd1BxTjIzVW1MK3MzK0FOUVBoQWVQM0ZHN2NFcG80QkE1Y05aSzA5M0pDY3JrNWVBd0NBbUw1UWo2dGVyRFR0YjVYU3JsSlFVTEZxeUdyZHYzNE5YeTJibzM3OEhuQW9YQkFDY1BuTUJRUWVQYWsxZWhnN3Vnd29WbE90VzR1TS9ZdDkrellYc3A4OWNRR3BxcXRwYWlmcjFhbVBoL0JrNlkvT2ROZzYrMDhaaDErNzltUExiYk15Y01VRzFrRDhzN0RxNmRoK28xM3ZjdG1VbEtsWW9wekZ0eVhmbVBQak9uS2QyTEsyUFIvUEdxTzVXT2N0cjkrbmRGZWJtWnBnNWF3RWFOcXlEaGcxK1ZMWEZ4My9TZUpnR05CK3dwMDRlalk1T2hmRDMzdzh4Ym9Jdlp2OCtSZWUwc2kreFk5YytoSVpkd3dhL0paQUFXTDl4T3g0OGZJd1owOGRySkM1ZlkvTEVVUnJUVjNmczNBZmZtZk53NXVRK2pmVTFycFUwMTZva0pTVmo1T2pKT0gzbUFqcDZ0MWFiMnFaTnI1NmQ4ZVpOTkRaczJnN3ZUcjlnL2gvVDFVWlIwaEt2QTBIQkdETnV1dFlGKzBSRU9ZM0pDd2xHb1ZEZ3g5clZVYVowU1Z5NkZJbzdkKy9EdVl6NlZJclhyOThpNk9BeGxDL3ZncXBWS21aYVl2YnBzeGNJdVJLTzBxVkt3TmxaK1NsMXNhSk9pSXk4aThqSXU1emFRR3BPbkRpQjZPaG8vUGpqanloWXNPQy9jczNhdGR4VWE2d01EUTJ4YmN0S2JOKytCNHVXck1MK29HQk1IRDhjSGIxYkl6VTFGWWFHMmg5NDB5L0FEdHh6VUcycUU2Q2MvaFVhZWczOStuWkhnL3JLaEgvTXVPbGFwM1JwYy9iY0pRQ0FMRm1tV3ZDZVptL2dScFF1VlVMcmViZHYzMFBiRGoxVnI5TkdhSjQ5ZTRIK0EzK0Y3N1J4cUZ6WlZka1dGSXdWS3plbytsaGFXT0N2azVtUFFLUlZHN08yc29SYnRVcjQrKytIMkx2dk1LUlM1WHkwSDMrc0FRQ1lPK2MzdFBCb2dvU0VSR3pldWd1Tkc5WkJpUkxGa0pxYXF2RkEvemI2SFRwMTZZc0Y4M3hSNS9QNVgrdlE0ZU5RS0JUbzJYdVlxdkphZGJmS2FOTzZCUlFLaFhLZFREb3BLU2tBZ0UrZkVqU3VwZTFuSlpWS05KS2d0UGN1bFJwa21TQzllUk9OWVNNbUl2eGFCTHc4M1RGNW9uNVRZY2VPR1FKTEt3c3NXNzRPM2o1OTBMMWJSL1RyMHcxV1Z2K013cVJWZXJ0ejkyK1VMbFVDZWZQK3MwYm02YlBudUhEeFNwYjNxVkc5Q3RmQ0VORy9nc2tMQ1NadHVrbjM3aDB4Y2RJc2JOeTRIVE5uVEZEcnMyWHJMc2hrTXZUUW85Um1RR0FRRkFvRnZMeitLWGZxNWVXT0pVdlhJQ0F3Q0JOMUpDOHlXUXBtekpxdmNieGUzVnFvVjdmV2w3d2xFcEhIang5ajZWSmxxVmdYRnhkNGVIaWdidDI2S0ZJazh6VVUrcmdhZmdOUlVhL1EzTDBST3Z1MFJkTW05ZkhIM0tXb1hiczZBR1ZWcjZ3cTdDVW1KV0d0M3hhVUsrdU1tN2Z1cUk2bjdjL3ljNWYyc0xlM2cxd3V4K3ZYYitEVXZIR1djU1VtSnVMaXBWQUF5bWxrSjArZHcrS0ZzMVR0UDdYcHB2ZDdUSnZPZGVsU0dBQ2dUcDBheU8rUUR3QlVDOERUK2dCQXZueDVVT1Z6Y3FPTnRtcGo0eWYrTTVKMDV1USt0YmFQSHo5aHdjSVZLRlN3Z05iaUJLVktGY2ZtalgraVo2K2hHREJvRERadlhLN25POU51d3JoaGVQOCtCbloyTmhnemJqb2VQM29LMzJuaklKRkk4UExWYXpScTBsYnJlZFZxTk5VNHBtMHEyVFRmdVRyWHp2eFlyNlhXNCtsTm52by9oRitMUUdlZnRwZ3didmdYSlFxREJ2UkMyUi9LWU9LVTMrRzNmaHZLbC9zQnpkMGJBUUJpWStOdzh0UTVBTUNpeGF0dzlPZ3BiUEJiQWtORDVlUER2djFIdEk0T1puVDF5b2xNUjgySlNEeFlLam1iV0NwWi9EeGJORlhPY3o5MEZDTkg5RmM5K0h6NmxJRHRPL2ZDMFRFLzNKczF6UFFhY3JrY2UvWWVnbFFxaFdmTGZ4NFd2RHpkc1hUWldodzRlQlMvamg0TVkyTWpqWE5UVWxLd2RWdUF4bkU3Vzl0dkxubDU5T2dSamg0OUtuUVkzNTNJeUVoRVJrWmkvdno1S0YyNnRDcVJLVkZDK3loRVZqWnYyWVZEaDQvano1WHJNWFJ3SHpSdFVoOXpaazlWdGNmSHg2dnRHNktOLy9aQXZIa1RqZCttak1IQXdXTUFLS2RhYnQwV2dJWU42NmhLM3o1OCtBUkpTY2tvVXpycldJK2RPQU1YbHpLNGRDa1VIZHExZ3Q4R2YwejliUTdhdGZVRUFDeGJNaHRGaXhiV2V1N0RoMDh3Wk5oNHRXTWZQMzdDNnJXYjRPcGFWcFc0Nk5Lb1lWMDBhdmhQaGJYa0RKdGVwbitnTCt0YUJ5T0c5MGVmM2wzUnQvOG9QSG42SEZMcGwwL05LbHpJRVJ2WEw4Vlcvd0JVY0MyTDI3ZnZxZHJTaW9ucFcyZ2diVVFxY085QjNMbnpOOGFQSGFaYVcyTnJZNDNadjAvKzR2alNHelN3Rnp3eUpLQ0hEaC9Ic3VYcnNHM0xTcldSRUFBYTVaVm4rbzdIeVZQbllXVnBnZklWNjMzUnZiMDgzVEg3OThrSTJyY1ZsMFBDMUg3Zjd0bDdDQktKTWhFYU11Z1hMRnk4Q25QbkwxY1ZwZWppMHc0K1B1cUptMmVyTHVqczB4YWQwMDNYMWZhN2w0akVpYVdTczRtbGtzWFB5TWdJWFRxM3g4SkZLN0hOUHhDREIvVUdvRnkvRWhzYmgzNTl1MmM1WmVMYytjdDQ5ZW8xYWxTdm9yWTR1bkFoUjFTdTdJcXdzT3M0ZHZ3VVduZzAwVGczcTMxanZpVUJBUUY0L2x5NU1hQkVJdEc1VjBqR1k3b3F1YVVkVDMrZGpOYzFOalpHaHc0ZElKRklJSkZJVkovb1NxVlNWWiswcjlQL3lkZ3Y3YlcyZmhtdmsvSGN6SzZkc1YvNisyUjJuWnMzdFc5V2VPL2VQZHk3ZHcrTEZ5OUdqUm8xOU42TEpiMC9aazlGL1hxMXNXVHBHZ3diTVJFLzFxNk9WU3ZtcWE3MTVrMTBsdVZwelV4TjRkbXlHWDc0NForRit0djhBL0hxMVd0TW5qZ0MwMmZNdy9DaGZYSDZ6QVVBUU9WS3VrYzEwdmo3QjhDOVdTTmN1aFNLb3NXYzROT3BEUzVlREVXalJzcWtvcUJqZmhRdG9qMTV5VGd0U2lhVFlkU3ZVL0h5NVd0TUhEOGl5M3NEd0xMbDYyQnFhZ0tKUklLdC9nRlo3cE9TbXBxS3ErRTMwTHFWaDJhYlhEbDFLNnVmajZOamZvd2FNVURqZU9MbnFvVkdSdm8vVkw5NUU0M1pjNWFndWx0bHRRMHFUVTFOTlRhNDFKZXhzUkU4bWpkR2xjb1YxRWFxQUNEdjU3OGpSWndLYTVSSzltamVHS1ZLRlZlOXpwUEhIdTNhZXVMUjQ2ZHFhNm1PSGp1RmE5ZHZZdFNJQVZxL1Z3c1dyWVNacVFrQXdNN09SaTF4U1U2V3dXLzlOalJwVkJjSERoNkZpMHNaRE96ZkUwdVdyVUhEK3NyMVNIbnoybXZFRFNnLy9ORjJuSWpFajZXU3M0bWxrcjhQbmJ4YlkrV3FEZkRmSG9nK3Yvd01ReU5EYk55MEF4WVc1dWpReml2TDgzY0hLaXNHdlg3OUZvT0hxbjg2SEIzOURvQnlXcG0yNUVWTUdqUm9BRE16NVh4NWhVS2hTakxTdmxhazI1c2kvZnFnOU8zcCs2ZTFwZlhYZHEyZE8zZGl6cHc1cXI1cDEwMzdPbjMvaksrMXRhWGRTMXQ3K3JhTXJ6Tzdic1ordXM1Tkg4T2pSNCswZm8rZG5Kemc1dWFHUEhueW9ILy8vbkIyZHY3aW41TlVLa1VyTDNjMGE5WUFxMWR2Z3FXbGhlckJNU1VsQmMrZVI2Rko0OHcvSFcvV3RDSHExLytuaU1YN0R4K3dkUGxhMUtsVEF3NE8rWEQ0eUFtY1BuTUJabWFtS0ZHaUdCd2Q4eU1wdzJoR2V1SFhJaEIrN1NibXovWEY3N01YQVFBR0QreU5rY01ISUNJaUVnRFFwbjBQdmQvajlSdTNjT0hpRlhpMmFJckdqZFQzck1udmtFOVY0U3U5ZlFlTzRPbFRaZkp0YTJ1RDBTTXpMeEp3SmZRYVBuNzhCSGQzelpIWGovRWZBU2czWGN4TWFtb3FIajkrcWpHMUxEWTJEZ1pTcWQ1cmhWTGxjb3daUHgwS2hRTFRwbzdGL2Z1UDhPRGhZN3g1RzQwdVB1MVVaWVd6VXFwVWNWV1o1TFJ6R2plcWkvZnZQMmhjSStMbWJRREFzZU9uTk1vZE4yNVVGOG5KeVRoNDZCank1OCtIcWxVcUFsQ3U4K3ZadzBmVjc5cjFtN0N6czBXdm5wMjF4ak52d1o4d01kWCtQZHk4WlNlaTM3MUg2OVl0Y09DZ2NzVDNsOTVka0pDUWdKSWxsWW1UUGhzTUU5SDNoYVdTczRtbGtyOFAxdFpXYU51NkpiWnMyNDBEUWNHd3RiWEJzK2RSNlA1enh5eW4xM3o0RUlPLy9sSk9PWG40NkFrZVBucWl0ZC9GUzZHSWlub0ZSOGY4LzNyOE9hVktsU3BvMEtCQmp0NXo1ODZkS0Y2OGVOWWRSU1k1T1Jsbnp5ci8zaFF2WGh4MTZ0UkJpeFl0VUtiTTF4ZDI4RnUvVGVOWTJ0L2Z0TGEzYjZNaGs4bnc0VU9NMXY0QWtNOGhMenhiS0tjL3BwVW90ck8xaFpkbk0vVG8xZ2xPVG9Xd2EvdGFEQmsrQVpHUmR6R3dmMCt0MTBsdjlacE5xRmUzSmh3YzhtckVabUpxQWllblFwZzI5VmNVZEN3QWhRSm80ZVdEY1dPR29uNDk1ZFRKcDg5ZVlQcU1lVEF4VnE1YnFGcWxJdGF1WG9BS3J1VTA3dFdrY1QwMGFWd1A3aTA2b25PbnR1aitlYzNhNFNCL3BLYW1RaXFWNnJVbW8zVHBFcGcwWVNTcVZxbUlEeC9VZjljL2ZxemNFOFUrajEybTE0aThmUStkT3ZmRlRGLzE5WFRQbmo1SDNueDU5UjVaMjdmL01DNWRDb1dSa1JGYXR1cXNTcENyVkhaRkY1OTJXaXVoYWRPdmIzZFY4cUx2T1ZPbnpjbTB2WDY5MnFya0phTzdkKy9ySEFGSlNrcUdYQzZIbVpZRTVQWHJ0MWk2ZkIwOFd6WkZ2bng1Vk1jTkRRMHhZbmgvMVo0MGViTDQvaE1SL2R0RW43elE5Nk5idDQ3WXRqMFFPM2J0UXg1N1d4aElwYW9kdXpPemIvOFJ5R1F5TkhkdmhQbHpwMnZ0TTJMVVpCd0ovZ3NCZTRJd2FFQ3ZmenQwRWlGSFIwZjA2dFVMSGg0ZVg3MjJKYU0vNWkzVHUrK0ZpMWQwVm1tcVVLR3NLbmxKYi9MRVVhcXZDeFlzZ09MRml1RHUzZnRvM3o3cjBVbG41MUw0OFhQQmdQU1NrcEpScW1SeDdBdmNwRG9XR3hzSGhVS0I0c1dLSVAvbmFaajU4enVvK3FTTjRGV3JXaW5URVllblQ1OGpOT3lhMnNOdmVnVUxGdERZYURNOWV6dGJkUGJSdmhEK2NzaFZTQ1FTbENpUitkU2thOWNpSUpmTFViUm9ZZHk5OXdBR241T21zUEFicW5WQ0VxbFVkVnlYS2lpU293QUFGOHBKUkVGVUVzV0xvbWFOcWloWm9oaUtGeStLRWlXS29IanhvbXByZlhyMjhNSFF3YnIzWktsY3JaSGE2MHZuRDJ2dHQzbnJMaXhadWdZVktwVEY5ZXUzOE1NUHBXRm1hb3BGQzJacVhmU2V0bmcrbytjdm92RG84Vk0wYmFKWlZoa0FFaEtVbGRETU00enFBSUNWbFNYTXpVd3hhR0F2clJYVEhqMStDZ0FvVk1oUjY3V0ppUDRyVEY3b20rRlV1Q0NhTks2SG84ZE9RU0tSb0ZuVEJpaFlzRUNXNXdWOG5qTFd5cXU1emo3dDJucmlTUEJmMkxQbkVBYjI3L2xWNnhqbys5Szh1ZTYvTDE4cnF3MEp0Ky9ZZzJtK2MxRzVrcXRheGFhdmNlUEdMUnc2ZkJ4ZW5zMDBOc0hVNXBkZVhiVk9rY3I0UUoxZTN3R2p0QjQvZW1RbkNoVlVQclJtTlhwdzdQaHBIRHQrV211YlIvUEdtU1l2dXNUR3htSHYvc053Y01nSG95eStoNWN1aDhISzBoS3VybVZScVdKNWVMZHZoWnUzN3VEdnZ4L0N4TmdZMGRIdjROMitGYnpidDhyME9oVXJsTU82TllzeTdXTWdsWDVSUmEyTWkvQlRVMU14ZitFSytLM2ZoaUdEZjRHOW5TMnVYNytGdWJPbll0RFFjUmd5YkR3V3pQZlY2K2NOUUZXSXBLbU9EU1hqUGsrOXl6Z2xEVkN1QlZ5N1poRUtGWFRFdmI4ZmFMUmZ2MzRMVXFsVVoybHRJcUwvQ3BNWCtxYjA2TjRKd1VkUFFxRlFaTG5CR2dCRVJFVGk3cjM3c0xlelJkMDZ1dmR4cUYzTERRVUtPT0Q1aXloY3ZCU3F0dEdhcmxMSkFEQnBnbjU3SlJCbEpqbFpoaVhMMW1EdHVpMnd0TFRBMWZBYmFOeXNIVHAxYklPT0hYNVNWUTdUVjFKU01zWlBtZ1VUWTJNTUg5cFBkZHpFeEZobkFxVnJiY2ZSSXp2VlhuLzZsSUJod3lmQzBzb1NkKzc4RFo5T2JUUkdRTk0vUEdlV3NKVjFyWU4rZmJ0ajJCRDlkNGpYeGNyS0FtdFhMMFRKRXNVd1pkb2NmUGdRQXdNREE3UnUxd096ZkNlZ2NtVlhyRjI5VUcwa0psVXV4K1dRcTZoZXZiSnFaQ1UxTlJVelp5MkF0YlVWRWhJUzBiWkRUOHlmTzEwMTdjckwwejNMeGZjeW1RdzNiOTNCMWZBSWhJZmYrRmQrVHp4Ni9CUmp4L3ZpMXMzYm1EaGhCTHI0dE1QMkhYc0FBSFoyZHZCYnV4aS85QjJKMW0yN1k4U3dmbWpmeml2VFFpYlhyOS9DcHMwN1ViVktSWlF2OTRQV1B1L2V2UWNBV0ZsYWFtM1B1TzlXZXFmUFhFQlpsekpaVHVzbG91OFBTeVZuRTBzbGYxOHFWU3lQU2hYTFF5S1JxSFlaejB6YVFuMFBqeWFaL2tNdWxVclJ0blZMTEYvaGg0REFBMnJKaTY1U3lRQ1RGOHFlang4L1lkLytJMWl6YmpPaW9sNmhmcjNhbVBPL0tiai80Qkg4MW0vRHN1WHJzSExWQnJUMGFJb2VQVHJwOVNtMlFxSEF4TW16OE9EQkk0d2ZPd3dGQ21UeUtYeTZBZzY2cEkyZ0FNb05MUDgzZXpHTWpJeXc2cys1dUhiOUprYU9ub0ozN3o1Z3pPakJhcHNUL2xjVU9tSTJORFJFV1pjeUdEOXhCazZlT28vbTdvMHdlR0F2akJrM0hkMTZEa2F2SGo0WU9xU1AybWhXZVBnTnhNYkdvVlpONWNhaHFYSTVKa3lhaGZCckVaZzVZd0thTktxSDRTTW5vVWV2b1JnOWNxQnFiWTYyV0E0Y1BJclEwR3U0ZWZNMjd0eTlENWxNQmtORFE3aTRsSUdaMmRjdldvK0xpOGVLbGV1eGFjc3UyTm5aWU0zcWhhaFJ2WXBHdndMNUhiQjEwNThZUDNFR3B2bk94VHEvcmVqczB3NHRXelRWK0xsRVJFUmk0T0F4TURRd3dKVEoya2ZQQU9Ec1dlV0dwY1dLT24xUnpMZHYzMFBFemRzWU1iei9GNTFIUk44SGxrck9KcFpLRnFmTVBxM2R1bm1GM3VkTm5Ud2FVeWVQMXV1ZWd3ZjFWcFZoMWljT29xOFJGZlVLbHk2SDRkVHA4emg5NWdJU0VoSlJ1SkFqNXN5ZXFsckhVcWxpZVN4YU1CTlBuejdIaGszYkVSQVFoTUM5QjFHM1RrMzA2dGxaNjhNcm9IeVludlg3UWh3OGRBd05HOVpSSzljTEtFZGtZbVBqWUd0ckRhbUJBVzVGM3N1MEZIQkNRaUlpYnQ3R2hZc2hDQTQraWNlUG42Sk5tNVlZTTNvd0xDMHRVTDllYmV6ZTZZZEprMmVoY2JOMmFOU3dEbXJWY2tPekp2Vngvb0orVlI3djMzK1laU1d1Um8zcUl1RlRJaXd0elJFYXBxeGlZNXd1N3RUVVZBUUVCbUhSa3RWNDkrNDlPclJ2aFNtVFJzSEF3QUQrVzFkaDhaTFZXT3UzRlJjdVhzRzhQNmFoeU9keXo4ZVBLM2VHcjFXckdxS2ozMkhNdU9tNGNQRUtlbmJ2aERZL3RRQUFyRm94RDFPbnpjSHNQNWJnNGFNbjZObmRCeDlpWW1CaWJJemdveWNCS010V0h6Z1FqTENyMTFHNWtpdUdEUDRGVlNxNW9seTVIOVNtaWExWnR3VnIxbTNSNi9zU0hmME9hOWR0eGM3ZCsvRHg0eWUwOG5MSHVERkRNeTBmYlcxdGhXVkxaaU53NzBFc1dMZ0NzLzlZZ2ovbUxVT0QrajlpMGNLWlNFNUt4anEvclZpMVpoTU1wRklzWERCRGxSQUhCQWJoMmZNWHNMYTJnb214Q1o0OGVZWXQyM2FqYU5IQ0tGZGUrOGlNTGdzWHI0S0ppVEhhdG03eFJlY1IwZmVCcFpLemlhV1NpZWhiOFA1OURMdzcvWUxuTDZJQUFBWUdCcWhWc3hyYXRmVkVrOGIxdEk0TU9qa1Z3cVFKSXpHZ1h3LzRiZkNILy9aQW5EbDdFZjM3ZGRlNjhIdjl4dTNZc20wM3lwZDN3ZHpadjJtczNZcUppVVdEeHEzVmpwVXY3Nkl6NWhzUmtlalJhd2dLRkhDQWgzc2plSGZRM0tTeVdGRW5iTjc0Sjg1ZkNNRTIvd0Q4TVhjcG1qU3VwM2Vsck16V3ZLUTVjU3dBUDdYcGhyaTRlQURLVVpaYXRaU2pvNDhmUDBPdlBzTVFGZlVLQlFvNFlPSDhHV2lXYmcySG9hRWhSbzRZZ0dyVkttSHNlRi8wL0dVWWdnL3RnSUdCQWE1ZHY0bjhEdmxnWTJNTnoxWmRFQmNiaDFFakJxQjNyMzgyZURRd01NQ002ZVBoNEpBWGxTdTU0bEpJR0g1TFY5MnJWczFxc0xHeHh2OW1UWUtWdFZXbUMvc2IxSyt0c2RGa2VtUEgrNnErTmpVMVJjaVZxeWhac2hqR2pCcU1LbFVxWlBvOVNxL05UeTNnMGJ3eEFnS0NzUC9BRVF3WjFCc3Zua2ZCMjZjUFltSmlVYnBVQ2Z4djFpUzR1UHhUT2UvRmk1ZFlzWEtEMm5WKytLRTA1dncrSmN0aUJlbnRQM0FFcDg5Y1FPOWVYYkxjcTRpSXZrOHNsWnhOTEpWTVJOOENPenNiZE8zU0h2Zitmb0NhTmF1aDdvODFZR05qcmRlNWVmTFlZL1RJZ2VqVHV5czJiZDZwdGdlTWthRWhpaGNyQXFsVWdvNGRmc0xEaDQ4eFp2UmdyVk9WOHVYTGd5NmQyeU01V1ZrQzE5YldSdXMrU1FmMmJVRytmSGxnWldtSjQ4Rzc5U29mWHJ1V0cyclhjb05NSm9PUmtkRy9QbXI1NjZoQmlJdUxoNUdSSVdyVXFLb2FNU2hhdERBNmVyZUd1WmtwMnJkdnBYTmZsM3AxYTJIM2puVjQ4T0N4S2xIY3VINHBJaVB2d3Q3T0ZvTUg5a1lGVnhlZHlWeGFzaGdkL1E1MnRqWklTVW1CbFpXbGFoUXNxdzAxdlR2OGhMcDFhbXJzZVpOZWFOaDFWUGg4ZndzTGMyeGN2eXpUS1djR0JnWXdOamFDdHZvaXBpWW1uM2V4LzZjYTI2QUJQV0Z1Ym82ZldqWFhTSllIRHVpSmJqOTdJeUV4RWFrcHFUQTNOOHZ5UGFXUlFBSURxUlJTaVFSdWJwVlJyV29sREJxZ3V6eTNnVlFLaVpSRlVZam92eUZSNkpwZ0xCTE96czY0YytlTzBHR0lnck96TTZkSmlWai9nYVBScFd2UEhOL25wV3JWcWdnTkRjM1JlMzVMK1A4TmtUcTVYSzdYUGoxZmE4NGZTNURmc1JoNjlXSlplNkp2a2REUDN2L2RieDhpSWlMNjd2eVhpUXNSVVZiNEc0aUlpSWlJaVBRaWRLbGswU2N2TEpWTVJFUkVSSlF6aEM2VkxQcmtoYVdTaVlpSWlJaHlocmUzdDZEM0YzM3k0dWJtSm5RSVJFUkVSRVM1Z3RDbGtrV2Z2TEJVTWhFUkVSRlI3aUQ2NUlVb3QwaEtUaFk2QkNJaUlpSkJNWG5KSlQ1OStnUUxjek9odzZDdkpKZkxjZU5HSkVxWExpMTBLRVJFUkVTQ1lmS1NTNWlibThQTTNBS3YzN3dWT2hUNkNoY3VYa0hod2s0b1ZLaVEwS0VRRVJGUkxzWlN5ZG5FVXNuNjY5dTNMd1lPSG9PWUdLNFRFcFBRc09zWTlldFUrUHI2Q2gwS0VSRVI1WEpDbDBvMkZQVHUvd0tXU3RaZnQyN2RZRzF0amVZdGZXQmpiWW04ZWZQQXdNQkE2TEJJQjRWQ2pqZHZvL0h4WXdLV0xWc3UrQytMM0VpaFVBZ2RBbEd1a3l5VFFTS1JDQjBHRWVuZzdlMk5IVHQyQ0haLzBTY3ZibTV1Q0FrSkVUb01VWkJJSkdqVHBnMDhQRHp3N05renZILy9uZzluM3pnYkd4c1VLMVlNSmlZbVFvZVNLeVVuSjhQRXhGam9NSWh5bGJDck4rRGUvQ2Vod3lBaUhZUXVsU3o2NUlXbGtyK2NxYWtwU3BVcUpYUVlSTjg4RXhNVEZDMWFERGR2M2thNWNqOElIUTdSZCs5eVNCamk0ajZoUm8wYVFvZENSTjhvMGE5NUlTTDZMNDBmUHg2amZ2ME5mNTA4aS9qNGVLSERJZm91SlNVbDQvQ1JFeGd6emhmVHAwL250REVpMGtuMEl5OUVSUCtsMnJWclkvNkNoVmk0Y0NGRy9mb2I4dWExaDRXNXVkQmhFWDAzVWxKUzhDTHFGVnhjWExCNDhSSlVybHhaNkpDSTZCdkc1SVdJS0F1dXJxNVl1M1l0WkRJWm5qeDVBcGxNSm5SSVJOOFZSMGRIRnVBaEVnbWhTeVZMRkNKZnNSMFRFOE5mZUVUL29hcFZxeUkwTkZUb01JaUlpSWpFdithRmlRc1JFUkVSVWM3dzl2WVc5UDZpVDE3YzNOeUVEb0dJaUlpSUtGY1F1bFN5NkpNWGxrb21JaUlpSXNvZFJKKzhFQkVSRVJGUjdzRGtoWWlJaUlpSVJJSEpDeEVSRVJFUjZVWG9Vc21pVDE0dVg3NHNkQWhFUkVSRVJMbENwVXFWQkwyLzZKTVhsa29tSWlJaUlzb1pMSldjVFN5VlRFUkVSRVNVTTFncU9adFlLcG1JaUlpSUtIY1FmZkpDUkVSRVJFUzVBNU1YSWlJaUlpSVNCU1l2UkVSRVJFU2tGNVpLemlhV1NpWWlJaUlpeWhrc2xaeE5MSlZNUkVSRVJKUXpXQ281bTFncW1ZaUlpSWdvWjdCVWNqYXhWRElSRVJFUlVlNGcrdVNGdm81Y0xoYzZCTkpEYW1xcTBDRVFFUkVSZlRNTWhRNkFjbFpvYUNobXpKaUIyN2NqSVpjcmhBNkhzaUNWU3VIcTZvcDU4K2JCeWNsSjZIQ0lpSWlJQk1Ya0pSZlp1WE1uL1B6V1lQbVMyWEJ5S2lSME9LU24wTEJyYU5PbU5mejl0Nk5VcVZKQ2gwTkVSRVM1bU5DbGtpVUtoVUxVSDcvSHhNU3c0cGllM04zZHNYckZIeWhVeUZIb1VPZ0xuYjhRZ2o5WGJzYldyVnR6L041VnExWkZhR2hvanQrWGlJaUlLQ1BScjNsaDRxSWZtVXlHMTY5Zk1YRVJxYXBWS3VMcTFhdElURXdVT2hRaUlpTEt4VmdxT1p0WUtsay9VcWtVaVlsSlFvZEJYOG5FeEJqbHlqb2pJaUpDNkZDSWlJZ29GMk9wNUd4aXFXVDlHQmdZc01LWXlObloyaUErUGw3b01JaUlpSWdFSS9ya2hTalhrQWdkQUJFUkVaR3dtTHdRRVJFUkVaRW9NSGtoSWlJaUlpSzlDRjBxV2ZUSnkrWExsNFVPZ1lpSWlJZ29WNmhVcVpLZzl4ZDk4c0pTeVVSRVJFUkVPWU9sa3JPSnBaS0ppSWlJaUhJR1N5Vm5FMHNsRXhFUkVSSGxEcUpQWG9pSWlJaUlLSGN3RkRvQStyNlZkYTBEQUxDeHNjWmZ4d0pnYW1xYTVUbHQyblhIbmJ2M1lXWm1pdERMeDNUMmk0aUloTGRQSHdEQW1sVUxVTHVXN2ltRWFYR2tNVFkyUWtISEFtalk0RWYwN2RNTk5qYldtZmJQNk5hTnMxbTlEU0lpSWlMNmx6RjVvUndSRXhPTFBYc1BvVlBITnBuMk8zZitNdTdjdmEvWE5YY0ZIRkI5SFJBWWxHbnlBZ0NHaG9idzd0QUtBQkFYOXhFaFY2N0NiNE0vamg0N0JmK3RxMkJ2YjZlelB4RVJFUkVKWHlwWjlNa0xTeVYvKyt6dDdSQVhGNDlObTNlaW8zZHJTQ1M2dDRwZnY4RWZKaWJHTURNelExSlNrczUraVVsSk9IVG9PSW9WZFlKTWxvTGpKMDRqTmpZTzF0WldPczh4TWpMRXBBa2pWYTlUVWxMdzY5aHBPQkw4RjVZc1c0dXBrMGRuMnArSWlJZ290Mk9wNUd4aXFlUnZuMXd1UjYyYTFmRHcwUk9jUG5OQlo3Kzc5KzdqM1BuTHFGZTNGcEtUa3pPOVpuRHdTY1RGeDZOaHd6cG9VTDgya3BLU3NUOG8rSXZpTWpRMHhPaFJBd0VBSjArZC82SnppWWlJaUhJamxrck9KcFpLL3ZiSlpETDgzTFVEQUdEOVJ0MURqZXMzK0FNQXV2M3NqY1JFM2FNdUFCQVFxSnd5MXNyVEhhMjgzRDhmQy9yaTJBb1ZkSVNSa1JHaW85OTk4YmxFUkVSRXVRMUxKV2NUU3lWLyt4UUtCWDZzWFIxbFNwZkVwVXVoV3RlMHZINzlGa0VIajZGOGVSZFVyVklSY3JsYzUvV2VQbnVCa0N2aEtGMnFCSnlkUzhIVnRTeUtGWFZDWk9SZFJFYmUvYUxZRWhJU0laUEpZR3RyblhWbklpSWlJaEtVNk5lODBMZFBvVkFBQUxwMzc0aUprMlpoNDhidG1EbGpnbHFmTFZ0M1FTYVRvVWUzamxsZUx5QXdDQXFGQWw2ZlIxd0F3TXZMSFV1V3JrRkFZQkFtdXBUUk83WkRoNDhEQUdyVjFCekJrOGxTTUdQV2ZJM2o5ZXJXUXIyNnRmUytCeEVSRVJIOU81aThVSTd4Yk5FVUN4ZXRSTkNob3hnNW9qL3k1TEVIQUh6NmxJRHRPL2ZDMFRFLzNKczF6UFFhY3JrY2UvWWVnbFFxaFdmTHBxcmpYcDd1V0xwc0xRNGNQSXBmUncrR3NiRlJwdGQ1OS80RGpoNDlpVGx6bDhMQ3dod0QrL2ZVNkpPU2tvS3Qyd0kwanR2WjJncVd2T3pkdXhlclY2K0dWQ3FGZ1lFQnBGS3A2ay82MTdyYTB2NHJrVWcwamhrWUdFQWlrV2djSXlJaUl2cFdNSG1oSEdOa1pJUXVuZHRqNGFLVjJPWWZpTUdEZWdOUXJsK0pqWTFEdjc3ZHMzeFlQbmYrTWw2OWVvMGExYXVnUUg0SDFmSENoUnhSdWJJcndzS3U0OWp4VTJqaDBVVGozSVNFUkkzOVd4d2Q4MlBlSDlOUXRHaGhqZjVaN1RNamhEcDE2cUJzMmJLUXkrVlFLQlJJVFUyRlhDNVgrNit1NDFtZG82MS9hbW9xQmc0Y0tQVGJKaUlpb204RVN5Vm5FMHNsaTBzbjc5Wll1V29EL0xjSG9zOHZQOFBReUJBYk4rMkFoWVU1T3JUenl2TDgzWjhYNWI5Ky9SYURoNDVYYTB0YmRCOFFHS1ExZVVuYnQwVUNDU3dzTFZDdXJETWExSzhOSTZQTVIybStKWG55NUlHTGk0dlFZUkFSRVZFdUpYU3BaTkVuTHl5VkxDN1cxbFpvMjdvbHRtemJqUU5Cd2JDMXRjR3o1MUhvL25OSFdGcGFaSHJ1aHc4eCtPc3Y1YzcyRHg4OXdjTkhUN1QydTNncEZGRlJyK0RvbUYvdE9QZHRJU0lpSXNvZWIyOXY3Tml4UTdEN2k3N2FHRXNsaTArM2JoMGhsVXF4WTljKzdBN1lEd09wVkZWS09UUDc5aCtCVENaRGMvZEd1SFhqck5ZLzdzMGFRaTZYSTJEUGw1ZE5KaUlpSXFMTXNWUnlOckZVc3ZnNEZTNklKbzNySVNJaUVxZlBYRVRUcGcxUXNHQ0JMTTlMMjhlbGxWZHpuWDNhdGZVRUFPelpjMGhWNVl5SWlJaUl2ZytpbnpaRzR0U2pleWNFSHowSmhVS0JIdDA2WmRrL0lpSVNkKy9kaDcyZExlcldxYUd6WCsxYWJpaFF3QUhQWDBUaDRxVlExS3BaN2F0ajFGVXFHUUNubnhFUkVSRUpnTWtMQ2FKU3hmS29WTEU4SkJJSktsUW9tMlgvdElYNkhoNU5NcTFJSnBWSzBiWjFTeXhmNFllQXdBUFpTbDUwbFVvR21Md1FFUkVSQ1VHaUVQbmNHbWRuWjl5NWMwZm9NRVRCMmRrWnQyNmNGVG9NK2tyOUI0NUdsNjQ5MGFCQkE2RkRJU0lpb2x3cVBEeGMwSXBqb2wvendsTEpSRVJFUkVRNVEraFN5YUpQWGxncW1ZaUlpSWdvWjNoN2V3dDZmOUVuTHl5VlRFUkVSRVNVTTFncU9adFlLcG1JaUlpSUtIY1FmZkpDUkVSRVJFUzVBNU1YSWlJaUlpSVNCU1l2UkVSRVJFU2tsKzNidHd0NmY5RW5MeXlWVEVSRVJFU1VNMWdxT1p0WUtwbHlpNlRrWktGRElDSWlvbHlPcFpLemlhV1M5ZlBwMHlkWW1Kc0pIUVo5SmJsY2poczNJbEc2ZEdtaFF5RWlJcUpjaktXU3M0bWxrdlZqYm00T00zTUx2SDd6VnVoUTZDdGN1SGdGaFFzN29WQ2hRa0tIUWtSRVJDUVkwU2N2cEwrK2ZmdGk0T0F4aUlsaHdpY21vV0hYTWVyWHFmRDE5UlU2RkNJaUlpSkJHUW9kQU9XY2J0MjZ3ZHJhR3MxYitzREcyaEo1OCthQmdZR0IwR0dSRGdxRkhHL2VSdVBqeHdRc1c3WmM4QVZ5UkVSRVJFS1RLQlFLaGRCQlpJZXpzelB1M0xramRCaWlrcGlZaUdmUG51SDkrL2NRK1kvL3UyZGpZNE5peFlyQnhNUkU2RkNJaUlpSUVCNGVMdWdIcXFKUFhtSmlZbGh4aklpSWlJZ29GeEQ5bWhjbUxrUkVSRVJFT1lPbGtyT0pwWktKaUlpSWlISUdTeVZuRTBzbEV4RVJFUkhsRHFKUFhvaUlpSWlJS0hkZzhrSkVSRVJFUktMQTVJV0lpSWlJaVBTeWZmdDJRZS9QVXNsRVJFUkVSQ1FLb2g5NVllSkNSRVJFUlBUZms4dmxMSldjWGJWcjEwWlNVcExRWVJBUkVSRVJmZGZ1M2J1SGQrL2VDUnFENkpNWE16TXozTGh4UStnd2lJaUlpSWkrYTF1M2JrWGR1blVGalVIMHljdUlFU013YXRRb2hJU0VRT1RMZDRpSWlJaUl2amx5dVJ3clZxekFpUk1uTUhMa1NFRmpNUlQwN3Y4Q1QwOVBTQ1FTakIwN0ZxTkhqMGFMRmkyd1ljTUczTDU5VzYxZnQyN2Q0T0xpd2phMnNZMXRiR01iMjlqR05yYXg3UXZia3BLU3NHUEhEbGhaV1VGSW9rOWVBS0JseTVabzJiS2xhdVNsVEpreUd0OVlXMXRidHJHTmJXeGpHOXZZeGphMnNZMXRYOUUyYk5nd2ZBdEVYeXFaaUlpSWlJaHlCOUd2ZVNFaUlpSWlvdHlCeVFzUkVSRVJFWWtDa3hjaUlpSWlJaElGSmk5RVJFUkVSQ1FLVEY2SWlJaUlpRWdVbUx3UUVSRVJFWkVvTUhraElpSWlJaUpSWVBKQ1JFUkVSRVNpd09TRmlJaUlpSWhFZ2NrTEVSRVJFUkdKQXBNWElpSWlJaUlTQlNZdlJFUkVSRVFrQ2t4ZWlJaUlpSWhJRkppOEVCRVJFUkdSS0RCNUlTSWlJaUlpVVdEeVFrUkVSRVJFb3NEa2hZaUlpSWlJUklISkN4RVJFUkVSaVFLVEZ5SWlJaUlpRWdVbUwwUkVSRVJFSkFwTVhvaUlpSWlJU0JTWXZCQVJFUkVSa1Nnd2VTRWlJaUlpSWxGZzhrSkVSRVJFUktMQTVJV0lpSWlJaUVTQnlRc1JFUkVSRVlrQ2t4Y2lJaUlpSWhJRkppOUVSRVJFUkNRS1RGNklpSWlJaUVnVS9nL3V5ZEpsV0JBMDZnQUFBQUJKUlU1RXJrSmdnZz09IiwKCSJUaGVtZSIgOiAiIiwKCSJUeXBlIiA6ICJmbG93IiwKCSJWZXJzaW9uIiA6ICIiCn0K"/>
    </extobj>
    <extobj name="ECB019B1-382A-4266-B25C-5B523AA43C14-5">
      <extobjdata type="ECB019B1-382A-4266-B25C-5B523AA43C14" data="ewoJIkZpbGVJZCIgOiAiMjUzMjcxMjczNTU5IiwKCSJHcm91cElkIiA6ICIyNzc1MTQzNjQiLAoJIkltYWdlIiA6ICJpVkJPUncwS0dnb0FBQUFOU1VoRVVnQUFBc0lBQUFFMUNBWUFBQUR0YllibEFBQUFDWEJJV1hNQUFBc1RBQUFMRXdFQW1wd1lBQUFnQUVsRVFWUjRuTzNkZDNnVTlkNys4WHMzRFFoQ2lOUkFCQlROVHlCMEZEeUlDaWdnaUpSRDZGVkE4QUI2bENJMlJFU2ZxRmdlZXdzcUxZQ0FJcjJqMHFRSWdwSUVFQkFFUkZRSUpXV1Q3TzhQVEI3aUptU3ptekE3TysvWGRYR2RrNTMyeVRuZjcrYXpzelAzMkp4T3AxTUFBQUNBeGRpTkxnQUFBQUF3QW8wd0FBQUFMSWxHR0FBQUFKWkVJd3dBQUFCTG9oRUdBQUNBSmRFSUF3QUF3SkpvaEFFQUFHQkpOTUlBQUFDd0pCcGhBQUFBV0JLTk1BQUFBQ3lKUmhnQUFBQ1dSQ01NQUFBQVM2SVJCZ0FBZ0NYUkNBTUFBTUNTYUlRQkFBQmdTVFRDQUFBQXNDUWFZUUFBQUZnU2pUQUFBQUFzaVVZWUFBQUFsa1FqREFBQUFFdWlFUVlBQUlBbDBRZ0RBQURBa21pRUFRQUFZRWswd2dBQUFMQWtHbUVBQUFCWUVvMHdBQUFBTElsR0dBQUFBSlpFSXd3QUFBQkxvaEVHQUFDQUpkRUlBd0FBd0pKb2hBRUFBR0JKTk1JQUFBQ3dKQnBoQUFBQVdCS05NQUFBQUN5SlJoZ0FBQUNXUkNNTUFBQUFTNklSQmdBQWdDWFJDQU1BQU1DU2FJUUJBQUJnU1RUQ0FBQUFzQ1FhWVFBQUFGZ1NqVEFBQUFBc2lVWVlBQUFBbGtRakRBQUFBRXVpRVFZQUFJQWwwUWdEQUFEQWttaUVBUUFBWUVtbWI0UXpNakkwZCs1Y1RaZ3dRWkswYnQwNlJVVkY1Zm8zWXNRSWxyR01aU3hqR2N0WXhqS1crY0N5K3ZYcmErREFnVXBLU3BMUmJFNm4wMmwwRWQ2WU4yK2VQdmpnQTczODhzdHEwS0NCMGVVQUFBQWdIMDZuVXhjdVhOQzhlZk1VSEJ5c1BuMzZHRnFQNlJ2aDFxMWJLelkyVmsyYU5ERzZGQUFBQUppSTZTK05PSDM2dE9yVXFXTjBHUUFBQUNpRTQ4ZVBhOHlZTVliV1lQcEdPQzB0VFNWS2xEQzZEQUFBQUJSQ2VIaTRsaTlmYm1nTnBtK0VuVTZuYkRhYjBXVUFBQUNnRUVxVUtDR0h3MkZvRGFadmhBRUFBQUJQbUw0UkhqOSt2TkVsQUFBQXdJUk1ueG9CQUFBQWM5cTFhNWVoOGJlbVB5TWNHeHRyZEFrQUFBRHdnTkhQZ0RCOUl4d1hGMmQwQ1FBQUFQQkFURXlNb2NjM2ZTTU1BQUFBYzlxOWU3ZWh4NmNSQmdBQWdDWFJDQU1BQU1DU1ROOElFNThHQUFBQVR4Q2ZCZ0FBQUVNUW4rWWw0dE1BQUFETWlmZzBMeEdmQmdBQVlFN0Vwd0VBQU1DU2lFOERBQUFBREVBakRBQUFBRXN5ZlNOTWZCb0FBQUE4UVh3YUFBQUFERUY4bXBlSVR3TUFBREFuNHRPOFZGVHhhUTZIUTV3Y2g1bGtabVlxUFQzZGtHTXpYMkEyekJmQWZWZHp2aGdkbnhabzZORU41blE2RlI4ZnIyblRwdW5reVpOS1Mwc3p1aVRBYlRhYlRTSEJ3YXBYdjc2ZWZ2cHAzWFRUVGNWNlBPWUx6SXo1QXJqdmFzNFhvK1BUTE4wSXg4ZkhhK1dLSmZyazQ5ZFZxVklGbzhzQkNzM3BkR3I5aGswYVB2eEJ6WjA3VCtYTGx5KzJZekZmWUhiTUY4QjlWM08rR01uME44dEZSVVVwTVRIUm8yM3Z1ZWNlM3FUZ0YrS216ZExKVThsNit1bW5pKzBZekJmNEMrWUw0TDdpbmkvZTlIRkZ3ZlRYQ0hzYW4rWndPSFR5NUVuZXBPQVhicm1sa1RadDJsUnMrMmUrd0o4d1h3RDNGZmQ4TVpycEcrSEJnd2Q3dEYxZ1lDRFhiTUZ2MUtwVlUwZU9IQ20yL1ROZjRFK1lMNEQ3aW51K3pKa3pwOWoyN1E3VE44S2V4cWZaYkxZaXJnUXdUb21RRUdWbVpoYmIvcGt2OENmTUY4Qjl4VDFmaUUvelVsSEZwd0VBQU9EcU1qbyt6ZlNOTUFBQUFNeko2UGcwR21FQUFBQllFbzB3QUFBQUxNbjBqYkNuOFdrQUFBQ3dOdE0zd3A3R3A4SDMxSTV1b1lWZkxuVjUvZVRKVXhvODVHRWRQbkkwNTdWZHUvZHEyUERIbEpaV3RNOUNUMDFOMWVuVGZ4YnBQb0dpd1B3QUNzWThNUitqNDlOTS80amwyTmhZemdyN3VZc3BLZHF5ZFlmT243K1E4OW9mZi95bGJ6ZHVkWWwweWNqSTBDOUhmM1ZydnpWclhPY1NjelIvNFJKTmVlRTEvYlRuVys4TEI2NEM1Z2RRTU9hSjd6STZQczMwalhCY1hKeGxHdUhhMFMxVXNtUUo3Zmh1ZFlIclhyaHdVZE5uek5PcU5SdDArUEF2U2s5TFYyanBVTldzY1ozR2p4dWxCdlhyNXV6VFhaZFA2dXp0eXBZdG8zV3JGNmhFaVJJRmJ0K2wyd0FsSmgxMCszY1lQT1JoU1ZKcTZxVmcrc2xUWGxWb3FaS1NwTC8rT2lOSmVtamtPTm50bDc3WXVQV1dSbXJmcnJVNmR1cmoxdSt6ZmVzcWZiVjRoU1pOZm9VM0xJdkp6TXJTc3VWcnRHejVHdjM0WTRMKytPTXYyV3cybFN0WFZyVnVxS21oUS9xcTJhMU5jdGJQSHU5TkdqZlFaNSs4bGU5K0c5L1NSaWtwcVM3anlkdnQ4OEw4d05XV21wYW1MNzVZcXBXcjFpc2g4WUNTazg4cE9DaElGU3FXVjUzYVVlclIvWDdkZW12am5QWC8rZmZGYnJlclhMa3dOVzNTUUNPR0Q5U050YTUzT1lZN2YrZVlKLzRsSmlaR2MrZk9OZXo0cG0rRTRlckVpZDgwY1BBb0hUMTJYRGZkZUlQYXQyc3R1OTJ1WThlT2ErZjNQK2pBZ1VNNWpYRHZYbDF6YlR0MzNpSmxaR1M0dko2ZnMyZVQ5Y1dYeTlTelI1Y3JycmR4MDNkS1REcFlxTi9qK3V1clM1S1NrODlyMSs2OXFocFJXZUhoWVpLa1k4ZUNsWmgwVURXcVJ5b3c2Tkl3cmxpeHZLNjdybHJPbTFIdDZCYWFNUDVoOWV2YlhaSTBjL1o4UHFWREJ3OGUxbU5qSnlwcC82VVBaWTBhMWxQTDJ5c3BNek5Mdi94eVROdDM3RmFqaHZWeU5jTFp0dS9ZcFlWZkxsV1grKy8xNk5qZWJuODU1Z2V1cHIxNzkrblJNYy9vMks4bkZQNTNNMXV1WEpndVhMaWdBd2NPYWZtS3RRb01ETXpWQ0V1WG5ySVgwNzJUSkNuRGthRzlQeVpvK1lxMVdyOStvejc3NUMzVnJYdHpzZGJOUFBGOVJzZW4wUWo3b1JkajM5RFJZOGMxZHN4SURSclFNOWV5TTJmTzZxOHpaM04rZnVxSlIzTXRYL2pGVW1Wa1pMaThucGZ3OEhJNmQrNjhwcytZcHg0eG5hLzROS1ZQUG8xWFNFaXdTcFlzbWV2Um82ZFAvNm5rYytkeWZ2Nzk5ei8wODZFanVXcjcrZEFSTFY2eVVvTUg5VmJkT3Y5UGtyUm03VGY2K3B2TkdqZDJsRXI5L2VuK2NrNm5VNUxFQTU1d3VmMEhmbGEvQWYvUitmTVhOR3hvZncxOW9LOUNRMHZsV3VmYytmUDY3ZVR2THR0ZVU3cTBuSExxbGFsdnE5V2RMVlMyYkpsQ0hkdVQ3WmtmOEFWN2YwelFnTUdqNUhCa2FNTDRoOVc3VjFjRkJBVGtXdWZZcnllMGIxK1N5N1pCUVlFdWYwOWVmK045ZmZEUmRFMTkvVDFOKytnTnIrdGpuc0FicHI5WkRxNDJiZDZtd01CQURlam4rclNXc0xDeXFsbmp1aUk1VGxaV2xwbzNhNkpEaDMvUjE5OXN6bmU5cFAwSHRYSFRkMnA1ZTNPbHArZStLZUdOTno5UXgwNTljcjZHZXYyTjkzTitUazFMeTNrelc3eG9wa3FWS3FtZkR4M1J6NGVPcUdiTjY3UjQwVXlkL08yVWZqNTB4T1ZtaCt3M3NJQUFQdXZoRW9mRG9mOCsrclNTazg5cDhuT1A2NUhSdzF5YVlPbFN3MXFyVnMwODl6RnNhSC85OWRkWnZmTHFPeDdWVU5qdG1SOHdXbHBhdWg0Yjg0eFNVOVAwK3F1VDFhOXZkNWNtV0pLcVZhMml1OXZjNGRZK0h4dzJRRGFiVFQvODhHT1IxTWc4Z1RkTS8vK3VWYTRQTGd5NzNhNk1qQXo5ZXZ5a0lxdEZGTnR4SEE2SCt2WHRycSsvMmF4UFBwdWpPMXJlbHVkNm4zd2FMMG5xM3k5R2E5WitvNUNRNEp4bGt5Yzlyc21USHRmbjg3L1NNOC9HYXNyelQrUjhiYnh6NXcvcU8rQWh0MnFaUGZOOTFhOVh4K1dhdE1sVHBtcnlsS201WHN0ZXAzMjcxcnFsYVVQM2ZsbVkzdUlsSy9Yem9TTnEzZXAyank1TnlNeksxTUQrUGJUb3ErVmFzSENKdW5UdW9FWU5vNHQxZStZSGpQYmxvbVU2ZXV5NE9uYTRSNjN1dXIxSTloa1NFaXk3M2E2LysweXZNVS9nRGRNM3dzU251V3AxVndzdCttcUZSdnhubkdKZmZGcDFha2NWeTNHY1RxZitkZHN0dXVuR0c3UjE2dzRsSmgxVTFFMDM1RnJuMUtuVFdySjB0ZXJXdlZtTkc5VlhWbFpXbnZ2NmR1TldTWklqM2FHMHRQUmN6ZktYQ3ovTDg2WUtTVXBJMksrdTNRZmwvTHg0MFV4SjByRmp4elg4b2JHYVBPbHhOZnk3MlZpOFpLWGVlLy9UbkhWS2g0WnEzWHF1ODdLS1pjdlhTbEtCMTdQbngrbDBLakF3VU04K1BWYjlCdjVIazU1N1dRcytuNWJuMmJHaTNwNzVBYU9zV0xsT2t0VDkzNTJLYkorYk5tOVRabWFtbWpRcDJyUUE1b2s1RVovbUplTFRYSTBmTzFwSiszOVdRc0orOWVnMVZQZTJhNjBSSXdZVjJTVVIyYksvTmhvd29JZWVmT29GZmZiWkhFMTUvb2xjNjh5Yzlia2NEb2NHOXUrUjczNVNVMU8xWmVzT1NaZSs0bHEvWWFQKzkvVVhjcGJmMzZXLzJ6VmRYL1BTalJGYnQrNlVKTFZvY2FzcVZhd2dTYnIyMnZCYzYwaFNoUXJYRnVxc0hzenJwNyt2WDJ6WXdMdi92eHMxcXFkdVhUdnE4L2xmNlpOUDQvWEFZUGZ1THZkMGUrWUhqSlNRdUYrU0ZCM3QvVTF0YVducDJyUjVtNTU1TmxZaEljRjZaUFF3ci9lWmpYbGlYc1NuZWNsSzhXbnVLbGV1ckdiUGVGL3ZmL2lwUHZsMGpoWXZYYVZseTljb0p1WitqWG4wUHlwWnN1Q29zOExvZU8vZGV2Mk45N1ZrMlNvOSt0L2hPVzhVRnkrbWFNNjhMMVdsU2lXMXZlZXVmTGRmdmZZYjNYenpUZHE2ZFllNmQrdWthWi9HYStLekw2bGIxNDZTcExmZmpGWDE2dFh5M1BiUW9WODA2dUVKdVY2N2NPR2lQdng0dXFLamErZThlZVduMVYyMzUvcTZMNzJJZzlYaE84NmVPYXZnNEtBOGI0b3ByREdQUHFTMTY3N1ZPKzlOMDczdDI2aEtsVXJGdGozekEwWTZlL2FjZ29PRFZDSWtKTmZydng0L29idmJkbmRaLzU5cENpa3BxYmt1TmJEYjdXcDJhMk05K3Q4UnFuM3pUVVZXSi9QRXZJeU9UK05tT1Q4VkVoS3MwU09IYXVXeXVlcmZMMFlCZ1FHYUhiOVF2ZnMrcUxObms0djBXRUZCUWVyVCs5OUtUM2RvZHZ6Q25OY1hMRnlzNU9SejZ0c243NXNyc3NYSEwxQ3JPeSs5VVZhdkVhbGVQYnZveDU4U2M5SXRJcXBVVXZYcnF1WDVyM0xsaXJuMjVYQTQ5TmpZaVRwNThwU0dEZW5uVnYxdnZ4T25qK05tS203YUxNMmNQVjloWVdVTCt6OEJUS0JFeVJKS1QzZTRoT2Q3b2t5WmF6Uis3RWlscEtUcStSZGZLOWJ0bVI4d1VtaXBVbm5PbTlLaG9lcmRxMnZPdjhEQXZNK3JCUVlHcW5ldnJ1cmFwWU1xVmFvb204Mm1oZzJpaTdRSmxwZ25aa1o4R29wVitmTGhlbnpjYVBYcDFVMmpIbjVDaVVrSDlkSXJiMnZLNUFrRmIxd0lQV002Ni8wUFBsWDhuSVVhT3FTZkFvTUM5ZG4wdVFvTkxhWHUzZTdMZDd0ZHUvZHExKzRmOWVvcmsvVmk3S1VZblpFUFBhQkhIeG1odlh2M1NaSzYvSHVnMjNYOHNPY25iZDZ5WFIzdnZWdXRXK1crc2FOU3hRcHFtc2MxYVlzV3I5RFJ2NThpRkJaV1ZtTWVkZS9HQ3BoTDFZZ3FTdHAvVUlsSkI0dmtqL0I5SGR0cTRSZEx0VzdkdDFxNzdwdEMzMGprenZiTUR4Z3RvbXBsSlNZZTBJRURoeFFWVlN2bjliSmx5K1NLUmN1TzN2eW55K1BUVWxKU05Yakl3M3I3M1RoRlJGUlNsODRkWE5ZUERnNVNlcnJqaWpVNUhCbTV2dGxrbnNBYk5NSVdFUmxaVlcrOE5rWHRPL2JVNnRVYmlyd1JMbFBtR25YdDNFRXpaOC9YNGlVckZSWldWc2QrUGFFQi9YcW9kT25RZkxmNzhLUHBhbmw3TTFXc1dEN250ZXoxUTBxRUtES3lxaVpOSEt1SUtwWGxkRXIzM3RkTGo0OGJyVHRhTnBja0hUMTJYTTg5UDFVaHdaZHVpbWpjcUw0Ky92QTExWXV1NDNLc05xMWJxazNybG1wN2J3LzE3dGxWQS82K2JubjVrbmhsWm1iS2JyZm5QRjBJL3FkNXN5WksybjlRWDMyMW9zak9SazE4ZXF6dTc5cFBVMTU4WGMyYk5TM3k3WmtmTUZyelc1c29NZkdBbHE5Y2w2c1I5a1RKa2lYMFV1eEVkZXJjVi8vejBwdTZvK1Z0Q2c4dmwydWQ4UEJ5T25ueWxJNGZQNm1JaU1vdSt6aDE2clF5TWpKeUpTSXhUK0FOMHpmQ1hCL3N2c2pJQ0FVRUJDZ3p5L3V2aHZQU3YzOFB6WjZ6VUhNL1g2UnJ3OE1VWUxmblBJMG5QMUZSdGZTdjIyNXhlVDB0TFYyMWJxaXBSUXVuNTd5V25IeE9UcWRUTld0Y3AwcVZMbjJWVmFsU3haeDFuRTZuYkRhYm1qUnVvS1hMOG44ODU5R2p2MnJIenQycVVPSGFQSmRIUkZUT2VmSWUvRWZ2M3QwMFk5Ym5taFcvUU8zYnRWYTllclc5M21mMTZ0VTBiR2gvdmZYMngzcjczVGdGQlFVcEpTVzF5TFpuZnNCb3ZYcDExZlNaOHpSOXhsemQzNm1kYWxTUDlHcC9rZFVpTktCZkQzM3cwWFM5UFBWdHZUamxxVnpMNjBYWDFzbVRwN1JzK1pvOGJ5UmR0V2FESk9Xa09Fak1FM2pIOUkwdzhXbXVKaytacXVIREJycE0wTThYTEZabVpxWWFONnBmTE1lTnJCYWhOcTFiYXRYcURiTFpiTHJuN2p2ei9FUi91U0dEKytaNTgxTERKcTN5M1diWWlNZnlmSDNWaW5tcUdsRkZralJtM0xOWFBPN3FOVjlyOVpxdjgxeld2bDFyM3NEOFVHUzFDRDM2M3hGNitaVzM5TUN3Ui9UTVU0K3B3NzEzdTV5OU9YbnlsSDQ3OWJ2cTEzTTlHNVNYb1EvMDFaSWxxelI5eGp3RkJyb1hwZWJ1OXN3UEdDMnlXb1JHanhxcTExNS9Ud01IajFMc0MwKzdQRWI1d29XTGNtYTVId284ZEVnL3pWKzRSSXUrV3FIdTNUcXBVYU42T2N1NmRlMm9sYXZXNjUzM3BpbnFwbHBxMGVMV25HVTdkdTdXLzc3NW9XdzJtM3JHZE01NW5YbGlic1NuZWNscThXbnBhZWthTmp6dkNmekJlNWNDdjJmSEw5VGNlWXNVWGZkbTFheFpYUUVCZGlVbUhkU2VQVDhwdkZ5WXhvOGRXV3oxRFJ6UVV5dFhyWmZUNmRUQS9qMExYRCsvTy9oWHJaaVg2K2VMRjFQMDhDTlBxdlExcFpXWWVFQzllblp4T2R0Y3VkTC8zZkJ3cGVmQTE0NXVvUWVIRGRERG80WVdXQi84Uy9ZangxOTk3VjJObnpCWlUxOTdWdzBiUkNzc3JLd3VYa3pSZ1lPSGxKQ3dYdzhOSCtSMkl4d1VGS1NKejR6VndNR2o1SEJjK2RyR3dtN1AvSUF2R1BwQVgyVm1aT3F0ZHo3V29DRVA2NFliYXFoTzdTaVZMRmxTSjArZTB2WWR1NVNhbHBZcnQvZEtRa05MYWZUSUlabzQ2U1ZObmpKVm44K2Jwb0MvUDVEZTNxS1pZcnJmcjduenZ0U3dFWStwZXZWcXFseTVrazZmL2tNSER4NldKRDB5ZXBqcTF2Mi9PRGZtaWJrUm4rWWxxOFduWldabDVZU0c1K2ZKQ1k5b3c5ZWJsYlQvb1BiczNhZWdvQ0JGVm92UTRFRzlOYkIvVDVVdkgxNXM5VFdvWDFjTjZ0ZVZ6V2J6NnF2bjdFL2swcVdROVArSi9WOEZCUVhwZzNkZjBlNGZmdFNqWTU3Um4zK2UwYmd4STR2MTk0SC9HVFNncDlxMHVsMHpaOC9YNXMzYjllM0dyVXBOU1ZXcFVxVVVHUm1odm4zK3JRNGQ3aTdVUG05cDJsQ2Q3Mit2TDc1YzVsRk5oZDJlK1lHcmJmaURBM1IzbXpzMGMvWjhiZG15WFN0WGJWQkdSb2JLbFN1cit2WHE2RiszM2FMN083VnplMy9kdW5iVXJObnpsWmgwVUxObXpjL1ZrRDc3ekZnMWFWeGZuOC8vU3ZzUzl1dllzUk1LQ3l1cnUrNXFvYjY5LzYzbXpacTRkUXptaVRrWUhaOW1jenFMNmlHSHhvaUtpbEppWXFMSDIxN3BFeCt1cnRyUkxUVGwrU2ZVN3A1VzJ2dGpnalp2MmFhVks5ZnJ5SkdqNnRLbGc4YU5HWmx6QThUaEkwZjExTk12YU0vZUJMVzZxNFdhTjIrcWU5cmNvVTJidHhWNG5ESGpubFdiMWkzVnJtMytYNXRKVXF0V3Q3dGtaL3F5MnRFdFBKNEw3bUMrR0l2NVViU1lMLzZKZVZJOGluTytlTlBIRlFYVG54R0cvOW16ZDU4R0RoNmx5cFVycW4zYlZvcnA3aHFFWHFONnBHWjg5cTQyYmQ2bTJmRUw5UElyYjZsTjY1WUZYdE9WN1VyWGRtVmJ1M3BCcnEvSkFGL0EvQUFLeGp5QnV6Z2p6Q2Qybi9Iem9TT3FVT0ZhWFZPNnRFNmMrSzFRVCt0eU9Cd0tDZ29xeHVwOEgyZTQvQnZ6bzJneFgvd1Q4NlI0Y0ViWWgxbnArbUIvZC9tejJ3djd5RnJldk9Edm1COUF3WmduS0N6VHB6NFRud1lBQUdCT1JzZW5tYjRSam8yTk5ib0VBQUFBZU1EbytEVFROOEp4Y1hGR2x3QUFBQUFQeE1URUdIcDgwemZDQUFBQU1LZmR1M2NiZW53YVlRQUFBRmdTalREZ0IweWVnZ2hjVmN3WHdIMytQbDlNM3doN0dwK1ducDZ1NEdDaVV1QWZqcDg0cVhMbHloWGIvcGt2OENmTUY4Qjl4VDFmakdiNlJ0alQrTFRnNEdDVktoV3FNMmZPRm5GRndOVzNldlhYYXRhc1diSHRuL2tDZjhKOEFkeFgzUE9GK0RRdmVST2ZObmp3WUUyYzlKSXVYTGhZaEJVQlY5ZVdMZHYxNGNjejljZ2pqeFRyY1pndjhBZk1GOEI5VjJPK0dCMmZadWxITEdkbFplblZWMS9WZ2dYelZhL3V6YXBYcjQ1S2xpeFJ4QlhDNlhUS1pyTVpYWWJmU1VsSjBjYk4yL1RycjcvcDVaZGZWdE9tVFl2MWVNeVhxNFA1VWp5WUwvNkorVkk4cnVaOGlZbUowZHk1YzR0dC93V3hkQ09jTFRrNVdldldyVk5pWXFJeU1qS0txREprTzNMa2lLcFhyMTd3aWlpVXdNQkFOV3pZVUhmZWVlZFZmVFFvODZWNE1WK0tCL1BGUHpGZmlzZlZuQzlGMGNkNWcwWVl4U28xTlZYdDI3ZlhraVZMVktwVUthUExBWHdhOHdWd0gvUEZQeGpkeDVuK0dtSDR0bTNidGlrNU9WbHIxcXd4dWhUQTV6RmZBUGN4WDFBVVROOElleHFmaHF0ajdkcTF1ZjRUUVA2WUw0RDdtQzhvQ3FadmhEMk5UMFB4UzA5UHovbWsvdDEzM3lrMU5kWGdpZ0RmeFh3QjNNZDg4Ui9FcDNuSm0vZzBGSzlkdTNicHdvVUxraTVkeS9YTk45OFlYQkhndTVndmdQdVlMLzdENlBnMDB6ZkNjWEZ4UnBlQWZLeGJ0eTdYejZ0WHJ6YW9Fc0QzTVY4QTl6RmYvRWRNVEl5aHh6ZDlJd3pmbEpHUm9aVXJWK1o2YmN1V0xjUUhBWGxndmdEdVk3NzRsOTI3ZHh0NmZCcGhGSXM5ZS9ib3pKa3p1VjQ3Zi82OE5tN2NhRkJGZ085aXZnRHVZNzZnS05FSW8xaXNYNzgrejlmLytTa2VBUE1GS0F6bUM0cVM2UitvRVJjWFIzS0VqMnZjdUxGMjdOaGhkQm1BS1RCZkFQY3hYOHlQQjJwNGlTWVlBQURBbkloUDh4THhhUUFBQU9aRWZKcVhpRThEQUFBd0orTFRBQUFBWUVuRXB3RUFBQUFHb0JFR0FBQ0FKWm0rRVI0L2ZyelJKUUFBQU1DRVROOElFNThHQUFCZ1RzU25lWW40TkFBQUFITWlQczFMeEtjQkFBQ1lFL0ZwQUFBQXNDVGkwd0FBQUFBRDBBZ0RBQURBa2t6ZkNCT2ZCZ0FBQUUrWXZoRW1QZzBBQU1DY2lFL3pFdkZwQUFBQTVrUjhtcGVJVHdNQUFEQW40dE1BQUFCZ1NjU25BUUFBQUFhZ0VRWUFBSUFsbWI0UkpqNE5BQUFBbmpCOUkweDhHZ0FBZ0RrUm4rWWw0dE1BQUFETWlmZzBMeEdmQmdBQVlFNUd4NmNGR25wMFdFWkNRb0xSSlFDbWtKV1Z4WHdCWUJsR3g2ZlJDS1BZdFd6WlVzODk5NXpSWlFDbVlMZmJtUytBbTVvM2IyNTBDVEE1R21FVXU5ZGVlODNvRWdEVGFOeTRzV2JObW1WMEdRQmdDYWEvUnBqNE5BQUFBSGpDOUkwdzhXa0FBQURtUkh5YWw0aFBBd0FBTUNmaTA3eEVmQm9BQUlBNUdSMmZadnBHR0FBQUFPWmtkSHdhalRBQUFBQXNpVVlZQUFBQWxtVDZScGo0TkFBQUFIakM5STB3OFdrQUFBRG1SSHlhbDRoUEF3QUFNQ2ZpMDd4RWZCb0FBSUE1RVo4R0FBQUFTeUkrRFFBQUFEQUFqVEFBQUFBc3lmU05NUEZwQUFBQThJVHBHMkhpMHdBQUFNeUorRFF2RVo4R0FBQmdUc1NuZVluNE5BQUFBSE1pUGcwQUFBQ1dSSHdhQUFBQVlBQWFZUUFBQUZpUzZSdGg0dE1BQUFEZ0NkTTN3c1NuQVFBQW1CUHhhVjRpUGcwQUFNQ2NpRS96RXZGcEFBQUE1a1I4R2dBQUFDeko2UGkwUUVPUER2aVJsU3RYNnZ6NTgwYVhBVDhRRnhlbnNMQXdvOHVBSDJyWnNxWEtseTl2ZEJtQXo2QVJCb3JJaEFrVDFMVnJWNlBMZ0I5WXZYcTE2dFNwWTNRWjhEUHIxcTNUK2ZQbjFiOS9mNk5MQVh5RzZSdGg0dFBnUzU1ODhrbWpTNERKTFZpd1FGMjZkRkgzN3QyTkxnVis1dHk1YzZwU3BZclJaUUEreGZUWENCT2ZCZ0FBWUU3RXAzbUorRFFBQUFCeklqN05TOFNuQVFBQW1CUHhhUUFBQUxBa28rUFRhSVFCQUFCZ1NUVENBQUFBc0NUVE44TEVwd0VBQU1BVHBtK0VpVThEQUFBd0orTFR2RVI4R2dBQWdEa1JuK1lsNHRNQUFBRE1pZmcwQUFBQVdCTHhhUUFBQUlBQmFJUUJBQUJnU2FadmhJbFBBd0FBZ0NkTTN3Z1Rud1lBQUdCT3hLZDVpZmcwQUFBQWN5SSt6VXZFcHdFQUFKZ1Q4V2tBQUFDd0pPTFRBQUFBQUFQUUNBTUFBTUNTVE44SUU1OEdBQUFBVDVpK0VTWStEUUFBd0p5SVQvTVM4V2tBQUFEbVJIeWFsNGhQQXdBQU1DZmkwd0FBQUdCSnhLY0JBQUFBQnFBUnhsV1hsWlZsZEFsd1UyWm1wdEVsWEJGanlSeDhmUnpsaGJGbERtWWNXL0F0TnFmVDZUUzZDRy9FeGNXUkhHRVNDUWtKbWpScGtuYnQydVdYZjJRQ0FnTDg3azNaYnJmcHR0ditwUmRmZkZFVksxWTB1cHdjTzNiczBQUFBQNitFaEgzS3lqTDFXNWlMRWlWS0tDMHRUU1ovYTg3RmJyY3JPanBhVTZkT1ZXUmtwTkhsWEpFL2p5MjczUzZuMDhuWWdrK0ppb3BTWW1LaVljY1BOT3pJUllRbTJCdzJidHlvSjUrY29IZmVpbFhVVGJXTUxnZUZzSGJkTjJyZnZwMFdMMTZpS2xXcUdGMk81czJicDJuVFB0STdiOFlxTXJLcTBlWEFUVHQyN2xhWExwMFZIejlIdFdyNTVuc0FZOHVjekRDMmtEK2o0OU5NZjBZNE5qYVdoMnFZUVBmdTNUVnA0cU0wd1NZMVo5Nlgydmw5Z2w1NTVSV2pTMUhidG0zMTRYc3ZxMnBWNDV0eUZNNm16ZHYwN3Zzek5HdldMS05MeVJOank3eDhmV3pCZDVuK0dtSGkwM3hmWm1hbUVoTVNhSUpON0w0TzkyanAwcVZ5T0J5RzF1RndPSFRxMUc4MEtpYlZ1RkY5ZmYvOTkwcE5UVFc2RkJlTUxYUHo1YkdGS3lNK0RYN1Back1wM2VBR0N0NHBWYXFrcWxXcm9zT0hEeHRhaDkxdVYycHFtcUUxd0hNaEljR3FVenRLZS9mdU5ib1VGNHd0Yy9QbHNZVXJJejROZmkvN0JnMllXK25RVU1QUHRnUUVCUGpsalpaV1VpNnNyTTZmUDI5MEdTNFlXK2JucTJNTHZvMUdHQUJ3OWRpTUxnQitpN0VGRDVpK0VlWkdPUUFBQUhqQzlJMHc4V2tBQUFEbVpIUjhtdWtiNGRqWVdLTkxBQUFBZ0FjYU5HaGc2UEZOM3dnVG53WUFBR0JPeEtjQkFBREFrb2hQQXdBQUFBd1FhSFFCUUhHcUhkMGkxODkydTEzbHlvV3BhWk1HR2pGOG9HNnNkWDIrMjVRdFcwYnJWaTlRaVJJbENqeE9sMjREbEpoMFVDVkxsdENPNzFiblduYmh3a1ZObnpGUHE5WnMwT0hEdnlnOUxWMmhwVU5WczhaMUdqOXVsQnJVcjV0dnZmLzAwNTV2QzZ3RlYwOVJqNVhMN2QyN1R6Rzloa3FTUHZyZ05kM1d2R21CZGVTSGNlTzdmSFVNQlFjSEthSktaZDExNTc4MGJHaC9sUzFiNW9yci94TmpEbVpoK2thWStEUVVKREF3VURIZE8wbVNNaHdaMnZ0amdwYXZXS3YxNnpmcXMwL2VVdDI2TitlNTNkbXp5ZnJpeTJYcTJhUExGZmUvY2ROM1NrdzZtT2V5RXlkKzA4REJvM1QwMkhIZGRPTU5hdCt1dGV4MnU0NGRPNjZkMy8rZ0F3Y081V3FFLzFrdnpLRW94c28vZmI1Z2NjNS9YN0J3eVJXYkdJbHhZM2ErTm9iT25idWdiZHUvMTdSUDQ3VnE5UWJGei9wQTRlSGw4bDBmTUN2VE44TEVwNkVnUVVHQmV1cUpSM085OXZvYjcrdURqNlpyNnV2dmFkcEhiN2hzRXg1ZVR1Zk9uZGYwR2ZQVUk2YXpiTGI4azlvLytUUmVJU0hCS2xteXBOTFNjaitpOWNYWU4zVDAySEdOSFROU2d3YjB6TFhzekpteit1dk1XYmZxaGU4cXFyRnl1ZFMwTkMxYnRrWTFxa2ZLNGNqUW1yVmZLem41bk1xVXVTYmZiUmczNXVXcll5Z2pJME5qeDAvU2lwWHI5T2JiSDJ2aTAyT3V1RDdnQ2VMVHZFUjhHanp4NExBQnN0bHMrdUdISC9OY25wV1ZwZWJObXVqUTRWLzA5VGViODkxUDB2NkQycmpwTzdXOHZiblMwOU5kbG0vYXZFMkJnWUVhME0vMXJ0aXdzTEtxV2VNNnozOEorSVNpR2l1WFc3bHl2YzZkUDYrNzdtcWhPKys0VFdscDZmcHF5Y3FpTGgwK3dsZkhVQTRZYmRnQUFBcVZTVVJCVkdCZ29NWTg5cEFrYWYyR1RZWGFGbkFYOFdsZUlqNE5uZ2dKQ1piZGJwZlRtZmR5aDhPaGZuMjdTNUkrK1N6L1Q2dWZmQm92U2VyZkwwYXBxYTVuWit4MnV6SXlNdlRyOFpQZUZ3MmZWRlJqNVhJTEZsNzZTcnRUeDdicWRGL2J2MTliVWhUbHdnZjU4aGlxR2xGRlFVRkIrdU9QUHd1OUxlQU80dE1BQTJ6YXZFMlptWm1xWDc5T25zdWRUcWYrZGRzdHV1bkdHN1IxNjQ0OHI4azdkZXEwbGl4ZHJicDFiMWJqUnZXVmxaWGxzazZydXk3ZFVETGlQK1AwNDArSlJmdEx3Q2NVMVZqSmR2VFljVzNidmtzMzFycGVVVkcxRkIxZFd6V3FSMnJmdmlUdDI1ZFVuTDhLRE9MTFl5Z2xKVlVPaDBOaFlXVUtYaG53Z05IeGFhYS9SaGdvakxTMGRHM2F2RTNQUEJ1cmtKQmdQVEo2V0o3ck9mOCtWVHhnUUE4OStkUUwrdXl6T1pyeS9CTzUxcGs1NjNNNUhBNE43TjhqMytPTkh6dGFTZnQvVmtMQ2Z2WG9OVlQzdG11dEVTTUdYZkdTQ0ljalE4Ky84S3JMNnkxdmI2Nld0emQzNTlmRVZWUlVZeVhiZ29WTDVIUTZkZC9mWi9FazZiNzcydXJOdHo3U2dvVkw5T1ROTitXNUhlUEd2SHhsRE9WbDJmSTFrcVRtelZ4dnRHUE13Ujl3UmhoK0x5VWxWYldqVzZoMmRBczFiTkpLb3g2ZW9LaWJidERNNmUrcGZyMjh6d2huNjNqdjNhcFE0Vm90V2JZcTExZURGeSttYU02OEwxV2xTaVcxdmVldWZMY3ZWNjZzWnM5NFg4TWZIS0RnNEdBdFhycEtuZTd2cThsVHBpb2xKVFhQYlRJeU1qUnI5Z0tYZjN2MjdQUHNmd0JjRmQ2T0ZlblN0YUpmZkxsTWRydGRIVHZjbmZQNmZSM2J5bWF6YWZIU1ZVcFBkK1M1TGVQRy9Jd2VRNWY3ODY4em1qUDNDMDE1OFRXRmhwYlNROE1IdWF6RG1JTS9NUDBaWWVMVFVKRHNpSi9VMURSdDNMUk5wMC8vb1lZTm9sWGJqYk1pUVVGQjZ0UDczM3I5amZjMU8zNmhSdjduQVVtWHJyOUxUajZuQjRjTlVFQkF3QlgzRVJJU3JORWpoNnAzejI3NktHNkc0dWNzMU96NGhkcTU4d2Q5RXZlbVN6NW5RZG1nOEUxRk1WWTJidnBPdi8xMlNyZmUwa2lWSzFYTWViMWExU3BxMkRCYU8zZitvTlZyTnVqZTltMWN0bVhjbUovUll5ajdwTUhscWxTcHBLa3ZUMUwxNnRWYzFtZk13UitZdmhFbVBnMEZ1VHppSnlVbFZZT0hQS3kzMzQxVFJFUWxkZW5jb2NEdGU4WjAxdnNmZktyNE9RczFkRWcvQlFZRjZyUHBjeFVhV2tyZHU5M25kaDNseTRmcjhYR2oxYWRYTjQxNitBa2xKaDNVUzYrOHJTbVRKM2o4dThHM2VEdFc1djk5TTlPcFU2YzFjblR1Y1pGOWhuREJ3aVY1TmpId0QwYU9vZXlUQmpiWkZGbzZWSFZxUituT08yNVRVRkJRRWZ4bVFONk1qazh6ZlNNY0d4dkxXV0c0cldUSkVub3BkcUk2ZGU2ci8zbnBUZDNSOGphWGtQaC9LbFBtR25YdDNFRXpaOC9YNGlVckZSWldWc2QrUGFFQi9YcW9kT25RUXRjUUdWbFZiN3cyUmUwNzl0VHExUnRvaFAySU4yUGx6Sm16V3JmdTB0TzREaDMrUlljTy81TG5lbHUyN3RDSkU3K3BTcFZLUlY0L2pHZmtHQ0lYR0VZZ1BzMUx4S2Voc0NLclJXaEF2eDQ2ZCs2OFhwNzZ0bHZiOU8vZlEzYTdYWE0vWDZUNUM3NVNnTjJlRTNma1VRMlJFUW9JQ0ZCbVZxYkgrNEJ2OG5Tc0xQcHFoUndPaDlxMWJhV2Y5bnliNTcrMjk5eWxyS3dzTGZpQ0tEVi94aGlDbFJDZkJoaGc2SkIrdXZiYWNDMzZhb1YyN3Z5aHdQVWpxMFdvVGV1VzJydDNuNzcrWm92dXZ2dE9SVVJVTG5DN3lWT202dmZmLzNCNS9mTUZpNVdabWFuR2plcDdWRDk4bDZkakpUdmp0ZE45N2ZKZHAxdlhqcEtrTDc1WWxwTTBBUC9ER0lLVkVKOEdHQ0EwdEpSR2p4eWlpWk5lMHVRcFUvWDV2R2tLc0YvNWMrSEFBVDIxY3RWNk9aMU9EZXpmODRyclpwc2R2MUJ6NXkxU2ROMmJWYk5tZFFVRTJKV1lkRkI3OXZ5azhISmhHajkycE1zMitVVVNTZUpyUzVNbzdGalp1M2Vma3ZZZlZIaTVNTjNlNHRaODE3dXRlVk5Wcmx4UnZ4NC9vUzFiZDZoNXN5WTV5eGczL3NXSU1WUllqRG40QXhwaFdGYTNyaDAxYS9aOEpTWWQxS3haOHd2ODZyRkIvYnBxVUwrdWJEYWI2dFdyN2RZeG5wendpRFo4dlZsSit3OXF6OTU5Q2dvS1VtUzFDQTBlMUZzRCsvZFUrZkxoTHR0a1J4TGxoVDh1NWxEWXNaSjlnMVA3OW0ydW1BcGd0OXZWdFhNSHZmUGVOQzFZdURoWEU4TzQ4UzlHaktIQ1lzekJIOWljSnY5dUpDNHVqdVFJRTRpS2l0SlBlNzQxdWd4NG9YdVBCelRwdVNtS2pvNDJ0QTdHa3JrTmYyaU0rdlFkcER2dnZOUG9VbHd3dHN6Tmw4Y1c4aGNWRmFYRVJPT2V2R3I2YTRScGdnRUFBTXpKNlBnMDB6ZkNzYkd4UnBjQUFBQUFEeENmNWlYaTB3QUFBTXlKK0RRQUFBQllrdEh4YVRUQ0FBQUFzQ1FhWVFBQUFGaVM2UnZoOGVQSEcxMENBQUFBVE1qMGpURHhhUUFBQU9aRWZKcVhpRThEQUFBd0orTFR2RVI4R25CMVpHUmtHRjBDL0VCYWVyclJKY0JQTWJiTWlmZzArTDMwOUhTRmhBUWJYUWE4a0pXVnBjTkhqcXBxMWFxRzFuSHg0a1dGbGlwcGFBM3dYRlpXbHZiczJhY2JiN3pSNkZKY01MYk16WmZIRnE2TStEVDR2ZURnWUZXc1dFbEhmamxtZENudzBMejVYNmxSbzhZS0R3ODN0STVTcFVxcFpLbFFuZnI5dEtGMXdET2J0MnhYdFdxUmhuK2d5Z3RqeTl4OGVXekJ0OUVJNDZwNC9QSEg5ZUNJTVRwMWlqOHlack5xOVFhOU12VWRQZlBNTTBhWElra2FObXlZSGhvNVRtZlBKaHRkQ2dwaHg4NGY5TmpZaVpvOGViTFJwZVNMc1dWT1poaGI4RjJCUmhmZ0xlTFR6S0YxNjlheTIrM3EybjJRU3BVc29Rb1Z5aXN3MFBURHo2OWxPYlAwMjIrL3krbTBhY2FNR2JyKyt1dU5Ma21TMUw5L2Y1VXBVMGJ0T3ZSUzJUS2xWYjc4dFFvSUNEQzZMT1RENmN6Uzc2Zi8wSVVMS1hyNzdYY012ekhtU2hoYjVtS21zUVhmWlhNNm5VNmppNEIxT0J3T0hUMTZWSC8rK2FleXNyS01MZ2NGQ0E4UFYvWHExUlVVRkdSMEtTNVNVMU4xN05neC9mWFhYK0p0ekxlVkxWdFdOV3JVVUVoSWlOR2x1SVd4WlI1bUcxdHd0V3ZYTGtNL3hKaStFWTZOamVXc01BQUFBQXJOOU5jSUU1OEdBQUJnVHNTbkFRQUF3SktJVHdNQUFBQU1RQ01NQUFBQVN6SjlJOHlOY2dBQUFQQ0U2Vk1qQUFBQVlFNUd4NmVaL294d2JHeXMwU1VBQUFEQUEwWS9DTVgwalREeGFRQUFBT1pFZkJvQUFBQXNpZmcwQUFBQXdBQTB3Z0FBQUxBazB6ZkN4S2NCQUFEQUU4U25BUUFBd0JERXAzbUorRFFBQUFCeklqN05TOFNuQVFBQW1CUHhhUUFBQUxBazR0TUFBQUFBQTlBSUF3QUF3SkpNM3dnVG53WUFBQUJQRUo4R0FBQUFReENmNXFXcFU2ZnE0c1dMUnBjQkFBQ0FRa2hQVHljK3pWdDc5dXpSbkRsempDNERBQUFBYmtwSlNWRy9mdjIwYytkT1Erc0lOUFRvUldEQ2hBa2FPSENnamg0OXFrNmRPcWxldlhxeTIwM2Yzd01BQVBpZGxKUVViZDI2VmUrODg0NHFWS2lnUm8wYUdWcVBYMXdqZk9iTUdiMzExbHRLU0VqUTlPblRkZTdjT1RWdDJqVFhPdGRjYzQyMmI5K3U1T1JrbHJHTVpTeGpHY3RZeGpLV0diQ3NlZlBtcWxPbmp1Ni8vMzcxNmROSFJ2T0xSaGdBQUFBb0xLNGhBQUFBZ0NYUkNBTUFBTUNTYUlRQkFBQmdTVFRDQUFBQXNDUWFZUUFBQUZnU2pUQUFBQUFzaVVZWUFBQUFsa1FqREFBQUFFdWlFUVlBQUlBbDBRZ0RBQURBa21pRUFRQUFZRWswd2dBQUFMQWtHbUVBQUFCWUVvMHdBQUFBTElsR0dBQUFBSlpFSXd3QUFBQkxvaEVHQUFDQUpkRUlBd0FBd0pKb2hBRUFBR0JKTk1JQUFBQ3dKQnBoQUFBQVdCS05NQUFBQUN5SlJoZ0FBQUNXUkNNTUFBQUFTNklSQmdBQWdDWFJDQU1BQU1DU2FJUUJBQUJnU1RUQ0FBQUFzQ1FhWVFBQUFGZ1NqVEFBQUFBczZmOERWbm5CRmo0Z3hJb0FBQUFBU1VWT1JLNUNZSUk9IiwKCSJUaGVtZSIgOiAiIiwKCSJUeXBlIiA6ICJmbG93IiwKCSJWZXJzaW9uIiA6ICIiCn0K"/>
    </extobj>
    <extobj name="ECB019B1-382A-4266-B25C-5B523AA43C14-6">
      <extobjdata type="ECB019B1-382A-4266-B25C-5B523AA43C14" data="ewoJIkZpbGVJZCIgOiAiMjUzMzMzODEzODcwIiwKCSJHcm91cElkIiA6ICIyNzc1MTQzNjQiLAoJIkltYWdlIiA6ICJpVkJPUncwS0dnb0FBQUFOU1VoRVVnQUFBeThBQUFJWkNBWUFBQUN2ZVFBMEFBQUFDWEJJV1hNQUFBc1RBQUFMRXdFQW1wd1lBQUFnQUVsRVFWUjRuT3pkZDF6Tit4OEg4TmM1cDEwMklhU3M3SlV0cSt3OXMyVmxyMnRrazVGTHRtdUZJb2xrWFpTUjdKbGRFblYvdUxnMmNTbnRjMzUvcEhNN090Vko1ZXRicitmajBVUGZ6K2Z6L1h6Zng4aDVuKy9uOC81S0ZBcUZBa1JFUkVSRVJMODRxZEFCRUJFUkVSRVJhWUxKQ3hFUkVSRVJpUUtURnlJaUlpSWlFZ1VtTDBSRVJFUkVKQXBNWG9pSWlJaUlTQlNZdkJBUkVSRVJrU2d3ZVNFaUlpSWlJbEZnOGtKRVJFUkVSS0xBNUlXSWlJaUlpRVNCeVFzUkVSRVJFWWtDa3hjaUlpSWlJaElGSmk5RVJFUkVSQ1FLVEY2SWlJaUlpRWdVbUx3UUVSRVJFWkVvTUhraElpSWlJaUpSWVBKQ1JFUkVSRVNpd09TRmlJaUlpSWhFZ2NrTEVSRVJFUkdKQXBNWElpSWlJaUlTQlNZdlJFUkVSRVFrQ2t4ZWlJaUlpSWhJRkppOEVCRVJFUkdSS0RCNUlTSWlJaUlpVVdEeVFrUkVSRVJFb3NEa2hZaUlpSWlJUklISkN4RVJFUkVSaVFLVEZ5SWlJaUlpRWdVbUwwUkVSRVJFSkFwTVhvaUlpSWlJU0JTWXZCQVJFUkVSa1Nnd2VTRWlJaUlpSWxGZzhrSkVSRVJFUktMQTVJV0lpSWlJaUVTQnlRc1JFUkVSRVlrQ2t4Y2lJaUlpSWhJRkppOUVSRVJFUkNRS1RGNklpSWlJaUVnVW1Md1FFUkVSRVpFb01Ia2hJaUlpSWlKUllQSkNSRVJFUkVTaXdPU0ZpSWlJaUloRWdja0xFUkVSRVJHSkFwTVhJaUlpSWlJU0JTWXZSRVJFUkVRa0NreGVpSWlJaUloSUZKaThFQkVSRVJHUktEQjVJU0lpSWlJaVVSQjk4aElmSHc5dmIyL01uRGtUQUhEMjdGbFlXRmlvZkkwZVBacDk3R01mKzlqSFB2YXhqMzNzWTk4UDlKMDVjd2FEQnc5R1dGZ1loQ1pSS0JRS29ZUElqSDM3OW1ITGxpMVl2bnc1YXRhc0tYUTRSRVJFUkVRNVNreE1ESGJ2M28wdFc3YmcrUEhqeUo4L3YyQ3hpRDU1c2JHeHdiSmx5MUNuVGgyaFF5RWlJaUlpeXJFV0xsd0lpVVNDdVhQbkNoYUQ2SmVOdlgvL0hsV3FWQkU2RENJaUlpS2lISzFMbHk2NGZmdTJvREdJUG5ucDJMRWo5UFQwaEE2RGlJaUlpQ2hIcTFpeElod2RIUVdOUWZUTHhpd3NMQkFhR2lwMEdFUkVSRVJFbE0xRWYrZUZpSWlJaUloK0RsdGJXMEd2eitTRmlJaUlpSWcwRWhnWUtPajFtYndRRVJFUkVaRW9pRDU1TVRRMEZEb0VJaUlpSWlMNkNVU2Z2QWhkcm8ySWlJaUlpSDRPMFNjdkVSRVJRb2RBUkVSRVJKUXI3TjI3VjlEcnMxUXlFUkVSRVJHSmd1anZ2QkFSRVJFUjBjL0JVc2xFUkVSRVJDUUtMSlZNUkVSRVJFU2tBZEVuTHl5VlRFUkVSRVNVTzRnK2VXR3BaQ0lpSWlLaTNFSDB5UXRMSlJNUkVSRVIvUndzbFp4SkxKVk1SRVJFdVVsOGZEeGtNaGtrRW9uUW9aQ0lLUlFLeE1YRlFVZEhSK2hRTWtSTDZBQ0lpSWlJS0cwS2hRTDc5Ky9IdG0zYjhPclZLOFRHeGtMa256L1RMMEJYVndkbVp1YVlObTBhbWpScG90RTV0cmEyOFBiMnp1YklVc2ZraFlpSWlPZ1g1K1hsQlIrZlArRzZaU1dLRnk4cWREaVVnOXdQQ2NWVUIwY3NXYklVZGVyVVNYYzhTeVVURVJFUlVacTJiOStPcFV2bU1IR2hMRmVsc2dWbXo1eUVOV3ZXQ0IyS1JrU2Z2TEJVTWhFUkVlVmtjWEZ4ZVAzNk5VeUtGeE02Rk1xaDZ0V3RqYUNnUUh6NThrWG9VTklsK3VTRnBaS0ppSWdvSjlQUzBrSk1USXpRWVZBT3BxT2pEVE16VXp4NThrVG9VTklsK3VTRnBaS0ppSWdvSjJOVk1mb1pEQTMwRVJjWGwrNDRvVXNsaXo1NXNiUzBGRG9FSWlJaUlxSmNvV2JObW9KZVgvVEpDeEVSRVJFUi9SeTJ0cmFDWHAvSkN4RVJFUkVSYVlTbGtvbUlpSWlJaURRZyt1U0ZwWktKaUlpSWlISUgwU2N2TEpWTVJFUkU5T1BpNCtQeDhlTy9TSkRMczJTKyt5R2gyT25oaldnMTVaMERnKzRqUFB4aml2YVltRmdrSkNSa3lmWFRFeE1UcTdiZDk1Zy9Sb3lha3FGemZsUjBkRFRldncvUDBqbHpDeTJoQThpc2lJZ0lHQmtaQ1IwR0VSRVJrU2pkdUhrWHcrd253ZWVJSjhxWWx3YVErT2I2NWFzM0dwMmZkRTZTNHlkT1k5KytJK2pmdjZkSys2dFhiekJnNEdoMDc5NFJDK1k3S05zVkNnVnExYkdHM2NEZW1PNHdQc1g4eDQ3N1ovUWxBUURhdDJ1Wm9pMGhJUUhEUmt5Q2diNCtuQmJOUXBFaWhaUjl6NSsvd0tYTEFTcmpGUW9GTm05eHg4R0R2dkJ3MzRCaXhZd0JKQ1o4ejU2LzBDZ09jelBURk9XdUR4enloZE9TMVFpNWR5bk5jNTg5K3dlbXBpVTF1czdQSW5TcFpORW5MNWFXbGdnTkRSVTZEQ0lpSXFJYzQ4N2RZQXl6bjZUUjJPL2ZnTis4ZFJkMTY5YUNUQ3JGalp0M2NldFdJRWFOdEVQeDRrWFJxVk1iSERqb2czNTl1c1BDb2h5QXhBUUJTUDE1TmxNZEhIL29OYWhMWG1ReUdleUhEY0RNMlU3bzJtTVFsdjArRDFhTjY2czlQekx5SzJiTmNjSXAvL01ZTk5CV0pkRjUrZkkxT25idXIxRWNOd05PNGFqUFNTeFl0Q0xkWkVXaFVDQTQrQUZPbjcyRU0yY3Y0bi8vZTVMdU9UK2IwS1dTUlorOEVCRVJFVkgyMk9QcGdoclZxNmp0Mit6aWpuWHJ0NnEwdlg4Zmp1RGdoNWcvZHlvQTRNclZHM0RaNG81UkkrMEFBS05IRGNGUkh6ODRyMWdQMTYxckFBRHliOHZWcExMVWR6T1VLbWtDTjllMUdzVThkTmhFUFAvblphcjl6Wm8yd3NGOTJ6Ris0a3lNbXpBRHZrZDNvNFJKY1pVeGNya2NRNFpOd045UG4yUFZpb1ZvMjhaYXBkL1V0S1F5cWFoY3pRb3pwMC9Fd0FHOUFBQ2VldzVvZEZkRm5lWTJYZkh1M1ljTW4vY3oyZHJhd3R2Ylc3RHJNM2toSWlJaXltV2lvcUx4Nm5YaXNyRFgzMzU5OGVKVnB1ZjFPM1VPY3JrYzFpMnMxUGFYS21tQ3poM2I0TkRoWTdoMEtRQldWdlVSRnhjUEFORFcxazUxWGkwdHJSUUpSbHBqMDFPc21ERTgzRGNnTUNoRTdieFNxUlR6NWt4QnZueDVVYXBVaVZUbitlK3VrVWFocFN0UG5qem8yYjBUV3JkdWdYNERSaUlxS2pwckpzNUNRcGRLWnZKQ1JFUkVsTXNFWEwrTk1lTWNWTnBHanA2cS9EN3Bya2hHSGZVNUNRQW9WS2hncW1PR0RldVBvNzUrQ0FvTytaYTh4QUVBZEhWMGZ1aWFtcXBXbzZsR1JRa3FWMU9mZUFHQVRDckZ2Y0FMeXVPazVFVW15NXEzMUQ2SGQyWEpQRG1aNkpNWGxrb21JaUlpeXBqbXpSb3BselZ0Yy9QRXF0V2JWRGJzWDcxMkV3RHc1dlZiUE11ZlQrMGMvLzc3V2VYNDNyMFFCQWJkVC9mYVpjeEw0N1RmQWVVZWtxam94THNMK3ZwNlAvWmlOSFRrOEM1bHNwSGNnWU0rMk9IdUJYTXpVengrOGhRcmx5K0FXZWxTME5YVFRURTJhVi9POXduT0lxZVZXT1MwVXFVdGFVeTd0amFvVjdkV1ZyMk1YRS8weVF0TEpSTVJFUkg5dUJNblRxZmFOMm5LWEkzbmNmZlFmQjlFOHMzdmtSR1JBSUE4ZWJLM2VxeTVtYW5LOFljUDRWanF2QTdIVDV6QjNObVQ4ZW5UWjZ4YnZ4WE95OWNqSmpZV3RyMjZvSC9mSGlxeEp2RTU0Z2tBK09lZmx4ZzFaaG9XTFppQldyV3FKZmI1K21Hemk3dHlqSkdoSWM2ZSs3VTIzWXVaNkpNWGxrb21JaUlpK2pIQjl4OGk1RUVZQU9DazMxblVzYXlKdW5YK3F5YTFhK2NtMUtoZVdlMjVMbHQzWXYwR1Z3QkEyRitQY09Ma0dSUXNXRUR0YzF6Uzh1bFQ0aDJjL1BuenBqcEdvVkJvL0t3VmRYZFhrdnNTRVFHdnZYOWk2ellQeUdReWJOcmdqQ1pXRGJEWnhSMEFjT1JQRCt6eE9nZ1B6LzNZdm1NUE9uWm9qU0YyZlZDdW5MbHlqcVE3VkFFQmlSK2lXMW5WUjFIaklnRCtXektYdklSMGtTS0ZVUHRiY2lOMkxKV2NTU3lWVEVSRVJEL0w0OGVQbFE5VGxFcWxrRXFseXU4bEVvbktjV3JmU3lRUzVkamt2eWIvK241Y2R0bmg3cVZNT0U3NW40ZXJteWUyYlZtdDdKZkpwSkRKWkdyUGxVcitpMnZ0dWkwb1VyZ1EycmV6d1haM3J3ekY4UHJOV3dDQWNaSENxWTc1KytsejFLcGpuV3EvSm9LREgrQ29yeDhPL1hrTUVSR1JhTnFrSVJZNE9paVRqaVI1OGhoaGhQMGdEQnJVRzk3ZWgrRzYzUk4vSGo2RzVzMGFZWVQ5SUdYMXRjaklyOWpxNm9GcTFTcW5tT043MWkyYXdMcEZFK1Z4YkJZLzlQSm5ZcWxrSWlJaUlwR3d0YlZGK2ZMbElaZkxJWmZMb1ZBb2xGOUpKWCtUK3RSOW56Uk8zVG5KMjc3L1ByVUVJak5DSG9UaCtJblRHRGFrSDdhNWVXTHh3cGx3WExnY284Wk13NFJ4OWhtYXk5REFBQk1tMk9QWk04MGUzSmhjV05nakFFRHAwcVZTSFZPb1VFRmx1ZVgwYkhaeHg0Y1Bxayt2djN6bE91eEhUZ1lBV0ZRb2l3bmo3TkhpdTRwbzNidDFRSXZtalpYSGVycTZHRFRRRnJhMlhiRExjeisydWU1QzMvNGpzV1h6U3RTdlZ4dFRwczNINjlkdk1Ydm1ieHJGdFdHakcvVDBkQ0dSU0xEYjZ5RHlwN0tYNkZmSFVzbEVSRVJFSXFGUUtMQm56NTZmZmwwTEM0c3NuUzlCTHNkaXAxV3dzQ2lIaGczcllwdWJKL1QwZExIeGoyVll2V1l6VEV5S0FVamNsUC8rZmJqYU9iNSsvYXI4ZnZ5NDRTaFowZ1RyMW05TDk5b3ZYNzZHNjNaUHpKMDlCUUJ3ODNZZ1NwVXFrZWFlbDd4NWpOQy9idytOWHR2dTNRZFNKQytORzlYRHBBa2pVTFZxSlRScVdGZnRlV3ZXdWVEYytTdTRjdEZYcFYxUFZ4ZkRoL1pIeis0ZHNjUGRDdzNxV3lJdzZENnVYcnVKanUxYndjYTZpY3I0b3NaRlZKYmVKVG5pY3hMUG55Y21kL256NThQVXlXTTBlajIvR3BaS0ppSWlJcUtmNnNqUkU3Z2JHSXhORzV4VjJnc1hMZ2lueGJPVTFjWkdqWm1tMFh4cFBRc2xpVUtoZ1BlK3cxaStjZ04wZFhVd2QvWVV2SG43RG5mdkJxTlh6ODRaZnhFWkVCbjVGVVdNQytQTjIzYzRkUGlZMmpHQmdmZGhZS0NmYWo4QWxEWXJoWmlZV0ZqV3JnSFhyYXRSdlZyS0IzaTJ0R21LbGpaTjBhWjliL1RyMHgxMmczb0RBRTc0ZWlFaElVRmxHU0Zsbk9pVEY1WktKaUlpSXNvWXkxclZZZDJpQ1pvMWJhUk1WTlJ4M2JvR1ZhdFVWTnZudG1NUFhMYTRhM1M5WjgvK3dUekhaYmgrNHc0c0xNcGgwWUlaQUFDUFhmc2dsOHZSdWxYekRMK0dqUGp3SVJ5ejV5elJhR3g2NHl4clZZZWhvUUhxV05iRXNlUCtxWTU3L3Z3RmJ0ME9WRnV0REFCTVRJcWhabzJxR3NWRS94Rjk4c0pTeVVSRVJFUVpZMnBhRWl1YzU2Yzd6c0JBUDlYbFhKbzhWUExMbHk4QWdLN2Q3UkNma0lDeFk0WmlwUDBnYUdscDRlK256N0hMY3grQXhNSUI5ZXZWenJZN0VxYW1KWlhQdFZGbms4c08vTEYrRzB4TlMwSW1sV0xmWGxjWUdPaW5PKzlVQjhjMCsvMVBYNEQvNlF0cSs5cTF0V0h5OGdORW43eXdWRElSRVJGUnh1bnBaZTlESWI5K2pjSkp2M01BRXBPSHBVdm1vR0xGOGdDQXFLaG8vRFo1RGhRS1lNamd2dGkrWXc5V3JOd0loMm5qc2pVbWRXN2ZEc0ptRjNlMGF0a01FOGZibzFlZjRSZzlkaG8yL0xFTVJrWnByL0JKS3lHcVhNMEtJMGZZWWVKNHpZc2ZMRjZ5U3ZsOVhGeDhpallBbUROcnNzYnpaUWVXU3M0a2xrb21JaUlpeWg0SkNYSmxhZWp2eVJYeU5NODFNTkJIaSthTm9hdXJDNGVwWTZHdHJRMGc4VGtybzhjNklEVHNFV2JQbklUKy9Yb2lQUHdqZHV6MFF2a0taZEN0Uy9zVWMzMytFZ0hQUFFjMGl2bnpsd2lOeGdIQW9UOTlzY2hwTlVxV0tJNEY4eDJRUDM4K3JGbTFHQk1tellKdG4rRll2SEFtYXRldXJ2RjhtYlY3ejhGMDI0Uk9YbGdxbVlpSWlJaCtTUU1HamM3VStZN3pwcWtzQmJzYkdJenBNeGJpK1Q4dk1XYlVFUFR2MXhNQU1HL09WTnk1RzR3RkM1ZWpqSGxwNWJOVWtuejRFQTZuSmF1UkZiNStqY0xwTXhmZ3NXc2ZndTgvUlAxNnRiSEMyVkZadXJpSlZRTnNkMTJIYVE0TE1NQnVES3dhMTBmUEhwM1F4S29COVBVVDcxYWx0ZGNsdVVlUG5xUTcxdHE2Q2ZSMGRRR2tmU2ZuVjhGU3lVUkVSRVQwUzFxemNwRnlxZGYzOW5nZGdydEgya3VJa2ljdVlYODl3a0M3c2REU2ttR2g0M1QwN05GSjJhZXZyNGVsUytaZ3dxUlppSTZPU1RHUHVaa3BmSS91MWlqbURwMzY0Y25mejFUYWdvTWZ3UGVZUCs3ZGY0Qjc5eDRnTGk0TzVtYW1XTHBrTGpwMmFKVmlyMDNOR2xWeDVFOFB1TzNZRGMvZEIzRHBjZ0JrTWhrcVZDaUwzclpkNGJoQXRVcGJhdExhODVMa2pQOUJGQ3Rxck5GOHZ3S1dTaVlpSWlJaXdVaWxVdWpvYUt2ZExGKzBtREZNVFV1cVBTOWZ2cndwMnFwWHJRVGJYbDNVanE5UXZpeFdPanVpWFBreUtHTmVPa1YvelJwVjRYZmNPOFZlbklXTzA1RTNqV2ZBZkcvaWVQc1VTOGVNall2ZzBPRmpLRm1pT0FiMDZ3RWI2NmJwTGdmVDE5ZkQyTkZETVh6b0FKdy9meGxuejE5R1NFZ1ltamR0SklvN0pEbVZSS0ZRS0lRT0lqTnExNjdOaW1ORVJFVDBVMWhhV3VMV3JWcy8vYm9XRmhaOHc1eEpjcm1jejFkSnc0QkJvekYxMmt4WVdscW1PYzdDd2tMUS9lYWkveE5rNGtKRVJFUkU2V0hpa2pPSS9rOHhJa0x6aWhKRVJFUkVSUFRqaEM2VkxQcmtKYjFiVzBSRVJFUkVsRFdFTHBVcyt1U0ZpSWlJaUloK0RsdGJXMEd2eitTRmlJaUlpSWcwSW5TcFpDWXZSRVJFUkVTNVhFS0NYT2dRTkNMNjVNWFEwRkRvRUlpSWlJaXlUV3hzTEhSMHRJVU9nM0l3aFVLQkZ5OWZvWERod2tLSGtpN1JKeThzbFV4RVJFUTVtWTZPRGd3TURCSCs4WlBRb1ZBT2RlUG1IZVRMVndDbFM2ZDhlT2l2UnZUSkMwc2xFeEVSVVU0M2RPaFF6SnJ0aElpSVNLRkRvUndtN0svSG1MOWdPYVpNbWFMUmVLRkxKV3NKZXZVc1lHbHBLZWhUUG9tSWlJaXltNzI5UFdKaVl0QzJReDlVcTFvSk5hcFhnWUdCdnRCaGtZakZ4OGZqNXExQUJBYy94RytUSjhQR3hrYWo4NFF1bFN4UktCUUtRU1BJSkFzTEN5WXZSRVJFOUZOWVdscmkxcTFiZ2wwL0lpSUNaOCtleGNPSER4RVhGeWRZSENSK1Vxa1VGaFlXYU4yNmRZYjJrTnZhMnNMYjJ6c2JJMHViNk8rOEVCRVJFZVVXUmtaRzZOU3BFenAxNmlSMEtKUkxzVlF5RVJFUkVSR1JCa1NmdkxCVU1oRVJFUkZSN2lENjVJV2xrb21JaUlpSWNnZlJKeThzbFV4RVJFUkU5SE1JWFNwWjlNbUxwYVdsMENFUUVSRVJFZVVLUXBkS0ZuM3lRa1JFUkVSRVA0ZXRyYTJnMTJmeVFrUkVSRVJFR21HcFpDSWlJaUlpSWcySVBubGhxV1FpSWlJaW90eEI5TWtMU3lVVEVSRVJFZVVPb2s5ZVdDcVppSWlJaU9qbllLbmtUR0twWkNJaUlpS2luNE9sa29tSWlJaUlTQlJZS3BtSWlJaUlpRVNCcFpLSmlJaUlpSWcwSVBya2hhV1NpWWlJaUloeUI5RW5MeXlWVEVSRVJFU1VPNGcrZVdHcFpDSWlJaUtpbjRPbGtqT0pwWktKaUlpSWlINE9sa29tSWlJaUlpSlJZS2xrSWlJaUlpSVNCWlpLSmlJaUlpSWkwb0Rva3hlV1NpWWlJaUlpeWgxRW43eXdWRElSNVRSeGNYRlFLQlJDaDBHa3NZU0VCTVRHeGdvZFJxNFJIeC9QbnhHVWFRcUZRcFQvYnJXRURpQ3pJaUlpWUdSa0pIUVlSRVNab2xBbzRPWGxoZTNidCtQMTY5ZUlpWWtST2lRaWpVa2tFdWpxNktCNmpScVlPM2N1S2xTb0lIUklPWTVDb2NEKy9mdXhiZHMydkhyMUNyR3hzVXhnS05OMGRYVmdabWFPYWRPbW9VbVRKaHFkSTNTcFpORW5MNWFXbGdnTkRSVTZEQ0tpVFBIeThvTGZTVi9zY0YyRG9rV0xDQjBPVVlZcEZBcWNPMzhGbzBhTmhMZjNQaFF1WEZqb2tISVVMeTh2K1BqOENkY3RLMUc4ZUZHaHc2RWM1SDVJS0tZNk9HTEprcVdvVTZkT3V1TlpLcG1JaUxCOSszWTRMWnJGeElWRVN5S1JvRVh6eHVqYnV5czJiZG9rZERnNXp2YnQyN0YweVJ3bUxwVGxxbFMyd095Wms3Qm16UnFOeHJOVU1oRlJMaGNYRjRmWHIxOHpjYUVjb1Y2OTJyaHk1WXJRWWVRb1NUOGpUSW9YRXpvVXlxSHExYTJOb0tCQWZQbnlKZDJ4TEpWTVJKVExhV2xwY1k4TDVSamx5cG5qNmRPblFvZVJvL0JuQkdVM0hSMXRtSm1aNHNtVEowS0hraTdSSnk4c2xVeEVZaWVSU0lRT2dTakw2T25xSWlFaFFlZ3djaFQraktDZndkQkFIM0Z4Y1VLSGtTN1JKeThzbFV4RVJFUkVsRHVJUG5tSmlJZ1FPZ1FpSWlJaW9seEI2RkxKb2s5ZUxDMHRoUTZCaUlpSWlDaFhZS2xrSWlJaUlpSVNCWlpLSmlJaUlpSWlVV0NwWkNJaW9sL00rL2ZoZVBYcWpmSTRPaVlHN2p2MzR1YXR1eHJQRVJzYmg1aVkyT3dJanloTHhjZkg0K1BIZjVFZ2wyZkpmUGREUXJIVHd4dlJhc283QndiZFIzajR4eFR0TVRHeFA2MUtYV3IvTG4yUCtXUEVxQ2taT3VkSFJVZEg0LzM3OEN5ZE03ZlFFanFBekdLcFpDSWl5bXFMbDZ6Q3hVdlhjT3JFUGhRc1dBQUFzSFdiQjhxV05ZUDc5dlVhemVHNjNST24vTTlqOTY3TjBOUFZWZWw3OGZKVm1tK0dDdVRQandJRjh2MzRDeURLZ0JzMzcyS1kvU1Q0SFBGRUdmUFNBQkxmWEw5TWxzQ25KZW1jSk1kUG5NYStmVWZRdjM5UGxmWlhyOTVnd01EUjZONjlJeGJNZDFDMkt4UUsxS3BqRGJ1QnZUSGRZWHlLK1k4ZDk4L29Td0lBdEcvWE1rVmJRa0lDaG8yWUJBTjlmVGd0bW9VaVJRb3ArNTQvZjRGTGx3TlV4aXNVQ216ZTRvNkRCMzNoNGI0QnhZb1pBMGhNK0o0OWY2RlJIT1ptcGluS1hSODQ1QXVuSmFzUmN1OVNSbDlXcmlmNjVJV2xrb21JaE9Fd2ZRRjhqcDNDeUJGMm1EamVQdFZ4Y3JrY0xWcDJ3N3QzSDFUZUhGV3VaZ1VBeUpjdkw4NzZINFNlbmw2NjEreld3dzZoWVkrZ3I2K0hXOWRWMzlBa3paZEVXMXNiQlFya1E1WEtGckN4Ym9wT0hWdERXMXM3M1d2NCtaMkYzNmx6Nk51bm16SngwZFBWeFpEQmZiRnk5U2FjOGorUFZpMmJwVG5IKy9maDJMNWpEeUlpSWxHN2pvMnkvWXovUVJRcmFveHhFMllpTlBSL3FaNC9jYnc5Um82d1N6ZFdvdXh5NTI0d2h0bFAwbWpzOTIvQWI5NjZpN3AxYTBFbWxlTEd6YnU0ZFNzUW8wYmFvWGp4b3VqVXFRME9IUFJCdno3ZFlXRlJEa0JpZ2dDay9qeWJxUTZPUC9RYTFDVXZNcGtNOXNNR1lPWnNKM1R0TVFqTGZwOEhxOGIxMVo0Zkdma1ZzK1k0NFpUL2VRd2FhS3VTNkx4OCtSb2RPL2ZYS0k2YkFhZHcxT2NrRml4YWtXNnk4dmpKVSt6Y3VSZFhydDdBbTdmdm9hZW5DOHZhMVRGdTdIQlVybFJCbyt2bGRLSmZOc1pTeVVSRXd1amNxUzJBOUQ4VkRiaCtHKy9lZlVDMWFwVlRmRUlMQVAvKyt4bC9IajZlN3ZVdVg3bU8wTEJIYVk3UjB0SkN2NzdkMGE5dmQzVHQwZzZWS2xiQTdUdjNNR2ZlNzJqZnNSL3UzTDJYNXZtdlhyM0J2QVhPTURFcGhzbVRScXYwRGVqZkM2VkttbURCb2hYNDhDSHQ1UjZMbDZ4Qys3WTI4RG5pQ1o4am5xaGFwU0tLR2hkQndRS0p5ZENoL1R0d0wvQUNaRklwWnMrY2hKQjdseEJ5N3hMdTNUMFBBREEwTkVqdnQ0UG9wOWpqNmFMOCsvbjkxNFJ4S1QrMGVQOCtITUhCRDlHc2FVTUF3SldyTjdCdS9WWmwvK2hSUXlDUlNPQzg0cjg3bVBKdnk5V2tzdFRmbHBZcWFZSlRKL2RwOUZXcXBFbWFyNmxaMDBZNHVHODdUSW9YdzdnSk0vRGk1YXNVWStSeU9ZWU1tNENyMTI1aTFZcUZtT0V3QVRLWlRObHZhbHBTK2ZzQUFET25UMVFlejU3MUd3QW9qdzBNOU5PTUo4bURCMkhvMW1Nd2p2ajRvVnc1YzNUcjBnN2x5cHJqM1BrcjZEZGdKSUtDUWpTYUo3c0pYU3BaOUhkZUxDMHRFUm9hS25RWVJFUzVUc05HZFZHNGNFRThmLzRDOSs2Rm9GcTF5bXJIK2ZqNEFRQzZmRXQya2l0WXNBQytmSW1BeDY1OTZHM2JOYzBuaWU5dzk0S3VyZzcwOWZVUm8yWXRQUUJvYTJ0aHpxekpLbTF4Y1hFNDlPY3hMRis1QVlPSFRzQ0dkVXRoWlpYeWs5Ym82R2lNbnpnVGtSR1IyUGpIc2hRSmhLNnVEcHdXejhMZ29STXdkc0lNN0hCZHAvWnUwUjZ2UXpoLzRRcE9Idk9Hc1hGaEJBYmRSL0Q5aDFpNlpDNTBkUDY3OHhNVytqOGt5T1VvVmFxRXN1M1RwMzhCQUhuejVrMzE5NEVvSzBSRlJlUFY2OFJsWWErLy9mcmlSY28zOFJubGQrb2M1SEk1ckZ0WXFlMHZWZElFblR1MndhSER4M0RwVWdDc3JPb2pMaTRlQU5LOE02cWxwWVVTSnNVMWlrRkxLLzIzdDhXS0djUERmUU1DZzBMVXppdVZTakZ2emhUa3k1ZFg1ZC9vOS82N2E2UlJhR242OU85bnRHMWpqUmtPRTFTV2pXNXkyWUUvMW0vRG1uVXVjTnUyTnZNWHlpU2hTeVdMUG5raElpSmh5S1JTZEdqWEN1NGVlK0Y3M0Y5dDhoSVRFNHRUcDg5RFcxc2JIZHFuWE1JaGw4dlJzRUVkWExoNEZSY3VYa1d6cG8zVVhpdnNyMGU0Zk9VNldyVnNoc3RYcm1jb1RtMXRiZGoyNm9MS2xTcGcwT0J4bURaakFZNGQzYVB5NWlBK1BoNlRKczlGeUlNd09Fd2JoOXExcTZ1ZHE0NWxUVXllTkFvclZtMkUvY2dwMkxoaEdmSVlHU243TDEwS3dKS2xhOUN1clEwaUlpTVI4U1FTZjZ6ZmhsSWxUVkMxaWdVZVAza0tzOUtsSUpWS3NXV2JCd3dORFZDdGFtVzhlL2NCTWkwWlR2aWRCUURsdW5xaTdCSncvVGJHakhOUWFSczVlcXJ5ZTlldGEzNW8zcU0rSndFQWhRb1ZUSFhNc0dIOWNkVFhEMEhCSWQrU2x6Z0FnSzZPemc5ZFUxUFZhalRWcUNqQjkwdFFrNU5KcGJnWGVFRjVuSlM4eUdTWmYwdGRxMlpWTkd4UUowWDc0RUY5c0g2REt3S0Q3bWY2R2xuQjF0WVczdDdlZ2wyZnlRc1JFZjJ3enAzYXdOMWpMMDZjUEFPSHFlTWdsYW91K3poMy9qSWlJaUxScW1VejVNdVg4bTVDWEZ3Y0JnN29oUXNYcjJMSHpyMnBKaTg3M0wwQUFJTUcydUwwbVl2UTFjMzRtNXlxVlN0aFFQK2UyT2JtaWQxZUJ6QjI5RkFBaVFuVzVLbHpjZUhpVmZTMjdZckJnL3FrT2MvUUlmM3c3dDBIdUh2c2hXMmY0VmkxZkNFcWZWdUxYcWhRQVppYm04TEgxdzgrdm40cTUzWHNNZ0JBNHI2WFA5YTc0cVRmV2N5Wk5Sbng4ZkZvWnQxRk9jNmlRbG5VcmxVdHc2K1BLQ09hTjJ1a1hQSzB6YzBUcTFadlV0bVRkdlhhVFFEQW05ZHY4U3kvK3VJUi8vNzdXZVg0M3IwUWpkNWdsekV2amROK0I1UjdTS0tpb3dFQSt2cnA3M3ZMakNPSGR5bVRqZVFPSFBUQkRuY3ZtSnVaNHZHVHAxaTVmQUhNU3BlQ3JwNXVpckZKZDRlL1QzQVdPYTNFSXFlVkttMUpZOXExdFVHOXVyWFNqUysxZlg5NmVycVF5V1JRRTdvZ2hDNlZ6T1NGaUloK1dLVktGVkN1bkRuKzk3OG51SEh6THVyWHE2M1NmelJweVZqbmxFdkdnTVJQTFJzM3FvY0s1Y3NpSU9BV1FzTWV3YUpDV1pVeGI5KytoKzh4ZjFTdFdnbVd0V3NvMThmL2lQYnRXbUtibXlmT25idU1zYU9INHQyN0Q1ajQyMnpjRFF4R3A0NXRNSGYyNVBRbkFURGRZVHlNOGhoaXcwWTMyUGExaDkyZzNoaHBQd2lWS2xYQTZoV0wwS25yQUp6eFB3Z0FzRzdaSFRjRFR1SHIxeWcwYmRFWng0NzU0L0NSNDVnMFlRVDY5ZTBPQU5pNDNobVJrVjloYUdpQUJnMHNOVnIySW1ZS2hRTDM3OS9IK2ZQbk1YYnNXS0hEeWZWT25EaWRhdCtrS1hNMW5zZmRRL05QNDVOdmZvK01pQVFBNU1samxOcndMR0Z1WnFweS9PRkRPSlk2cjhQeEUyY3dkL1prZlByMEdldldiNFh6OHZXSWlZMkZiYTh1Nk4rM2gwcXNTWHlPZUFJQS92bm5KVWFObVlaRkMyYWcxcmNQSFh4OC9iRFp4VjA1eHNqUUVHZlAvWGhWc2JDL0hpTStQaDdWcTZ0Zm1wdmJpSDdEUGtzbEV4RUpLN1dOKzU4L2Y4SEZTOWRRb0VBK05HM1NVTzI1U1orQzJ0bjFCZ0RzM0pseUk2am43djJJaTR2RDRFRzlNeDFydVhMbUFJQW5mejhEQU15ZHZ4UjNBNFBScjI5My9PNDBPOFdkbzdTTUhUMFVHOVl0Ulo0OFJ0aStZNDl5T1p0RW12Ymk5MTQ5TytQazhiMHdORExFK2cydWlmRThlWXBwMHgzUnZGbWpGR1dWYzRxRWhBVGN2bjBicTFhdFFydDI3V0JuWndjM056ZWh3OHIxZ3U4L1JNaURNQURBU2IrenVIRlQ5VmxHdTNadXdyMjc1OVYralJzN1REa3U3SzlIT0hIeWpMSkNYMS9rdG8wQUFDQUFTVVJCVkVaOCtwUjRCeWQvL3RUM2Vpa1VDc1RFeEdyMHBlN3VTbkpmSWlLdzFYVVgyblhzaTB1WHIyUFRCbWYwNmQxTjJYL2tUdzhNSHRRYkJ3NzZvR1dibnBnOTkzZjg3MzlQVk9Zb1kxNGFaY3hMNDhXTDF3QUFLNnY2eXJha0pYTkp4OGJHaFZHa1NLRWZ2cVBxNnJvTEFHRGJzMHM2STNNSDBYKzB3MUxKUkVUQzZ0aWhGZGFzZFlIZnFYT1lPM3V5OHE3QkNiK3ppSXVMUTRmMnJkTzlrOUN4ZmVJY3ZzZFBZZkp2bzVULytYLzlHb1c5K3c2amVQR2lhTk82UmFaajFkTFNncmEyTm1LaUV6ZjhPeTJhaVhQbnJ5Q1BrU0dxMW1pYW9iazZkV3lEWmIvUGhlK1IzYmgrNDNhSytLeGJkbGQrWDZkK0s1VytFaWJGY2ZqSUNkU3RJK3pHMSt3V0Z4ZUhtemR2NHV6WnN6aDE2aFErZi82c2RnendYeUtyVUNoVTNueXFhMC9yMTR5TVNlMGNkZTNKdjc5dzRZTEc4My9mSjVGSWxHTyt2MTVTWC9KNWtvNHprbGhueEE1M0x4UXNXQURoNFI5eHl2ODhYTjA4c1czTGFtVy9UQ1pWcWJLVm5GVHlYMHhyMTIxQmtjS0YwTDZkRGJaL1crYXBxZGR2M2dJQWpJc1VUblhNMzArZm8xWWQ2d3pOKzczZzRBYzQ2dXVIUTM4ZVEwUkVKSm8yYVlnRmpnNG9hbHhFWlZ5ZVBFWVlZVDhJZ3diMWhyZjNZYmh1OThTZmg0K2hlYk5HR0dFL0NEV3FWd0dRV0VwNXE2c0hxbFdybkdLTzcxbTNhQUxyRmsyVXg3RWFQdlRTeDljUFBzZE9vWDU5UzNUcTJEcURyemhuRW4zeUVoRVJBU09qN0wzTlNFUkVxU3RXMUJoMTY5WkNRTUF0WExwOEhjMmJKZTViOFVsbnlWaHkydHJhNk4rdko5YXNkY0VlcjBQS1QzUVBIdkxCNTg5Zk1IS0VYYXB2b0RJaUtpb2FjWEZ4eXMzNmhRb1ZSSS91SGZIMzArZVlOdVcvNVV1bi9NOGpNT2crcHZ3MldtMEZ0TlZyWGFEL2JUMThnUUw1MUNaV1NRK3p0QnN5RHZ1OTNSQWRGWTBCZG1NQUFPRWZQeUVrSkJUQndRK3dmY2NlNVRuSjE5SHY4WFJSdmtrU0l6OC9Qemc3TytQang1UlBVMCt1YWRPbWtFZ2tLWDZmazlxUzJwUGUySC9mcHU3N3BHTjFZOUxxVCt1ODVHTW1UOVpzZVdGVzBzbUd6ZXdoRDhKdy9NUnBEQnZTRDl2Y1BMRjQ0VXc0TGx5T1VXT21xUzJEbkJaREF3Tk1tR0NQWjg4MGUzQmpjbUhmU3FDWExsMHExVEdGQ2hYRXFKR2FQZnRvczR0N2luTG1sNjljaC8zSXhEODNpd3BsTVdHY1BWcDhWeEd0ZTdjT2FORzhzZkpZVDFjWGd3YmF3dGEyQzNaNTdzYzIxMTNvMjM4a3RteGVpZnIxYW1QS3RQbDQvZm90WnMvOFRhTzRObXgwZzU2ZUxpUVNDWFo3SFVUK1ZQWVNKYmx4OHk3bXpQc2RKVXNVeDBwbnh6U3JNZjVNTEpXY1NTeVZURVFrdk02ZDJpQWc0QmFPSFR1RjVzMGE0ZFdyTjdoMU94RGx5cG1qU21VTGplYm9ZOXNWTGx2YzRiWDNFT3lIRDRTV3RoWjJlbmpEME5BQXZYcDB5cEk0Zys4L0JBQlV0Q2l2MG01V3VoU0dETzZyUEE0TXVvOENCZkpqNkpCK2F1ZFp1WHFUMnMyOHlaVXE5ZCt6SnN4S2w4TFhyMUhLNCtQSC9XRnVib3ExcTUwQUFJZitQQVpYTjAvbEdua0FHcGVGL1ZXMWJ0MGF6Wm8xdzltelorSHY3NC9yMTY4ak1qSXl4YmlyVjY4S0VOMlBzN1MwRkdTNVc2OWV2YkowdmdTNUhJdWRWc0hDb2h3YU5xeUxiVzZlME5QVHhjWS9sbUgxbXMwd01Ta0dJSEZUL3Z2MzZwOXI5UFhyVitYMzQ4Y05SOG1TSmxpM2ZsdTYxMzc1OGpWY3QzdGk3dXdwQUlDYnR3TlJxbFNKTlBlODVNMWpoUDU5ZTJqMDJuYnZQcEFpZVduY3FCNG1UUmlCcWxVcm9WSER1bXJQVzdQT0JlZk9YOEdWaTc0cTdYcTZ1aGcrdEQ5NmR1K0lIZTVlYUZEZkVvRkI5M0gxMmsxMGJOOEtOdFpOVk1ZWE5TNmk5cTdxRVorVGVQNDhNYm5Mbno4ZnBrNGVrK3ByQ0FvS3daaHhEc2liTncrMnVxeitvZVY0MllXbGtvbUlTUFJhdDJ5T1JZdFc0dlRaaTRpT2pvYnZjWDhvRkFwMDdkeE80em55NXMyRDdsMDd3SFBQQWZqNCtpRi8vbno0NThVcjJBM3NEU09qck5uZmVPalB4RGNsclZzMVQzTmNXTmdqdFEvVUJCS3JrOG5sY3VpblVoa295WnMzNzVUZnYzcjFCbEZSL3lVdlByNm4wTHBsYytVMUNoYklEd0NwWGxPc2RIVjEwYlp0VzdSdDJ4Yng4Zkc0ZE9rUy9QejhFQkFRZ0UrZlBna2QzZytyWGwxOUtXMHhPWEwwQk80R0JtUFRCbWVWOXNLRkM4SnA4U3hsdGJGUlk2WnBORjlhejBKSm9sQW80TDN2TUphdjNBQmRYUjNNblQwRmI5Nit3OTI3d2VqVnMzUEdYMFFHUkVaK1JSSGp3bmp6OWgwT0hUNm1ka3hnNEgwWUdPaW4yZzhBcGMxS0lTWW1GcGExYThCMTYycFVyNWJ5N21oTG02Wm9hZE1VYmRyM1JyOCszV0gzYmIvZUNWOHZKQ1FrUUNxVnBya01NT1JCR094SFRZYSt2aDYyYjF1SDBxVkxadkRWWmkrV1NpWWlJdEV6TkRTQWpVMFQrQjd6eDlsemwrSHI2d2VaVklxT0hUSzJSbnZRb043WXMvY1F2UGNmUWFHQytTR1RTakZ3UU5aODRuemg0bFVjT1hvU3BVcWFvR3VYOXFtT2UvSHlGZjUrK2h5dFdqWlQyNStVaEJoODl4RExKRW43YWZyMkg2bHM2OVIxZ01vWTU2WHpjbnhGc2U5cGFXbWhlZlBtYU42OE9lUnlPYTVmdjQ0VEowNElIVmF1WlZtck9xeGJORUd6cG8yVWlZbzZybHZYb0dxVmltcjczSGJzZ2NzV2Q0MnU5K3paUDVqbnVBelhiOXlCaFVVNUxGb3dBd0Rnc1dzZjVISjV1aDhvWk5hSEQrR1lQV2VKUm1QVEcyZFpxem9NRFExUXg3Sm1pa0lseVQxLy9nSzNiZ2VxclZZR0FDWW14VkN6UmxXVnRyQy9IbUg0aU4rZ3A2ZUw3YTdyZnNrUE5GZ3FtWWlJY29UT25kckM5NWcvdlBjZlFXallJMWcxcmc5ajQ5UTM0S3BUcXFRSld0bzB4U24vODVCSUpHamRxcmx5K2NxUGlvbUp4WjY5QjdGNmpRc01EUFN4ZXRYaU5KOFRzM3RQWW9ualZxbThtZnJ5cmF5cllTckp5K2ZQWHdBQUFWZFA0TXZuQ0xSczB4TUJWMC9nNjljb3RMRHBodmo0QkxScHI3NXkydmZQamtoNkRrZE9JNVZLMGFCQkF6Um8wRURvVUhJdFU5T1NXT0U4UDkxeEJnYjZxUzduMHVTaGtsKytKUDU3Nk5yZER2RUpDUmc3WmloRzJnK0NscFlXL243NkhMczg5d0ZJTEJ4UXYxN3RiQ3RNWUdwYU1zMS9UMGxQc1RjMUxRbVpWSXA5ZTExaFlLQ2Y3cnhUSFJ6VDdQYy9mUUgrcHkrbzdXdlgxa1lsZVhuOCtHOE1IVDRKdWpvNjJPNjJEbVpwN0FIS3pVU2Z2TEJVTWhIUnI2RlJvM29vVktnZ0FnSnVBUUM2WkdESldIS0Q3ZnJBNzlRNUtCU0tkQjhZK2IyNHVIZ3NYcklLQUJBYkc0YzNieEtYcEh5SmlFRFpzbVpZNGJ3Z3hYTmtrZ3NLQ29ISHJuMndyRjBqMVUrYnc4TVRONkRuU2FWWXpQOGUvNTM0aHMvSUNKR1JpWHNDWkZJWlpOTEVnZ05hV2pLVnZTMkErajB2Uk5rdHRZY2lacFd2WDZOdzB1OGNnTVRrWWVtU09haFlNWEcvV1ZSVU5INmJQQWNLQlRCa2NGOXMzN0VISzFadWhNTzBjZGtha3pxM2J3ZGhzNHM3V3JWc2hvbmo3ZEdyejNDTUhqc05HLzVZbHU2UzFiUVNvc3JWckRCeWhCMG1qdGVzK01HUTRSTVJIdjRSVGF3YUtKTzY3ODJaOWZPTFJmeHFSSis4c0ZReUVkR3ZRU2FWb2tQN2x0anA0UTBqSTBQWTJEUkoveVExYXRhb2lwbzFxa0lpa1dUNG9Xeng4ZkhLT3ljeW1ReUZDeFZFbmJvMTBhNk5OZHExdFVtellsbHc4QU9NR2VjQUxaa004K1pPU1hYY3BVc0JBSkRxcDZJM2J0eEJoZktwSjBoQXlyMHRPWFhQQzRsZlFvSWNDUWtKYXZ2a2lyUWZHR3Rnb0k4V3pSdERWMWNYRGxQSFFsdGJHMERpYzFaR2ozVkFhTmdqeko0NUNmMzc5VVI0K0VmczJPbUY4aFhLb0p1YVpaMmZ2MFRBYzg4QmpXTCsvQ1ZDbzNGQTRqNjRSVTZyVWJKRWNTeVk3NEQ4K2ZOaHphckZtREJwRm16N0RNZmloVE5SdS9iUDJlUDA3dDBIQU1ERlM5ZFNIY1BrSlFja0x5eVZURVQwNjVqaE1BRXpIQ1pvTkRhdFR5eDM3OXFjNGZOK2RJbFZWRlEwM0xidnhwWnRIcEJKcFZpemVqSEtseXNEQURoNHlCZi92SGlKdkhuelFGZEhGOCtlL1FQUFBRZFF1blJKVkttYThzN00rL2ZoT0gvaEN1d0dKaTRMMDVKcHdjU2tHQ1FTQ1I0L2VRcUpSQUxkSFBvUVNzcVpCZ3dhbmFuekhlZE5VMWtLZGpjd0dOTm5MTVR6ZjE1aXpLZ2g2Tit2SndCZzNweXB1SE0zR0FzV0xrY1o4OUlweW9SLytCQU9weVdya1JXK2ZvM0M2VE1YNExGckg0THZQMFQ5ZXJXeHd0bFJXYnE0aVZVRGJIZGRoMmtPQ3pEQWJneXNHdGRIeng2ZDBNU3FBZlQxRSs5V3BiWFhKYmxIajU2a085YmF1Z24wZEhWRnMweVVwWkl6aWFXU2lZam9SejEvL2dLMmZlM3g3NytmVWI1Y0dTeGRNZ2VWS2xWUTlyOTgrUnFiWFZRM0pGZXNXQjdPdjgrRFRNM2EvTFBuTGlFdUxoNmRPN1VCa0ZpNXFYYXQ2ckNzMXhKQTRzTTRkWFMwcy9FVkVXV3ROU3NYS1pkNmZXK1AxeUc0ZTZUOVJqWjU0aEwyMXlNTXRCc0xMUzBaRmpwT1I4OWtKZEQxOWZXd2RNa2NUSmcwQzlIZmlsNGtaMjVtQ3QranV6V0t1VU9uZm5qeTl6T1Z0dURnQi9BOTVvOTc5eC9nM3IwSGlJdUxnN21aS1pZdW1ZdU9IVnFsMkd0VHMwWlZIUG5UQTI0N2RzTno5d0ZjdWh3QW1VeUdDaFhLb3JkdFZ6Z3VVSzNTbHBxMDlyd2tPZU4vRU1XS0dtczAzNitBcFpLSmlJZ0VVcXBVQ1l3ZFBRUUdCZ2JvMHJsdGltVmxZMFlQd2FDQnRvaUtqa1pDZkFJTURQVFRmTEJjcjU2ZGtTOXZIcFFwWTZac216VmpJa2JhRDRLQmdUNktGeStxOWp3ek05TnNyN1pFbEJxcFZBb2RIVzIxbStXTEZqT0dxYW42VXIzNTh1Vk4wVmE5YWlYWTl1cWlkbnlGOG1XeDB0a1I1Y3FYVWJ0RXNtYU5xdkE3N3AxaUw4NUN4K25JbThZellMNDNjYng5aXFWanhzWkZjT2p3TVpRc1VSd0QrdldBalhYVGRKZUQ2ZXZyWWV6b29SZytkQURPbjcrTXMrY3ZJeVFrRE0yYk5oTE5YWkxzSUhTcFpJbENvVkFJZHZVc1lHRmh3VHN2UkNSNkZoWVd1Zm8vUThwWktsZXp5ckgvTjF0YVd1TFdyVnMvL2JyOEdaRjVjcms4MjZxWjVRUURCbzNHMUdrellXbHBtZVk0b2Q5NzgwK1FpSWlJaUhJOEppNDVnK2ovRkZrcW1ZaUlpSWdvZHhCOThzSlN5VVJFUkVSRXVZUG9rNWVJQ00xcmVSTVJFUkVSMFk4VHVsU3k2Sk9YOURZVkVSRVJFUkZSMWhDNlZMTG9reGNpSWlMNmRZaThpQ2xScnBXUUlOZG9uSzJ0YlRaSGtqWW1MMFJFQW91TmplV0RDeW5IZVBucU5Rb1VLQ0IwR0RrS2YwWlFkbE1vRkhqeDhoVUtGeTZjN3RqQXdNQ2ZFRkhxbUx3UUVRbE1SMGNIQmdhRytQVHBYNkZESWNvMGYvOExhTkNnZ2RCaDVDaEpQeVBDUDM0U09oVEtvVzdjdklOOCtRcWdkT21VRHcvOTFZZytlV0dwWkNMS0NZWU9IWXI1QzV3UkdmbFY2RkNJZnRpMWF6ZXgxZFVUa3laTkVqcVVIR2ZvMEtHWU5kc0pFUkdSUW9kQ09VellYNDh4ZjhGeVRKa3lSZWhRTktJbGRBQ1p4VkxKUkpRVDJOdmJZOVdxTDJqYm9RK3FWNjJFNnRXclFGOWZUK2l3aURRU0ZSV0Z5MWR2NE1XTE4xaTNiaDNNek15RURpbkhzYmUzUjB4TUROcDI2SU5xVlN1aFJ2VXFNRERRRnpvc0VySDQrSGpjdkJXSTRPQ0grRzN5Wk5qWTJBZ2Rra1lrQ3BIdnJJdUlpSUNSa1pIUVlSQVJaWW5QbnovajdObXpDQTBOUlh4OHZORGg1RGgvL2ZVWHlwY3ZMM1FZT1k2V2xoWnExYXFGNXMyYlExczdaKy9Oc0xTMHhLMWJ0d1M3ZmtSRUJNNmVQWXVIRHg4aUxpNU9zRGhJL0tSU0tTd3NMTkM2ZGVzTXJXUzZlL2V1b0JYSFJKKzhXRmhZSURRMFZPZ3dpSWhJQklSKzQwbml4NzlEUk1JUy9aNFhJaUlpSWlMNk9WZ3FtWWlJaUlpSVJJR2xrb21JaUlpSWlEUWcrdVNGcFpLSmlJaUlpSElIMFNjdkxKVk1SRVJFUkpRN2lENTVpWWlJRURvRUlpSWlJcUpjWWUvZXZZSmVYL1RKaTZXbHBkQWhFQkVSRVJIbENrSSs0d1hJQWNtTFdNbmxjcUZESU1vUWhVTEJ2N2RFUkVTNW5OQ2xrclVFdlhvdWRQLytmU3hjdUJCQlFVRjhJMGlpSTVQSjBLMWJOOHlhTll2Rk1vaUlpSElob1VzbE0zbjVpZno5L2ZINzcwN1l1SDRaeXBVMUZ6b2NvZ3lUeStYWXNYTXZ1bmJ0Q2g4ZkgranE2Z29kRWhFUkVlVWlvbDgySnFaUGZ6ZHMySUJONjUyWnVKQm9TYVZTREIzY0Y2MXNyT0RpNGlKME9FUkVSSlRMaUQ1NUVVdXA1UGo0ZUR4KzlBaGx5NW9KSFFwUnBqVnYzaGhuenB3Uk9nd2lJaUxLWlVTZnZJaWxWTEpVS2tWTWJLelFZUkJsaVFvVnl1SFJvMGRDaDBGRVJFUS9HVXNsWjVKWVNpVkxwVklvRkFxaHd5REtFa2FHQm9obE1rNUVSSlRyc0ZReUVZbU9SQ0lST2dRaUlzckJybDY5Q2pjM053UUVCR1Q3R01vWWxrb21JaUlpSXZyR3pjME5HelpzVUI2UEh6OGVnd2NQenBZeGxIRkNsMHJtblJjaUlpSWkrbVY0ZUhpb0hMdTd1MmZiR0JJZjBTY3ZZaXFWVEVSRVJFUkVQMDcweVl0WVNpVVRFUkVSVWZvR0RCaWdjbXhuWjVkdFkwaDhSTC9uSlNJaUFrWkdSa0tIUVVSRVJFUlpZTml3WWFoWXNTSkNRME5ScFVvVjFLOWZQOXZHVU1heFZISW1pYVZVTW1tbWNqVXJIRHA4TEVYNzY5ZHZNWFQ0UlB6OTlMbXk3VzVnTUVhTW1vS1ltS3d0MlJzZEhZMzM3OE0xR3V1OS93aTZkQnVFbTdmdVp1cWFBZGR2NC9kbGE1WEgzNWZWM3JEUkRXdi8ySnFwYXhBUkVZbEY0OGFOTVhUbzBEUVRqcXdhUXhramRLbGswZDk1SWMyZFBYY1o0ZUVmMGFON3h4UjlPejI4VXoydmF0VktxRjJybWtyYnVmTlhNR2FjUTZiaUNibDNTZU94WDZPaWNDM2dGaUlpSXBWdEh6NTh4S1hMQVVoSVNGQVpHeDhmajJmUFgyZzByN21aYVlxeXZ3Y08rY0pweWVwMDQzUGZ1UmZPSzlhalh0MWFLRit1akxKOXA0YzNtalp0Q0xQU3BWSTk5My8vZXdMSGhjNXdYam9mSmliRkVCSVNDbzlkK3pCeitrUW9GQXFNSERNVlpjM05NTjFoUEFEQWUvOWhWSzVrb2RGcklpSWlJc291dHJhMjhQWk8vWDFqZG1QeWtrc29GQXJzOU5pTDZ6ZnVJRG82R3YzNzlWVHBYK3E4THRWemh3L3RueUo1U1hMMjlDRVk2T3NEQUo0K2ZRN2J2dllJdUhKQzJaOVdteWFHRHA4SUFJaU9qZ0VBTEhKYUJVT0R4T3Q5L1BnSkFEQm1uQU9rMHNTYmlQWHIxVWE3dGpibzJMbS9SdlBmRERpRm96NG5zV0RSQ28yVHFRUzVITXRYck1kT0QyLzA2OXNkTTZkUGhFd20reGJUdi9EZWR4aHIxbTNCak9rVFlOdXpzOW81akkwTDQ5WHJ0eGczY1NaMjc5cXMwdWZ1c1JlWExnV2diV3RyQU1BL0wxN2gzYnNQcUQrNHRrYnhFUkVSRVdVWGxrcW1uMElpa1dEREg4dFFzMFpWT1AyK0JudThEaW43RXVSeUFNQ0k0UU1SY3UrU3lsZDY4aGdaSVUrZXhDOERRNFBFdGp5YXRXbWlUSm5TS0ZPbU5FcVdOQUVBbERBcHBtd3JXdFFZQUdCV3VwU3l6ZGk0TUV4TlM2ckVQM1A2Uk9YeDdGbS9BWUR5Mk9CYklxU3BwMC8vd2RCaEUzRHdrQzlXclZpSU9iTW1LeE1YdVZ3T1BUMWR1R3hlZ1VvVnk4TnhnVE1tVDUySHlNaXZLZWJKbXpjUGxpNlppM2Z2UHVESjQ2Zks5dWlZR0xpNjdjYmdRWDNRdlZzSEFJRC82Zk1BQUpzV1RUSVVLeEVSRVZGT0kvbzdMeXlWckRrREEzMXNYTDhNdyt3blFhWWxVN1kvZnZ3M0FLQmd3UUlabnJOTy9WWXAyaXBYczlLb0xjbjc5K0g0L09XTDh2amR1dzk0L0NUeERmMmNXWk1UWTN6eUZENitmaGc2cEIrcVZxa0lBRGg5NWlJdVhMd0toMm5qMVNZaFNmdEdzdXBoOEFIWGIyT1kvU1RJNVhMa3lXTUU1eFhyc2RocEZXSmlZeEVURTR2NCtQZ1U1NXc0ZVFaaFlZK3djZjB5bUpxV1ZPbXJXNmNtVHAzd2hwNmVIcTRGM0FJQTZPbnF3bXUzQzRvWEs2b2NkL3pFR1FCQW0vYTkxY2FWa2VWM1JFUkVSR0ltK3VTRnBaSXpKbCsrdk5pMzExVzV6ME9oVUdERFJqY0FRUDM2S1lzZlNLVlN2SGo1R2dseU9XVFMvMjdVVmFwVUhzdCtuNHZtelJ0REpwV3BuUFAxYXhUMmV2K0psaTJib2RTM095YmY5MSs5ZGtONXZQYVBMVGh3MEVkNXZHYXRDOWFzZFFFQTNMNTVHaTlmdmdZQStCenhCQUJsWW1OdWJncWZJNTU0L2VZdEFLQ0VTWEhvNnVvbzUwbEtYbVN5clBsclhxTjZaYlJ2YTRQaXhZdkNLSThSakF3TkVSOGZqMDB1T3pCdXpERFVxbGtOaG9ZRzBOZlhnNEdCUHZUMTlYSHBjZ0NjVjZ5SFRySzRnTlNUdWVUdDFpMmFZUGl3L3JoM0x3Uy9UUm9GRyt2LzdyellqNXlNNHNXTFlxSGo5Q3g1YlVSRVJFUmlJUHJraGFXUzB4Y1orUlZSVWRIS1k2TThodERUMWNXWGlBZ3NXcndLZnFmT29XMGJhMWhVS0p2aTNDcFZLdUw0aWRNNGZ1STBBS0J4bzNyNFkrMFN5S1F5Tkd4UUZ6SFJLU3Q5dlh2M0hoczJ1Y0hVdEFRS3BYSTNwMkdEdW5qL1BoeUZDeGZFb2dVenNHakJET3cvY0JUekhKZkJhZkVzZE92U0hnQncrM1lRQnRpTjBlaDE3dkYwUVkzcVZWSWtCb3VjVm1LUjAwcVZ0cVF4N2RyYW9GN2RXaHJOcjZlbkIrZGw4MVhhcGpvNElpb3FDbGFONjZOc1diTVU1OWhZTjBIVEpnMmdyYTJ0MHA2VWlBSEFrYU1uc1dYclRnREFWcGRWS0Y0ODhhNkxvYUVCNWpzNkF3RHk1OHVMTXVhbGxlZDgvUGd2R3RTelZHa2pJaUlpeW01Q2wwb1dmZkppYVdtSjBOQlFvY1A0cGExYnZ4VWV1L1lwanhjNlRrZjNiaDB3Zk1SazNMc1hnZ2IxTGJGb3dReTE1N3BzWEk1VC91ZVZWYjdLbGpYREhxOURXTDV5UTdyWG5UNXpVYnBqa2k5NXVuUTVBQUFRRnh1SG1KaFlsYnNvaHcvdFZLbm9sZHpEaDMraGU2OGh5dU9reE9DZmYxNWkxSmhwV0xSZ0JtcDlLempnNCt1SHpTN3V5akZHaG9ZNGV5N3RaVmZCOXgvQ3RzL3dOTWQwNmpvZ3pmNGszbDdiVUxWS1JaUXhMNDNvbUJnc1g3RWUzdDZIVWF0bU5keTVldytUcDg1RFM1dG1tRHRuTXE1Y3VZNExGNjhDQUY1OHUvc0VKQ1l1MGRIUktGV3FoRWJYSkNJaUlzb3FMSlZNMmE1SDk0Nm9WN2MyUG4vNWd0bHpsZ0JJWEE3MnU5TnNCQVRjUm0vYkxzcHFYZC9Mbno4ZmVuMVhNYXRwazRZWU1yZ3ZGQXFGU3VuaUpHL2Z2a2VucmdPd2N2a0NXRFZPV1ZkZFgxOFBXbHFxZi9XaW82T1YrejdXL3JFRjU4NWZ4cm8xUzVUOVhib04wdmoxSnQyTkNBaElYRkpvWlZVZlJZMkxBQUFLRlNxb01nWUFpaFFwbEdvMU5RQW9YNjZNeXAyU2hJUUVPQzFaalZ1M0FySEFjVHBxMXF5cU10NTUrWHJjRFF6RzhtWHpVYUpFY1pXK0VpYUp4NWN1QjJDUjB5cThmZnNPSzVjdndJdVhyM0huN2oyc1crMkVDWk5tNDhIRE1GU3ZXZ21GQ3hlRWNaSENlUGp3TCtVY1lXSC9Bd0MxZDNxSUtDVlhWMWRjdXZUZmh4UkRoaVIrMkZHalJnMU1talJKcUxDSWlFU0pwWklwMjFVb1h4WVZ5cGROOGVERk11YWwwYkZ6L3hSTHF0UnAxOVlHSzVjdlVHbjc4T0VqbXJaUVh3b1lBS1pNbTYrMmZkbnZjOUdwWXh1Vk52OHpGMUdwVWdVRUJOeENyeDZkc2QzZEMvTWRuWlhQcE5ud3h6S1VMbDFTM1hSNDh1UVp4aytjcWRJV0dma1ZXMTA5VUsxYVpXWGlraHJyRmsxZ25heVNWK3gzRDczVTFkVlJKanZoSHo5aG1vTWpidCs1aDJWTDU2Rjl1NVlBRWhPMmRldTNvbUNCL0ZpOWNoR0cyVS9DckRsTHNIVEpIRFJ1VkU5bHZxTStKekY5NWlLWW1wYUVwOGRtVks1VUFkdDM3QUdRdU8vSVkrY0dUSis1Q0VNRzk4UEFBYmJ3OHY0VHZzZE9RYUZRUUNLUklPUkJHQUNnY3VVS2FiNnVuNkZpeFlxUVNxWEtMNGxFQXBsTUJvbEVvbXhMZnB6MGExS2JUQ1pUT1QvNW1PLzdOWmtuK1hXVG56ZHk1RWlZbTVzTC9kdEZBakV4TVVGUVVKRHlPT2w3YTJ0cm9VSWlJaEl0b1VzbE0zbko1Vlk0TzJLVHl3NTgvdndGMDZlTlQ5Ri83dndWK1BqNm9WZ3g0MVRuMkxKcEpheXNOSHR5YldvYjFiMjhEcUpOYTJzRUJOeENhYk5TNk51bkc2NWR1d1hyYjV2VVRZb1hSV2xUOWNsTDh2MDhBQkFYRjRjcDArYmo5ZXUzbUQzek40M2kyckRSRFhwNnVwQklKTmp0ZFJENTgrZExNZWJNMll0WXVIZ2xZbUppc1czTGF0U3JXd3V2WDcvRmR2YzkyTGYvS1BUMWRURnh3a2pvNmVuQ2Jkc2FPTXhZQ1B1Ums5RzFTenVNSFROVWVkZWxRL3RXK1B3bEFqMjZkWUNlbmg2V09xOURlUGduM0ErNkNDQXgyVHk0Yjd1eXFFTHRXdFhndVhzL2d1NkZvRWIxS3JoNDZScUtGVE5Xemlla0J3OGVJQ0VoQVhLNUhBcUZRdmxyVWx2eXI0U0VCSlV4MzdlcEc2TnVudVR0eWM5TjdXdnIxcTI0YytjT2s1ZGN6TXJLQ3RyYTJvaUxpMU8yYVdscG9WT25UZ0pHUlVSRVAwTDB5UXRMSldkTyszWXQ4Zm56Rnl4Y3ZCSWxTaFJIamVwVmxIMEpjamsyYnRvT1BUMDlETEhybStvY0kwWlB5VlFNZHdPRGNUZndQbGF0V0lUZmw2MEZBSXdiTXd5VEo0MUdjUEFEQUVDM25vTTFuaS9vWGdpdVhydUpqdTFicVZUb0FvQ2l4a1ZRdDA3S3RacEhmRTdpK2ZNWEFCS1h5azJkL0YrUmdOQ3dSMWl6MWdYbkwxeEJIY3VhY0p3L0RYLy8vUXhqSjh6QWhRdFhZV0NnajZHRCs4SnVVRy9reVdPRTI3ZURFQlVkamJXcm5iRExjei9XckhPQmorOHB0R2plR1AzNjlrRGx5aFhRc0VFZHZIejFCbCsvUnNIYit6QWFONjZISjM4L1U0a3A2VzVQbzRaMUlaUEpjT0xFR1ppVkxvV2J0d0tWejRBUm1rUWlTYkVFOEZkejdkbzFvVU1nZ2VYSmt3Y05HemJFaFFzWGxHM1ZxbFZEL3Z6NUJZeUtpSWgreEsvOXJrTURMSldjZWQyNmRzQlcxMTM0ZmRsYTdQYllyTnovNHJITEc0K2ZQTVhVeVdOUXVIREJWTS9mdkhGNWlxVlJxYWxXczFtS3RxM2JQTkMwU1FNWUd4ZFd0aGtaSlNhbHVucTZLRldxQkJiTW53YVQ0c1dnVUFEdE8vWEZESWNKYU5hMElRRGcrVDh2c1hEeFN1anFKRzd3dDZ4ZEE2NWJWNk42dFNvcHJ0WFNwaWxhMmpSRm0vYTkwYTlQZDlnTlNueDJ5Z2xmTHlRa0pDaVhHaVYzKzNZUWJ0OEp3dXlaazFDL25pVjYyZzVEZEhRMHlwY3JneG5USjZCcjUzWXdORFRBbmJ2M3NNbGxCeTVkQ2tEdFd0WFFvTDRsQmc3b0JXdHJLNnpmNEFyZlkvN28yNmNiL0U5ZlVPNDlTbkw2ekVXY1BuTlJwUzJwbUVHK2ZIblJ4S28rRHY3cEMzMERQY1RIeDZORCs1VFAxeUdpMUxWdTNWb2xlV25XTE9YUElpSWkrdldKUG5saHFlUWZGeDBkRFIwZEhlanE2bURXakVrWVAzRW1ObXgwdy9oeHczRTNNQmhyMXJxZ2ptVk4yTm4xU1hPZVVXT21aU29PQzR0eWFwT2ZtSmhZbEN0cmppT0hQSlJ0bno5L2dVS2hnTG1aS1lvV1RWektWclNvc1hKTTByNlFPcFkxY2V5NGY2clhmUDc4Qlc3ZERrU1JJb1hVOXB1WUZFUE5Hb2tiOGZ2MjZZYU9IVm9oVDU3RXYyZXpaMDVDdFdxVlVLRjhXWHlKaU1DSmsyZXcyK3NnSGp3SVE1a3labGkxWWlIYXRHNEJ1VUtCYXdFMzBhQitIZnp1TkFmVHBvNUR3UUtKbi9SMjY5SWVGeTlkdzhqUlU3RjY1U0swYWQxQ2VlM3BNeGZoNmJQbkt2SDA3OWNUNTg1ZmdjdVd4S3ByNnU0ZUVWSHFHalpzQ0psTXB2eVFvbTNidGtLSFJFUWtTaXlWbkVrc2xmeGpBb1B1WThhc1JmRDAySXlDQmZMRHhyb0pCdlR2aFUwdU94QWRIWTM5QjMxUXZIaFJyRjN0cFBKd1NuVXllK2RsK05BQk1ERFFUOUZlcTA3cW0ybFRXNnAyNnVRKzVWNlFxUTZPYWNiaWYvb0MvRTlmVU52WHJxMk5NbmtCb0V4Y0FLQmUzVnE0ZnVNT1ZxOXh3WldyTnhBZkg0L0dqZXBoODhibGFHTFZBQktKQkZldTNzRHlsUnNRRnZaSTJaNlV1QUNKaWRuOEJjN0lrOGNJQlpLMVg3eDBEVDYrZm5EWnRFSWxuc2FONnNIRXBCaGV2bnlOZm4yN3AvbTZpQ2lsL1BueldhY00zUUFBSUFCSlJFRlVvMTY5ZXJoNjlTcXFWS21DSWtYU0x1UkJSRVRxc1ZReS9UU3hzWWxWdFBaNi80a0hELzlDc1dMR2tFQ2k3Sjg2ZVF3dVh3N0FkbmN2R0Jqb1k5dVcxU2hRSU9YRzlheW1MbkVCRWhPUjVMNStqY0xFU2JOaGxNY0lvYUgvUTk4KzNUQndRQytWTWNXSy9sZFlJUGt6Wkw1WHVab1ZSbzZ3dzhUeDlockhHUmNYaDI0OUJ1UHhrNmVRU0NTb1hLa0NKb3dianJadHJWSENwRGdTNUhLY1BuTVJPOXozNFBhZGU2aFlzVHgydVAyaDlpNkpycTRPTnF4YkNwZXRPekZrMkFSVXFXeUJqaDFhWThOR04zVHYxaUZGaWVuTkx1NTQrZTFaTDI3YmQ2TlZ5MllvbU1vRFFJbEl2ZGF0VytQcTFhdG8yclNwMEtFUUVZa1dTeVhUVDNQMi9HVUF3UDJRVU5qMjZnS0hxZU5nWUtDUDJOZzQrQjd6Zzh0V0R6eDc5ZzhzYTlmQTNidjNZRGRrUEViWUQwTG5UbTJncDZ1YjZyeVpYVGFXbXVUVnRDNWREc0RTWmV1Z3JhMk5MWnRXSUREb1BpWlBuWWZ3OEU5d21Eb3V6VDA1V1VWYld4dmp4ZzZEUkNKQjNicTFVTEJBZmlnVUNnUUhQOER1UFFmaDQrdUhkKzgrd0tKQ1dTeGY1b2oyN1d5VUZjUFVxVlNwQXRhc1dveDc5MEl3WXZSVUxIVmVCNGxFZ2xvMXF5RkJMbGZlOGRxeWRTZldyZCtLeXBVcW9Gdlg5bkQ2ZlEwR0RSbVByWnRYb25qeG90bit1b2x5aWthTkdnRUEyclZySjNBa1JFVGl4VkxKOU5NWUdPaWpZSUg4Y0ZvOEMwMnNHaUF3NkQ2T0hUK040OGY5RWY3eEV5cFhxZ0MzYld2UW9INGRCQVdGWUpIVFNqZ3VjTWJLbFJ2UnJGa2pOTEdxajFxMXFrTkxTd1lBK0JqK0NVRGljMXZxMXEybFVReldMYnZqOCtjdmVQM21MUUFnZjc2ODBOUFRTekV1S2lvYXdmY2Y0dXExRy9Eek80ZW5UNStqVzdjT2NKZzZEa1pHaG1qV3RCRU83TnVPT1hPWHdLWjFEMWkzc0VMRGhuWFJ1bVV6WExsNlE2TllIajE2a3VhK0dBQ3d0bTZpa3JpMWF0VWNUeDQveFprekYzSHoxbDFjdVhvRDc5K0hRMTlmRHpZdG1xQm56ODZvcCtIdnhZdVhyM0RrNkVsNDdUMkV5TWl2R0dMWEIvZERRakZuM3U4NGZlWUNWcTFZaElXTFYrTFFuNzRvWDY0TVhEYXRRS0ZDQmZIbFN5VFdyZCtLbnIySFlzSDg2V2hwdzArUmM1cTR1RGhvYVdtbG1meFN4aFV1WEJqOSsvZEg4ZUxDbHhuUGFSSVNFcENRa0FDZGI0VlRLSHZGeDhjcm4zTkY5S01VQ2dYaTR1SkU5KzlXb2xBb0ZFSUhrUm0xYTljV1RjVXhDd3VMTkpjeS9Rei8vdnNaK3ZyNjZONHpjZm5ULzltNzY3QW90amNPNEYrV3BWRVVFeFFFOHhvb2l0amQzV0szZUUzMDJ0MTlEYXhyQnlaMmdZSFlIU2dLQnZqREFnVUxESlJhZG45L2NObnJ1cnV3QWpLT2ZEL1A0eU03Yzg3TXU0akR2RHZudkVjaWthQjZ0VXJvMXJVOWF0V3NxdEpXb1ZEQTkvUUZlR3piamR1M2t4WjFtelpsTkdiTVdxVHAwR2t5Wi9aRXRHM2RUUG02bEVNTnpKazlFUVdzcmRDNzd6RGt6NThYVFJ2WGcwdkhObG9YcWJ4eTlTWjJlUjdBdGV0K09IbDhEMnJVYXBGaDhaM3hQYUFjaW5icDhuVzREWitJMkxnNEFJQmRJUnRVY2k2UG1qV3Jvbm8xWjQxSm1DWStQbWZ4ejVvdENINGNBZ01EQXpSdFVnOEQvK3dOdTBJMlNmdFBuWU5FSW9INzhuVjQ4dVFaS2ptWHg3S2xjMkJoa1YxNWpKMjdEbURlZ21Vd05USEJjZTlkZ2d3aEsrVlFReFR6elNaTW1BQm5aMmUwYS9kcnp4VlNLQlR3OVBURTVzMmJFUkVSZ2JoL2Y4NG9ZK25wNlVIa3YvWitTWHA2ZWpBeU5FVFpjdVV3WmNvVUZDOHUvQ0s2UDR1VGt4UDgvUHd5L2J3S2hRTDc5dTNEaGcwYkVCNGVqdmo0ZVA0c1U3b1pHUm5DenM0ZVk4YU1RYzJhTlZQdmdLVDdXU0YvLzR2K3lZdFlFcGRmUmZJTjhJVHh3L0g0ZjAvUXBIRTlsWGtpMzlMVDAwUERCclhSc0VGdGhJYStoUC9kUUxSczBSZ2QybWZjd203Zmx5WDJPcklEZWZMa1FqWnpjNXoyMmEvVHNLaHFWWjFScmFvekVoSVNZR0JnOE5NU3hPclZLbUhzbUtHd3RTMklrbjhVVC9OOG9IS09aWkEzWDI1MDdOQVNUWnMyVUpuSUR3Q05HdFlCa0ZRUjdlUEhUeGc2cEovYVdpcGR1N1JENmRJbDhQYnRlODU5K1UxNGVuckM1NlEzdG14MFI3NThuRXhPNHFOUUtIRHUvQlVNSFBnbjl1elppOXk1YzZmZWlYVG02ZWtKTDY5RDJMaU9RNFlwWTkxL0VJVFJZNmRqN3R6NXFGaXhvdERocEVyMFQxN0VWQ3I1VjNqeVFwUlIrT1FsWXpWcTFJaUpDLzBXTm0zZWlZZzNuekJseWhTaFEva3BoSHJ5MHFoUkkyeGN2eGpXVnZrei9kejArN3QwK1RyV2IvVEU5dTNiVTIzcjcrOHZhTVd4bEd2Z2lvQ1RrNVBRSVJBUnBVdENRZ0lpSWlLWXVOQnZvVktsQ3JoeTVZclFZZnhXa3E4UlRGem9aNm5rWEFIMzd0M0Y1OCtmVTIwcmRLbGswU2N2UkVSaUo1VktPY2VGZmh0Rmk5cmorZlBuUW9meFcrRTFnbjQyUTBNRDJOblo0dW5UcDZtMmRYRnh5WVNJdEdQeVFrUWtNRllNb3QrSnNaRVJFaE1UaFE3anQ4SnJCR1VHTTFNVEpDUWtwTnBPNkZMSlRGNklpSWlJaUVnVVJKKzhtSm1aQ1IwQ0VSRVJFUkZsQXRFbkx5eVZUSlQ1UkY2a2tJaUlpRVJLOU1sTGRIUzAwQ0hvSkRZMkZzYkdScWszSkJLQngvOTdBbXRyYTZIRElDSWlva3kyZS9kdVFjOHYrdVJGTEtXU2pZMk5ZV21aQzJFdnc0VU9oU2pkRGgwK2pscTFhZ2tkQmhFUkVXVXlsa3JPUWthTkdvV0JnMGZqM2J0SW9VTWhTck5ObTNmaXhNbHpHRE5tak5DaFVCWlR5cUVHRGg0K3ByWTlJdUlOK3ZZZmptZlBRNVhiL084R1lzREFVWWlMaTgvUUdHSmpZOU44RFo4NGVRNHVYYnFlNW5QTDVYS3MzN2dkTTJjdlR2TXhpRFNSeVdTSWl2cUlSTGs4UTQ1My8wRVF0bTdiZzFnTjVaM3YzcnVQeU1nb3RlMXhjZkdaVnFWTzIzWEIrNWd2Qmd3YzlVTjkwaW85MXhLaENWMHFXU3JvMmJPWTVzMmJ3OERBQUszYjlZU1ptU255NU00RnFaVC9CQ1FPTXBrTXI4SWprRHQzWG5oNmVzTGMzRnpva0lnQUFGOWpZbkR0dWgraW83OG90NzEvSDRWTGw2K3IzUXpKWkRLOENIMnAwM0h0N1d6VlN0VHVQK2lOT1hPWDRrSEFwUitPODlEaDR5aFd0REJxMUtqOHczMEJRQ0tSNE83ZCt6aHo5aUtxVlhWR2cvcDgra2taNCtZdGYvUnpIUUd2SXp0UTJMNFFnS1NiNjFmaHIzWHFuOXduMmZFVHA3RjM3eEYwNjlaQlpYdDQrR3QwN3pFSTdkcTF3SXhwWTVYYkZRb0Z5bGVzaDE0OU9tSGMyR0ZxeHo5MjNQZEgzeElBb0ZuVEJtcmJFaE1UMFcvQUNKaWFtR0RPckluSWt5ZVhjbDlvNkV0Y3VxejZBWU5Db2NDYWRSNDRjTUFiMnp4V0lYLyt2QUNFdlpZSVRlaFN5Ynh6emtSNmVucG8zTGd4NnRhdGk5RFFVRVJGUlVHZVFaOXlFUDFzRW9rRWVmTGtnWTJORFNRU1ByVDluWHo1OGhYYnR1L0ZxZFBuOGV6WkM4VEh4Y1BNM0F6MmRyWVlOM1lZSE11VlVldVRLSmZqK0luVE9IN2lOTzdmZjRUMzc2T2dwNmVIbkRrdFVMU0lQVno3ZDBlVnloV1Y3VXM1MUFBQVZIUnl4Tll0SzdYRzRsU3BBV0ppWW5YNmhkNjMvM0FBUUd4czBxZTdzK1lzZ1ptcENRQWdLdW9EQUdEdzBMSEtuOWZLbFNxZ2FaUDZhTkdxbXk3ZkZ0eTZmZ3BIdlU1aXhxeEZXdVBwM0cwQTd0MTdvTGI5UWNBbDFLM2ZGcS9mdkZYWi92ZmlWZmg3OFNxVmJkL2VNS1pteXVTUnVIcnRKdWJNWFlvcWxaMWdiczZLbS9SejNQRVBSRC9YRVRxMS9mNy94eTAvZnpnN2w0ZStSSUtidC96aDUzY1hBLy9zQlN1cmZHalpzakgySC9CQzE4N3RVS0pFVVFEL0ZZSFJ0cDdONkxIVDAvUWVOQ1V2K3ZyNmNPM1hIUk1telVHYjlqMnhZTjVVMUtpdStRT0ZMMSsrWXVMa09UamxleDQ5ZTdpb0pEcXZYa1ZrNkxXRWRDZjY1RVdNcFpJTkRRMVJwRWdSb2NNZ0lrSjQrR3YwN2pzTW9XR3ZVTHhZRVRSdFVoOFNpUVJoWWE5dys4NDkvTzkvVDlXU2w1Q1FaeGcxWmhxQ0g0ZkF4TVFZRmNxWFJhMmErWkNZS01lTEYyRzQ1WGNYRmNxWFZVbGVrdDN5ODhmQnc4ZlF0bld6ZE1kZXVIRFNEZituVDlId3Z4dUlBdGI1WVdtWkF3QVFGbWFJb09BUTJCV3lnZFFnNlZkZDNyeTVZV3RiVUhuelVNcWhCaWFNRzQ0ZTNUc0NBSGJzMnYvRG40U09IamtZSHo5K1Rvcmo4MmZNbVBrM0N0bmFBQUMyYmxtSkJKbE0yYlpGcTI3bzE3Y2IyclpKZXU4QkFROHhZZExzSDNyUCtmTG13ZERCL1JBWEZ3OERBNE1mNmt1VUZydDJyRVc1c3FVMTdsdXoxZ1BMVjY1WDJmYnVYU1FDQXg5aDJwVFJBSUFyVjI5aTdUb1BEUHl6RndCZzBNQStPT3JsZzRXTFZtTGplbmNBVUg2UUs5SFgvc0dZVFVGcmJOcTRUS2VZKy9ZYmp0Q3dWMXIzMTY1VkRRZjJic2F3NFJNdzFHMDh2SS91UkFGcks1VTJjcmtjZmZxNTRkbnpVQ3haTkJOTkd0ZFQyWi9SMXhMU25laVRGNVpLSmlKS3Uza0xsaUUwN0JYR2pCNktQcjA2cSt6NzhPRWpvajU4Vk5uMitIOVAwS1BYRUVSSGY4RUExNTV3N2RjZFptYW1LbTArUjBmamRZVHFFd2NBeUdadURnVVVXTFI0RmVyVnFRRUxpK3lweHZmdVhTUStmZjZzZlAzMjdYczhlZm9jQURCNTRrZ0F3Sk9ueitIbDdZTytmYnFpVE9rL0FBQ256MXpFaFl0WE1YYk1NSmorK3pUbVcvOTkwcHRxQ0NtcTZPU29QTjdRNFJOZ1lHQ0FaZTV6QUFBMk5nWFUybHZtektGOHlxSnR2SHUxbXMzeDRidnZ1eWJmM3pSK2p6ZE9sSktZbUZpRVJ5UU5DNHY0OSsrWEdWQlV5T2ZVT2NqbGN0U3JXMFBqZnB1QzFtalZvakVPSGo2R1M1ZXVvMGFOeWtoSVNFcnlVMHJJcFZLcFdvS1JVdHZVNU0rZkY5czhWdUh1dlFjYWp5dVJTREIxOGloWVdHVFgrSDg1V1VaZFMwaDNvazllb3FPak9mYWVpQ2lOcmx5OUNhbFVpbDQ5MUNkZzVzaGhnUnc1TEpTdkV4SVM4TmZJS2ZqMDZUUG16SjZvOWVsSk5uTnpaQ3VxK2JvOHdMVW5saXhkalVWTC9zR3NHZU5UalcvWmluWFlmOEJMK2RwOTJWcTRMMXNMQUxoOTZ6UmV2WW9Ba0RUMENvQXlzYkczdDRYWGtSMkllUDBHQUZEQTJncEdSb2JLNHlUZmNPanJaOHl2d1kyYmQrTHMyVXR3WHp3TGRvVnNsTVBrdnFkcDJGankwSk16dmdlUVAxOWU5T3ZUVlRrVWp1aG51WDdqTmdZUEhhdXk3YzlCbzVWZkp6OFYrVkZIdlU0Q0FITGxzdFRhcGwrL2JqanE3WU43Z1EvK1RWNFNBQUJHaG9aYSsyUUVoM0sxZENwS29PMy9Md0RvU3lRSXVIdEIrVHFqcnlWaUlIU3BaTkYvcDUyY25CQVVGQ1IwR0VSRW9pU1JTQ0NUeWZEeVZRUnNDcWE4ZG8rWHR3K2VQSDJPK3ZWcXBtbllWNkk4RWIxN2RzS1JveWR3NEtBMzJyWnBqZ3JsSFZMc00ydkdlTXlhTVI3NzloL0YxT2tMVkpLbTI3ZnZvWHV2d1RxZE8zbm95L2MzSmJQbUxNYXNPYXJWdTVMYk5HMVNINVdjeTZkNjdKdTMvTEZzMlZyMDZ0RUpqUnJWQmZCZk12VXRiY1BHMXE1ZWhBSUZySkFuZDlKNCtuNTlrNUlaaFVLQjZ6Zjg0Rnl4UFBUMTlWT01JVEl5Q3Z2MkgwV3JsazJVRTRxSlVsS25kalhsMDdrTm0zWmd5ZExWS3ZPdnJsNjdCUUI0SGZFR0w3NzVFT05iSHo5K1Vua2RFUEFBZCsvZFQvWGNoZTBMNGJUUGZ1VWNrcGpZV0FDQWlZbHgydDZNam80YzNxNXhrZVg5Qjd5d3hjTVQ5bmEyZVBMME9SYi9QUU4yaFd4Z3BHRjl2dVI1T1QvaldwTGN4OFRFR0RldW5zVGE5VnV4LzRBWDNyNTlqNElGckREQXRTZmF0RzZxMDNGK0pxRkxKWXMrZVNFaSt0VTFiTmdRZi96eEIwYU9IQWw3ZTN1aHcxRlJyMjROSERsNkVvT0dqTVdDZVZOUXVsUUpyVzJQbnpnREFPamNxVzJhenFWUUtDQ1ZTakY5eWhqMDZEMEVNMmIralFQN05xZDZZdzVBV1FFb0lUNEJjWEh4S2s5UkRoL2NpbUpGQzJ2czkralJZN1RyMkVmNU9qbXBDQXQ3aFlHRHgyRFdqUEVvLzI4QzVlWHRnelZyUFpSdHpNM01jUFpjeWtPdjNyMkx4S2d4VTFHdVhHbU1IdlZmSXFWdEFyNm1ZV01GQ2xocGJML0w4eUJtejEyQ3BZdG5vZkcvU1pFMkozM093WDM1T2tSRmZkUllyWWtvSlNkT25OYTZiOFNvS1RvZngyUGJIcDNiZmp2NS9jdS9sUUt6WmZ1NUkybnM3V3hWWHI5L0g0bjVDNWZqK0lrem1ESnBKRDU4K0lUbEs5ZGo0ZDhyRVJjZkQ1ZU9yZEd0UzN1VldKTmw5TFhrZTVPbnpzUE5XLzZvVnRVWnIxNUY0T3ExVzVnNGVRNnlaemRIdmJvMTAvTDJNNHlMaXd2MjdOSDkzenFqTVhraEl2ckpYcjE2aFJjdlh1RGt5Wk13TXpPRGs1TVRSb3dZZ1RKbDFLdDRaYlp4WTl3US9QZ0pIajE2akU1ZFhOR3NTWDBNR3RSSDdaYzhBRHg0R0F3QUtPK1k4dE9TMUZTb1VCYnQyN1hBdnYxSHNjWERVL21rUVp2WTJGaGN1KzRISUdrWTJibnpsN0hjZmE1eWYrdTJQWFUrZDNLU2NQMTYwbnpKR2pVcUkxL2VQQUQrRytieWJTS1JKMCt1Rko4T1hieDhEZS9lUmVMcjF4alVyTk5LdWYzS1JXK2RxNDFwMDZSeFhjeGZ1Qnk3UEEra21yeWNPSmwwOC9rcmZDcEw0aEo0LzVIeS8vWkpuN09vNk9RSTU0ci9mYksrZmV0cWxDdGJTbVBmdGV1M1l1V3FqUUNBNE1jaE9ISHlEQ3d0YzJwY3h5VWxIejRrUGNISmtVUDdQRGlGUXFIeldpdWFucTU4NjNOME5EeDNIOEw2RGR1Z3I2K1AxYXNXb21hTktsaXoxZ01BY09UUU51enlQSUJ0Ty9aaDg1WmRhTkc4RWZyMDZveWlSZi83OENtanJ5WGZpb21KeGN1WEVmQTZzZ1BHUmtsUGY5eVhyOE82OVZ1eGJjYyt3Wk1YbGtvbUl2cUpZbU5qY2VUSUVZU0hwMzhpYWxvbHJ6V2lwNmVIcjErLzR1TEZpN2g0OFNLTWpZMVJ0R2hSVktsU1JiRFljdWEwd0s3dGE3RjJ2UWUyZU95RzE3RlRPSDdpTkZ4Y1dtUDB5Q0Vxd3pnK2Z2Z0lRME1EalJQZ2Y5VG9rWU54NXV3bC9MTm1NNW8xYlFBcnEzeGEyL3FldVlpU0pZdmorblUvZEd6ZkNwczlQREZ0K2tLMGI5Y0NBTEJxeFFJVUtsUlFZOStuVDE5ZzJQQUpLdHUrZlBtSzlSdTN3Y0dobFBKbVE1dDZkV3VxM0NqRWYzZnpWTUd4TEdaT0g2ZDhmZWJzUlZ5L2tYUXprMXExc1JjdlhtTG5ydjFhdjUrV2xqbFJ2MTVOblBRNWk1Q1FaeWhTeEU1anU5ZHYzc0x2OWoyVUtGRlVXWHFXU0ZkYlBEeVZDY2NwMy9QWXVHa0hOcXhicXR5dnJ5L1IrblJVb3ZkZmRiQmx5OWNoVCs1Y2FOYTBQalo3ZVA1UURNbHowL0xteWEyMXpiUG5vU2hmc1o3Vy9ib0lESHlJbzk0K09Iam9HS0tqdjZCV3phcVlNWDJzMm5VZ1d6WnpESER0aVo0OU8ySFBuc1BZdUhrSERoMCtoanExcTJHQWEwOWw5YldNdkpaOGIvdzROMlhpQWdCZE9yZkZ1dlZiOGZEZlJETXJFMzN5SXNaU3lVU1VlZDYvZnc5L2YzODhmUGhRc0JpMGZRb1lHeHVMd01CQUJBWUdRcUZRNFBYcnQ4aVhMK1ZmZ0QrRGtaRWgzSWE2b212bjl0aXdhVHM4ZHgvRUxzK0R1SDM3SHJac1dxR3NDbVpzWW93dlg3NGlNVEZScDZGZUtjbWVQUnZHalJtS2NSTm1ZZmE4cFZpMWZMN1d0cDZlQjlDNFVUMWN2KzZIUW5ZMjZOSzVMYTVkODBPOWVrazNBdFpXK1ZESVZuUHlFaE1UcS9JNklTRUJvOFpNUTBURUcweWE4SmRPc2E3Nlp4T01qWTJncDZlSG5aNEhWSW9ZV0Zoa2c1MmRqYkxxMkIzL1FOaitXNW5JMmpxLzJyRnlXR1JYeGxySXRpQnExcWlzZFcwTEFHamZyZ1ZPK3B6RlRzLzltREpKODhyZmg0K2NnRnd1UjRmMkxYVjZQNVErZW5wNjZOT25EL1QwOUNDUlNOVCtUbDVYS1BucmI3ZC8yMVpUdjlTMlo3UUhENE54L01ScDlPdlRGUnMyN2NEc21STXdmZWJmR0RoNEROeUd1djdRc2N4TVRlSG01b29YTDNSYnVQRmJ3Y0VoQUlCQ2hXeTB0c21WeTFKWmJqazFhOVo2NFAxNzFXcCtsNi9jZ091ZlNSVUtTeFF2QXJlaHJxajdYVVcwZG0yYm8yNmQ2c3JYeGtaRzZObkRCUzR1cmJGOXh6NXMyTGdkWGJyOWlYVnJGcU55cFFvWmVpMzVsbFFxUmNrL2lxbHN5NWMzRHd3TURQRDVjN1JPNS9xZGlUNTVZYWxrSWtwSmdRSUYwS1pORzdScjEwNndHRXFYTGczWk41L0FKOHVXTFJ1cVZhdUdQbjM2b0hQbnpvSWtMdC9LbmRzUzQ4ZTZvVnVYOWhnMmZDS0Nna093Y05FcXpKbVY5T1NpZ0xVVmdoK0hJQ2c0QktWS0ZrLzMrVnEyYUl5RGg0N2g3TmxMT0hQMm9zYWhFUDUzQStGLzl6NldMSnFGZVF1UzFuZ1lPcmdmUm80WWhNREFwSVMwYllmZU9wL3pYc0FEWEwxMkN5MmFOVVQ5ZXFybnk1YzNqOHB3bVdSSHZFNGk5TitWdEhQa3NNRG9rZi9OYlZtMWVqTXVYcnFHRTk1Sm56US9DbnFzZlByaDRGaGI3VmlMbDY3RzRxV3JWYmJWcmxVTnExY3QxQmh2dGFyT3lKY3ZMN3k4VG1ITTZLRXFuOFFtTzNUb0dJeU5qTkNxUmVPVTNqcGxrTDE3OStMejU4K1F5K1dReStWUUtCUlFLQlJxWDMrN1Aza2RrKyszNmJvL3RXRlFhWkVvbDJQMm5DVW9VYUlvcWxaMXhvWk5PMkJzYklSL1ZpekFVdmMxeXVUNzQ4ZFBXc3Q2Zi8zNlZmbjFzS0g5VWJDZ05aYXYzSkRxdVYrOWlzREd6VHVVQ2ZtdDIzZGhZMU1neFRrdjJiT1pvMXVYOWpxOXQ1MDc5NnNsTDlXclZjSUl0d0VvVTZZa3FsVjExdGpQZmZsYW5EdC9CVmN1ZXF0c056WXlRdisrM2RDaFhRdHM4ZkJFbGNwT3VIdnZmb1plUzc1bFlDRFZtS3hLcGZyS3lteFptZWlURjVaS0ppS3hVQ2dVc0xTMFJKMDZkZEN2WHo4VUsxWXM5VTRDc0xFcGdHVkw1NkJwaTg3dzlUMnZURjZxVnFtSTRNY2hPSHIwWklZa0x3QXdiY29ZdEc3WEEzUG11YU5xRmZVYml2VWJ0cUZXelNySW0vZS80U1RKcThvYkdSdkJ4cVlBWmt3YkEydXIvRkFvZ0dZdHUyRDhXRGZVcmxVVkFCQWE5Z296Wnk5V2xtQjFxbEFPRzljdlJWa0g5VVgzR3RTdmhRYjFhNkZ4czA3bzJya2RldlhzQkFBNDRlMkp4TVJFbFUvVmt6VnVWQWM3ZHU1RFFNQUQyTm9XUkhCd0NEcTV0RkgyKzFhVDVwM2gycSs3Y3JoYk1oTVQ3Y1B3SkJJSldqUnZpSTJiZHVEa3liTm8zYXFKeXY1YmZ2NTQ5andVYlZvMy9lbVRuU21KVUVVM3BrMmJscUhITzNMMEJQenZCcW9senJselcyTE83SW5LYW1NREI0L1I2WGdwcllXU1RLRlFZTS9ldy9oNzhTb1lHUmxpeXFSUmVQM21MZno5QTlHeFE2dFUrNmZIbHk5ZmtTZHZicngrOHhZSER4L1QyT2J1M2Zzd05UWFJ1aDhBQ3RuWklDNHVQc092SldMQ1VzbnB4RkxKUlBTcksxYXNHTXFYTDQ5Ky9mcWhZRUhOdzV0K05UWTIxdERYMTBlaVBGRzVyV3ZYOXRpK2N4OTJlaDVBMHliMVVWYkxKTjRmVWFoUVFReHc3WW1WcXpaaTFlcE5NREF3VUJucVZhSkVVVlN2VmttdFgxeGNQSW9Xc2NlUmc5dVUyejU5K2d5RlFnRjdPMXZreTVkVUxqaGZ2cnpLTmdxRkFucDZlcWpvNUloangzMjF4aFFhK2hKK3QrOXFyREFFSkEwSGN5eVhWR3lob3BNakNoZTJ3MllQVDFTdlZna0toUUoxYTFmSGl4ZGhPbjhQWW1KaUVCc1hwL0dwQ2dDMGJ0a0VHemZ0d1A0RFhtckp5L2FkK3dFQTNicDIwUGw4UkFEZ1ZMNHM2dFd0aWRxMXFpa1RGVTAycm5kWEx2NzZ2VTFiZG1IdE9nK2R6dmZpUlJpbVRsK0FHemZ2b0VTSm9zcDFuclp0M3d1NVhJNUdEZXY4OEh2NEVlL2ZSMkxTNUxtcE53UlNiZWRVdml6TXpFd3o5Rm9pSml5Vm5FWEo1WEpSWjkyVTlTUVBYZURQN1k4N2RPaVEwQ0ZvTld2T1lnd2MwRnZ0bCt1K0ExNUlURXlFVTRWeXltMDJCYTB4OHE5QitIdlJTdlFiTUFKVEo0OUM4MllOMVg0bUlpTGU0UFdidDhwSnJhbHg3ZGNkM3Q2bnNHMzdYa2lscW5OcCt2ZnRybkZDZTBvVGR3Y00wanczNU5USnZjcVZ0RWVQblo1aVRMNm5MOEQzOUFXTis1bzJxYTl5d3pGNFlHK01IanNkZCs0RW9HcVZpc2lUSjVmV1JlN1diOXlPOVJ1M3EyM2Z1TjRkVmF0VTFOaW5hRkY3RkM5V0JMZjgvUEg4ZVppeU9FSEU2emM0ZmZvQ0hNdVZTYkhFTlpFbXRyWUZzV2hoNms5elRFMU50RDdWMDJWUnljK2ZQd01BMnJUckJWbGlJb1lNN29zL1hYdENLcFhpMmZOUWJOK3hGMEJTNFlES2xTcjh0Tjh4dHJZRmxldmFhTEo2N1Jhc1dMa0J0cllGb1MrUllPL3VqVG9WSjhuSWE0bFlzRlJ5Rm5QLy9uM01uRGtUOSs3ZFU0NXhKUklMZlgxOXRHM2JGaE1uVG1TeGpOL0VMcytEMkxQM0NCektsSVM5ZlNIbzYwc1FGQnlDZ0lBSHNNeVpBK1BHREZWcDM2ZFhad0RBa3FXck1XN0NMQ3hldWhybEhSMlFJNGNGdm42TndmOUNudUxSbzhjWVBMQ1B6c21MZ1lFQnBrMGRnOTU5aDZtTjU5WjI4M0RxNUY2VjExKy94bUQ0aUVrd3oyYU9vS0Qvb1V2bnR1alJ2YU5LbS96NS9sdThNYVdibUZJT05mRG5nRjRZUGt5M0Njdk5tamFBNSs1RHVPWG5qejhISkpWdER2QS9yOWJPd2JFMlJ2MDFDTDMvL1I1K0s3VWJ0ajY5dXlBbUprWmwrSnlIeDI0a0ppWnFQQjZSTG95TmYrNmlrRisveHVDa3p6a0FTY25EL0xtVDhjZS9FOUZqWW1MeDE4akpVQ2lTZnI0M2I5bUZSWXYvd2RqdnJqbVo0ZmJ0ZTFpejFnTU5HOVRHOEdHdTZOaTVQd1lOR1lOVkt4WW9oNmxxazVIWEVyRmdxZVFzeE5mWEYvUG16Y0UvS3hlZ2FKRmZhNkU2SWwzSTVYSnMyYm9iYmRxMGdaZVhGNHkwREhNaDhaZzBZUVRPWDdpSzRNY2hDQWg4Q0FNREE5Z1V0RWJmUGwzUnUyZG41TTV0cWRhblQ2L09hRkN2Sm5iczJvK3JWMi9oMHVYcmlJMkpoYW1wS1d4c3JORzlXd2MwYjk3d2grS281RndlYlZvM3hhSER4M1Zxbi93RUJVaGF3SEwrZ3VVd01EREF1dFdMY1BmZWZZd2NQUldSa1I4d2R2UlFqZThoSXoxOTlnSVBId1hEME5BQTh4Y3VSMFRFRzNUdjFsSGplU1VTN1dWblUvTDljTEdQSHo5aHo3N0RzTFV0aUFiMWE2VTVkcUxVSkNiS2xlWGV2eWRYcFB3aHJLbXBDZXJXcVE0akl5T01IVDBFQmdZR0FKTFdXUmswWkN5Q2drTXdhY0lJZE92YUFaR1JVZGl5MVJQRmloZEcyOWJOMUk3MTZYTTBkdXphcjFQTW4zNmdJdGZCUTk2WU5XY3BDaGF3d294cFk1RWpod1hjbDh5RzI0aUpjT25jSDdOblRrQ0ZDbVYxUGg3OWZLSlBYc1QwNmUrcVZhdXdldVZDcmJYNmlYNTFFb2tFZlh0M1FWUmtGTmF1WFFzM056ZWhRNkowNnRhMVE1cm1TOWpZRk1ENHNici8rNmYwNldTeXViTW5ZZTdzU2FtMmk0bUpSZUQ5UjdoNjdTWjhmTTdoK2ZOUXRHM2JIR05IRDRXNXVSbHExNnFHL1hzM1kvS1V1YWpmcUQzcTFhMkJxbFdkMGFoQmJWeTVlbE9uZUVOQ25xWTRsaDBBNnRXcmlhaklEeGc4ZEN4TVRJeHhjTDhITm16WWhnMmJkbUREcGgwb1hmb1BsUHlqR0t6eTU0V1ptU21tVGg0RmliNCs5dXc3QW9WY0RsbGlJbVFKTXNRbkpDQStMaDd0MmphSGxWVStyVVBPTkhueElneGx5bWxPWHZMbHpZT3pwdy9xZkN3aVRicjNISlN1L3RPbmpsRjVzdWgvTnhEanhzOUVhTmdyREI3WVIzbjltVHA1Tk83NEIyTEd6TDlSMkw2UTJwUGI5KzhqTVdmdVVtU0VyMTlqY1ByTUJXemJ2aGVCOXgraGNxVUtXTFJ3dXJKMGNjMGFWYkI1NDNLTUdUc0QzWHNOUm8zcWxkR2hmVXZVckZGRnVmWlZhdGVIWkxwZVM1TG52S1YwcmZTN29kczVmM2VpVDE3RVVpcFpKcFBoU1VnSUV4ZjZMZFNwVXgxejU2OWs4a0tDQ0FoOGlONTloeUYvL3J4bzJyZ2VYRHFxTDFKcFY4Z0cyN2V1eHBXck43SEw4d0QrWHJRU0RlclhTblY4ZXJLVXhxa25PK043QUc0akppTHkvUWRzM09DT2dnV3NNSDNhV1BUcDNSVmUzajY0ZWVzT3pwMi9qSThmUDBHV0lJTUMwRnIydG9DMUZRWU83QTBBR0RLb3IwNHhwc2JNM0RSRGprTlptL3ZpV2NxaFh0L2I1WGtRSHR0U3JqejFiZUlTL0RnRVBYb05nVlFyRG9iaUFBQWdBRWxFUVZTcWo1blR4Nm1zVFdSaVlvejVjeWZEYmNSRXhNYkdxUjNIM3M0VzNrZDM2aFJ6ODVaZDhmVFpDNVZ0Z1lFUDRYM01Gd0gzSHlJZzRDRVNFaEpnYjJlTCtYT25vRVZ6OWJsN2p1WEs0TWloYmRpMFpTZDI3TnlQUzVldlExOWZIOFdMRjBFbmx6YVlQa056ZWZQdjZYb3QrWFpZSzZWTTlNbUxXRW9sU3lRU3hNV252Sm9xa1ZnVUwxNFVJU0VoUW9kQldZelhrUjNJa3ljWHNwbWI0N1RQZmxoWjVVdTFUN1dxenFoVzFSa0pDUWt3TUREUTZRblFqeGc2cEIveTVjMmpjbk5YcUZCQkRCbWNlZ0tTbk1nb0FPamh2NXM4WGZvU1pTU0pSQUpEUXdPTmM2L3k1YzhMV3kyTHdDWXZZUHV0c21WS3dxVmphNDN0aXhjcmdzVUxwNk5vc2NJb2JGOUliYjlqdVRMd09iNUhiUzdPek9uamtQMEhTb0VQSCthcU5uUXNiOTQ4T0hqNEdBb1dzRUwzcnUxUnYxNnRWSWVEbVpnWVk4aWd2dWpmdHp2T243K01zK2N2NDhHRFlOU3BWUzNEcnlWaUluU3BaRDNGejFqNUtCT1ZLRkZDTktXU1M1UW9rYVYvMk9uM29WQW9VTHBzVFZIODM1c3dZUUtjblowRlhhUlNGN3crME8ra2xFTU5VVndmeElUWGlQUmpwZGVVZGU4NUNLUEhUSUNUazVQUW9hU0kvNEpFOU1NMHJmeExSRVQwSzJQaWtqRmNYRndFUFQvL0ZZbUlpSWlJU0NkQ2wwcG04a0pFUkVSRVJLSWcrdVJGVEtXU2lZaUlpSWdvN1VTZnZJaWxWRElSRVJFUkVhV1A2Sk9YNkdqZFYxRWxJaUtpbjB2a1JVeUpzcXpFUkxsTzdZUXVsU3o2NU9WWEwrY21SbmY4QS9EM29wVVplc3l6WnkvaHdFSHZGTnRzMjc0WFBxZk8vZEF2dmp2K0FZaUppVlhaRmhYMUVlL2VSYVlwem9pSU53aTgvMGpqdnNEN2p4QVI4U1pOeDAyMlpPbHFIRDl4T2wzSG9OOVBmSHc4REEwTmhBNkRLRU84Q285QXpwdzVoUTdqdDhKckJQMXNDb1VDTDErRkkzZnUzS20yZFhSMHpJU0l0Qk45OGtJWjc4SERZR3oyOE1TSmsyY3k3Smk3OXg3R2lsVWJ0ZTUvOVNvQ0MvOWVnVDE3RCt0Y2h2Zmp4MC9vM2RjTlk4ZlBVTm5ldmVjZzFLcmJLazF4YnZiWUJaZk8vVFh1YytuY0g1czlkcVhwdU1rMmJOcUJzK2N1cCtzWTlQc3hORFNFcWFrWlBuejRLSFFvUk9ubTYzc0JWYXBVRVRxTTMwcnlOU0l5Nm9QUW9kQnY2dWF0TzdDd3lJbENoZFFYRC8yZTBLV1NwWUtlblg1Sm5UcTJ4c1pOTzdCazZXbzBiRkFiK3ZyNkFBQ25TZzNVbm5Kb2tpOXZIcHc5ZlZCbFcyam9TeFMydDlYYVovT1dYVkFBR1BYWElKM2pQSEh5REJJU0V0Q3FaUk9kKy93S1hvVkg0Tmh4M3hUYk9KWXJBMnZyL0prVUVmMEsrdmJ0aTJrekZtTHU3RWt3TXpNVk9oeWlOTGwyN1JiV2I5eUJYYnZTOTBFUHFldmJ0eThtVHBxRFJRdW53OXljeFlvbzR3US9mb0pwTS83R3VIRVRkR292ZEtsa0ppK2tSaXFWWXZyVU1jaWRPNWN5Y1FHQS92MjZJejQrQVFDd2ZzTTIyQld5UWNPR2RWVDZIanA4WE8zUnRrd213NHZRbDZoUm83TEc4NzE1OHc3N0RoeEY2NVpOVUxKa2NRREEvZ05lT0hqSUcxczJyWUJVcXZuSGRNKytJN0MweklrNnRhdnA5TDdDWG9aajZyVDVtRHBsTk93SzJhQ1VRdzJ0YmJYdDI3WjlMN1p0MzZ1Mi9jRGV6ZmpqajJJNnhYSDc5ajNjdm4wdnhUWUw1azFoOHBMRnVMcTZZc21TejJqU3ZEUEtsaW1Kc21WTHc4VEVXT2l3aUhRU0V4T0R5MWR2NHVYTDExaStmRG5zN095RUR1bTM0K3JxaXJpNE9EUnAzaGtPWlVxaVhOblNNRFUxRVRvc0VqR1pUSVpiZm5jUkdQZ0lmNDBjaWZyMTZ3c2RrazVFbjd5d1ZITEdXYjl4TzVhNnI5RzQ3MEhBSlF6NnN6ZUFwSEdSYTlkNW9GU3BFaGcrekZXbDNlWEwxeEViRndjQUNBbDVoanYrQWZqdzhSTVNFeE1SR1JtRmZmdVBLdHQyYU44U0FMRHluNDJRU3FVWU1meFA1YjZDQmExeCswNEF0bXpkamY1OXU2bkZjL25LRFR4OEdJekJBL3ZBd0NEMWNjQXhNYkZ3R3pFUmp4NDl4aDMvQU5nVnNzSDRzVzVxN1h4UFg4QXRQMytOKytZdlhJNktUbzVvVUwrVzJyNjgrZktrR2tPeUpvM3JZY2Ewc1NtMjRVMXIxaU9SU0RCNjlHZ01HREFBWjgrZVJWQlFFRDU4NGpDeWpQYnMyVFBlV1A4RVVxa1V2WHYzUjUwNmRYUzZKdE9QazBna2NITnpROSsrZlhIMjdGazhldlFJSHovekdrRnBKNUZJMEtScFN5eFp1a0pVOTlPaVQxNVlLam5qMUt4ZUdkbXptU3RmZi9ueUZVdmMxeUJYTHRXSmw3R3hTY21KcGs5OEVtUXlHQmthQWdDdTNmRERuTGxMbGZ1OGovbkMrOWgvdzZVNnRHK0pSNDhlNCtCQmI0ejhheER5NU1tbDNGZTVVZ1hVcWxrVmE5WnVRZXVXVFZUMkFVbFBmZ0NnUytlMnFiNnZ4TVJFREI4NUNZOGVQVWFQN2gzUnRuVXpBRURQSHVwak5sKytDc2N0UDMrTisrWXZYSTZTSll0cDNQY2pwRklwc24zemZTYjZWdmJzMmRHNmRXdWh3L2h0T1RrNVlkMjZkVUtIUVpSbTV1Ym1hTm15SlZxMmJDbDBLRVNDRUgzeUVoMGREWE56M2dobWhELytLS1l5OUdudS9HV1F5K1dZTldPOFNydlBuNVBLVTJ1NkFVK0lUNENwUlZKUzA2RmRTelJyMGdBYk5tN0QxbTE3NEh0cVB3d05ETEZzeFRwNGVmc2dMaTRlVTZiTlIrSENkdWplclFPaW83OGdPdm9MUGtkSDQ4dVhyNmprWEI0WExsNkYrL0oxbURQcnYzR1laODlld28yYmR3QUF1WEpacHZpZVpESVpSbytiZ1V1WHJxTko0M29ZTjJaWWl1MmxVbW1HVkhUWnZlZVExbjNQWDRScDNWKzBxRDJjS3BSTDkvbUppSWlJZmdhaFN5V0xQbmx4Y25KQ1VGQ1EwR0g4ZG03ZkNjQ3VYZnZScFhOYjFLcFpGVGR1M2tGNXh6SXdNREJBWkdRVUFNQXladzYxZnZIeDhUQXlTbnJ5WW1Sa0NDTWpRengvOFJLRkM5c2hYOTZrb1ZYUjBWK1FQMzgrako4NEMvY2ZCRUVxbGFKOHhmcVF5OVhyaSt2cjYrUHdrZVBvMDZzemloYTFSMEpDQWhZdTFxMk1jMnhzTEVhTm1ZYXo1eTZqYnAzcVdEaC9LaVNTL3dyc0tSUUtQSDMyUXFWUCszWXQwTDVkQ3p4NStsenRlRjVIZGdDQXlyNUNoV3lnTDFFdjJqZGoxaUt0Y1FVRVBFQkF3QU9OKzF3NnRtYnlRa1JFUkw4c29Vc2xpejU1b1l6MzRjTkhqQjQ3RGFWSy80SHhZOTBRZVA4UitybU9RUDkrM1RGOG1DdmV2SDBIQUdwRHVRQWdMajRlUmtaR0t0dnUzMytrTWxuLzVjdHdGTEl0Z0ZvMXEwQXVsNk53WVR2a3pwVVR1WEpaSW1mT0hMQzB6SUdjT1hJZ2UvWnNlUDRpRkczYTljTEsxWnZndm5nV1ZxM2VqT2ZQdzJCdWJvYm82Qzhwdm8rZXZZY2k4UDRqdEc3VkJMTm5UbEFwUGdBQThmRUphTkZLZlQ3Tmo3aCs5UVN5YVhueTE3NWRDN1duVmlsSnFZQUFFUkVSMGEvQXhjVUZlL2JzRWV6OFRGNUlSVnhjUElhNmpVZEV4QnM0Vnl5UDZPaXZHRGxxQ213S1dzTzFYM2NBd011WEVRQUFheXYxYWxqeDhRbktKeThBOFBidGU3eCs4eGJsSFIwQUpEM3RlUHkvSitqV3BUM2F0bW1PdG0yYXB4aFBzYUtGMGJ0bkp6ZzVsY1BkZS9leGNlTjJPRmQwUkw2OGVlQjE3SlRHUG9uL1BzRjU4REFZUXdiM3hlQ0JmVFN1SFdOZ0lNVzYxWXZWdGc4WU5BcFZxMVJFbjE1ZHRNYTFlKzhobkQ1ekVhYW1XYnVrclllSEJ5UVNDZlQwOU5UK0pEL2xTdjVhMDc0ZjdmdDluK1N2TlcxUDdoOFdGZ1puWitmTS90WVFFUkg5bGxncW1YNFpzYkd4Y1B0ckV1NC9TQnFHZDlUckpFNmZ1UUNGUW9IZE85Y3JKK2kvZkJVT0FCcEwrY2JGeGNQUThML2t4Zjl1SUFEQXVXTFNJOGJnNEJCOC9Sb0RCNGRTQUtCMU5mdHY5ZTdWQlhueTVNSlM5elV3TVRYQjdKa1ROQzU0R1JrWmhhblRGK0xGaXpBQXdPcFZDMUd6aHZhRjBpUVNpZGJ5emZueTVkRzZEd0I4Zk0vQnhNUlk0NUN4ckNRc0xBd0toVUk1NUUraFVDaGZKMy85N2Jia050L3VULzc2KzMwQWxGOXJhNlB0dU4vMlZTZ1VzTFhWdnNZUUVSRVJpWWZva3hjeGxYYjcxYzFmdUFKWHJ0eUUrNUxaY0JzeEVYWHIxc0REaDhGNC96NEtGeTlkUTVFaWR0RFQwOE9EQjBFd016TkYzcnk1MVk0UkZ4ZW5VdWJYNy9iZHBMS1ovMzQ2ZnZIeWRlaExKTXBrUnR0cTl0OXlHK3FLZ1gvMmdvdExhNVFxVlFJMk5nVlU5c3ZsY2h3OGRBeEwzRmZqdzRkUGtFcWxrTWxrS1NZdTZmWHBjM1NxRmNOZXZneUhqOC9abnhiRHIyRFNwRWxDaDBCRVJFUlppT2lURjVaS3pqamx5cFpDUmFkeXluVk1IRXFYeEx6Wmt6Qmwybno4dlhnVlltSmowYXRISjl6eEQ0QlRoWElxazkrQnBLY3VDb1ZDWmM1TCszWXRjUExrV1hUcTRvcmw3bk53Nk5BeE9EdVhoNFZGZG1XYmJsMDd3S1ZqSzQweHRXN2JVL2wxQVdzckZMQzJVdG4vOGVNbjlPb3pETUdQUTFDb1VFRXNXem9IMDZZdlZKdUluOUVpMzBjaGUvWnNLYmE1ZHQwUDE2NzcvZFE0aUlpSWlMSVMwU2N2TEpXY2NUVE5QOG1lUFJ1V0xaMkRBd2U5VWI5ZVRYZ2ZPNFc0dUhpTkN6WEd4TVFBQUl5L21mTlNyR2hoN055K0J2MWNSNkJQWHpja3l1VVlPcVNmU3I5Y2xqbFJyR2poTk1Wc1laRWRwVW9WUjRzV2pkQ3p1MHVxWlk0ZlBBekdrYU1uNE5LeE5RcmJGMHJUT1lHa29YTUZDMWlsMktabGk4WWFGN3ZVcG5xdGxPZi9FQkVSRVFtTnBaTFRpYVdTTTBlN3RzMFJGeGVQOVJ1Mnc4ek1GTTJiTjFScjgrWHJWd0NBeVhlTFYxcFo1Y1BhTll2UnJIbG5BRW5EcVRMUzNObTZEMTBLQzN1RnJkdjJ3SzZRVFpxVGwyZlBReEVlL2xwclNXTzVYSTY5dXplaVNCRTdHQnNaNGV2WEdEeDhGS3hzcjFBb2NQMkdIOHhNVFpWemZ3Qmcwd1ozRkNoZ25hYVlpSWlJaURLRDBLV1NzL1pzWS9vaHkxZXV4OHRYNGVqVm81UEc4c0FmUDM0R0FKaDlWNEZMb1ZCZzJmSjFnSjRlaWhhMXgrS2xxN0ZzeGZwTWlmbDdZV0d2QUFBRmRVd1NFaElTTUdEZ0tFeWVPZzhMRnE3QXpObUwwYVBYRUFCQXd3YTFOZmJadSs4SXVuVDdFdy91SnlYVnkxYXN3NENCbzVTbG5XVXlHY2FNbTRrRmkvNWJyK2J0Mi9jWU1IQTBsaXhkbmViM1JrUkVSUFN6dWJpNENIcCtKaStraytNblRtT0xoeWZzN1d6UnYzOTNqVzJ1L3p1L3c4b3FuM0tiUXFIQXJEbExjT3k0TDhhT0hvcGQyOWVpb3BNak5tellocURnRUFCQVltSWk0dUxpTmY1SkM0bCswby8xNStob3RYMzMvbDBjc2tnUk81Mk9aV0JnZ0E4ZlBzTEwyd2RidCsvQjNyMkhZV1ptaWtrVC85S1l2RVJHUm1IcHNyV3d0UzJJY3VWS0F3QWFONnFIbUpoWUhEdnVxenltUzRkV3VIMzduckxhV3A0OHVlRFNzUlZPK3B6RjFXdTNmdmc5RXhFUkVXVUdsa3FtWDU2UHoxbU1tekFMSmliR1dMSjRGb3lOakJBVEU0cy9CNDFHdHV6bU1EVXh4dGVZV0Z5NGNCVVdGdGxScldyU21oclIwVjh3YWNwY25QSTlqNzU5dXFKSDk0NEFnSFZyRnVIbUxYK1VLRjRFQUxCcTlTYXNXcjBwdytJdFhxd0lRa0tlWWZDUWNhaGF0U0lrZWtuSlRHam9TNXp5UFE5N08xdVZCQ3MxZXp3MzZOeDI1dXpGK1BUcE01WXRtYTFjRkxPOFl4bmt6WnNieDQ3N3dxVmphd0JKaFF6V3JQUEEzbjFIVUtiMEh3Q0FJWVA2NGNqUms1aS9ZRGtPN3QraVZoQ0JpSWlJS0tzVGZmTENVc2svMTVjdlg3RmsyVnBJcFZLc1hENVBtWENZbUJnak11b0Q3dmdISURFeEVmcjYrdmlqUkZGTW5EQUNabVpKdzhhZVBRL0ZtYk9YTUdSUVh3d1ozRmQ1VEdOalk1VXl4bjE2ZFViWHJ1MDFucjloNDQ0L0hQUG9rWU1SR1JtRjIzY0M0SGY3djA4SHBGSXB5anFVd3ZScFkzLzRtTHE0ZnQwUFBxZk9vVzNyWnFoYzJVbTVYVTlQRDdWcVZzVXAzL09JalkyRnNiRXhySzN6bzBwbEorVWFKUUNRTTZjRmVuWjN3VDlyTnVQQ3hXdW9VN3ZhVDRtVGlJaUlTS3hFbjd5d1ZQTFBNV25pWHloWHRqVE16RXl4WStzL0NBOS9qVEpsU3FxMDhUcThQY1ZqbENuOUJ3NGY4RURod25aYTI3UnYxd0tWS2xWUUs0R2N6S1ZqYTVRdVhVSnRlOFdLanBCSzlUWDJzYkxLaDgwYmw2Y1lXMHJhdDJ1QkN1VWRmcmhmNWNwT1dEaC9LdXJVcnE2MmIvZ3dWMHllT0ZLbEd0cjZ0VXZVbnE3MDd0VVpwVW9WWitKQ1JFUkVwSUdlSW5rNWFwRVNVNm5rRWlWSzRFSEFKYUhESU1vUXBSeHFzTklmaVk2VGt4UDgvTGorRWhGUld2bjcrd3RhY1V6MGcrcWRuSnhTYjBSRVJFUkVST25HVXNsRVJFUkVSQ1FLTEpWTVJFUkVSRVNpSUhTcFpDWXZSRVJFUkVRa0NxSlBYbGdxbVlpSWlJZ29heEI5OHNKU3lVU1pUK1JGQ29tSWlFaWtSSis4UkVkSEN4MkNUcElXSnpRU09neWlEUEg0ZjA5Z2JXMHRkQmhFUkVTVXlYYnYzaTNvK1VXZnZJaWxWTEt4c1RFc0xYTWg3R1c0MEtFUXBkdWh3OGRScTFZdG9jTWdJaUtpVE1aU3lWbklxRkdqTUhEd2FMeDdGeWwwS0VScHRtbnpUcHc0ZVE1anhvd1JPaFFpSWlMS1pFS1hTcFlLZXZZc3Bubno1akF3TUVEcmRqMWhabWFLUExselFTcmxQd0dKZzB3bXc2dndDT1RPblJlZW5wNHdOemNYT2lRaUlpTEtaRUtYU3VhZGN5YlMwOU5ENDhhTlViZHVYWVNHaGlJcUtncHl1Vnpvc0loMElwRklrQ2RQSHRqWTJFQWk0VU5iSWlJaXlueWlUMTdFV0NyWjBOQVFSWW9VRVRvTUlpSWlJaUpSRWYzSHB5eVZURVJFUkVTVU5ZZytlUkZMcVdRaUlpSWlJckZqcWVSMEVrdXBaQ0lpSWlJaXNXT3BaQ0lpSWlJaUVnV2hTeVV6ZVNFaUlpSWlJcDBJWFNxWnlRc1JFUkVSRVltQzZKTVhNWlpLSmlJaUlpS2lIeWY2NUlXbGtvbUlpSWlJc2diUkp5OHNsVXhFUkVSRWxEbFlLam1kV0NxWmlJaUlpQ2h6c0ZReUVSRVJFUkdKQWtzbEV4RVJFUkdSS0xCVU1oRVJFUkVSa1E1RW43eXdWRElSRVJFUlVkWWcrdVNGcFpLSmlJaUlpTElHMFNjdkxKVk1SRVJFUkpRNVdDbzVuVmdxbVlpSWlJZ29jN0JVTWhFUkVSRVJpUUpMSlJNUkVSRVJrU2l3VkRJUkVSRVJFWkVPUkorOHNGUXlFUkVSRVZIV0lQcmtoYVdTaVlpSWlJaXlCdEVuTHl5Vm5IRmtNaGtVQ29YUVlWQXFGQW9GNHVQamhRNkRpSWlJc2lDaFN5VkxCVDE3Qm5CeWNrSlFVSkRRWVlpV1FxSEF2bjM3c0dIREJvU0hoeU0rUHA0SmpBZ1lHUm5DenM0ZUV5ZE9SSlVxVllRT2g0aUlpTElJb1VzbGl6NTVvZlE1Y3VRSURoM2FoNDNyRnNQS0twL1E0ZEFQdVA4Z0NIK05uQUQzWmN2aDRPQWdkRGhFUkVTVUJiaTR1R0RQbmoyQ25WLzB3OFlvZmRhc1dZUDVjeWN6Y1JHaDBxVktZTnpZWVhCM2R4YzZGQ0lpSXNvaVdDcVpCQ09UeVJBV0ZnWnJxL3hDaDBKcFZMTkdaZHk0Y1FOZnZud1JPaFFpSWlLaW4wNzB5UXRMSmFlZHZyNCtKMzZMbktHaElRb1d0RUpvYUtqUW9SQVJFUkg5ZEtKUFhsZ3FPZTMwOVBTRURvRXlnSW14TVJJU0VvUU9nNGlJaU9pbkUzM3l3bExKUkVSRVJFU1pRK2hTeWFKUFhweWNuSVFPZ1lpSWlJZ29TeEM2VkxMb2t4Y2lJaUlpSXNvY0xpNHVncDZmeVFzUkVSRVJFZW1FcFpLSmlJaUlpSWgwSVBya2hhV1NpWWlJaUlpeUJ0RW5MeXlWVEVSRVJFU1VOVWlGRGlDOW9xT2pZVzV1TG5RWTlJTktPZFJRZVMyUlNKQXpadzQ0VjNURW9JRzlVYXhvWWExOUxDeXk0Nnp2QVJnYkc2ZDZucmJ0ZXlFb09BUW1Kc2J3dStHcnN1L0xsNi9ZdG4wdlRwMCtqMmZQWGlBK0xoNW01bWF3dDdQRnVMSEQ0Rml1ak5aNHYvY2c0Rktxc1JBUkVSR0puZENsa2tXZnZEZzVPU0VvS0Vqb01DZ05wRklwWERxMkFnRElFbVFJdlA4SUowNmV3Ymx6bDdGMXkwcVVLVk5TWTcrUEh6L2gwT0hqNk55cGJZckh2M3psQm9LQ1F6VHVDdzkvamQ1OWh5RTA3QldLRnl1Q3BrM3FReUtSSUN6c0ZXN2Z1WWYvL2UrcFN2THlmYnhFUkVSRVdaSFFwWkpGbjd5UWVCa1lTREY1NGtpVmJlN0wxbUxkaG0xWTdMNEdtemNzVSt0amFaa1RuejlIWTl2MnZlamswZ1o2ZW5wYWo3L0Z3eE5HUm9Zd01URkJYRnljeXI1NUM1WWhOT3dWeG93ZWlqNjlPcXZzKy9EaEk2SStmTlFwWGlJaUlxS3N4TVhGQlh2MjdCSHMvS0tmODBLL2x6OEg5SUtlbmg3dTNidXZjYjljTGtmVktoWHg5TmtMWExoNFZldHhnaCtINFBLVkc2aFZzeXJpNCtQVjlsKzVlaE5TcVJTOWVxalhLcytSd3dMMmRyWnBmeE5FUkVSRXZ5bVdTaWI2aHBHUklTUVNDUlFLemZzVEVoTFFvM3RIQU1DV3JkckhYRzd4OEFRQTlPemhndGpZT0xYOUVva0VNcGtNTDE5RnBEOW9JaUlpSXNvVW9rOWVXQ3I1OTNMbDZrMGtKaWFpWExuU0d2Y3JGQXBVcjFZSnhZc1Z3ZlhyZmhybnRMeDU4dzdleDN4UnBreEpPRlVvQjdsY3J0YW1YdDJrQ2ZpRGhvekYvUWVjTTBWRVJFUWtCcUtmODhKU3liK0h1TGg0WExsNkUxT25MNENSa1NGR3VBM1EyRTd4N3lPWlhyMDZZZExrdWRpNmRUZm16SjZvMG1iSHpuMUlTRWhBNzU2ZHRKNXYzQmczQkQ5K2drZVBIcU5URjFjMGExSWZnd2IxU1hHNFdFS0NETFBuTGxIYlhxdG1WZFNxV1ZXWHQwbEVSRVJFNlNENjVJV2xrc1VySmlaV3BRU3hSQ0pCbGNwT0dQblhJSlFxV1R6RnZpMmFOWVQ3c3JYd1BuNEtJLzhhaUZ5NUxBRUFYNy9HWVBmZXc3Q3l5b2ZHamVwcTdaOHpwd1YyYlYrTHRlczlzTVZqTjd5T25jTHhFNmZoNHRJYW8wY09nWW1KZWhsbW1VeUduYnNPcUI4clJ3N0JrNWZseTVmajl1M2J5Z0lHZW5wNktzVU1rbDkvdS8zN3R0L3ZUNjJma1pFUnZMeThNdVg5RVJFUjBhK0JwWkxUaWFXU3hTdTU5SEJzYkJ3dVg3bUpkKy9lbzd5alE2cUpDd0FZR0JpZ1c5Y09jRisyRnJzOEQyTG9rSDRBZ0FNSHZmRHAwMmY4T2FBWDlQWDFVenlHa1pFaDNJYTZvbXZuOXRpd2FUczhkeC9FTHMrRHVIMzdIclpzV2dFTGkrd3E3VFd0RmZPcmNITnpnNE9EQXhRS2hmSlBzdVJoYzkvdisvYnZ0UFJyMUtqUnozOWpSRVJFOUVzUnVsU3k2T2U4a0hnbGx4NmVQWE1DamgzZGlUS2wvOENxMVp0dzhKQzNUdjA3dTdTQmlZa3hQSGNmUkZ4Y1BCTGxjbXpkdGdkbVpxYm8yTDZsem5Ia3ptMko4V1BkY1BUUWRoUXZWZ1JCd1NGWXVHaFZXdCtXb1BUMDlDQ1JTS0N2cjYvOFkyQmdBQU1EQXhnYUdzTEl5QWpHeHNZd05qYUdpWWtKVEV4TVlHcHFDak16TTVpYm15TmJ0bXpLUHhZV0ZyQ3dzRUNPSERtUU0yZE9XRnBhd3RMU0VybHk1VUt1WExtRWZxdEVSRVFrQUJjWDlVcXRtWW5KQy8wU1RFeU1zWERCTkJnWkdXTCt3aFdJakl4S3RVLzI3Tm5RcmsxelJFWjlnSmUzRDg2ZHU0eXdsK0hvMEs0bHpNMS92SkNEalUwQkxGczZCd0RnNjN2K2gvc1RFUkVSL2U1WUtwbm9YellGcmRHclJ5ZDgvaHlOdnhmcjl1U2paODlPa0VnazJMUHZDUFlmT0FwOWlVUlpTamxOTWRoWVExOWZING55eERRZmc0aUlpSWgrRHRFbkx5eVYvSHR4N2Q4RHVYSlo0c2pSazdoOSsxNnE3VzBLV3FOQi9Wb0lESHlJQ3hldm9XSERPckMyenA5cXYxbHpGdVB0Mi9kcTIvY2Q4RUppWWlLY0twUkxVL3hFUkVSRTlQT0lmc0krU3lYL1hzek1UT0UydEQrbXpWaUlXWE1XWTkvZXpkQ1hwSnhqOSs3VkdUNm56a0doVUtCM3o4NDZuV2VYNTBIczJYc0VEbVZLd3Q2K0VQVDFKUWdLRGtGQXdBTlk1c3lCY1dPR3F2WFJWaW9aQUNaUEhLblRlWW1JaUlnbzdVU2Z2TEJVOHUrbmZic1cyTGxyUDRLQ1E3Qno1LzVVaDRFNWxpc0R4M0psb0tlbmg3SmxTK2wwamtrVFJ1RDhoYXNJZmh5Q2dNQ0hNREF3Z0UxQmEvVHQweFc5ZTNaRzd0eVdhbjIwbFVvR21Md1FFUkZSMWlCMHFXUTl4YmUxVVVXb1JJa1NMSldjRGlWS2xNQ0RnRXRDaDBIcDBMRlRQOHlZT1FjT0RnNlplbDRuSnlmNCtmbGw2am1KMG9zL3QwUkU0aWI2T1M5RVJFUkVSSlE1V0NxWmlJaUlpSWhFZ2FXU2lZaUlpSWlJZENENjVJV2xrb21JaUlpSXNnYlJKeThzbFV4RVJFUkVsRFdJUG5tSmpvNFdPZ1FpSWlJaW9peEI2RkxKb2s5ZW5KeWNoQTZCaUlpSWlDaExjSFIwRlBUOG9rOWVpSWlJaUlnb2M3QlVNaEdsaTF3dUZ6b0VJaUlpeWlKWUtwa0VFeDhmRHdNREE2SERvSFJRS0JTSWVQMFdPWFBtRkRvVUlpSWlvcDlPOU1rTFN5V25uYUdoSWJKbE0wZGsxQWVoUTZFMHVuVDVPdkxtelllQ0JRc0tIUW9SRVJIUlR5ZjY1SVdsa3RObjhPQWhtRGhwRHFLanZ3Z2RDdjJnNE1kUE1HdjJFb3diTjA3b1VJaUlpSWd5aFZUb0FOSXJPam9hNXVibVFvY2hXdDI2ZFVOVVZCU2FOTzhNaHpJbFVhNXNhWmlhbWdnZEZxVkFKcFBobHQ5ZEJBUSt3b1FKRTFDOWVuV2hReUlpSXFJc1F1aFN5WG9LaFVJaGFBVHBWS0pFQ1FRRkJRa2RodWhGUjBmajdObXplUFRvRVJJU0VvUU9oMUlna1VoUW9rUUpOR3JVU05CaGswNU9UdkR6OHhQcy9FUnB3WjliSWlKeEUvMlRGOG9ZNXVibWFObXlKVnEyYkNsMEtFUkVSRVQwaTNKeGNjR2VQWHNFTzcvbzU3d1FFUkVSRVZIbVlLbGtJaUlpSWlJaUhZZytlV0dwWkNJaUlpS2lyRUgweVF0TEpSTVJFUkVSWlEyaVQxNmlvNk9GRG9HSWlJaUlLRXNRdWxTeTZKTVhKeWNub1VNZ0lpSWlJc29TSEIwZEJUMi82Sk1YSWlJaUlpTEtIQzR1TG9LZW44a0xFUkVSRVJIcGhLV1NpWWlJaUlpSWRDQVZPb0QwWXFsa0lpSkt5ZXJWcTNIcTFDbmw2M2J0MmdFQUtsV3FoUEhqeHdzVkZoRVJwWUhvbjd5d1ZESVJFYVdrV0xGaWVQNzhPWjQvZnc0QXlxL3Q3ZTBGam95SWlINlU2Sk1YbGtvbUlxS1VWS3RXRFFZR0JpcmJEQXdNMEt4Wk00RWlJaUlTTDVaS1RpZVdTaVlpb3BTWW1wcWlWcTFhS3RzY0hSMlJMVnMyZ1NJaUloSXZsa29tSWlMNnlSbzBhS0R5dWs2ZE9zSUVRa1FrY2l5VlRFUkU5Sk5WclZvVlVtbFNqUnA5ZlgwMGFkSkU0SWlJaU1TSnBaS0ppSWgrc216WnNxRmF0V29BQUFjSEIrVElrVVBnaUlpSUtDMUVuN3l3VkRJUkVlbWlZY09HQUlEYXRXc0xIQWtSRWFXVjZKTVhsa29tSXFISjVYS2hReUFkVksxYUZRQllaVXhFRWhNVGhRNkJpSDR4b2wra01qbzZHdWJtNWtLSFFVUlowSzFidHpCdjNqdzhmUGlRTjFraVlXaG9pT3JWcXdzZEJ1bElYMThDYStzQ21EZHZIcHlkbllVT2g0Z2dmS2xrMFNjdlRrNU9DQW9LRWpvTUlzcGlmSDE5TVcvZUhQeXpjZ0dLRnVGaWgySVJGeGNQSXlORG9jT2dIL0RreVhQMEgvQVhwazZianZyMTZ3c2REbEdXeDFMSlJFUWl0R0xGQ3F6OTUyOG1MaUxEeEVWOENoY3VoSTNybDJMdTNMbFFLQlJDaDBPVTViRlVNaEdSeU1oa01qeDcraFQyOW9XRURvVW9TN0MzTHdTcHZnU0JnWUZDaDBLVTViRlVNdjB5WkRJWlA5VVNBWVZDZ2ZqNGVLSER5TklrRWduaStHOUFsS2txVkNpTGdJQUFvY01nSW9HSmZzNExTeVduajBLaHdMNTkrN0Jod3dhRWg0Y2pQajZlQ1l3SUdCa1p3czdPSGhNblRrU1ZLbFdFRGlmTGtVZ2svSDlDbE1teVp6TkRiR3lzMEdFUWtjQkVuN3l3VkhMNkhEbHlCSWNPN2NQR2RZdGhaWlZQNkhEb0I5eC9FSVMvUms2QSs3TGxjSEJ3RURvY0lpSWlvcDlPOU1QR29xT2poUTVCMU5hc1dZUDVjeWN6Y1JHaDBxVktZTnpZWVhCM2R4YzZGQ0lpSXNvaWhDNlZMUHJreGNuSlNlZ1FSRXNta3lFc0xBeldWdm1GRG9YU3FHYU55cmh4NHdhK2ZQa2lkQ2hFUkVTVUJiQlVNZ2xHWDErZkU3OUZ6dERRRUFVTFdpRTBORlRvVUlpSWlDZ0xZS2xrRW95ZW5wN1FJVkFHTURFMlJrSkNndEJoRUJFUlVSYkFVc2xFUkVSRVJFUTZFSDN5d2xMSlJFUkVSRVJaZytpVEY1WktKaUlpSWlMS0drU2Z2TEJVTWhFUkVSRlI1bUNwNUhSaXFXUWlJaUlpb3N6QlVrMXpYQVlBQUNBQVNVUkJWTWxFUkZuYytRdFhNR25LUE1qbDhoL3FGeDM5QlQ2bnp1SDkrOGdmNnZmazZYTWNQSHhNYlhzcGh4b2F0MGRFdkVIZi9zUHg3UGwvSmJuOTd3Wml3TUJSaUl2TDJITHJzYkd4ZVBmdXg5NVBXaVFtSnFhNWIwaklNeXhadWhyUjBhcnJLOTI5ZHg4clYyM0VodzhmdGZiMU9uWUtFeWZQU2ZPNU04cTdkNUVJRDMrdGZCMGJGd2VQcmJ0eHk4OWZ3S2lJU0F5RUxwVXNGZlRzUkVTRUd6ZnY0T0FoYnhTMnQwVy92dDEwN25mbDZrMk1HRGtabXphNDQ4S2xhMXJiRlMxc0J3ZUhVc3JYVjYvZHdweTVTOUcyZFRPZHp2TTFKZ2JYcnZ1cDNLeS9meCtGUzVldnF5VUJNcGtNTDBKZjZuUmNlenRidFpMdCt3OTZZODdjcFhnUWNBa0FjTlRycE5iK3pzN2xjZnJNUlozT0JRRHQyemFIc2JFeERoODVnUTJidG1QdFA0dGdiWjBmejUrSDRWN0FmYTM5V3Jab3JQTDYyZk5RYk5pMEExMjd0b2U1K1g5Rlk5WnYySTRiTjIramU3Y09XbzhWRVBBQWh3NGZ4OXpaazFLTU5WRXV4L1BuYVZ1L3lUSm5EdVRJWVpGaW05bHpsK0RpcFdzNGRXSXZMQzF6QWdEV2I5aUdJa1hzNExGNXBVN25lZnkvSjJqZHRpYzJybmRIMVNvVjFlS1BqWWxGYkd3c1ltTGo4UEhqSjBSR1J1SDkreWhFUmtaQlgxOGZ2WHAyU3RQN0l5SmhDVjBxbWNrTC9USktPZFFBQUZoWVpNZFozd013TmpaT3RVL2I5cjBRRkJ3Q0V4TmorTjN3MWRvdU1QQWhYTHE0QWdBMnJGdUthbFdkVTQxRG0rU2JLcUtNNGpiVUZUNCs1K0IvTnhBS2hVTG5OWml1WGZkRE5uTnpWSFJ5Uk5ueWRiUzI2OUc5bzByeW9xdSsvWWNEQUdKajR3QUFzK1lzZ1ptcENRQWdLdW9EQUdEdzBMR1FTSkllNGxldVZBRk5tOVJIaTFhNkpXQzNycC9DVWErVG1ERnJrZGIvVitNbXpOTGFmOFd5ZVZpeWRMWEtOcmxjanJpNGVCZ1pHU3JqU3RhMGNUMFlHeHVqUlBFaWVQY3VFdDE2RE1MRzlVdHg4NVkvWnN4YXBQVThMVnMweHZFVHB6RjU2anpjdU9hanNjMlRKODl3OXR3bERCbmNOOVhFUVJlZlBuN1crZnY0UGJlaHJoajRaeSt0KzMxOHpzTG4xRGwwNmR4V21iZ1lHeG1oVCs4dVdMeDBOVTc1bmtmREJyWFRkRzRBS0ZlaHJ0cmFVM3A2ZXJDd3lJNThlWE1qYjk0OHlKOC9MMkppWW1GaWt2cDFub2pvVzZKUFhsZ3ErZmZ6OGVNbkhEcDhISjA3dFUyeDNlVXJOeEFVSEtMVE1mY2Q4RkorZmVDZ2Q0ckpDd0JJcFZLNGRHeWwwN0dKVWpOdndUSnMyNzQzMVhZdlg0V2pkTm1hV3ZmMzZONFJFOFlsSlJRS2hRTG5MMXhCbzBaMUlKVks4U0RnRWhJVEUrRmN1UkVHRGVvRDEzN2RsZjBTNVhKczNySUx0V3RWUmVIQ2RqckhYYmh3SVFEQXAwL1I4TDhiaUFMVytXRnBtUU1BRUJabWlLRGdFTmdWc29IVUlPbFhTZDY4dVdGclcxQ1ppSlJ5cUlFSjQ0YWpSL2VPQUlBZHUvYXJQRlhSeGZkdFkyTmowYVg3UU1URnhxRlNwZkpxSDFyczJYY0UwMmNzeEw3ZG0xQ2tpT2IzK3NjZnhiQnh2VHQ2OXgyRzN2M2MwTHRuWjQzbjJyM25rREtwa2Nsa2lJbUpCUlFLamNmOFo4MFdXRnJtVkI0cnVmLzNnaDgvMGJxdmZIa0hGQzlXUkdYYnRDbWowY21samNhNExsL3dSczZjcW9sU2FoKytoSWUveHRRWkMyRnRuUjhqUnd4UzJkZTlXMGZzMlhzWU0yWXRRb1h5RHNpVnl6TEZZMm1Ua0pDQXRtMmFvM3ZYOXNpV1BSdXlaek9IdWJtWldqSkpSSlFXb2s5ZVdDcjU5MkpwbVJPZlAwZGoyL2E5Nk9UU0pzVlBvTGQ0ZU1MSXlCQW1KaWFJaTR2VDJpNDJMZzdIajUrR1hTRWJKQ1RJY1ByTUJYejY5Qm5aczJmVDJzZkFRSXJKRTBlbTY3MFFmVy84V0xjMDk1Mi9jTG5LYS8rN2dRZ1BmNDEyYlpzcnR6MTg5Qml4Y1hGd0xGZEdwYTBzUVlhL0Y2OUM3dHlXYXNuTHUzZVIrUFQ1cy9MMTI3ZnY4ZVRwY3dCUS9oOTQ4dlE1dkx4OTBMZFBWNVFwL1FjQTRQU1ppN2h3OFNyR2poa0cwMytmeG54TDhlOU52bzRQa1ZJVUVQQUFUNStGb2xYTHhwZzRlUzVldmd5SDU4NTF5R1p1cnRiMmNYQUl6TXhNWVc5dm0rSXhTNVVzamxVckZ1RDE2emY0OHVXcmNudkU2emU0Zno4SXRXcFcwVG0raHcrRGNmekVhVXlkUEFxbXBpWjQ5andVZVhMblN2RnBqcVo5NDhlNnFTVXZrVkVmOE9KRm1ObzJBSGo1OGhVK2YvTnZsNXJZMkZnTUd6NEJYNksvNEo4VkMyQm1acXF5MzhqSUVITm1UMFR2dm00WTRqWWVXell1MS9nRS9OanhwSVR4OWV1M0FKS0dQVVpGZllCVUtrV2poblVBQU5aVytWQ3laSEdkWXlNaTBwWG9rNWZvNkdpWWEvZ0ZSdUlrbDh0UnRVcEZYTGg0RlJjdVhrWHRXdFUwdGd0K0hJTExWMjZnWVlQYXVIemxSb3JIOVBFNWg4L1IwZWpRb1NYaTQrS3hZOWQrSFBYMlFiY3U3WC9HV3lEU3FtZVBwRW1PbDYvY1FKRWlkc2lmTDYvS2Z1OWp2bmp3TUFoalJnMVI2L3Q5OHVMbG5UUjhxVVR4b3NwdE4yN2NocjYrUG5MbHlvbVhyOElCQUNiR3hpaytvVjYyWWgzMmYvTmswbjNaV3Jndld3c0F1SDNyTkY2OWlrZzYzNUVkQUtCTWJPenRiZUYxWkFjaVhyOEJBQlN3dG9LUmthSHlPTW5KaTc1KytuL05YTHR4Rys3TDFzTDcyQ2xjdW53ZEs1ZlBSMkg3cEtkQ0NRa0pPT1Y3WHRuMmxwOC9jdVd5eEltVFoxU080VkNtSkd4c0NxaHNjNjZZVkRIbjI2Y2dOMi9ld2JnSnMzRDVncmZPOGMxYnNCekZpaFpHaHc2dElKUEpNSFRZZU1nU0V4SGdmeDc2K3ZyZnRVMTZDcWZyMDZjVkt6ZGd4Y29OR3ZjbEQ0WFZoVXdtdzRpUlUvRGdZVERHamhtS0NoWEthbXhYMGNrUkkwY014S0lsLzhEMXoxSDRaOVVDdFNSeDlOanBLcS9YcnZNQUFKaVlHQ3VURnlMNmZRbGRLbG4weVl1VGt4T0Nnb0tFRG9NeVNFSkNBbnAwNzRnTEY2OWl5OWJkV3BPWExSNmVBSkp1QmsrZnVhaHkwL1M5QXdlVGJzeGF0V2lNK1BpazVPWEFRVzhtTDVScGF0ZXFocHc1a29aYnlXUXlMRnV4SG84ZVBVYkw1bzB3Y0dCdjJCUzBCZ0JjdUhnVjNzZE9hVXhlM0lhNm9telpwSGtyMGRGZmNPU28ra1QyQ3hldklqRXhVV1d1Uk8xYTFlQytaTGJXMkdiTkdJOVpNLzdmM3AzSHhaei9jUUIvelV3bmxYS1VvblZyVVVqdSs0aEVXZWU0ZGgxWmR0M25Jc2Rhd3E2YnhTN1dmVVVvSXJkMXJTV0VpSXAxYmVpSHpkRWhOVFh6KzJNMHlrd3pGZnI2NnZWOFBEeCs5VDNtK3k2MjM3ejdmRDZ2ejBUczNMVVhQLzQwQjdObVR0SXM1TDkwNlNxKzdqc2tSMStqLzVhVnFGRzltdGEwSmI5WkMrQTNhMEdXWXhuWGVMWnRoYnAxWEEyKzlzQUJYNk5RSVhQTW1yMElMVm8wUm92bWpUVG5FaE5mYWIyWkJyVGZZRStiT2c3ZEhVdmhuMy91WXVJa1A4ejUrY2RzcDVYbFJzRE9ZSVJkQ3NlR2RVc2hBYkIrNDNiY3VYc2ZNMmY0YWpVdWVURjE4bGl0S2F3Qk80TGhOMnNCVHA4STFscGY0MUpUZTYxS1Nrb3F4b3liaWxPbno2Szd2R09XcVcyNitQVHZoYWRQNDdCaDAzYkllM3lMaGZObVpCbEZ5V2k4OW9VY3h2aUpNM1F1MkNlaXo1ZlFVY21pYjE3bzg2SlNxZENvWVYxVXJsUUJvYUZoaUw1NUcwNlZzMDZqZVBMa1A0VHNQd3BuNXlwd3ExVkRiN3hzeklOSHVIRHhDaXBWTEE4bkovVnZxTXVXY1VSazVFMUVSdDdrdEFiUzh1ZWZmeUl1TGc2TkdqV0NnNFBEQjNuTmhnM3FhTlpaR1JrWndYL0xTbXpmdmh0TGxxN0MzcEREbU93N0N0M2xIWkdlbmc0akk5MXZlRE12d0E3YXZUL0xWQ2RBUGYwckxDd2MzdzNxaStiTjFFMy8rSWt6ZEU3cDB1V3ZNNkVBQUVXcVFyUGdQY09lb0kyb1ZMRzh6dnVpb202aGM3Zittczh6Um1nZVBIaUU3NGY4QUwvcEUrSHE2cUkrRjNJWUsxWnUwRnhqVWJnd2pwL1FQd0tSa1RabVpXbUJPclZyNHA5LzdtSlA4RUZJcGVyNWFJMGExUU1BekovN0U5cDV1aU01K1RVMmI5MkpWaTBhbzN6NXNraFBUOWQ2US85ZjNEUDA2RDBJaXhiNG9mR2IrL1Bxd01GalVLbFU2RDlncENaNXJXNGRWM1RxMkE0cWxVcTlUaWFUdExRMEFNQ3JWOGxhcjZYcjcwb3FsV2cxUVJsZnUxUXFNOWdnUFgwYWg1R2pKK05LZUFTOHZUd3dkWExPcHNOT0dEOGNGcGFGc2Z5M3RaRDNISWkrZmJyanU0RjlZR241ZGhRbUkra3QrdVkvcUZTeFBJb1hmN3RHSnViQlE1dzlkOUhnYytyVnJjVzFNRVFpSTVmTEVSQVFJTmp6MmJ6UUp5Vmpxa25mdnQweGVjcHNiTnk0SGJObVRzcHl6WmF0TzZGUUtOQXZCekdiZ1VFaFVLbFU4UForRzNYcTdlMkJwY3RXSXpBb0JKT3phVjRVaWpUTW5MMVE2M2pUSmczUXRFbUQzSHhKSkRMMzc5L0hzbVhxcU5ncVZhckEwOU1UVFpvMHdSZGY2RjlEa1JPWHIxeERiT3hqdFBWb2lWNDlPNk8xZXpQTW03OE1EUnZXQmFCTzlUS1VzdmM2SlFWcjFtMUJ0YXBPdUg3ajdhaHp4djRzMy9UdWlxSkZiYUJVS3ZIa3lWTTR0bTFsc0s3WHIxL2pYR2dZQVBVMHNoTW56K0RYeGJNMTU3L3ExQ2ZIWDJQR2RLN1FVUFY2eE1hTjY4SE90Z1FBYUJhQVoxd0RBQ1ZLRkVPdE44Mk5McnJTeG53bnZ4MUpPbjBpT011NXBLUlhXTFI0QlVvNWxOUVpUbEN4WWpsczN2ZzcrdnVNd09DaDQ3RjU0Mjg1L01wMG16UnhKSjQvZndrYm15SVlQM0VHN3QrTGdkLzBpWkJJSlBqZjR5ZG82ZDVaNTMyMTY3WFdPcVpyS3RsMHYvblpycDFwMUxTOXp1T1pUWjMyQzY2RVI2Qlh6ODZZTkhGVXJocUZvWU45VVBYTHlwajg0ODlZdDk0Znp0VytSRnVQbGdDQStQZ0VuRGg1QmdDdzVOZFZPSExrSkRhc1d3b2pJL1hiaXVDOWgzU09EcjdyOHNVLzlZNmNFOUduaDFISlJEcDR0V3V0bnVOKzRBakdqUDVlODZibjFhdGtiTit4Qi9iMmR2Qm8wMEx2YXlpVlN1emVjd0JTcVJSZTdkKytVZkQyOHNDeTVXdXdiLzhSL0RCdUdFeE1qTFh1VFV0THcxYi9RSzNqTnRiV24yVHpzbXJWS2tSRlJXVTVwc29tRlNtempFQ0VuRnlyNjk3azVPUXM5Mlo4bk4zcjZicjJVNU01L0NFeU1oS1JrWkZZdUhBaEtsV3FCQThQRDlTdFd4ZlZxbFhMMDJ0djNySVRCdzRldys4cjEyUEVzSUZvN2Q0TWMrZE0wNXhYcitIVG42QzRiWHNRbmo2TncwOC9qc2VRWWVNQnFLZGJidlVQUklzV2pUWFJ0M2Z2L291VWxGUlVycVI3eENTem8zK2VScFVxbFJFYUdvWnVYVHBnM1ladG1QYlRYSFRwN0FVQVdMNTBEc3FVS2EzejNydDMvOFh3a2I1WmppVWx2Y0lmYXpiQnhhV3FwbkhKVHNzV1RkQ3l4ZHVFdGRSM05yM00vSWErcWt0ampCNzFQUVlPK0JxRHZoK0xmMk1lUWlyTi9kU3MwcVhzc1hIOU1temRGb2pxTGxVUkZYVkxjeTdqbjJWT2d3WXlScVNDOXV4SGRQUS84SjB3VXJPMnhycUlGZWI4UERYWDlXVTJkSWdQUE45cFFBOGNQSWJsdjYyRi81YVZXVVpDQUdqRks4L3k4OFdKazMvRDBxSXduR3MwemRXenZiMDhNT2ZucVFnSjNvcnpGeTVsK1ptN2U4OEJTQ1RxUm1qNDBHK3grTmRWbUwvd04wMG9SZStlWGRDelo5Ykd6YXREYi9UcTJSbTlNazNaMWZYemw0aElIOUUzTDR4Sy9qd1pHeHVqZDYrdVdMeGtKZnkzQldIWTBBRUExT3RYNHVNVDhOMmd2Z2FuUzV6NSt6d2VQMzZDZW5WclpWa1lYYnFVUFZ4ZFhYRHAwbFVjUFhZUzdUemR0ZTQxdEcvTXB5WW1KZ2JQbnIzZGxUeHpZNUNUUFVOeXM3ZEk1bnZjM2QwMTkyVysvOTJQMzMxOVhmZDhLbEpUZGU4WWYrdldMZHk2cFg2VFc2OWV2VHpWUG0vT05EUnIyaEJMbDYzR3lOR1QwYWhoWGF4YXNVRHpXaytmeGhtTXB6VTNNNE5YK3piNDhzdTNDL1g5dHdYaDhlTW5tRHA1TkdiTVhJQlJJd2JoMU9tekFBRFhtdG1QYW1UWXRpMFFIbTFhSWpRMERHWEtPcUpuajA0NGR5NE1MVnVxbXdvSGV6dVUrVUozOC9MdXRDaUZRb0d4UDB6RC8vNzNCSk45Unh0OE5nQXMvMjB0ek14TUlaRklzSFZib01GOVV0TFQwM0g1eWpWMDdPQ3BmVTZwbnJwbDZPL0gzdDRPWTBjUDFqcisrazN6YW15Yzh6ZlZUNS9HWWM3Y3BhaGJ4elhMQnBWbVptWmFHMXptbEltSk1UemJ0a0l0MStwWlJxb0FvUGliZnlOZk9KYldpa3IyYk5zS0ZTdVcwM3hlckZoUmRPbnNoWHYzWTdLc3BUcHk5Q1RDcjE3SDJOR0RkWDZ2RmkxWkNYTXpVd0NBalUyUkxJMUxhcW9DNjliN3c3MWxFK3piZndSVnFsVEdrTy83WStueTFXalJUTDBlcVhqeG9scDFBK3BmQU9rNlRrU1VVNkp2WGhpVi9QbnFJZStJbGFzMllOdjJJQXo4OWhzWUdSdGg0NllBRkM1Y0NOMjZlQnU4ZjFlUU9pM295WlAvTUd4RTF0OE14OFdwMytnSEJvWG9iRjdFeHMvUER5NHVodCtrZmtodWJtNDRjK1pNdmo0elA2eGJ0MDR6YlN3elIwZEhOR3JVQ0o2ZW5uQjJkb2FUazFPdVgxc3FsYUtEdHdmYXRHbU9QLzdZQkF1THdwbzNqbWxwYVhqd01CYnVyZlQvZHJ4TjZ4Wm8xdXh0a01YekZ5K3c3TGMxYU55NEhteHRTK0Rnb1Q5eDZ2UlptSnVib1h6NXNyQzN0ME5LaXU2R0RGQkhMbDhKdjQ2RjgvM3c4NXdsQUlCaFF3Wmd6S2pCaUlpSUJBQjA2dG92eDEvajFXczNjUGJjUlhpMWE0MVdMYlB1V1dOblcwS1Q4SlZaOEw1RGlJbDVDQUN3dGk2Q2NXUDBod1JjREF0SFV0SXJlSGhvajc0bUpTWUJVRys2cUU5NmVqcnUzNC9SbWxvV0g1OEFtVlNhNDdWQzZVb2x4dnZPZ0VxbHd2UnBFM0Q3OWozY3VYc2ZULytMUSsrZVhUU3h3b1pVckZoT0U1T2NjVStybGszdy9Qa0xyZGVJdUs0ZVpUMTY3S1JXM0hHcmxrMlFtcHFLL1FlT3dzNnVCTnhxMVFDZ1h1dlh2MTlQelhYaFY2L0R4c1lhUHYxNzZheG53YUxmWVdxbSszdTRlY3NPeEQxN2pvNGQyMkhmL2lNQWdHOEg5RVp5Y2pJcVZGQTNUam5aWkppSUtDOUUzN3d3S3ZuelpXVmxpYzRkMjJPTC95N3NDemtNYStzaWVQQXdGbjIvNlc1d2FzMkxGeTl4L0xoNnVzbmRlLy9pN3IxL2RWNTNMalFNc2JHUFlXOXY5OEhySi9FclY2NGNHamR1akhidDJxRnk1YnlITzZ4Yjc2OTFMT1BmY01hNS8vNkxnMEtod0lzWEwzVmVEd0FsYkl2RHE1MTZDbVJHUkxHTnRUVzh2ZHFnWDU4ZWNIUXNoWjNiMTJENHFFbUlqTHlKSWQvMzEvazZtZjJ4ZWhPYU5xa1BXOXZpV3JXWm1wbkMwYkVVcGsvN0FRNzJKYUZTQWUyOGUyTGkrQkZvMWxROWZUTG13U1BNbUxrQXBpYnFkUXR1dFdwZ3pSK0xVTjFGZTJxZGU2dW1jRy9WRkI3dHVxTlhqODdvKzJiZDJzR1FiVWhQVDRkVUtzM1Jtb3hLbGNwanlxUXhjS3RWQXk5ZXhHYzVkLysrZWsrVW9zVnM5TDVHWk5RdDlPZzFDTFA4c3E2cGV4RHpFTVZMRk0veHlGcnczb01JRFEyRHNiRXgybmZvcFFrUXFlWHFndDQ5dStoTVF0UGx1MEY5TmMxTFR1K1pObjJ1M3ZQTm1qYlVOQy92dW5uemRyWWpJQ2twcVZBcWxURFgwWUE4ZWZJZmx2MjJGbDd0VzZORWlXS2E0MFpHUmhnOTZudk5ualRGREh6L2lVaThHSlg4bmhpVi9IbnIwNmM3L0xjSElXQm5NSW9WdFlaTUt0WHMxcTFQOE41RFVDZ1VhT3ZSRWd2bno5QjV6ZWl4VTNIbzhIRUU3ZzdCME1FK0g3cDBFaWw3ZTN2NCtQakEwOU1UNWNzYlhpK1NFL01XTE0veHRXZlBYY3cycGFsNjlhcWE1aVd6cVpQSGFqNTJjQ2lKY21XL3dNMmJ0OUcxcStFUlNpZW5pbWowSmpBZ3M1U1VWRlNzVUE3QlFaczB4K0xqRTZCU3FWQ3U3QmV3ZXpNVjA4N09Wbk5OeHZUQTJtNDE5WTQ0eE1ROFJOaWw4Q3h2ZmpOemNDaXB0ZEZtWmtWdHJOR3JwKzZGOE9jdlhJWkVJa0g1OHZxbkpvV0hSMENwVktKTW1kSzRlZXNPWkcrYXBrdFhybW5XQ1Vta1VzM3g3SlF2VndiMTY3bWhRdm15S0ZldURNcVgvd0xseXBYSnN0YW5mNytlR0RFcyt6MVpYR3UzelBKNTZOOEhkVjYzZWV0T0xGMjJHdFdyVjhYVnF6Znc1WmVWWUc1bWhpV0xadWxjOUo2eGVQNWREeC9GNHQ3OUdMUjIxNDVWQm9Ea1pIVVNXcUYzUm5VQXdOTFNBb1hNelRCMGlJL094TFI3OTJNQUFLVksyZXQ4YlNJU1AwWWxFK25oV05vQjdxMmE0c2pSazVCSUpHalR1amtjSEVvYXZDL3d6WlN4RHQ1dHM3Mm1TMmN2SERwOEhMdDNIOENRNy90L2t1c3ZLUCsxYlp2OXY1bThNclFoNGZhQTNaanVOeCt1TlYyeUpEYmx4YlZyTjNEZzRERjRlN1hSMmdSVGwyOTl2dFk1UmVyZE45U1pEUm84VnVmeEk0ZDJvSlNEK2sycm9kR0RvOGRPNGVpeFV6clBlYlp0cGJkNXlVNThmQUwyN0QwSVc5c1NNRGJ3UFF3OWZ3bVdGaFp3Y2FtS21qV2NJZS9hQWRkdlJPT2ZmKzdDMU1RRWNYSFBJTy9hQWZLdUhmUytUbzNxMWJCMjlSSzkxOGlrMGx3bGFyMjdDRDg5UFIwTEY2L0F1dlgrR0Q3c1d4UzFzY2JWcXpjd2Y4NDBEQjB4RWNOSCttTFJRcjhjL1gwRDBJU1J0TTVtUThtRU4xUHYzcDJTQnFqWEE2NVp2UVNsSE94eDY1ODdXdWV2WHIwQnFWU2FiYlEyRVlrZm81S0pET2pYdHdjT0h6a0JsVXBsY0hNMUFJaUlpTVROVzdkUjFNWWFUUnBudjRkRHd3WjFVTEtrTFI0K2lzVzUwTEFzbTZ4bEY1VU1BRk1tNVd5ZkJDSkRVbE1WV0xwOE5kYXMzUUlMaThLNGZPVWFXclhwZ2g3ZE82Rjd0NjgweVdFNWxaS1NDdDhwczJGcVlvSlJJNzdUSERjMU5jbTJnY3B1YmNlUlF6dXlmUDdxVlRKR2pwb01DMHNMUkVmL2c1NDlPbW1OZ21aKzg2eXZZYXZxMGhqZkRlcUxrY056dmtOOGRpd3RDMlBOSDR0Um9YeFovRGg5TGw2OGVBbVpUSWFPWGZwaHR0OGt1THE2WU0wZmk3T014S1FybFRoLzRUTHExblhWakt5a3A2ZGoxdXhGc0xLeVJITHlhM1R1MWg4TDU4L1FUTHZ5OXZJd3VQaGVvVkRnK28xb1hMNFNnU3RYcm4yUW54WDM3c2RnZ3E4ZmJseVB3dVJKbzlHN1p4ZHNEOWdOQUxDeHNjRzZOYi9pMjBGajBMRnpYNHdlK1IyNmR2SFdHMlp5OWVvTmJOcThBMjYxYXNDNTJwYzZyM24yN0RrQXdES2JLZG52N3IyVjJhblRaMUcxU21XRFUzdUpTTHdZbFV4a1FNMGF6cWhad3hrU2lVU3p3N2crR1F2MVBUM2Q5ZjZmdUZRcVJlZU83ZkhiaW5VSUROcVhwWG5KTGlvWllQTkM3eThwNlJXQzl4N0M2cldiRVJ2N0dNMmFOc1RjWDM3RTdUdjNzRzY5UDViL3RoWXJWMjFBZTgvVzZOZXZSNDUraTYxU3FUQjU2bXpjdVhNUHZoTkdvbVJKUGIrRnowRk1kY1lJQ3FEZXdQS1hPYi9DMk5nWXEzNmZqL0NyMXpGbTNJOTQ5dXdGeG84YmxtVnp3bzhsdTJodEl5TWpWSzFTR2I2VForTEV5Yi9SMXFNbGhnM3h3ZmlKTTlDbi96RDQ5T3VKRWNNSFpobk51bkxsR3VMakU5Q2d2bnJqMEhTbEVwT216TWFWOEFqTW1qa0o3aTJiWXRTWUtlam5Nd0xqeGd6UnJNM1JWY3UrL1VjUUZoYU82OWVqRUgzek5oUUtCWXlNakZDbFNtV1ltK2Q5MFhwQ1FpSldyRnlQVFZ0MndzYW1DRmIvc1JqMTZ0YlN1cTZrblMyMmJ2b2R2cE5uWXJyZmZLeGR0eFc5ZW5aQiszYXR0ZjVlSWlJaU1XVFllQmpKWlBoeHF1N1JNd0Q0NnkvMWhxVmx5emptcXVhb3FGdUl1QjZGMGFPK3o5VjlSRVM1SWZybWhWSEpudzk5djZuZHVubEZqdStiTm5VY3BrMGRsNk5uRGhzNlFCUERuSk02aVBJcU52WXhRczlmd3NsVGYrUFU2Yk5JVG42TjBxWHNNWGZPTk0wNmxwbzFuTEZrMFN6RXhEekVoazNiRVJnWWdxQTkrOUdrY1gzNDlPK2w4ODByb0g0elBmdm54ZGgvNENoYXRHaWNKYTRYVUkvSXhNY253TnJhQ2xLWkREY2liK21OQWs1T2ZvMkk2MUU0ZSs0Q0RoOCtnZnYzWTlDcFUzdU1IemNNRmhhRjBheHBRK3phc1E1VHBzNUdxelpkMExKRll6Um9VQWR0M0p2aDc3TVhjdlQ5dUgzN3JzRWtycFl0bXlENTFXdFlXQlJDMkNYMWIvcE1NdFdkbnA2T3dLQVFMRm42QjU0OWU0NXVYVHZneHlsaklaUEpzRzNyS3Z5NjlBK3NXYmNWWjg5ZHhJSjUwL0hGbTdqblk4ZlVPOE0zYUZBYmNYSFBNSDdpREp3OWR4SDkrL1pBcDYvYUFRQldyVmlBYWRQbllzNjhwYmg3NzEvMDc5c1RMMTYraEttSkNRNGZPUUZBSFZ1OWI5OWhYTHA4RmE0MVhUQjgyTGVvVmRNRjFhcDltV1dhMk9xMVc3QjY3WlljZlYvaTRwNWh6ZHF0MkxFckdFbEpyOURCMndNVHg0L1FHeDl0WldXSjVVdm5JR2pQZml4YXZBSno1aTNGdkFYTDBieFpJeXhaUEF1cEthbFl1MjRyVnEzZUJKbFVpc1dMWm1vYTRzQ2dFRHg0K0FoV1ZwWXdOVEhGdi84K3dCYi9YU2hUcGpTcU9lc2VtY25PNGw5WHdkVFVCSjA3dHN2VmZVUkV1U0g2NW9WUnlVVDBLWHYrL0NYa1BiN0Z3MGV4QUFDWlRJWUc5V3VqUzJjdnVMZHFxbk4wME5HeEZLWk1Hb1BCMy9YRHVnM2JzRzE3RUU3L2RRN2ZmOWRYNThMdjlSdTNZNHYvTGpnN1Y4SDhPVDlwcmQ5NitUSWV6VnQxekhMTTJibEt0alZmaTRoRVA1L2hLRm5TRnA0ZUxTSHZwcjFKWmRreWp0aTg4WGY4ZmZZQy9MY0ZZdDc4WlhCdjFUVEhTVm42MXJ4aytQTm9JTDdxMUFjSkNZa0ExS01zRFJxb1IwanYzMzhBbjRFakVSdjdHQ1ZMMm1MeHdwbG9rMmtOaDVHUkVjYU1Ib3phdFd0aWdxOGYrbjg3RW9jUEJFQW1reUg4Nm5YWTJaWkFrU0pXOE9yUUd3bnhDUmc3ZWpBRytMemQ0RkVtazJIbURGL1kyaGFIYTAwWGhGNjRoSjh5cFhzMXFGOGJSWXBZNFpmWlUyQnBaYWwzWVgvelpnMjFOcHJNYklLdm4rWmpNek16WExoNEdSVXFsTVg0c2NOUXExWjF2ZCtqekRwOTFRNmViVnNoTURBRWUvY2R3dkNoQS9Eb1lTemtQUWZpNWN0NFZLcFlIci9Nbm9JcVZkNG01ejE2OUQrc1dMa2h5K3Q4K1dVbHpQMzVSNE5oQlpudDNYY0lwMDZmeFFDZjNnYjNLaUlpZWgraWIxNFlsVXhFbnpJYm15TDR1bmRYM1BybkR1clhyNDBtamVxaFNCR3JITjFickZoUmpCc3pCQU1IZkkxTm0zZGsyUVBHMk1nSTVjcCtBYWxVZ3U3ZHZzTGR1L2N4ZnR3d25WT1ZTcFFvaHQ2OXVpSTFWUjJCYTIxZFJPZGVTZnVDdDZCRWlXS3d0TERBc2NPN2NoUWgzckJCSFRSc1VBY0toUUxHeHNZZmZPVHloN0ZEa1pDUUNHTmpJOVNyNTZZWk1TaFRwalM2eXp1aWtMa1p1bmJ0a08yK0xrMmJOTUN1Z0xXNGMrZStwbEhjdUg0WklpTnZvcWlOTllZTkdZRHFMbFd5YmVZeW1zVzR1R2V3c1M2Q3RMUTBXRnBhYUViQkRHMm9LZS8yRlpvMHJxKzE1MDFtWVpldW92cWI1eGN1WEFnYjF5L1hPK1ZNSnBQQnhNUVl1akpHekV4TjMreGkvemFOYmVqZy9paFVxQkMrNnRCV3Exa2VNcmcvK253alIvTHIxMGhQUzBlaFF1WUd2NllNRWtnZ2swb2hsVWhRcDQ0cmFydlZ4TkRCMmNkenk2UlNTS1FNUmlFU082R2praVdxN0NZU2k0U1RreE9qa3QrRGs1TVRwMG1KWExmdUF6Qjl4aXhCTnFrTUN3dkwxMmQrU3ZqZkRsRldTcVV5Ui92MDVOWGNlVXRoWjE4V1BqNk10aWNxeUQ3ZVR4a2lJaUlxTUQ1bTQwSkVudzY1WEM3bzgvbVRob2lJaUlpSWNrVG9xR1EyTDBSRVJFUkVKQXFpYjE0WWxVeEVSRVJFVkRDSXZubGhWRElSRVJFUlVjRWcrdVlsTVRGUjZCS0lCS1ZVS29VdWdZaUlpQW9Jb2FPU1JkKzh1TG01Q1YyQ2FLV21wdXJkWlpzK2ZTcVZDdjk3L0JRMk5qWkNsMEpFUkVRRlFNMmFOUVY5dnVpYkY4bzdFeE1UV0ZwYTRObnpGMEtYUW5uMDE1bFEyTnJhb1hUcDBvWXZKaUlpSW5wUGpFb21RUTBaTWhTVEpzOUNZbUtTMEtWUUx0MjhkUWQrTXhkaXdvUUpRcGRDUkVSRUJZVFFVY2xHZ2o2ZEJOZTdkMjg4Zi80Y2JkdjNnSXR6RmRTb1hnMkZDcGtMWFJicGtaYVdob3RoNGJnV0VRVmZYMTgwYXRSSTZKS0lpSWlJOG9Yb214ZEdKYjhmcVZTS0VTTkd3TWZIQjhlUEgwZFVWQlJlSnJ3VXVpelNReXFWb3Eybk54WXVXc3AvQ2hQYTdRQUFEVHRKUkVGVS93SkpUMCtIUkNJUnVneWlBaVV4NlJVY1pES2h5eUFpZ1ltK2VXRlU4b2RoWVdFQmIyOXZlSHQ3QzEwSzBTZFBxVlRDMkZqMFB6NkpST1ZjYUJoNjl1b25kQmxFSkREUnIzbGhWRElSNVRkalkyUFVxdVdHNHlmT0NGMEtVWUd3Si9nZ3JLMkx3dG5aV2VoU2lBbzhvYU9TSlNxVlNpVm9CZS9KeWNrSjBkSFJRcGRCVk9DNHVia2hMQ3hNNkRJRWMvdjJiWHp6emRlUWQrMkFIdDA3b1VTSllrS1hSUFRaU1V4S3dxby9OaUV3YUQvOC9mMVJ0bXhab1VzaUlvRngzZ01SVVI1VXFGQUJ3Y0Y3c1hIalJyVHo3Z1dKQk53M2llZ0RVaXFWU0U1T1JzZU9uYkJueng3WTJ0b0tYUklSUVIyVkhCQVFJTmp6T2ZKQ1JIbFMwRWRlTWt0UFQ4Zno1OCtoVkNxRkxvWG9zMkpsWlFVek16T2h5eUNpVElSKzc4MlJGeUtpOXlTVHlWQzhlSEdoeXlBaUl2cnNpWDdCUHFOaWlZaUlpSWdLQnRFM0w0eEtKaUlpSWlJcUdFVGZ2REFxbVlpSWlJZ29md2dkbFN6NjVzWE56VTNvRW9pSWlJaUlDb1NhTldzSytuelJOeTlFUkVSRVJKUS81SEs1b005bjgwSkVSRVJFUkRrU0hoNHU2UFBadkJBUkVSRVJrU2lJdm5saFZESVJFUkVSVWNFZyt1YUZVY2xFUkVSRVJBV0Q2SnNYUmlVVEVSRVJFZVVQUmlXL0owWWxFeEVSRVJIbEQwWWxFeEVSRVJHUktEQXFtWWlJaUlpSVJJRlJ5VVJFUkVSRVJEa2crdWFGVWNsRVJFUkVSQVdENkpzWFJpVVRFUkVSRVJVTW9tOWVHSlZNUkVSRVJKUS9HSlg4bmhpVi9PR2twYVZCcFZJSlhRWVpvRktwa0pxYUtuUVpSRVJFVkFBSkhaVnNKT2pUU1hBcWxRbzdkKzdFNnRXckVSc2JpOVRVVkRZd0ltQnFhb0t5WmN0aDBxUkpxRisvdnREbEVCRVJVUUVobDhzUkVCQWcyUFBadkJSd3djSEIyTDE3Sjlhc1dnQjdlenVoeTZGY3VINGpHcVBIK0dMeGtsL2g0dUlpZERsRVJFUlVBREFxbVFTMVlzVUsvREo3Q2hzWEVhcFcxUWtUeGcvSDRzV0xoUzZGaUlpSUtGK0l2bmxoVkhMZXBhV2w0Y0dEQjNDd0x5bDBLWlJIVFJyWHcvbno1NUdVbENSMEtVUkVSRVFmbmVpYkYwWWw1NTFNSnVQQ2I1RXpNVEZCNmRMMmlJbUpFYm9VSWlJaW9vOU85TTBMbzVMelRpS1JDRjBDZlFEbVptWlFLQlJDbDBGRVJFUUZBS09TM3hPamtvbUlpSWlJOG9mUVVjbWliMTZJaUlpSWlDaC95T1Z5UVovUDVvV0lpSWlJaUhLRVVjbEVSRVJFUkVRNUlQcm1oVkhKUkVSRVJFUUZnK2liRjBZbEV4RVJFUkVWREtKdlhoaVZURVJFUkVTVVA0U09TallTOU9rZmdKdWJHNktqbzRVdWczS2hxa3RqQUVDUklsWTRmalFRWm1abUJ1L3AxS1V2b20vZWhybTVHY0xPSDgzMnVvaUlTTWg3RGdRQXJGNjFDQTBiMURGWVJ3WVRFMk00MkpkRWkrYU5NR2hnSHhRcFlxWDMrbmZkdVBhWG9TK0RpSWlJU05TRWprb1dmZk5DNHZYeVpUeDI3em1BSHQwNzZiM3V6Ti9uRVgzemRvNWVjMmZnUHMzSGdVRWhlcHNYQURBeU1vSzhXd2NBUUVKQ0VpNWN2SXgxRzdiaHlOR1QyTFoxRllvV3RjbjJlaUlpSXFLQ1JpNlhJeUFnUUxEbnMza2hRUlF0YW9PRWhFUnMycndEM2VVZElaRklzcjEyL1ladE1EVTFnYm01T1ZKU1VySzk3blZLQ2c0Y09JYXlaUnloVUtUaDJKK25FQitmQUNzcnkyenZNVFkyd3BSSll6U2ZwNldsNFljSjAzSG84SEVzWGI0RzA2YU8wM3M5RVJFUlVVSENxR1Fxa0pSS0pSclVyNDI3OS83RnFkTm5zNzN1NXEzYk9QUDNlVFJ0MGdDcHFhbDZYL1B3NFJOSVNFeEVpeGFOMGJ4WlE2U2twR0p2eU9GYzFXVmtaSVJ4WTRjQUFFNmMvRHRYOXhJUkVSSFJ4eVg2NW9WUnllS2tVQ2p3emRmZEFBRHJOMmEvOEd2OWhtMEFnRDdmeVBINmRmYWpMZ0FRR0tTZU10YkJ5d01kdkQzZUhBdkpkVzJsSE94aGJHeU11TGhudWI2WGlJaUlpRDRlMFRjdmpFb1dKNVZLaFVZTjY2SnlwUW9JRFEzVHVhYmx5WlAvRUxML0tKeWRxOEN0Vmcwb2xjcHNYeS9td1NOY3VIZ0ZsU3FXaDVOVFJiaTRWRVhaTW82SWpMeUp5TWlidWFvdE9mazFGQW9GcksydERGOU1SRVJFUlBsRzlNMExvNUxGU2FWU0FRRDY5dTBPQU5pb1kvUmx5OWFkVUNnVTZOZW51OEhYQ3d3S2dVcWxndmViRVJjQW1vOXpPL3B5NE9BeEFFQ0QrdHFML1JXS05NeWN2VkRyajc2cGIwUkVSRVNmQzZHamtrWGZ2TGk1dVFsZEFyMEhyM2F0VWFKRU1ZUWNPSkpsbXRhclY4bll2bU1QN08zdDROR21oZDdYVUNxVjJMM25BS1JTS2J6YXQ5WWM5L2J5Z0VRaXdiNzlSNUNhcWpCWXk3UG5MN0E5WURkbS9id0loUXNYd3BEdisydGRrNWFXaHEzK2dWcC9ybDJMek1WWExRNUtwUkpwYVdsUUtCUklTVW5CNjlldmtaeWNqS1NrSlA3U2dJaUlxSUJpVkRJVmFNYkd4dWpkcXlzV0wxa0ovMjFCR0RaMEFBRDErcFg0K0FSOE42Z3ZaREtaM3RjNDgvZDVQSDc4QlBYcTFrSkpPMXZOOGRLbDdPSHE2b0pMbDY3aTZMR1RhT2Zwcm5WdmN2SnJyZjFiN08zdHNHRGVkSlFwVTFycmVrUDd6QWhseTVZdHVIUG5EcFJLSlZRcUZkTFQwNkZVS2pXZks1VktwS2VuYXo1KzkvaTd4MVFxRmFSU0thUlM5ZTgzTWo2V1NDU2EveTFhdEtqQVh6VVJFUkhsTjBZbFU0SFhROTRSSzFkdHdMYnRRUmo0N1Rjd01qYkN4azBCS0Z5NEVMcDE4VFo0LzY0MzA4S2VQUGtQdzBiNFpqbVhNWm9UR0JTaXMzbkoyTGRGQWdrS1d4Ukd0YXBPYU42c0lZeU5qVC9BVjVaL1BEdzg0T2pvQ0psTWxxWEJ5UGhjSnBOcE5TQVpmekxmay9rYUlpSWlvbmNKSFpYTTVvVUVaMlZsaWM0ZDIyT0wveTdzQ3prTWErc2llUEF3Rm4yLzZRNExDLzFwY2k5ZXZNVHg0K3FkN2UvZSt4ZDM3LzJyODdwem9XR0lqWDBNZTN1N0xNYy9sMzFiaWhjdmpvb1ZLd3BkQmhFUkVkRkhKZm8xTDR4Sy9qejA2ZE1kVXFrVUFUdURzU3R3TDJSU3FTWktXWi9ndlllZ1VDalExcU1sYmx6N1MrY2Zqell0b0ZRcUViZzc5N0hKUkVSRVJQVHBFSDN6d3Fqa3o0TmphUWU0dDJxS2lJaEluRHA5RHExYk40ZURRMG1EOTJVa2lYWHdicHZ0TlYwNmV3RUFkdTgrb0VrNUl5SWlJaUx4RWYyMHNjVEVSRmhZV0FoZEJuMEEvZnIyd09Fako2QlNxZEN2VHcrRDEwZEVST0xtcmRzb2FtT05KbzNyWlh0ZHd3WjFVTEtrTFI0K2lzVzUwREEwcUY4N3p6Vm1SQ1hyOGpsTVB5TWlJaUxTUitpb1pORTNMMjV1Ym9pT2poYTZEUG9BYXRad1JzMGF6cEJJSktoZXZhckI2ek1XNm50NnV1dE5KSk5LcGVqY3NUMStXN0VPZ1VINzNxdDV5WWhLMW9YTkN4RVJFWDN1aEk1S2xxaEVQby9HeWNtSnpjdDdjSEp5d28xcmZ3bGRCcjJIYnQwSFlQcU1XWEJ4Y1JHNkZDSWlJdnJNQ1IyVkxQbzFMMFJFUkVSRWxEK0Vqa3BtODBKRVJFUkVSS0lnK3VhRlVjbEVSRVJFUkFXRDZKc1hSaVVURVJFUkVSVU1vbTllRWhNVGhTNkJpSWlJaUtoQUVEb3FXZlROaTV1Ym05QWxFQkVSRVJFVkNFSkhKWXUrZVNFaUlpSWlvdndobDhzRmZUNmJGeUlpSWlJaXloRkdKUlBSZTFFcWxVS1hRRVJFUkpRdlJOKzhNQ281NzFKVFUyRnNiQ3gwR2ZRZVZDb1YvdmY0S1d4c2JJUXVoWWlJaU9pakUzM3p3cWprdkRNeE1ZR2xwUVdlUFg4aGRDbVVSMytkQ1lXdHJSMUtseTR0ZENsRVJFUkVINTNvbXhkR0piK2ZJVU9HWXRMa1dVaE1UQks2Rk1xbG03ZnV3Ry9tUWt5WU1FSG9Vb2lJaUtpQUVEb3FXYUpTcVZTQ1Z2Q2VuSnljRUIwZExYUVpvcVZVS3JGczJUTDQrMitGaTNNVjFLaGVEWVVLbVF0ZEZ1bVJscGFHaTJIaHVCWVJCVjlmWDNoN2V3dGRFaEVSRVZHK1lQTkNBTlFqV01lUEgwZFVWQlFVQ29YUTVaQWVVcWtVVGs1T2FOT21EZGQ4RVJFUlViNlN5K1VJQ0FnUTdQbHNYb2lJaUlpSUtFZUVmdTh0K2pVdlJFUkVSRVJVTUlpK2VlRzBHU0lpSWlLaWdrSDB6UXVqa29tSWlJaUlDZ2JSTnkrTVNpWWlJaUlpeWgrTVNuNVBRaThhSWlJaUlpS2kvQ0g2a1JjaUlpSWlJc29mY3JsYzBPZXplU0VpSWlJaW9od0pEdzhYOVBsc1hvaUlpSWlJU0JSRTM3d3dLcG1JaUlpSXFHQVFmZlBDcUdRaUlpSWlvb0pCOU0wTG81S0ppSWlJaVBJSG81TGZrNU9URTZLaW9pQ1JTSVF1aFlpSWlJaUlQaUxSajd5WW1KZ2dKU1ZGNkRLSWlJaUlpRDVyVVZGUkdEdDJyS0ExaUw1NWNYQndRRmhZbU5CbEVCRVJFUkY5MXRhdlg0L2l4WXNMV29Qb201Y2ZmdmdCWThlT3hlWExsNFV1aFlpSWlJam9zNU9Ra0lCNTgrYmh3b1VMR0RWcWxLQzFHQW42OUEvQTNkMGRwcWFtc0xLeUFnRE1uVHNYZCsvZXpYTE51SEhqVUtGQ0JjeWZQeCszYjkvbU9aN2pPWjdqT1o3ak9aN2pPWjdqdVJ5ZTY5Ky9QK3pzN0xCanh3NlltNXREU0tKdlhnQ2dTWk1tbW8rYk4yOE9OemUzTE9lTEZTdW1PZWZxNnNwelBNZHpQTWR6UE1kelBNZHpQTWR6T1R3WEVCQUFxZlRUbUxBbCtyUXhJaUlpSWlJcUdENk5Gb3FJaUlpSWlNZ0FOaTlFUkVSRVJDUUtiRjZJaUlpSWlFZ1UyTHdRRVJFUkVaRW9zSGtoSWlJaUlpSlJZUE5DUkVSRVJFU2l3T2FGaUlpSWlJaEVnYzBMRVJFUkVSR0pBcHNYSWlJaUlpSVNCVFl2UkVSRVJFUWtDbXhlaUlpSWlJaElGTmk4RUJFUkVSR1JLTEI1SVNJaUlpSWlVV0R6UWtSRVJFUkVvc0RtaFlpSWlJaUlSSUhOQ3hFUkVSRVJpUUtiRnlJaUlpSWlFZ1UyTDBSRVJFUkVKQXBzWG9pSWlJaUlTQlRZdkJBUkVSRVJrU2l3ZVNFaUlpSWlJbEZnODBKRVJFUkVSS0xBNW9XSWlJaUlpRVNCelFzUkVSRVJFWWtDbXhjaUlpSWlJaElGTmk5RVJFUkVSQ1FLYkY2SWlJaUlpRWdVMkx3UUVSRVJFWkVvc0hraElpSWlJaUpSK0QrTWRTN08vbkZtb1FBQUFBQkpSVTVFcmtKZ2dnPT0iLAoJIlRoZW1lIiA6ICIiLAoJIlR5cGUiIDogImZsb3ciLAoJIlZlcnNpb24iIDogIjIyIgp9Cg=="/>
    </extobj>
  </extobjs>
</s:customData>
</file>

<file path=customXml/itemProps1.xml><?xml version="1.0" encoding="utf-8"?>
<ds:datastoreItem xmlns:ds="http://schemas.openxmlformats.org/officeDocument/2006/customXml" ds:itemID="{9B623B7A-CA63-4621-ACCA-61F4C29C0629}">
  <ds:schemaRefs/>
</ds:datastoreItem>
</file>

<file path=docProps/app.xml><?xml version="1.0" encoding="utf-8"?>
<Properties xmlns="http://schemas.openxmlformats.org/officeDocument/2006/extended-properties" xmlns:vt="http://schemas.openxmlformats.org/officeDocument/2006/docPropsVTypes">
  <TotalTime>385</TotalTime>
  <Words>2599</Words>
  <Application>Microsoft Office PowerPoint</Application>
  <PresentationFormat>宽屏</PresentationFormat>
  <Paragraphs>315</Paragraphs>
  <Slides>31</Slides>
  <Notes>15</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48" baseType="lpstr">
      <vt:lpstr>Noto Sans S Chinese Bold</vt:lpstr>
      <vt:lpstr>Noto Sans S Chinese Light</vt:lpstr>
      <vt:lpstr>Segoe UI Web (West European)</vt:lpstr>
      <vt:lpstr>等线</vt:lpstr>
      <vt:lpstr>等线 Light</vt:lpstr>
      <vt:lpstr>黑体</vt:lpstr>
      <vt:lpstr>楷体</vt:lpstr>
      <vt:lpstr>微软雅黑</vt:lpstr>
      <vt:lpstr>幼圆</vt:lpstr>
      <vt:lpstr>Arial</vt:lpstr>
      <vt:lpstr>Calibri</vt:lpstr>
      <vt:lpstr>Cambria</vt:lpstr>
      <vt:lpstr>Cambria Math</vt:lpstr>
      <vt:lpstr>Times New Roman</vt:lpstr>
      <vt:lpstr>Wingdings</vt:lpstr>
      <vt:lpstr>Office 主题​​</vt:lpstr>
      <vt:lpstr>Microsoft Visio Drawing</vt:lpstr>
      <vt:lpstr>PowerPoint 演示文稿</vt:lpstr>
      <vt:lpstr>PowerPoint 演示文稿</vt:lpstr>
      <vt:lpstr>PowerPoint 演示文稿</vt:lpstr>
      <vt:lpstr>1.1 研究背景</vt:lpstr>
      <vt:lpstr>1.1 研究背景</vt:lpstr>
      <vt:lpstr>1.2 研究意义</vt:lpstr>
      <vt:lpstr>1.3 研究现状</vt:lpstr>
      <vt:lpstr>1.3 研究现状</vt:lpstr>
      <vt:lpstr>1.3 研究现状</vt:lpstr>
      <vt:lpstr>PowerPoint 演示文稿</vt:lpstr>
      <vt:lpstr>PowerPoint 演示文稿</vt:lpstr>
      <vt:lpstr>2.1 研究目标</vt:lpstr>
      <vt:lpstr>2.2 研究内容</vt:lpstr>
      <vt:lpstr>2.2 研究内容</vt:lpstr>
      <vt:lpstr>2.2 研究内容</vt:lpstr>
      <vt:lpstr>2.2 研究内容</vt:lpstr>
      <vt:lpstr>2.2 研究内容</vt:lpstr>
      <vt:lpstr>2.2 研究内容</vt:lpstr>
      <vt:lpstr>2.2 研究内容</vt:lpstr>
      <vt:lpstr>PowerPoint 演示文稿</vt:lpstr>
      <vt:lpstr>3.1 研究方法</vt:lpstr>
      <vt:lpstr>PowerPoint 演示文稿</vt:lpstr>
      <vt:lpstr>3.3 研究创新点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 雨欣</dc:creator>
  <cp:lastModifiedBy>冰冰 于</cp:lastModifiedBy>
  <cp:revision>167</cp:revision>
  <dcterms:created xsi:type="dcterms:W3CDTF">2022-03-16T07:42:00Z</dcterms:created>
  <dcterms:modified xsi:type="dcterms:W3CDTF">2024-09-12T14:21:27Z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7C46F1D9FC0D45D78E472297C75B94E8_12</vt:lpwstr>
  </property>
  <property fmtid="{D5CDD505-2E9C-101B-9397-08002B2CF9AE}" pid="3" name="KSOProductBuildVer">
    <vt:lpwstr>2052-12.1.0.17827</vt:lpwstr>
  </property>
</Properties>
</file>