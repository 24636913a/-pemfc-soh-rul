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media/image7.jpg" ContentType="image/jpeg"/>
  <Override PartName="/ppt/media/image27.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302" r:id="rId6"/>
    <p:sldId id="261" r:id="rId7"/>
    <p:sldId id="260" r:id="rId8"/>
    <p:sldId id="262" r:id="rId9"/>
    <p:sldId id="263" r:id="rId10"/>
    <p:sldId id="264" r:id="rId11"/>
    <p:sldId id="265" r:id="rId12"/>
    <p:sldId id="295" r:id="rId13"/>
    <p:sldId id="276" r:id="rId14"/>
    <p:sldId id="293" r:id="rId15"/>
    <p:sldId id="297" r:id="rId16"/>
    <p:sldId id="294" r:id="rId17"/>
    <p:sldId id="287" r:id="rId18"/>
    <p:sldId id="279" r:id="rId19"/>
    <p:sldId id="281" r:id="rId20"/>
    <p:sldId id="288" r:id="rId21"/>
    <p:sldId id="282" r:id="rId22"/>
    <p:sldId id="289" r:id="rId23"/>
    <p:sldId id="283" r:id="rId24"/>
    <p:sldId id="285" r:id="rId25"/>
    <p:sldId id="290" r:id="rId26"/>
    <p:sldId id="291" r:id="rId27"/>
    <p:sldId id="292" r:id="rId28"/>
    <p:sldId id="286" r:id="rId29"/>
    <p:sldId id="269" r:id="rId30"/>
    <p:sldId id="270" r:id="rId31"/>
    <p:sldId id="271" r:id="rId32"/>
    <p:sldId id="275" r:id="rId33"/>
    <p:sldId id="267" r:id="rId34"/>
    <p:sldId id="268" r:id="rId35"/>
    <p:sldId id="301" r:id="rId36"/>
    <p:sldId id="298" r:id="rId37"/>
    <p:sldId id="299" r:id="rId38"/>
    <p:sldId id="300" r:id="rId39"/>
    <p:sldId id="296" r:id="rId40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0" userDrawn="1">
          <p15:clr>
            <a:srgbClr val="A4A3A4"/>
          </p15:clr>
        </p15:guide>
        <p15:guide id="4" orient="horz" pos="75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16"/>
    <a:srgbClr val="339933"/>
    <a:srgbClr val="006835"/>
    <a:srgbClr val="009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295" autoAdjust="0"/>
    <p:restoredTop sz="94676" autoAdjust="0"/>
  </p:normalViewPr>
  <p:slideViewPr>
    <p:cSldViewPr snapToGrid="0" showGuides="1">
      <p:cViewPr varScale="1">
        <p:scale>
          <a:sx n="81" d="100"/>
          <a:sy n="81" d="100"/>
        </p:scale>
        <p:origin x="80" y="504"/>
      </p:cViewPr>
      <p:guideLst>
        <p:guide pos="416"/>
        <p:guide pos="7256"/>
        <p:guide orient="horz" pos="640"/>
        <p:guide orient="horz" pos="752"/>
        <p:guide orient="horz" pos="3928"/>
        <p:guide orient="horz"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7FE44E-F0F6-4B3C-A54B-3ECB1AC3F201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6D320E-60B5-4B25-B606-5B77E32384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706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D320E-60B5-4B25-B606-5B77E3238497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685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5F8F8-B2C8-6B81-C42D-B363E239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53A837-C486-209E-F98B-45A51413B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E576D6-FACB-6EA7-88BD-19D369A17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884A6D-8D8B-67EB-FEE4-0DB00683A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6D320E-60B5-4B25-B606-5B77E3238497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936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A3A1F23E-509C-0946-D397-51716CC12695}"/>
              </a:ext>
            </a:extLst>
          </p:cNvPr>
          <p:cNvSpPr/>
          <p:nvPr userDrawn="1"/>
        </p:nvSpPr>
        <p:spPr>
          <a:xfrm>
            <a:off x="0" y="2747264"/>
            <a:ext cx="12192000" cy="81280"/>
          </a:xfrm>
          <a:custGeom>
            <a:avLst/>
            <a:gdLst/>
            <a:ahLst/>
            <a:cxnLst/>
            <a:rect l="l" t="t" r="r" b="b"/>
            <a:pathLst>
              <a:path w="9144000" h="60960">
                <a:moveTo>
                  <a:pt x="0" y="60959"/>
                </a:moveTo>
                <a:lnTo>
                  <a:pt x="9144000" y="60959"/>
                </a:lnTo>
                <a:lnTo>
                  <a:pt x="9144000" y="0"/>
                </a:lnTo>
                <a:lnTo>
                  <a:pt x="0" y="0"/>
                </a:lnTo>
                <a:lnTo>
                  <a:pt x="0" y="60959"/>
                </a:lnTo>
                <a:close/>
              </a:path>
            </a:pathLst>
          </a:custGeom>
          <a:solidFill>
            <a:srgbClr val="A6A6A6">
              <a:alpha val="38822"/>
            </a:srgbClr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grpSp>
        <p:nvGrpSpPr>
          <p:cNvPr id="8" name="object 3">
            <a:extLst>
              <a:ext uri="{FF2B5EF4-FFF2-40B4-BE49-F238E27FC236}">
                <a16:creationId xmlns:a16="http://schemas.microsoft.com/office/drawing/2014/main" id="{93322F00-F8F3-6CF0-00BE-866C5526B19E}"/>
              </a:ext>
            </a:extLst>
          </p:cNvPr>
          <p:cNvGrpSpPr/>
          <p:nvPr userDrawn="1"/>
        </p:nvGrpSpPr>
        <p:grpSpPr>
          <a:xfrm>
            <a:off x="0" y="1649984"/>
            <a:ext cx="12192000" cy="1097280"/>
            <a:chOff x="0" y="1237488"/>
            <a:chExt cx="9144000" cy="822960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DF6D2E26-49E9-9F65-D779-CF3A430E8726}"/>
                </a:ext>
              </a:extLst>
            </p:cNvPr>
            <p:cNvSpPr/>
            <p:nvPr/>
          </p:nvSpPr>
          <p:spPr>
            <a:xfrm>
              <a:off x="0" y="1237488"/>
              <a:ext cx="9144000" cy="78105"/>
            </a:xfrm>
            <a:custGeom>
              <a:avLst/>
              <a:gdLst/>
              <a:ahLst/>
              <a:cxnLst/>
              <a:rect l="l" t="t" r="r" b="b"/>
              <a:pathLst>
                <a:path w="9144000" h="78105">
                  <a:moveTo>
                    <a:pt x="0" y="77724"/>
                  </a:moveTo>
                  <a:lnTo>
                    <a:pt x="9144000" y="77724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77724"/>
                  </a:lnTo>
                  <a:close/>
                </a:path>
              </a:pathLst>
            </a:custGeom>
            <a:solidFill>
              <a:srgbClr val="A6A6A6">
                <a:alpha val="38822"/>
              </a:srgbClr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598966A2-C515-731B-7A19-02B8A8584E6F}"/>
                </a:ext>
              </a:extLst>
            </p:cNvPr>
            <p:cNvSpPr/>
            <p:nvPr/>
          </p:nvSpPr>
          <p:spPr>
            <a:xfrm>
              <a:off x="0" y="1315212"/>
              <a:ext cx="9144000" cy="745490"/>
            </a:xfrm>
            <a:custGeom>
              <a:avLst/>
              <a:gdLst/>
              <a:ahLst/>
              <a:cxnLst/>
              <a:rect l="l" t="t" r="r" b="b"/>
              <a:pathLst>
                <a:path w="9144000" h="745489">
                  <a:moveTo>
                    <a:pt x="9144000" y="0"/>
                  </a:moveTo>
                  <a:lnTo>
                    <a:pt x="0" y="0"/>
                  </a:lnTo>
                  <a:lnTo>
                    <a:pt x="0" y="745236"/>
                  </a:lnTo>
                  <a:lnTo>
                    <a:pt x="9144000" y="745236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6835"/>
            </a:solidFill>
          </p:spPr>
          <p:txBody>
            <a:bodyPr wrap="square" lIns="0" tIns="0" rIns="0" bIns="0" rtlCol="0"/>
            <a:lstStyle/>
            <a:p>
              <a:endParaRPr sz="1800"/>
            </a:p>
          </p:txBody>
        </p:sp>
      </p:grpSp>
      <p:grpSp>
        <p:nvGrpSpPr>
          <p:cNvPr id="11" name="object 6">
            <a:extLst>
              <a:ext uri="{FF2B5EF4-FFF2-40B4-BE49-F238E27FC236}">
                <a16:creationId xmlns:a16="http://schemas.microsoft.com/office/drawing/2014/main" id="{A7E39B2D-510D-3CFB-089B-5F31D0FC6B7D}"/>
              </a:ext>
            </a:extLst>
          </p:cNvPr>
          <p:cNvGrpSpPr/>
          <p:nvPr userDrawn="1"/>
        </p:nvGrpSpPr>
        <p:grpSpPr>
          <a:xfrm>
            <a:off x="0" y="4887942"/>
            <a:ext cx="12192000" cy="1944793"/>
            <a:chOff x="0" y="3665955"/>
            <a:chExt cx="9144000" cy="1458595"/>
          </a:xfrm>
        </p:grpSpPr>
        <p:pic>
          <p:nvPicPr>
            <p:cNvPr id="12" name="object 7">
              <a:extLst>
                <a:ext uri="{FF2B5EF4-FFF2-40B4-BE49-F238E27FC236}">
                  <a16:creationId xmlns:a16="http://schemas.microsoft.com/office/drawing/2014/main" id="{3CAB448E-76E5-DF29-4835-3AFC66C1E1C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65955"/>
              <a:ext cx="9144000" cy="1458355"/>
            </a:xfrm>
            <a:prstGeom prst="rect">
              <a:avLst/>
            </a:prstGeom>
          </p:spPr>
        </p:pic>
        <p:pic>
          <p:nvPicPr>
            <p:cNvPr id="13" name="object 8">
              <a:extLst>
                <a:ext uri="{FF2B5EF4-FFF2-40B4-BE49-F238E27FC236}">
                  <a16:creationId xmlns:a16="http://schemas.microsoft.com/office/drawing/2014/main" id="{0F38B86C-EC3C-091C-8762-6A9110E3B5B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7388" y="4011167"/>
              <a:ext cx="970788" cy="271272"/>
            </a:xfrm>
            <a:prstGeom prst="rect">
              <a:avLst/>
            </a:prstGeom>
          </p:spPr>
        </p:pic>
      </p:grpSp>
      <p:pic>
        <p:nvPicPr>
          <p:cNvPr id="14" name="object 9">
            <a:extLst>
              <a:ext uri="{FF2B5EF4-FFF2-40B4-BE49-F238E27FC236}">
                <a16:creationId xmlns:a16="http://schemas.microsoft.com/office/drawing/2014/main" id="{3CEA5836-718D-04A6-40CF-45ACE5FFAAEB}"/>
              </a:ext>
            </a:extLst>
          </p:cNvPr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39883" y="262511"/>
            <a:ext cx="3515139" cy="8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6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8BB9D742-41FE-D9AA-0945-48BCBA971F74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205013" y="2780594"/>
            <a:ext cx="1678353" cy="1690512"/>
          </a:xfrm>
          <a:prstGeom prst="rect">
            <a:avLst/>
          </a:prstGeom>
        </p:spPr>
      </p:pic>
      <p:sp>
        <p:nvSpPr>
          <p:cNvPr id="12" name="bg object 16">
            <a:extLst>
              <a:ext uri="{FF2B5EF4-FFF2-40B4-BE49-F238E27FC236}">
                <a16:creationId xmlns:a16="http://schemas.microsoft.com/office/drawing/2014/main" id="{0436C1DE-4FF9-8142-51D7-C67AF672FDD0}"/>
              </a:ext>
            </a:extLst>
          </p:cNvPr>
          <p:cNvSpPr/>
          <p:nvPr userDrawn="1"/>
        </p:nvSpPr>
        <p:spPr>
          <a:xfrm>
            <a:off x="46735" y="784353"/>
            <a:ext cx="8055187" cy="95673"/>
          </a:xfrm>
          <a:custGeom>
            <a:avLst/>
            <a:gdLst/>
            <a:ahLst/>
            <a:cxnLst/>
            <a:rect l="l" t="t" r="r" b="b"/>
            <a:pathLst>
              <a:path w="6041390" h="71754">
                <a:moveTo>
                  <a:pt x="0" y="71627"/>
                </a:moveTo>
                <a:lnTo>
                  <a:pt x="6041136" y="71627"/>
                </a:lnTo>
                <a:lnTo>
                  <a:pt x="6041136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solidFill>
            <a:srgbClr val="0057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3" name="bg object 17">
            <a:extLst>
              <a:ext uri="{FF2B5EF4-FFF2-40B4-BE49-F238E27FC236}">
                <a16:creationId xmlns:a16="http://schemas.microsoft.com/office/drawing/2014/main" id="{DED41D04-36C8-FE93-BA2F-4B498EE0B1C0}"/>
              </a:ext>
            </a:extLst>
          </p:cNvPr>
          <p:cNvSpPr/>
          <p:nvPr userDrawn="1"/>
        </p:nvSpPr>
        <p:spPr>
          <a:xfrm>
            <a:off x="306831" y="335281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4" name="bg object 18">
            <a:extLst>
              <a:ext uri="{FF2B5EF4-FFF2-40B4-BE49-F238E27FC236}">
                <a16:creationId xmlns:a16="http://schemas.microsoft.com/office/drawing/2014/main" id="{E55ABD85-652F-0ECF-87B7-708B9864578A}"/>
              </a:ext>
            </a:extLst>
          </p:cNvPr>
          <p:cNvSpPr/>
          <p:nvPr userDrawn="1"/>
        </p:nvSpPr>
        <p:spPr>
          <a:xfrm>
            <a:off x="95504" y="75186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00541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5" name="bg object 19">
            <a:extLst>
              <a:ext uri="{FF2B5EF4-FFF2-40B4-BE49-F238E27FC236}">
                <a16:creationId xmlns:a16="http://schemas.microsoft.com/office/drawing/2014/main" id="{32CA21F2-B168-E96D-7664-B57A2D8843FB}"/>
              </a:ext>
            </a:extLst>
          </p:cNvPr>
          <p:cNvSpPr/>
          <p:nvPr userDrawn="1"/>
        </p:nvSpPr>
        <p:spPr>
          <a:xfrm>
            <a:off x="8101583" y="784353"/>
            <a:ext cx="4064000" cy="95673"/>
          </a:xfrm>
          <a:custGeom>
            <a:avLst/>
            <a:gdLst/>
            <a:ahLst/>
            <a:cxnLst/>
            <a:rect l="l" t="t" r="r" b="b"/>
            <a:pathLst>
              <a:path w="3048000" h="71754">
                <a:moveTo>
                  <a:pt x="3048000" y="0"/>
                </a:moveTo>
                <a:lnTo>
                  <a:pt x="0" y="0"/>
                </a:lnTo>
                <a:lnTo>
                  <a:pt x="0" y="71627"/>
                </a:lnTo>
                <a:lnTo>
                  <a:pt x="3048000" y="71627"/>
                </a:lnTo>
                <a:lnTo>
                  <a:pt x="3048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5" name="bg object 20">
            <a:extLst>
              <a:ext uri="{FF2B5EF4-FFF2-40B4-BE49-F238E27FC236}">
                <a16:creationId xmlns:a16="http://schemas.microsoft.com/office/drawing/2014/main" id="{15E9587B-4241-587E-CBE6-378AC844A024}"/>
              </a:ext>
            </a:extLst>
          </p:cNvPr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56192" y="0"/>
            <a:ext cx="2887472" cy="841248"/>
          </a:xfrm>
          <a:prstGeom prst="rect">
            <a:avLst/>
          </a:prstGeom>
        </p:spPr>
      </p:pic>
      <p:sp>
        <p:nvSpPr>
          <p:cNvPr id="4" name="标题 7">
            <a:extLst>
              <a:ext uri="{FF2B5EF4-FFF2-40B4-BE49-F238E27FC236}">
                <a16:creationId xmlns:a16="http://schemas.microsoft.com/office/drawing/2014/main" id="{C299C4C8-4F5C-21BC-8097-715CBE943C78}"/>
              </a:ext>
            </a:extLst>
          </p:cNvPr>
          <p:cNvSpPr txBox="1">
            <a:spLocks/>
          </p:cNvSpPr>
          <p:nvPr userDrawn="1"/>
        </p:nvSpPr>
        <p:spPr>
          <a:xfrm>
            <a:off x="740324" y="335281"/>
            <a:ext cx="8498503" cy="4309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质子交换膜燃料电池健康状态估计与剩余寿命预测方法研究</a:t>
            </a:r>
          </a:p>
        </p:txBody>
      </p:sp>
    </p:spTree>
    <p:extLst>
      <p:ext uri="{BB962C8B-B14F-4D97-AF65-F5344CB8AC3E}">
        <p14:creationId xmlns:p14="http://schemas.microsoft.com/office/powerpoint/2010/main" val="3259893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g object 20">
            <a:extLst>
              <a:ext uri="{FF2B5EF4-FFF2-40B4-BE49-F238E27FC236}">
                <a16:creationId xmlns:a16="http://schemas.microsoft.com/office/drawing/2014/main" id="{508C3B2F-E4D3-C5AC-BFCC-F179CE582A9D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156192" y="0"/>
            <a:ext cx="2887472" cy="841248"/>
          </a:xfrm>
          <a:prstGeom prst="rect">
            <a:avLst/>
          </a:prstGeom>
        </p:spPr>
      </p:pic>
      <p:sp>
        <p:nvSpPr>
          <p:cNvPr id="5" name="bg object 16">
            <a:extLst>
              <a:ext uri="{FF2B5EF4-FFF2-40B4-BE49-F238E27FC236}">
                <a16:creationId xmlns:a16="http://schemas.microsoft.com/office/drawing/2014/main" id="{7D695E85-72E4-A9B8-F938-8FD181A9D895}"/>
              </a:ext>
            </a:extLst>
          </p:cNvPr>
          <p:cNvSpPr/>
          <p:nvPr userDrawn="1"/>
        </p:nvSpPr>
        <p:spPr>
          <a:xfrm>
            <a:off x="46735" y="784353"/>
            <a:ext cx="8055187" cy="95673"/>
          </a:xfrm>
          <a:custGeom>
            <a:avLst/>
            <a:gdLst/>
            <a:ahLst/>
            <a:cxnLst/>
            <a:rect l="l" t="t" r="r" b="b"/>
            <a:pathLst>
              <a:path w="6041390" h="71754">
                <a:moveTo>
                  <a:pt x="0" y="71627"/>
                </a:moveTo>
                <a:lnTo>
                  <a:pt x="6041136" y="71627"/>
                </a:lnTo>
                <a:lnTo>
                  <a:pt x="6041136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solidFill>
            <a:srgbClr val="0057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6" name="bg object 17">
            <a:extLst>
              <a:ext uri="{FF2B5EF4-FFF2-40B4-BE49-F238E27FC236}">
                <a16:creationId xmlns:a16="http://schemas.microsoft.com/office/drawing/2014/main" id="{5FECB4C9-8753-54F7-59D0-80384D4AD386}"/>
              </a:ext>
            </a:extLst>
          </p:cNvPr>
          <p:cNvSpPr/>
          <p:nvPr userDrawn="1"/>
        </p:nvSpPr>
        <p:spPr>
          <a:xfrm>
            <a:off x="306831" y="335281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7" name="bg object 18">
            <a:extLst>
              <a:ext uri="{FF2B5EF4-FFF2-40B4-BE49-F238E27FC236}">
                <a16:creationId xmlns:a16="http://schemas.microsoft.com/office/drawing/2014/main" id="{8AFDB9CA-5C6F-43FB-9501-D35A717E54B1}"/>
              </a:ext>
            </a:extLst>
          </p:cNvPr>
          <p:cNvSpPr/>
          <p:nvPr userDrawn="1"/>
        </p:nvSpPr>
        <p:spPr>
          <a:xfrm>
            <a:off x="95504" y="75186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00541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8" name="bg object 19">
            <a:extLst>
              <a:ext uri="{FF2B5EF4-FFF2-40B4-BE49-F238E27FC236}">
                <a16:creationId xmlns:a16="http://schemas.microsoft.com/office/drawing/2014/main" id="{1CF884BC-1508-7C2A-8AA9-AFB452D26422}"/>
              </a:ext>
            </a:extLst>
          </p:cNvPr>
          <p:cNvSpPr/>
          <p:nvPr userDrawn="1"/>
        </p:nvSpPr>
        <p:spPr>
          <a:xfrm>
            <a:off x="8101583" y="784353"/>
            <a:ext cx="4064000" cy="95673"/>
          </a:xfrm>
          <a:custGeom>
            <a:avLst/>
            <a:gdLst/>
            <a:ahLst/>
            <a:cxnLst/>
            <a:rect l="l" t="t" r="r" b="b"/>
            <a:pathLst>
              <a:path w="3048000" h="71754">
                <a:moveTo>
                  <a:pt x="3048000" y="0"/>
                </a:moveTo>
                <a:lnTo>
                  <a:pt x="0" y="0"/>
                </a:lnTo>
                <a:lnTo>
                  <a:pt x="0" y="71627"/>
                </a:lnTo>
                <a:lnTo>
                  <a:pt x="3048000" y="71627"/>
                </a:lnTo>
                <a:lnTo>
                  <a:pt x="3048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grpSp>
        <p:nvGrpSpPr>
          <p:cNvPr id="9" name="object 6">
            <a:extLst>
              <a:ext uri="{FF2B5EF4-FFF2-40B4-BE49-F238E27FC236}">
                <a16:creationId xmlns:a16="http://schemas.microsoft.com/office/drawing/2014/main" id="{D63A1383-DC40-1E30-9D95-2EF0D20D57B7}"/>
              </a:ext>
            </a:extLst>
          </p:cNvPr>
          <p:cNvGrpSpPr/>
          <p:nvPr userDrawn="1"/>
        </p:nvGrpSpPr>
        <p:grpSpPr>
          <a:xfrm>
            <a:off x="0" y="4887942"/>
            <a:ext cx="12192000" cy="1944793"/>
            <a:chOff x="0" y="3665955"/>
            <a:chExt cx="9144000" cy="1458595"/>
          </a:xfrm>
        </p:grpSpPr>
        <p:pic>
          <p:nvPicPr>
            <p:cNvPr id="10" name="object 7">
              <a:extLst>
                <a:ext uri="{FF2B5EF4-FFF2-40B4-BE49-F238E27FC236}">
                  <a16:creationId xmlns:a16="http://schemas.microsoft.com/office/drawing/2014/main" id="{77EDB07A-7F7E-3C16-44C9-B9BE35B3AAD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665955"/>
              <a:ext cx="9144000" cy="1458355"/>
            </a:xfrm>
            <a:prstGeom prst="rect">
              <a:avLst/>
            </a:prstGeom>
          </p:spPr>
        </p:pic>
        <p:pic>
          <p:nvPicPr>
            <p:cNvPr id="11" name="object 8">
              <a:extLst>
                <a:ext uri="{FF2B5EF4-FFF2-40B4-BE49-F238E27FC236}">
                  <a16:creationId xmlns:a16="http://schemas.microsoft.com/office/drawing/2014/main" id="{387824CF-D757-BB27-D05C-5296F1611625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47388" y="4011167"/>
              <a:ext cx="970788" cy="2712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8182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6">
            <a:extLst>
              <a:ext uri="{FF2B5EF4-FFF2-40B4-BE49-F238E27FC236}">
                <a16:creationId xmlns:a16="http://schemas.microsoft.com/office/drawing/2014/main" id="{D76DCB1F-80EB-33BC-C224-32C6A425A3D7}"/>
              </a:ext>
            </a:extLst>
          </p:cNvPr>
          <p:cNvSpPr/>
          <p:nvPr userDrawn="1"/>
        </p:nvSpPr>
        <p:spPr>
          <a:xfrm>
            <a:off x="46735" y="784353"/>
            <a:ext cx="8055187" cy="95673"/>
          </a:xfrm>
          <a:custGeom>
            <a:avLst/>
            <a:gdLst/>
            <a:ahLst/>
            <a:cxnLst/>
            <a:rect l="l" t="t" r="r" b="b"/>
            <a:pathLst>
              <a:path w="6041390" h="71754">
                <a:moveTo>
                  <a:pt x="0" y="71627"/>
                </a:moveTo>
                <a:lnTo>
                  <a:pt x="6041136" y="71627"/>
                </a:lnTo>
                <a:lnTo>
                  <a:pt x="6041136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solidFill>
            <a:srgbClr val="0057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7">
            <a:extLst>
              <a:ext uri="{FF2B5EF4-FFF2-40B4-BE49-F238E27FC236}">
                <a16:creationId xmlns:a16="http://schemas.microsoft.com/office/drawing/2014/main" id="{C6F31B99-D664-8A9B-DF14-D6B95EAB5AEE}"/>
              </a:ext>
            </a:extLst>
          </p:cNvPr>
          <p:cNvSpPr/>
          <p:nvPr userDrawn="1"/>
        </p:nvSpPr>
        <p:spPr>
          <a:xfrm>
            <a:off x="306831" y="335281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g object 18">
            <a:extLst>
              <a:ext uri="{FF2B5EF4-FFF2-40B4-BE49-F238E27FC236}">
                <a16:creationId xmlns:a16="http://schemas.microsoft.com/office/drawing/2014/main" id="{44B5B2A8-C2C7-CFC3-EB05-3E1323171E89}"/>
              </a:ext>
            </a:extLst>
          </p:cNvPr>
          <p:cNvSpPr/>
          <p:nvPr userDrawn="1"/>
        </p:nvSpPr>
        <p:spPr>
          <a:xfrm>
            <a:off x="95504" y="75186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00541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g object 19">
            <a:extLst>
              <a:ext uri="{FF2B5EF4-FFF2-40B4-BE49-F238E27FC236}">
                <a16:creationId xmlns:a16="http://schemas.microsoft.com/office/drawing/2014/main" id="{32B614D8-E23E-11FF-D083-AFEC819A3D21}"/>
              </a:ext>
            </a:extLst>
          </p:cNvPr>
          <p:cNvSpPr/>
          <p:nvPr userDrawn="1"/>
        </p:nvSpPr>
        <p:spPr>
          <a:xfrm>
            <a:off x="8101583" y="784353"/>
            <a:ext cx="4064000" cy="95673"/>
          </a:xfrm>
          <a:custGeom>
            <a:avLst/>
            <a:gdLst/>
            <a:ahLst/>
            <a:cxnLst/>
            <a:rect l="l" t="t" r="r" b="b"/>
            <a:pathLst>
              <a:path w="3048000" h="71754">
                <a:moveTo>
                  <a:pt x="3048000" y="0"/>
                </a:moveTo>
                <a:lnTo>
                  <a:pt x="0" y="0"/>
                </a:lnTo>
                <a:lnTo>
                  <a:pt x="0" y="71627"/>
                </a:lnTo>
                <a:lnTo>
                  <a:pt x="3048000" y="71627"/>
                </a:lnTo>
                <a:lnTo>
                  <a:pt x="3048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1" name="bg object 20">
            <a:extLst>
              <a:ext uri="{FF2B5EF4-FFF2-40B4-BE49-F238E27FC236}">
                <a16:creationId xmlns:a16="http://schemas.microsoft.com/office/drawing/2014/main" id="{0E8A4A1E-BA99-54B1-6805-0F1CA74B988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156192" y="0"/>
            <a:ext cx="2887472" cy="841248"/>
          </a:xfrm>
          <a:prstGeom prst="rect">
            <a:avLst/>
          </a:prstGeom>
        </p:spPr>
      </p:pic>
      <p:sp>
        <p:nvSpPr>
          <p:cNvPr id="2" name="标题 7">
            <a:extLst>
              <a:ext uri="{FF2B5EF4-FFF2-40B4-BE49-F238E27FC236}">
                <a16:creationId xmlns:a16="http://schemas.microsoft.com/office/drawing/2014/main" id="{40948B60-3ADD-0260-65AE-917BDD458378}"/>
              </a:ext>
            </a:extLst>
          </p:cNvPr>
          <p:cNvSpPr txBox="1">
            <a:spLocks/>
          </p:cNvSpPr>
          <p:nvPr userDrawn="1"/>
        </p:nvSpPr>
        <p:spPr>
          <a:xfrm>
            <a:off x="740324" y="335281"/>
            <a:ext cx="8498503" cy="4309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课题研究背景和意义</a:t>
            </a:r>
          </a:p>
        </p:txBody>
      </p:sp>
    </p:spTree>
    <p:extLst>
      <p:ext uri="{BB962C8B-B14F-4D97-AF65-F5344CB8AC3E}">
        <p14:creationId xmlns:p14="http://schemas.microsoft.com/office/powerpoint/2010/main" val="3322044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6">
            <a:extLst>
              <a:ext uri="{FF2B5EF4-FFF2-40B4-BE49-F238E27FC236}">
                <a16:creationId xmlns:a16="http://schemas.microsoft.com/office/drawing/2014/main" id="{D76DCB1F-80EB-33BC-C224-32C6A425A3D7}"/>
              </a:ext>
            </a:extLst>
          </p:cNvPr>
          <p:cNvSpPr/>
          <p:nvPr userDrawn="1"/>
        </p:nvSpPr>
        <p:spPr>
          <a:xfrm>
            <a:off x="46735" y="784353"/>
            <a:ext cx="8055187" cy="95673"/>
          </a:xfrm>
          <a:custGeom>
            <a:avLst/>
            <a:gdLst/>
            <a:ahLst/>
            <a:cxnLst/>
            <a:rect l="l" t="t" r="r" b="b"/>
            <a:pathLst>
              <a:path w="6041390" h="71754">
                <a:moveTo>
                  <a:pt x="0" y="71627"/>
                </a:moveTo>
                <a:lnTo>
                  <a:pt x="6041136" y="71627"/>
                </a:lnTo>
                <a:lnTo>
                  <a:pt x="6041136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solidFill>
            <a:srgbClr val="0057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7">
            <a:extLst>
              <a:ext uri="{FF2B5EF4-FFF2-40B4-BE49-F238E27FC236}">
                <a16:creationId xmlns:a16="http://schemas.microsoft.com/office/drawing/2014/main" id="{C6F31B99-D664-8A9B-DF14-D6B95EAB5AEE}"/>
              </a:ext>
            </a:extLst>
          </p:cNvPr>
          <p:cNvSpPr/>
          <p:nvPr userDrawn="1"/>
        </p:nvSpPr>
        <p:spPr>
          <a:xfrm>
            <a:off x="306831" y="335281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g object 18">
            <a:extLst>
              <a:ext uri="{FF2B5EF4-FFF2-40B4-BE49-F238E27FC236}">
                <a16:creationId xmlns:a16="http://schemas.microsoft.com/office/drawing/2014/main" id="{44B5B2A8-C2C7-CFC3-EB05-3E1323171E89}"/>
              </a:ext>
            </a:extLst>
          </p:cNvPr>
          <p:cNvSpPr/>
          <p:nvPr userDrawn="1"/>
        </p:nvSpPr>
        <p:spPr>
          <a:xfrm>
            <a:off x="95504" y="75186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00541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g object 19">
            <a:extLst>
              <a:ext uri="{FF2B5EF4-FFF2-40B4-BE49-F238E27FC236}">
                <a16:creationId xmlns:a16="http://schemas.microsoft.com/office/drawing/2014/main" id="{32B614D8-E23E-11FF-D083-AFEC819A3D21}"/>
              </a:ext>
            </a:extLst>
          </p:cNvPr>
          <p:cNvSpPr/>
          <p:nvPr userDrawn="1"/>
        </p:nvSpPr>
        <p:spPr>
          <a:xfrm>
            <a:off x="8101583" y="784353"/>
            <a:ext cx="4064000" cy="95673"/>
          </a:xfrm>
          <a:custGeom>
            <a:avLst/>
            <a:gdLst/>
            <a:ahLst/>
            <a:cxnLst/>
            <a:rect l="l" t="t" r="r" b="b"/>
            <a:pathLst>
              <a:path w="3048000" h="71754">
                <a:moveTo>
                  <a:pt x="3048000" y="0"/>
                </a:moveTo>
                <a:lnTo>
                  <a:pt x="0" y="0"/>
                </a:lnTo>
                <a:lnTo>
                  <a:pt x="0" y="71627"/>
                </a:lnTo>
                <a:lnTo>
                  <a:pt x="3048000" y="71627"/>
                </a:lnTo>
                <a:lnTo>
                  <a:pt x="3048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1" name="bg object 20">
            <a:extLst>
              <a:ext uri="{FF2B5EF4-FFF2-40B4-BE49-F238E27FC236}">
                <a16:creationId xmlns:a16="http://schemas.microsoft.com/office/drawing/2014/main" id="{0E8A4A1E-BA99-54B1-6805-0F1CA74B988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156192" y="0"/>
            <a:ext cx="2887472" cy="841248"/>
          </a:xfrm>
          <a:prstGeom prst="rect">
            <a:avLst/>
          </a:prstGeom>
        </p:spPr>
      </p:pic>
      <p:sp>
        <p:nvSpPr>
          <p:cNvPr id="2" name="标题 7">
            <a:extLst>
              <a:ext uri="{FF2B5EF4-FFF2-40B4-BE49-F238E27FC236}">
                <a16:creationId xmlns:a16="http://schemas.microsoft.com/office/drawing/2014/main" id="{C3107F63-1896-52E1-3A39-7F4EEEFB8201}"/>
              </a:ext>
            </a:extLst>
          </p:cNvPr>
          <p:cNvSpPr txBox="1">
            <a:spLocks/>
          </p:cNvSpPr>
          <p:nvPr userDrawn="1"/>
        </p:nvSpPr>
        <p:spPr>
          <a:xfrm>
            <a:off x="740324" y="335281"/>
            <a:ext cx="8498503" cy="4309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国内外研究现状</a:t>
            </a:r>
          </a:p>
        </p:txBody>
      </p:sp>
    </p:spTree>
    <p:extLst>
      <p:ext uri="{BB962C8B-B14F-4D97-AF65-F5344CB8AC3E}">
        <p14:creationId xmlns:p14="http://schemas.microsoft.com/office/powerpoint/2010/main" val="307051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6">
            <a:extLst>
              <a:ext uri="{FF2B5EF4-FFF2-40B4-BE49-F238E27FC236}">
                <a16:creationId xmlns:a16="http://schemas.microsoft.com/office/drawing/2014/main" id="{D76DCB1F-80EB-33BC-C224-32C6A425A3D7}"/>
              </a:ext>
            </a:extLst>
          </p:cNvPr>
          <p:cNvSpPr/>
          <p:nvPr userDrawn="1"/>
        </p:nvSpPr>
        <p:spPr>
          <a:xfrm>
            <a:off x="46735" y="784353"/>
            <a:ext cx="8055187" cy="95673"/>
          </a:xfrm>
          <a:custGeom>
            <a:avLst/>
            <a:gdLst/>
            <a:ahLst/>
            <a:cxnLst/>
            <a:rect l="l" t="t" r="r" b="b"/>
            <a:pathLst>
              <a:path w="6041390" h="71754">
                <a:moveTo>
                  <a:pt x="0" y="71627"/>
                </a:moveTo>
                <a:lnTo>
                  <a:pt x="6041136" y="71627"/>
                </a:lnTo>
                <a:lnTo>
                  <a:pt x="6041136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solidFill>
            <a:srgbClr val="0057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7">
            <a:extLst>
              <a:ext uri="{FF2B5EF4-FFF2-40B4-BE49-F238E27FC236}">
                <a16:creationId xmlns:a16="http://schemas.microsoft.com/office/drawing/2014/main" id="{C6F31B99-D664-8A9B-DF14-D6B95EAB5AEE}"/>
              </a:ext>
            </a:extLst>
          </p:cNvPr>
          <p:cNvSpPr/>
          <p:nvPr userDrawn="1"/>
        </p:nvSpPr>
        <p:spPr>
          <a:xfrm>
            <a:off x="306831" y="335281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g object 18">
            <a:extLst>
              <a:ext uri="{FF2B5EF4-FFF2-40B4-BE49-F238E27FC236}">
                <a16:creationId xmlns:a16="http://schemas.microsoft.com/office/drawing/2014/main" id="{44B5B2A8-C2C7-CFC3-EB05-3E1323171E89}"/>
              </a:ext>
            </a:extLst>
          </p:cNvPr>
          <p:cNvSpPr/>
          <p:nvPr userDrawn="1"/>
        </p:nvSpPr>
        <p:spPr>
          <a:xfrm>
            <a:off x="95504" y="75186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00541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g object 19">
            <a:extLst>
              <a:ext uri="{FF2B5EF4-FFF2-40B4-BE49-F238E27FC236}">
                <a16:creationId xmlns:a16="http://schemas.microsoft.com/office/drawing/2014/main" id="{32B614D8-E23E-11FF-D083-AFEC819A3D21}"/>
              </a:ext>
            </a:extLst>
          </p:cNvPr>
          <p:cNvSpPr/>
          <p:nvPr userDrawn="1"/>
        </p:nvSpPr>
        <p:spPr>
          <a:xfrm>
            <a:off x="8101583" y="784353"/>
            <a:ext cx="4064000" cy="95673"/>
          </a:xfrm>
          <a:custGeom>
            <a:avLst/>
            <a:gdLst/>
            <a:ahLst/>
            <a:cxnLst/>
            <a:rect l="l" t="t" r="r" b="b"/>
            <a:pathLst>
              <a:path w="3048000" h="71754">
                <a:moveTo>
                  <a:pt x="3048000" y="0"/>
                </a:moveTo>
                <a:lnTo>
                  <a:pt x="0" y="0"/>
                </a:lnTo>
                <a:lnTo>
                  <a:pt x="0" y="71627"/>
                </a:lnTo>
                <a:lnTo>
                  <a:pt x="3048000" y="71627"/>
                </a:lnTo>
                <a:lnTo>
                  <a:pt x="3048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1" name="bg object 20">
            <a:extLst>
              <a:ext uri="{FF2B5EF4-FFF2-40B4-BE49-F238E27FC236}">
                <a16:creationId xmlns:a16="http://schemas.microsoft.com/office/drawing/2014/main" id="{0E8A4A1E-BA99-54B1-6805-0F1CA74B988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156192" y="0"/>
            <a:ext cx="2887472" cy="841248"/>
          </a:xfrm>
          <a:prstGeom prst="rect">
            <a:avLst/>
          </a:prstGeom>
        </p:spPr>
      </p:pic>
      <p:sp>
        <p:nvSpPr>
          <p:cNvPr id="4" name="标题 7">
            <a:extLst>
              <a:ext uri="{FF2B5EF4-FFF2-40B4-BE49-F238E27FC236}">
                <a16:creationId xmlns:a16="http://schemas.microsoft.com/office/drawing/2014/main" id="{61464085-2CAB-AAD6-0833-75889EAD09E2}"/>
              </a:ext>
            </a:extLst>
          </p:cNvPr>
          <p:cNvSpPr txBox="1">
            <a:spLocks/>
          </p:cNvSpPr>
          <p:nvPr userDrawn="1"/>
        </p:nvSpPr>
        <p:spPr>
          <a:xfrm>
            <a:off x="740324" y="335281"/>
            <a:ext cx="8498503" cy="4309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研究目标与研究内容</a:t>
            </a:r>
          </a:p>
        </p:txBody>
      </p:sp>
    </p:spTree>
    <p:extLst>
      <p:ext uri="{BB962C8B-B14F-4D97-AF65-F5344CB8AC3E}">
        <p14:creationId xmlns:p14="http://schemas.microsoft.com/office/powerpoint/2010/main" val="2643515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6">
            <a:extLst>
              <a:ext uri="{FF2B5EF4-FFF2-40B4-BE49-F238E27FC236}">
                <a16:creationId xmlns:a16="http://schemas.microsoft.com/office/drawing/2014/main" id="{D76DCB1F-80EB-33BC-C224-32C6A425A3D7}"/>
              </a:ext>
            </a:extLst>
          </p:cNvPr>
          <p:cNvSpPr/>
          <p:nvPr userDrawn="1"/>
        </p:nvSpPr>
        <p:spPr>
          <a:xfrm>
            <a:off x="46735" y="784353"/>
            <a:ext cx="8055187" cy="95673"/>
          </a:xfrm>
          <a:custGeom>
            <a:avLst/>
            <a:gdLst/>
            <a:ahLst/>
            <a:cxnLst/>
            <a:rect l="l" t="t" r="r" b="b"/>
            <a:pathLst>
              <a:path w="6041390" h="71754">
                <a:moveTo>
                  <a:pt x="0" y="71627"/>
                </a:moveTo>
                <a:lnTo>
                  <a:pt x="6041136" y="71627"/>
                </a:lnTo>
                <a:lnTo>
                  <a:pt x="6041136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solidFill>
            <a:srgbClr val="0057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7">
            <a:extLst>
              <a:ext uri="{FF2B5EF4-FFF2-40B4-BE49-F238E27FC236}">
                <a16:creationId xmlns:a16="http://schemas.microsoft.com/office/drawing/2014/main" id="{C6F31B99-D664-8A9B-DF14-D6B95EAB5AEE}"/>
              </a:ext>
            </a:extLst>
          </p:cNvPr>
          <p:cNvSpPr/>
          <p:nvPr userDrawn="1"/>
        </p:nvSpPr>
        <p:spPr>
          <a:xfrm>
            <a:off x="306831" y="335281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g object 18">
            <a:extLst>
              <a:ext uri="{FF2B5EF4-FFF2-40B4-BE49-F238E27FC236}">
                <a16:creationId xmlns:a16="http://schemas.microsoft.com/office/drawing/2014/main" id="{44B5B2A8-C2C7-CFC3-EB05-3E1323171E89}"/>
              </a:ext>
            </a:extLst>
          </p:cNvPr>
          <p:cNvSpPr/>
          <p:nvPr userDrawn="1"/>
        </p:nvSpPr>
        <p:spPr>
          <a:xfrm>
            <a:off x="95504" y="75186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00541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g object 19">
            <a:extLst>
              <a:ext uri="{FF2B5EF4-FFF2-40B4-BE49-F238E27FC236}">
                <a16:creationId xmlns:a16="http://schemas.microsoft.com/office/drawing/2014/main" id="{32B614D8-E23E-11FF-D083-AFEC819A3D21}"/>
              </a:ext>
            </a:extLst>
          </p:cNvPr>
          <p:cNvSpPr/>
          <p:nvPr userDrawn="1"/>
        </p:nvSpPr>
        <p:spPr>
          <a:xfrm>
            <a:off x="8101583" y="784353"/>
            <a:ext cx="4064000" cy="95673"/>
          </a:xfrm>
          <a:custGeom>
            <a:avLst/>
            <a:gdLst/>
            <a:ahLst/>
            <a:cxnLst/>
            <a:rect l="l" t="t" r="r" b="b"/>
            <a:pathLst>
              <a:path w="3048000" h="71754">
                <a:moveTo>
                  <a:pt x="3048000" y="0"/>
                </a:moveTo>
                <a:lnTo>
                  <a:pt x="0" y="0"/>
                </a:lnTo>
                <a:lnTo>
                  <a:pt x="0" y="71627"/>
                </a:lnTo>
                <a:lnTo>
                  <a:pt x="3048000" y="71627"/>
                </a:lnTo>
                <a:lnTo>
                  <a:pt x="3048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1" name="bg object 20">
            <a:extLst>
              <a:ext uri="{FF2B5EF4-FFF2-40B4-BE49-F238E27FC236}">
                <a16:creationId xmlns:a16="http://schemas.microsoft.com/office/drawing/2014/main" id="{0E8A4A1E-BA99-54B1-6805-0F1CA74B988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156192" y="0"/>
            <a:ext cx="2887472" cy="841248"/>
          </a:xfrm>
          <a:prstGeom prst="rect">
            <a:avLst/>
          </a:prstGeom>
        </p:spPr>
      </p:pic>
      <p:sp>
        <p:nvSpPr>
          <p:cNvPr id="2" name="标题 7">
            <a:extLst>
              <a:ext uri="{FF2B5EF4-FFF2-40B4-BE49-F238E27FC236}">
                <a16:creationId xmlns:a16="http://schemas.microsoft.com/office/drawing/2014/main" id="{B1878F1C-DBDC-0EBF-130B-4FF2B4D62E5B}"/>
              </a:ext>
            </a:extLst>
          </p:cNvPr>
          <p:cNvSpPr txBox="1">
            <a:spLocks/>
          </p:cNvSpPr>
          <p:nvPr userDrawn="1"/>
        </p:nvSpPr>
        <p:spPr>
          <a:xfrm>
            <a:off x="740324" y="335281"/>
            <a:ext cx="8498503" cy="4309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研究方法与技术路线</a:t>
            </a:r>
          </a:p>
        </p:txBody>
      </p:sp>
    </p:spTree>
    <p:extLst>
      <p:ext uri="{BB962C8B-B14F-4D97-AF65-F5344CB8AC3E}">
        <p14:creationId xmlns:p14="http://schemas.microsoft.com/office/powerpoint/2010/main" val="997247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6">
            <a:extLst>
              <a:ext uri="{FF2B5EF4-FFF2-40B4-BE49-F238E27FC236}">
                <a16:creationId xmlns:a16="http://schemas.microsoft.com/office/drawing/2014/main" id="{D76DCB1F-80EB-33BC-C224-32C6A425A3D7}"/>
              </a:ext>
            </a:extLst>
          </p:cNvPr>
          <p:cNvSpPr/>
          <p:nvPr userDrawn="1"/>
        </p:nvSpPr>
        <p:spPr>
          <a:xfrm>
            <a:off x="46735" y="784353"/>
            <a:ext cx="8055187" cy="95673"/>
          </a:xfrm>
          <a:custGeom>
            <a:avLst/>
            <a:gdLst/>
            <a:ahLst/>
            <a:cxnLst/>
            <a:rect l="l" t="t" r="r" b="b"/>
            <a:pathLst>
              <a:path w="6041390" h="71754">
                <a:moveTo>
                  <a:pt x="0" y="71627"/>
                </a:moveTo>
                <a:lnTo>
                  <a:pt x="6041136" y="71627"/>
                </a:lnTo>
                <a:lnTo>
                  <a:pt x="6041136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solidFill>
            <a:srgbClr val="0057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7">
            <a:extLst>
              <a:ext uri="{FF2B5EF4-FFF2-40B4-BE49-F238E27FC236}">
                <a16:creationId xmlns:a16="http://schemas.microsoft.com/office/drawing/2014/main" id="{C6F31B99-D664-8A9B-DF14-D6B95EAB5AEE}"/>
              </a:ext>
            </a:extLst>
          </p:cNvPr>
          <p:cNvSpPr/>
          <p:nvPr userDrawn="1"/>
        </p:nvSpPr>
        <p:spPr>
          <a:xfrm>
            <a:off x="306831" y="335281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g object 18">
            <a:extLst>
              <a:ext uri="{FF2B5EF4-FFF2-40B4-BE49-F238E27FC236}">
                <a16:creationId xmlns:a16="http://schemas.microsoft.com/office/drawing/2014/main" id="{44B5B2A8-C2C7-CFC3-EB05-3E1323171E89}"/>
              </a:ext>
            </a:extLst>
          </p:cNvPr>
          <p:cNvSpPr/>
          <p:nvPr userDrawn="1"/>
        </p:nvSpPr>
        <p:spPr>
          <a:xfrm>
            <a:off x="95504" y="75186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00541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g object 19">
            <a:extLst>
              <a:ext uri="{FF2B5EF4-FFF2-40B4-BE49-F238E27FC236}">
                <a16:creationId xmlns:a16="http://schemas.microsoft.com/office/drawing/2014/main" id="{32B614D8-E23E-11FF-D083-AFEC819A3D21}"/>
              </a:ext>
            </a:extLst>
          </p:cNvPr>
          <p:cNvSpPr/>
          <p:nvPr userDrawn="1"/>
        </p:nvSpPr>
        <p:spPr>
          <a:xfrm>
            <a:off x="8101583" y="784353"/>
            <a:ext cx="4064000" cy="95673"/>
          </a:xfrm>
          <a:custGeom>
            <a:avLst/>
            <a:gdLst/>
            <a:ahLst/>
            <a:cxnLst/>
            <a:rect l="l" t="t" r="r" b="b"/>
            <a:pathLst>
              <a:path w="3048000" h="71754">
                <a:moveTo>
                  <a:pt x="3048000" y="0"/>
                </a:moveTo>
                <a:lnTo>
                  <a:pt x="0" y="0"/>
                </a:lnTo>
                <a:lnTo>
                  <a:pt x="0" y="71627"/>
                </a:lnTo>
                <a:lnTo>
                  <a:pt x="3048000" y="71627"/>
                </a:lnTo>
                <a:lnTo>
                  <a:pt x="3048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1" name="bg object 20">
            <a:extLst>
              <a:ext uri="{FF2B5EF4-FFF2-40B4-BE49-F238E27FC236}">
                <a16:creationId xmlns:a16="http://schemas.microsoft.com/office/drawing/2014/main" id="{0E8A4A1E-BA99-54B1-6805-0F1CA74B988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156192" y="0"/>
            <a:ext cx="2887472" cy="841248"/>
          </a:xfrm>
          <a:prstGeom prst="rect">
            <a:avLst/>
          </a:prstGeom>
        </p:spPr>
      </p:pic>
      <p:sp>
        <p:nvSpPr>
          <p:cNvPr id="2" name="标题 7">
            <a:extLst>
              <a:ext uri="{FF2B5EF4-FFF2-40B4-BE49-F238E27FC236}">
                <a16:creationId xmlns:a16="http://schemas.microsoft.com/office/drawing/2014/main" id="{B1878F1C-DBDC-0EBF-130B-4FF2B4D62E5B}"/>
              </a:ext>
            </a:extLst>
          </p:cNvPr>
          <p:cNvSpPr txBox="1">
            <a:spLocks/>
          </p:cNvSpPr>
          <p:nvPr userDrawn="1"/>
        </p:nvSpPr>
        <p:spPr>
          <a:xfrm>
            <a:off x="740324" y="335281"/>
            <a:ext cx="8498503" cy="4309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可行性分析与预期结果</a:t>
            </a:r>
          </a:p>
        </p:txBody>
      </p:sp>
    </p:spTree>
    <p:extLst>
      <p:ext uri="{BB962C8B-B14F-4D97-AF65-F5344CB8AC3E}">
        <p14:creationId xmlns:p14="http://schemas.microsoft.com/office/powerpoint/2010/main" val="22458723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6">
            <a:extLst>
              <a:ext uri="{FF2B5EF4-FFF2-40B4-BE49-F238E27FC236}">
                <a16:creationId xmlns:a16="http://schemas.microsoft.com/office/drawing/2014/main" id="{D76DCB1F-80EB-33BC-C224-32C6A425A3D7}"/>
              </a:ext>
            </a:extLst>
          </p:cNvPr>
          <p:cNvSpPr/>
          <p:nvPr userDrawn="1"/>
        </p:nvSpPr>
        <p:spPr>
          <a:xfrm>
            <a:off x="46735" y="784353"/>
            <a:ext cx="8055187" cy="95673"/>
          </a:xfrm>
          <a:custGeom>
            <a:avLst/>
            <a:gdLst/>
            <a:ahLst/>
            <a:cxnLst/>
            <a:rect l="l" t="t" r="r" b="b"/>
            <a:pathLst>
              <a:path w="6041390" h="71754">
                <a:moveTo>
                  <a:pt x="0" y="71627"/>
                </a:moveTo>
                <a:lnTo>
                  <a:pt x="6041136" y="71627"/>
                </a:lnTo>
                <a:lnTo>
                  <a:pt x="6041136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solidFill>
            <a:srgbClr val="0057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7">
            <a:extLst>
              <a:ext uri="{FF2B5EF4-FFF2-40B4-BE49-F238E27FC236}">
                <a16:creationId xmlns:a16="http://schemas.microsoft.com/office/drawing/2014/main" id="{C6F31B99-D664-8A9B-DF14-D6B95EAB5AEE}"/>
              </a:ext>
            </a:extLst>
          </p:cNvPr>
          <p:cNvSpPr/>
          <p:nvPr userDrawn="1"/>
        </p:nvSpPr>
        <p:spPr>
          <a:xfrm>
            <a:off x="306831" y="335281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g object 18">
            <a:extLst>
              <a:ext uri="{FF2B5EF4-FFF2-40B4-BE49-F238E27FC236}">
                <a16:creationId xmlns:a16="http://schemas.microsoft.com/office/drawing/2014/main" id="{44B5B2A8-C2C7-CFC3-EB05-3E1323171E89}"/>
              </a:ext>
            </a:extLst>
          </p:cNvPr>
          <p:cNvSpPr/>
          <p:nvPr userDrawn="1"/>
        </p:nvSpPr>
        <p:spPr>
          <a:xfrm>
            <a:off x="95504" y="75186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00541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g object 19">
            <a:extLst>
              <a:ext uri="{FF2B5EF4-FFF2-40B4-BE49-F238E27FC236}">
                <a16:creationId xmlns:a16="http://schemas.microsoft.com/office/drawing/2014/main" id="{32B614D8-E23E-11FF-D083-AFEC819A3D21}"/>
              </a:ext>
            </a:extLst>
          </p:cNvPr>
          <p:cNvSpPr/>
          <p:nvPr userDrawn="1"/>
        </p:nvSpPr>
        <p:spPr>
          <a:xfrm>
            <a:off x="8101583" y="784353"/>
            <a:ext cx="4064000" cy="95673"/>
          </a:xfrm>
          <a:custGeom>
            <a:avLst/>
            <a:gdLst/>
            <a:ahLst/>
            <a:cxnLst/>
            <a:rect l="l" t="t" r="r" b="b"/>
            <a:pathLst>
              <a:path w="3048000" h="71754">
                <a:moveTo>
                  <a:pt x="3048000" y="0"/>
                </a:moveTo>
                <a:lnTo>
                  <a:pt x="0" y="0"/>
                </a:lnTo>
                <a:lnTo>
                  <a:pt x="0" y="71627"/>
                </a:lnTo>
                <a:lnTo>
                  <a:pt x="3048000" y="71627"/>
                </a:lnTo>
                <a:lnTo>
                  <a:pt x="3048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1" name="bg object 20">
            <a:extLst>
              <a:ext uri="{FF2B5EF4-FFF2-40B4-BE49-F238E27FC236}">
                <a16:creationId xmlns:a16="http://schemas.microsoft.com/office/drawing/2014/main" id="{0E8A4A1E-BA99-54B1-6805-0F1CA74B988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156192" y="0"/>
            <a:ext cx="2887472" cy="841248"/>
          </a:xfrm>
          <a:prstGeom prst="rect">
            <a:avLst/>
          </a:prstGeom>
        </p:spPr>
      </p:pic>
      <p:sp>
        <p:nvSpPr>
          <p:cNvPr id="2" name="标题 7">
            <a:extLst>
              <a:ext uri="{FF2B5EF4-FFF2-40B4-BE49-F238E27FC236}">
                <a16:creationId xmlns:a16="http://schemas.microsoft.com/office/drawing/2014/main" id="{B1878F1C-DBDC-0EBF-130B-4FF2B4D62E5B}"/>
              </a:ext>
            </a:extLst>
          </p:cNvPr>
          <p:cNvSpPr txBox="1">
            <a:spLocks/>
          </p:cNvSpPr>
          <p:nvPr userDrawn="1"/>
        </p:nvSpPr>
        <p:spPr>
          <a:xfrm>
            <a:off x="740324" y="335281"/>
            <a:ext cx="8498503" cy="4309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结语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20379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g object 16">
            <a:extLst>
              <a:ext uri="{FF2B5EF4-FFF2-40B4-BE49-F238E27FC236}">
                <a16:creationId xmlns:a16="http://schemas.microsoft.com/office/drawing/2014/main" id="{D76DCB1F-80EB-33BC-C224-32C6A425A3D7}"/>
              </a:ext>
            </a:extLst>
          </p:cNvPr>
          <p:cNvSpPr/>
          <p:nvPr userDrawn="1"/>
        </p:nvSpPr>
        <p:spPr>
          <a:xfrm>
            <a:off x="46735" y="784353"/>
            <a:ext cx="8055187" cy="95673"/>
          </a:xfrm>
          <a:custGeom>
            <a:avLst/>
            <a:gdLst/>
            <a:ahLst/>
            <a:cxnLst/>
            <a:rect l="l" t="t" r="r" b="b"/>
            <a:pathLst>
              <a:path w="6041390" h="71754">
                <a:moveTo>
                  <a:pt x="0" y="71627"/>
                </a:moveTo>
                <a:lnTo>
                  <a:pt x="6041136" y="71627"/>
                </a:lnTo>
                <a:lnTo>
                  <a:pt x="6041136" y="0"/>
                </a:lnTo>
                <a:lnTo>
                  <a:pt x="0" y="0"/>
                </a:lnTo>
                <a:lnTo>
                  <a:pt x="0" y="71627"/>
                </a:lnTo>
                <a:close/>
              </a:path>
            </a:pathLst>
          </a:custGeom>
          <a:solidFill>
            <a:srgbClr val="0057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7">
            <a:extLst>
              <a:ext uri="{FF2B5EF4-FFF2-40B4-BE49-F238E27FC236}">
                <a16:creationId xmlns:a16="http://schemas.microsoft.com/office/drawing/2014/main" id="{C6F31B99-D664-8A9B-DF14-D6B95EAB5AEE}"/>
              </a:ext>
            </a:extLst>
          </p:cNvPr>
          <p:cNvSpPr/>
          <p:nvPr userDrawn="1"/>
        </p:nvSpPr>
        <p:spPr>
          <a:xfrm>
            <a:off x="306831" y="335281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9" name="bg object 18">
            <a:extLst>
              <a:ext uri="{FF2B5EF4-FFF2-40B4-BE49-F238E27FC236}">
                <a16:creationId xmlns:a16="http://schemas.microsoft.com/office/drawing/2014/main" id="{44B5B2A8-C2C7-CFC3-EB05-3E1323171E89}"/>
              </a:ext>
            </a:extLst>
          </p:cNvPr>
          <p:cNvSpPr/>
          <p:nvPr userDrawn="1"/>
        </p:nvSpPr>
        <p:spPr>
          <a:xfrm>
            <a:off x="95504" y="75186"/>
            <a:ext cx="433493" cy="430953"/>
          </a:xfrm>
          <a:custGeom>
            <a:avLst/>
            <a:gdLst/>
            <a:ahLst/>
            <a:cxnLst/>
            <a:rect l="l" t="t" r="r" b="b"/>
            <a:pathLst>
              <a:path w="325120" h="323215">
                <a:moveTo>
                  <a:pt x="324612" y="0"/>
                </a:moveTo>
                <a:lnTo>
                  <a:pt x="0" y="0"/>
                </a:lnTo>
                <a:lnTo>
                  <a:pt x="0" y="323088"/>
                </a:lnTo>
                <a:lnTo>
                  <a:pt x="324612" y="323088"/>
                </a:lnTo>
                <a:lnTo>
                  <a:pt x="324612" y="0"/>
                </a:lnTo>
                <a:close/>
              </a:path>
            </a:pathLst>
          </a:custGeom>
          <a:solidFill>
            <a:srgbClr val="00541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0" name="bg object 19">
            <a:extLst>
              <a:ext uri="{FF2B5EF4-FFF2-40B4-BE49-F238E27FC236}">
                <a16:creationId xmlns:a16="http://schemas.microsoft.com/office/drawing/2014/main" id="{32B614D8-E23E-11FF-D083-AFEC819A3D21}"/>
              </a:ext>
            </a:extLst>
          </p:cNvPr>
          <p:cNvSpPr/>
          <p:nvPr userDrawn="1"/>
        </p:nvSpPr>
        <p:spPr>
          <a:xfrm>
            <a:off x="8101583" y="784353"/>
            <a:ext cx="4064000" cy="95673"/>
          </a:xfrm>
          <a:custGeom>
            <a:avLst/>
            <a:gdLst/>
            <a:ahLst/>
            <a:cxnLst/>
            <a:rect l="l" t="t" r="r" b="b"/>
            <a:pathLst>
              <a:path w="3048000" h="71754">
                <a:moveTo>
                  <a:pt x="3048000" y="0"/>
                </a:moveTo>
                <a:lnTo>
                  <a:pt x="0" y="0"/>
                </a:lnTo>
                <a:lnTo>
                  <a:pt x="0" y="71627"/>
                </a:lnTo>
                <a:lnTo>
                  <a:pt x="3048000" y="71627"/>
                </a:lnTo>
                <a:lnTo>
                  <a:pt x="3048000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21" name="bg object 20">
            <a:extLst>
              <a:ext uri="{FF2B5EF4-FFF2-40B4-BE49-F238E27FC236}">
                <a16:creationId xmlns:a16="http://schemas.microsoft.com/office/drawing/2014/main" id="{0E8A4A1E-BA99-54B1-6805-0F1CA74B9882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156192" y="0"/>
            <a:ext cx="2887472" cy="841248"/>
          </a:xfrm>
          <a:prstGeom prst="rect">
            <a:avLst/>
          </a:prstGeom>
        </p:spPr>
      </p:pic>
      <p:sp>
        <p:nvSpPr>
          <p:cNvPr id="2" name="标题 7">
            <a:extLst>
              <a:ext uri="{FF2B5EF4-FFF2-40B4-BE49-F238E27FC236}">
                <a16:creationId xmlns:a16="http://schemas.microsoft.com/office/drawing/2014/main" id="{B1878F1C-DBDC-0EBF-130B-4FF2B4D62E5B}"/>
              </a:ext>
            </a:extLst>
          </p:cNvPr>
          <p:cNvSpPr txBox="1">
            <a:spLocks/>
          </p:cNvSpPr>
          <p:nvPr userDrawn="1"/>
        </p:nvSpPr>
        <p:spPr>
          <a:xfrm>
            <a:off x="740324" y="335281"/>
            <a:ext cx="8498503" cy="43095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参考文献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78478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0336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63" r:id="rId7"/>
    <p:sldLayoutId id="2147483660" r:id="rId8"/>
    <p:sldLayoutId id="2147483662" r:id="rId9"/>
    <p:sldLayoutId id="214748366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5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sv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ACFC862-A201-281D-140D-A0BED1F02602}"/>
              </a:ext>
            </a:extLst>
          </p:cNvPr>
          <p:cNvSpPr txBox="1">
            <a:spLocks/>
          </p:cNvSpPr>
          <p:nvPr/>
        </p:nvSpPr>
        <p:spPr>
          <a:xfrm>
            <a:off x="0" y="1956268"/>
            <a:ext cx="12192000" cy="6434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sym typeface="Times New Roman" panose="02020603050405020304" pitchFamily="18" charset="0"/>
              </a:rPr>
              <a:t>质子交换膜燃料电池健康状态估计与剩余寿命预测方法研究</a:t>
            </a:r>
            <a:endParaRPr lang="zh-CN" altLang="en-US" sz="36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5" name="圆角矩形 1">
            <a:extLst>
              <a:ext uri="{FF2B5EF4-FFF2-40B4-BE49-F238E27FC236}">
                <a16:creationId xmlns:a16="http://schemas.microsoft.com/office/drawing/2014/main" id="{50B0B9D0-3863-D1FF-5252-1E2D27159BEB}"/>
              </a:ext>
            </a:extLst>
          </p:cNvPr>
          <p:cNvSpPr/>
          <p:nvPr/>
        </p:nvSpPr>
        <p:spPr>
          <a:xfrm>
            <a:off x="1536832" y="4492871"/>
            <a:ext cx="1563556" cy="343448"/>
          </a:xfrm>
          <a:prstGeom prst="roundRect">
            <a:avLst>
              <a:gd name="adj" fmla="val 50000"/>
            </a:avLst>
          </a:prstGeom>
          <a:solidFill>
            <a:srgbClr val="006835"/>
          </a:solidFill>
          <a:ln>
            <a:noFill/>
          </a:ln>
          <a:effectLst>
            <a:outerShdw blurRad="1905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汇报人：高寅烽</a:t>
            </a:r>
            <a:endParaRPr lang="en-US" altLang="zh-CN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圆角矩形 21">
            <a:extLst>
              <a:ext uri="{FF2B5EF4-FFF2-40B4-BE49-F238E27FC236}">
                <a16:creationId xmlns:a16="http://schemas.microsoft.com/office/drawing/2014/main" id="{6A9F93DA-0622-3196-A59C-EABB11FB14F8}"/>
              </a:ext>
            </a:extLst>
          </p:cNvPr>
          <p:cNvSpPr/>
          <p:nvPr/>
        </p:nvSpPr>
        <p:spPr>
          <a:xfrm>
            <a:off x="1536832" y="5021509"/>
            <a:ext cx="1563556" cy="3434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006835"/>
            </a:solidFill>
          </a:ln>
          <a:effectLst>
            <a:outerShdw blurRad="1905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时间</a:t>
            </a: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2026.9 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BF7EE017-3106-60F7-C3C5-ACE1910E48E8}"/>
              </a:ext>
            </a:extLst>
          </p:cNvPr>
          <p:cNvSpPr/>
          <p:nvPr/>
        </p:nvSpPr>
        <p:spPr>
          <a:xfrm>
            <a:off x="1536832" y="3964233"/>
            <a:ext cx="1563556" cy="343448"/>
          </a:xfrm>
          <a:prstGeom prst="roundRect">
            <a:avLst>
              <a:gd name="adj" fmla="val 50000"/>
            </a:avLst>
          </a:prstGeom>
          <a:solidFill>
            <a:srgbClr val="006835"/>
          </a:solidFill>
          <a:ln>
            <a:noFill/>
          </a:ln>
          <a:effectLst>
            <a:outerShdw blurRad="1905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导师：王永刚</a:t>
            </a:r>
            <a:endParaRPr lang="en-US" altLang="zh-CN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368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00441-3ED5-5308-7160-59C68E3A79F4}"/>
              </a:ext>
            </a:extLst>
          </p:cNvPr>
          <p:cNvSpPr txBox="1">
            <a:spLocks/>
          </p:cNvSpPr>
          <p:nvPr/>
        </p:nvSpPr>
        <p:spPr>
          <a:xfrm>
            <a:off x="3141563" y="3112176"/>
            <a:ext cx="549607" cy="1027349"/>
          </a:xfrm>
          <a:prstGeom prst="rect">
            <a:avLst/>
          </a:prstGeom>
          <a:ln>
            <a:noFill/>
          </a:ln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00541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Times New Roman" panose="02020603050405020304" pitchFamily="18" charset="0"/>
              </a:rPr>
              <a:t>目录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72847-0745-7168-BB7E-AA548118DBAC}"/>
              </a:ext>
            </a:extLst>
          </p:cNvPr>
          <p:cNvSpPr txBox="1">
            <a:spLocks/>
          </p:cNvSpPr>
          <p:nvPr/>
        </p:nvSpPr>
        <p:spPr>
          <a:xfrm>
            <a:off x="4306324" y="2224501"/>
            <a:ext cx="7212576" cy="280269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Times New Roman" panose="02020603050405020304" pitchFamily="18" charset="0"/>
              </a:rPr>
              <a:t>课题研究背景和意义</a:t>
            </a:r>
          </a:p>
          <a:p>
            <a:pPr marL="514350" indent="-514350">
              <a:buClr>
                <a:schemeClr val="tx1"/>
              </a:buClr>
              <a:buFont typeface="+mj-ea"/>
              <a:buAutoNum type="arabicPeriod"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Times New Roman" panose="02020603050405020304" pitchFamily="18" charset="0"/>
              </a:rPr>
              <a:t>国内外研究现状</a:t>
            </a:r>
          </a:p>
          <a:p>
            <a:pPr marL="514350" indent="-514350">
              <a:buClr>
                <a:schemeClr val="tx1"/>
              </a:buClr>
              <a:buFont typeface="+mj-ea"/>
              <a:buAutoNum type="arabicPeriod"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Times New Roman" panose="02020603050405020304" pitchFamily="18" charset="0"/>
              </a:rPr>
              <a:t>研究目标与研究内容</a:t>
            </a:r>
          </a:p>
          <a:p>
            <a:pPr marL="514350" indent="-514350">
              <a:buClr>
                <a:schemeClr val="tx1"/>
              </a:buClr>
              <a:buFont typeface="+mj-ea"/>
              <a:buAutoNum type="arabicPeriod"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Times New Roman" panose="02020603050405020304" pitchFamily="18" charset="0"/>
              </a:rPr>
              <a:t>研究方法与技术路线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Times New Roman" panose="02020603050405020304" pitchFamily="18" charset="0"/>
            </a:endParaRPr>
          </a:p>
          <a:p>
            <a:pPr marL="514350" indent="-514350">
              <a:buClr>
                <a:schemeClr val="tx1"/>
              </a:buClr>
              <a:buFont typeface="+mj-ea"/>
              <a:buAutoNum type="arabicPeriod"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Times New Roman" panose="02020603050405020304" pitchFamily="18" charset="0"/>
              </a:rPr>
              <a:t>可行性分析与预期结果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63F055-939D-4F95-D470-8779F1B68D5A}"/>
              </a:ext>
            </a:extLst>
          </p:cNvPr>
          <p:cNvSpPr/>
          <p:nvPr/>
        </p:nvSpPr>
        <p:spPr>
          <a:xfrm>
            <a:off x="3932739" y="2051413"/>
            <a:ext cx="82731" cy="3148874"/>
          </a:xfrm>
          <a:prstGeom prst="rect">
            <a:avLst/>
          </a:prstGeom>
          <a:solidFill>
            <a:srgbClr val="1F784E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15969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5CFF7F7-78B7-61AB-E9B5-AE8AB78FEFC7}"/>
              </a:ext>
            </a:extLst>
          </p:cNvPr>
          <p:cNvSpPr txBox="1"/>
          <p:nvPr/>
        </p:nvSpPr>
        <p:spPr>
          <a:xfrm>
            <a:off x="4051888" y="2473025"/>
            <a:ext cx="407552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5416"/>
                </a:solidFill>
                <a:effectLst/>
                <a:uLnTx/>
                <a:uFillTx/>
                <a:cs typeface="+mn-ea"/>
                <a:sym typeface="+mn-lt"/>
              </a:rPr>
              <a:t>PART 01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541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786455-D1EE-3E00-D598-98EA57BE1C28}"/>
              </a:ext>
            </a:extLst>
          </p:cNvPr>
          <p:cNvSpPr txBox="1"/>
          <p:nvPr/>
        </p:nvSpPr>
        <p:spPr>
          <a:xfrm>
            <a:off x="2554452" y="3183235"/>
            <a:ext cx="7070396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zh-CN" altLang="en-US" sz="5400" dirty="0">
                <a:solidFill>
                  <a:srgbClr val="005416"/>
                </a:solidFill>
                <a:latin typeface="微软雅黑" panose="020B0503020204020204" charset="-122"/>
                <a:ea typeface="微软雅黑" panose="020B0503020204020204" charset="-122"/>
              </a:rPr>
              <a:t>课题研究背景和意义</a:t>
            </a:r>
          </a:p>
        </p:txBody>
      </p:sp>
    </p:spTree>
    <p:extLst>
      <p:ext uri="{BB962C8B-B14F-4D97-AF65-F5344CB8AC3E}">
        <p14:creationId xmlns:p14="http://schemas.microsoft.com/office/powerpoint/2010/main" val="374087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44DF80F-A59F-0BBC-B591-4DB1C87D7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300" y="1688937"/>
            <a:ext cx="3657600" cy="2438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A186D9D-1AAE-35C6-4587-21A516621F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7"/>
          <a:stretch>
            <a:fillRect/>
          </a:stretch>
        </p:blipFill>
        <p:spPr>
          <a:xfrm>
            <a:off x="4017471" y="1675570"/>
            <a:ext cx="3843829" cy="24257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6C05463-9932-DDB8-56BE-882EABD5B555}"/>
              </a:ext>
            </a:extLst>
          </p:cNvPr>
          <p:cNvSpPr txBox="1"/>
          <p:nvPr/>
        </p:nvSpPr>
        <p:spPr>
          <a:xfrm>
            <a:off x="660400" y="2598003"/>
            <a:ext cx="3070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随着我国经济的持续增长和科技的发展，高速列车逐渐成为我国客运交通主流工具。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DAD74C8-09C2-2348-126F-05B9AA86D1F0}"/>
              </a:ext>
            </a:extLst>
          </p:cNvPr>
          <p:cNvSpPr txBox="1"/>
          <p:nvPr/>
        </p:nvSpPr>
        <p:spPr>
          <a:xfrm>
            <a:off x="660400" y="4534171"/>
            <a:ext cx="42846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高速列车走行系统中，滚动轴承为关键的旋转承载部件，其长期在高转速、交变载荷与复杂环境下运行，轴承发生局部缺陷不仅会引起设备性能退化，还可能导致列车延误乃至安全事故。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29093C0-ADA6-B005-8F67-8C529ED38338}"/>
              </a:ext>
            </a:extLst>
          </p:cNvPr>
          <p:cNvSpPr txBox="1"/>
          <p:nvPr/>
        </p:nvSpPr>
        <p:spPr>
          <a:xfrm>
            <a:off x="5479085" y="4534171"/>
            <a:ext cx="60525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目前工程中常用的故障诊断方法包括基于专家经验的时域</a:t>
            </a:r>
            <a:r>
              <a:rPr lang="en-US" altLang="zh-CN" dirty="0"/>
              <a:t>/</a:t>
            </a:r>
            <a:r>
              <a:rPr lang="zh-CN" altLang="en-US" dirty="0"/>
              <a:t>频域特征与传统机器学习，以及近年来基于深度学习的端到端方法。尽管在台架实验数据上深度模型表现优异，但将其直接应用于现场时往往因设备安装、传递路径、工况与噪声差异而性能急剧下降。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E348F07-0B8A-6B79-407E-F0E66D9BAC72}"/>
              </a:ext>
            </a:extLst>
          </p:cNvPr>
          <p:cNvSpPr/>
          <p:nvPr/>
        </p:nvSpPr>
        <p:spPr>
          <a:xfrm>
            <a:off x="660400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研究背景</a:t>
            </a:r>
          </a:p>
        </p:txBody>
      </p:sp>
    </p:spTree>
    <p:extLst>
      <p:ext uri="{BB962C8B-B14F-4D97-AF65-F5344CB8AC3E}">
        <p14:creationId xmlns:p14="http://schemas.microsoft.com/office/powerpoint/2010/main" val="415219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95A57-1706-928C-C566-35995C7ED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EE4D6B8-3F75-D5AF-81D3-0C3B108CA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1300" y="1688937"/>
            <a:ext cx="3657600" cy="2438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4F0AF9-5EE9-2742-6412-9F9DB5AC5A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87"/>
          <a:stretch>
            <a:fillRect/>
          </a:stretch>
        </p:blipFill>
        <p:spPr>
          <a:xfrm>
            <a:off x="4017471" y="1675570"/>
            <a:ext cx="3843829" cy="24257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15340DB6-2109-7C37-CA05-9762292B2256}"/>
              </a:ext>
            </a:extLst>
          </p:cNvPr>
          <p:cNvSpPr txBox="1"/>
          <p:nvPr/>
        </p:nvSpPr>
        <p:spPr>
          <a:xfrm>
            <a:off x="660400" y="2598003"/>
            <a:ext cx="3070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随着我国经济的持续增长和科技的发展，高速列车逐渐成为我国客运交通主流工具。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C9CB3B7-C6DC-F0A4-57D3-59F309E27189}"/>
              </a:ext>
            </a:extLst>
          </p:cNvPr>
          <p:cNvSpPr txBox="1"/>
          <p:nvPr/>
        </p:nvSpPr>
        <p:spPr>
          <a:xfrm>
            <a:off x="660400" y="4534171"/>
            <a:ext cx="42846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高速列车走行系统中，滚动轴承为关键的旋转承载部件，其长期在高转速、交变载荷与复杂环境下运行，轴承发生局部缺陷不仅会引起设备性能退化，还可能导致列车延误乃至安全事故。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30109C9-D3ED-E136-B0C7-B25A80A7F929}"/>
              </a:ext>
            </a:extLst>
          </p:cNvPr>
          <p:cNvSpPr txBox="1"/>
          <p:nvPr/>
        </p:nvSpPr>
        <p:spPr>
          <a:xfrm>
            <a:off x="5479085" y="4534171"/>
            <a:ext cx="60525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目前工程中常用的故障诊断方法包括基于专家经验的时域</a:t>
            </a:r>
            <a:r>
              <a:rPr lang="en-US" altLang="zh-CN" dirty="0"/>
              <a:t>/</a:t>
            </a:r>
            <a:r>
              <a:rPr lang="zh-CN" altLang="en-US" dirty="0"/>
              <a:t>频域特征与传统机器学习，以及近年来基于深度学习的端到端方法。尽管在台架实验数据上深度模型表现优异，但将其直接应用于现场时往往因设备安装、传递路径、工况与噪声差异而性能急剧下降。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71EBB77-9B19-FFD7-7FB6-4EAE8F3B70E3}"/>
              </a:ext>
            </a:extLst>
          </p:cNvPr>
          <p:cNvSpPr/>
          <p:nvPr/>
        </p:nvSpPr>
        <p:spPr>
          <a:xfrm>
            <a:off x="660400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研究意义</a:t>
            </a:r>
          </a:p>
        </p:txBody>
      </p:sp>
    </p:spTree>
    <p:extLst>
      <p:ext uri="{BB962C8B-B14F-4D97-AF65-F5344CB8AC3E}">
        <p14:creationId xmlns:p14="http://schemas.microsoft.com/office/powerpoint/2010/main" val="3069399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81815-FE12-DB1D-9EB2-BC859AE3E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82BA8BF-4A65-8C80-7E3C-FE3B0A4D382F}"/>
              </a:ext>
            </a:extLst>
          </p:cNvPr>
          <p:cNvSpPr txBox="1"/>
          <p:nvPr/>
        </p:nvSpPr>
        <p:spPr>
          <a:xfrm>
            <a:off x="4051888" y="2473025"/>
            <a:ext cx="407552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5416"/>
                </a:solidFill>
                <a:effectLst/>
                <a:uLnTx/>
                <a:uFillTx/>
                <a:cs typeface="+mn-ea"/>
                <a:sym typeface="+mn-lt"/>
              </a:rPr>
              <a:t>PART 02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541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3B7798-4C55-BBD7-46B4-E79D50D2CC8E}"/>
              </a:ext>
            </a:extLst>
          </p:cNvPr>
          <p:cNvSpPr txBox="1"/>
          <p:nvPr/>
        </p:nvSpPr>
        <p:spPr>
          <a:xfrm>
            <a:off x="3190775" y="3183235"/>
            <a:ext cx="5797750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zh-CN" altLang="en-US" sz="5400" dirty="0">
                <a:solidFill>
                  <a:srgbClr val="005416"/>
                </a:solidFill>
                <a:latin typeface="微软雅黑" panose="020B0503020204020204" charset="-122"/>
                <a:ea typeface="微软雅黑" panose="020B0503020204020204" charset="-122"/>
              </a:rPr>
              <a:t>国内外研究现状</a:t>
            </a:r>
          </a:p>
        </p:txBody>
      </p:sp>
    </p:spTree>
    <p:extLst>
      <p:ext uri="{BB962C8B-B14F-4D97-AF65-F5344CB8AC3E}">
        <p14:creationId xmlns:p14="http://schemas.microsoft.com/office/powerpoint/2010/main" val="1034049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C409F07-F0BD-ABAA-2A69-CD5DE46B6DA2}"/>
              </a:ext>
            </a:extLst>
          </p:cNvPr>
          <p:cNvSpPr txBox="1"/>
          <p:nvPr/>
        </p:nvSpPr>
        <p:spPr>
          <a:xfrm>
            <a:off x="660400" y="2471688"/>
            <a:ext cx="422103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本文数据集由</a:t>
            </a:r>
            <a:r>
              <a:rPr lang="zh-CN" altLang="en-US" sz="2000" b="1" dirty="0">
                <a:solidFill>
                  <a:srgbClr val="FF0000"/>
                </a:solidFill>
              </a:rPr>
              <a:t>源域</a:t>
            </a:r>
            <a:r>
              <a:rPr lang="en-US" altLang="zh-CN" sz="2000" b="1" dirty="0">
                <a:solidFill>
                  <a:srgbClr val="FF0000"/>
                </a:solidFill>
              </a:rPr>
              <a:t>161 </a:t>
            </a:r>
            <a:r>
              <a:rPr lang="zh-CN" altLang="en-US" sz="2000" b="1" dirty="0">
                <a:solidFill>
                  <a:srgbClr val="FF0000"/>
                </a:solidFill>
              </a:rPr>
              <a:t>个带标签的试验台轴承振动样本</a:t>
            </a:r>
            <a:r>
              <a:rPr lang="zh-CN" altLang="en-US" dirty="0"/>
              <a:t>（含</a:t>
            </a:r>
            <a:r>
              <a:rPr lang="en-US" altLang="zh-CN" dirty="0"/>
              <a:t>DE/FE/BA </a:t>
            </a:r>
            <a:r>
              <a:rPr lang="zh-CN" altLang="en-US" dirty="0"/>
              <a:t>三通道、外圈</a:t>
            </a:r>
            <a:r>
              <a:rPr lang="en-US" altLang="zh-CN" dirty="0"/>
              <a:t>/</a:t>
            </a:r>
            <a:r>
              <a:rPr lang="zh-CN" altLang="en-US" dirty="0"/>
              <a:t>内圈</a:t>
            </a:r>
            <a:r>
              <a:rPr lang="en-US" altLang="zh-CN" dirty="0"/>
              <a:t>/</a:t>
            </a:r>
            <a:r>
              <a:rPr lang="zh-CN" altLang="en-US" dirty="0"/>
              <a:t>滚动体</a:t>
            </a:r>
            <a:r>
              <a:rPr lang="en-US" altLang="zh-CN" dirty="0"/>
              <a:t>/</a:t>
            </a:r>
            <a:r>
              <a:rPr lang="zh-CN" altLang="en-US" dirty="0"/>
              <a:t>正常四类、不同故障直径与载荷、采样</a:t>
            </a:r>
            <a:r>
              <a:rPr lang="en-US" altLang="zh-CN" dirty="0"/>
              <a:t>12/48kHz</a:t>
            </a:r>
            <a:r>
              <a:rPr lang="zh-CN" altLang="en-US" dirty="0"/>
              <a:t>）与</a:t>
            </a:r>
            <a:r>
              <a:rPr lang="zh-CN" altLang="en-US" sz="2000" b="1" dirty="0">
                <a:solidFill>
                  <a:srgbClr val="FF0000"/>
                </a:solidFill>
              </a:rPr>
              <a:t>目标域</a:t>
            </a:r>
            <a:r>
              <a:rPr lang="en-US" altLang="zh-CN" sz="2000" b="1" dirty="0">
                <a:solidFill>
                  <a:srgbClr val="FF0000"/>
                </a:solidFill>
              </a:rPr>
              <a:t>16 </a:t>
            </a:r>
            <a:r>
              <a:rPr lang="zh-CN" altLang="en-US" sz="2000" b="1" dirty="0">
                <a:solidFill>
                  <a:srgbClr val="FF0000"/>
                </a:solidFill>
              </a:rPr>
              <a:t>个无标签的在途列车振动文件</a:t>
            </a:r>
            <a:r>
              <a:rPr lang="zh-CN" altLang="en-US" dirty="0"/>
              <a:t>（</a:t>
            </a:r>
            <a:r>
              <a:rPr lang="en-US" altLang="zh-CN" dirty="0"/>
              <a:t>A–P</a:t>
            </a:r>
            <a:r>
              <a:rPr lang="zh-CN" altLang="en-US" dirty="0"/>
              <a:t>，约</a:t>
            </a:r>
            <a:r>
              <a:rPr lang="en-US" altLang="zh-CN" dirty="0"/>
              <a:t>8s</a:t>
            </a:r>
            <a:r>
              <a:rPr lang="zh-CN" altLang="en-US" dirty="0"/>
              <a:t>、</a:t>
            </a:r>
            <a:r>
              <a:rPr lang="en-US" altLang="zh-CN" dirty="0"/>
              <a:t>32kHz</a:t>
            </a:r>
            <a:r>
              <a:rPr lang="zh-CN" altLang="en-US" dirty="0"/>
              <a:t>、列车速≈</a:t>
            </a:r>
            <a:r>
              <a:rPr lang="en-US" altLang="zh-CN" dirty="0"/>
              <a:t>90km/h</a:t>
            </a:r>
            <a:r>
              <a:rPr lang="zh-CN" altLang="en-US" dirty="0"/>
              <a:t>、轴承转速≈</a:t>
            </a:r>
            <a:r>
              <a:rPr lang="en-US" altLang="zh-CN" dirty="0"/>
              <a:t>600rpm</a:t>
            </a:r>
            <a:r>
              <a:rPr lang="zh-CN" altLang="en-US" dirty="0"/>
              <a:t>）构成，适用于源域到目标域的无监督迁移诊断研究。其具体内容见表</a:t>
            </a:r>
            <a:r>
              <a:rPr lang="en-US" altLang="zh-CN" dirty="0"/>
              <a:t>1 </a:t>
            </a:r>
            <a:r>
              <a:rPr lang="zh-CN" altLang="en-US" dirty="0"/>
              <a:t>所示。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F920F99-B1CB-331E-D2AC-CD6062125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430" y="1193800"/>
            <a:ext cx="6637470" cy="4864100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F7B3304F-E8DF-2881-70E1-D8C0C68E9E53}"/>
              </a:ext>
            </a:extLst>
          </p:cNvPr>
          <p:cNvSpPr/>
          <p:nvPr/>
        </p:nvSpPr>
        <p:spPr>
          <a:xfrm>
            <a:off x="660400" y="1193799"/>
            <a:ext cx="2707409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国内研究现状</a:t>
            </a:r>
          </a:p>
        </p:txBody>
      </p:sp>
    </p:spTree>
    <p:extLst>
      <p:ext uri="{BB962C8B-B14F-4D97-AF65-F5344CB8AC3E}">
        <p14:creationId xmlns:p14="http://schemas.microsoft.com/office/powerpoint/2010/main" val="4210232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489A8-3E7F-FD1D-06AD-95CC952C6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9">
            <a:extLst>
              <a:ext uri="{FF2B5EF4-FFF2-40B4-BE49-F238E27FC236}">
                <a16:creationId xmlns:a16="http://schemas.microsoft.com/office/drawing/2014/main" id="{6A4A8781-E508-4BA9-EEF7-65EE12FB4BEF}"/>
              </a:ext>
            </a:extLst>
          </p:cNvPr>
          <p:cNvSpPr/>
          <p:nvPr/>
        </p:nvSpPr>
        <p:spPr>
          <a:xfrm>
            <a:off x="658709" y="1996846"/>
            <a:ext cx="2459053" cy="4061054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D5F4C0-E77E-2B1D-F316-E27F1F14AF91}"/>
              </a:ext>
            </a:extLst>
          </p:cNvPr>
          <p:cNvSpPr/>
          <p:nvPr/>
        </p:nvSpPr>
        <p:spPr>
          <a:xfrm>
            <a:off x="682788" y="1990885"/>
            <a:ext cx="6976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01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38C8B41-3300-ED40-E7F1-50FA406ECEBC}"/>
              </a:ext>
            </a:extLst>
          </p:cNvPr>
          <p:cNvSpPr/>
          <p:nvPr/>
        </p:nvSpPr>
        <p:spPr>
          <a:xfrm>
            <a:off x="764043" y="2984239"/>
            <a:ext cx="2248383" cy="2272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从提供的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161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个试验台（源域）样本中筛选具有代表性子集，结合轴承故障机理与传感器位置特性，设计去趋势、带通滤波、包络解调、时频变换等信号处理流程并提取时域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频域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时频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图像类特征，用于后续建模与迁移适配。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3603DD-A313-0765-7824-10C24649AFD1}"/>
              </a:ext>
            </a:extLst>
          </p:cNvPr>
          <p:cNvSpPr/>
          <p:nvPr/>
        </p:nvSpPr>
        <p:spPr>
          <a:xfrm>
            <a:off x="1274618" y="2011146"/>
            <a:ext cx="1837811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  <a:sym typeface="+mn-lt"/>
              </a:rPr>
              <a:t>数据筛选与故障特征提取</a:t>
            </a:r>
          </a:p>
        </p:txBody>
      </p:sp>
      <p:sp>
        <p:nvSpPr>
          <p:cNvPr id="9" name="圆角矩形 24">
            <a:extLst>
              <a:ext uri="{FF2B5EF4-FFF2-40B4-BE49-F238E27FC236}">
                <a16:creationId xmlns:a16="http://schemas.microsoft.com/office/drawing/2014/main" id="{C9E65C29-2E06-4B9B-CA22-08FF09010F7D}"/>
              </a:ext>
            </a:extLst>
          </p:cNvPr>
          <p:cNvSpPr/>
          <p:nvPr/>
        </p:nvSpPr>
        <p:spPr>
          <a:xfrm>
            <a:off x="3459088" y="1996846"/>
            <a:ext cx="2459053" cy="4061054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3" name="圆角矩形 29">
            <a:extLst>
              <a:ext uri="{FF2B5EF4-FFF2-40B4-BE49-F238E27FC236}">
                <a16:creationId xmlns:a16="http://schemas.microsoft.com/office/drawing/2014/main" id="{EB45356B-438A-72E9-8655-D97D72AFEC75}"/>
              </a:ext>
            </a:extLst>
          </p:cNvPr>
          <p:cNvSpPr/>
          <p:nvPr/>
        </p:nvSpPr>
        <p:spPr>
          <a:xfrm>
            <a:off x="6259467" y="1996846"/>
            <a:ext cx="2459053" cy="4061054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0" name="圆角矩形 29">
            <a:extLst>
              <a:ext uri="{FF2B5EF4-FFF2-40B4-BE49-F238E27FC236}">
                <a16:creationId xmlns:a16="http://schemas.microsoft.com/office/drawing/2014/main" id="{9D096ECD-7E56-409C-B90E-73C4BF739093}"/>
              </a:ext>
            </a:extLst>
          </p:cNvPr>
          <p:cNvSpPr/>
          <p:nvPr/>
        </p:nvSpPr>
        <p:spPr>
          <a:xfrm>
            <a:off x="9059847" y="1996846"/>
            <a:ext cx="2459053" cy="4061054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0F1B7D2-4F78-FE14-A919-20E56008DBDA}"/>
              </a:ext>
            </a:extLst>
          </p:cNvPr>
          <p:cNvSpPr/>
          <p:nvPr/>
        </p:nvSpPr>
        <p:spPr>
          <a:xfrm>
            <a:off x="3476787" y="1990885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02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FF8B5E4-56A1-7DA6-1F6C-AC18B00686E8}"/>
              </a:ext>
            </a:extLst>
          </p:cNvPr>
          <p:cNvSpPr/>
          <p:nvPr/>
        </p:nvSpPr>
        <p:spPr>
          <a:xfrm>
            <a:off x="4136687" y="2011146"/>
            <a:ext cx="1786337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  <a:sym typeface="+mn-lt"/>
              </a:rPr>
              <a:t>源域故障诊断建模与评估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9F7C3B2-4CE1-A797-D5F6-DE58E85EFDE9}"/>
              </a:ext>
            </a:extLst>
          </p:cNvPr>
          <p:cNvSpPr/>
          <p:nvPr/>
        </p:nvSpPr>
        <p:spPr>
          <a:xfrm>
            <a:off x="6229223" y="1990885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03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452DABA-BA11-538B-24E8-7A8833771926}"/>
              </a:ext>
            </a:extLst>
          </p:cNvPr>
          <p:cNvSpPr/>
          <p:nvPr/>
        </p:nvSpPr>
        <p:spPr>
          <a:xfrm>
            <a:off x="6926851" y="2011146"/>
            <a:ext cx="1786337" cy="1417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  <a:sym typeface="+mn-lt"/>
              </a:rPr>
              <a:t>无监督迁移诊断方法设计与目标域标注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C57FD1-1EDC-E575-FAE9-72532FB4561D}"/>
              </a:ext>
            </a:extLst>
          </p:cNvPr>
          <p:cNvSpPr/>
          <p:nvPr/>
        </p:nvSpPr>
        <p:spPr>
          <a:xfrm>
            <a:off x="9019387" y="1990885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04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09C3529-DA16-A0D6-726E-566742C9E5CE}"/>
              </a:ext>
            </a:extLst>
          </p:cNvPr>
          <p:cNvSpPr/>
          <p:nvPr/>
        </p:nvSpPr>
        <p:spPr>
          <a:xfrm>
            <a:off x="9717015" y="2011146"/>
            <a:ext cx="1801885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  <a:sym typeface="+mn-lt"/>
              </a:rPr>
              <a:t>迁移诊断的可解释性分析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2D388CD-D914-81A6-3EC6-5047F063B2E2}"/>
              </a:ext>
            </a:extLst>
          </p:cNvPr>
          <p:cNvSpPr/>
          <p:nvPr/>
        </p:nvSpPr>
        <p:spPr>
          <a:xfrm>
            <a:off x="3564423" y="2984238"/>
            <a:ext cx="2248383" cy="2549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基于问题一提取的特征划分源域训练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测试集，设计并训练稳健的诊断模型（可包含基于手工特征的传统分类器与基于时频图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原始信号的深度模型），并对源域分类性能进行定量评价与消融分析，确保模型能稳定区分正常、外圈、内圈与滚动体故障。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EB903D6-97EE-9489-514F-4688A273B4F7}"/>
              </a:ext>
            </a:extLst>
          </p:cNvPr>
          <p:cNvSpPr/>
          <p:nvPr/>
        </p:nvSpPr>
        <p:spPr>
          <a:xfrm>
            <a:off x="6364801" y="3449970"/>
            <a:ext cx="2248383" cy="22724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针对源域（有标签）→目标域（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16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个无标签文件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A–P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，约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8s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32 kHz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）场景，构建适用的迁移学习策略，缩小域间分布差异并在目标域上完成故障类别判定与标签标注，同时可视化迁移结果并给出分类置信度或不确定性评估。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2C13F09-4C15-C739-0D4F-C151FDF4D9B0}"/>
              </a:ext>
            </a:extLst>
          </p:cNvPr>
          <p:cNvSpPr/>
          <p:nvPr/>
        </p:nvSpPr>
        <p:spPr>
          <a:xfrm>
            <a:off x="9165180" y="2978921"/>
            <a:ext cx="2248383" cy="2826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从事前（模型结构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特征设计）、迁移过程（共享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差异特征分析）与事后（激活映射、包络谱物理对照、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t- SNE/UMAP </a:t>
            </a: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可视化、特征重要性等）三方面展开可解释性验证，论证模型在目标域上所依据的判据是否与轴承机理一致，提升工程可信度并为传感器布局或巡检策略提供依据。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5EAC53E-C84A-91F4-AD72-0DAF6EB5092F}"/>
              </a:ext>
            </a:extLst>
          </p:cNvPr>
          <p:cNvSpPr/>
          <p:nvPr/>
        </p:nvSpPr>
        <p:spPr>
          <a:xfrm>
            <a:off x="660400" y="1193799"/>
            <a:ext cx="2707409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国外研究现状</a:t>
            </a:r>
          </a:p>
        </p:txBody>
      </p:sp>
    </p:spTree>
    <p:extLst>
      <p:ext uri="{BB962C8B-B14F-4D97-AF65-F5344CB8AC3E}">
        <p14:creationId xmlns:p14="http://schemas.microsoft.com/office/powerpoint/2010/main" val="165367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29" dur="10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39" dur="10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44" dur="100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49" dur="125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54" dur="1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59" dur="125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64" dur="10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69" dur="125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74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79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84" dur="10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/>
      <p:bldP spid="5" grpId="1"/>
      <p:bldP spid="7" grpId="0"/>
      <p:bldP spid="7" grpId="1"/>
      <p:bldP spid="8" grpId="0"/>
      <p:bldP spid="8" grpId="1"/>
      <p:bldP spid="9" grpId="0" animBg="1"/>
      <p:bldP spid="9" grpId="1" animBg="1"/>
      <p:bldP spid="13" grpId="0" animBg="1"/>
      <p:bldP spid="13" grpId="1" animBg="1"/>
      <p:bldP spid="20" grpId="0" animBg="1"/>
      <p:bldP spid="20" grpId="1" animBg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5" grpId="0"/>
      <p:bldP spid="3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699C8-C737-01DC-EBFB-FBC2D718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361D71B-E0D9-77C7-D0C9-6F4669435C9E}"/>
              </a:ext>
            </a:extLst>
          </p:cNvPr>
          <p:cNvSpPr txBox="1"/>
          <p:nvPr/>
        </p:nvSpPr>
        <p:spPr>
          <a:xfrm>
            <a:off x="4058239" y="2473025"/>
            <a:ext cx="407552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5416"/>
                </a:solidFill>
                <a:effectLst/>
                <a:uLnTx/>
                <a:uFillTx/>
                <a:cs typeface="+mn-ea"/>
                <a:sym typeface="+mn-lt"/>
              </a:rPr>
              <a:t>PART 0</a:t>
            </a:r>
            <a:r>
              <a:rPr lang="en-US" altLang="zh-CN" sz="4800" b="1" dirty="0">
                <a:solidFill>
                  <a:srgbClr val="005416"/>
                </a:solidFill>
                <a:cs typeface="+mn-ea"/>
                <a:sym typeface="+mn-lt"/>
              </a:rPr>
              <a:t>3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541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CDA049-598E-E788-35D9-59FC14864A37}"/>
              </a:ext>
            </a:extLst>
          </p:cNvPr>
          <p:cNvSpPr txBox="1"/>
          <p:nvPr/>
        </p:nvSpPr>
        <p:spPr>
          <a:xfrm>
            <a:off x="2820649" y="3183235"/>
            <a:ext cx="6538002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zh-CN" altLang="en-US" sz="5400" dirty="0">
                <a:solidFill>
                  <a:srgbClr val="005416"/>
                </a:solidFill>
                <a:latin typeface="微软雅黑" panose="020B0503020204020204" charset="-122"/>
                <a:ea typeface="微软雅黑" panose="020B0503020204020204" charset="-122"/>
              </a:rPr>
              <a:t>研究目标与研究内容</a:t>
            </a:r>
          </a:p>
        </p:txBody>
      </p:sp>
    </p:spTree>
    <p:extLst>
      <p:ext uri="{BB962C8B-B14F-4D97-AF65-F5344CB8AC3E}">
        <p14:creationId xmlns:p14="http://schemas.microsoft.com/office/powerpoint/2010/main" val="29390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4C12B-8E06-B19E-60FB-56699E26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9">
            <a:extLst>
              <a:ext uri="{FF2B5EF4-FFF2-40B4-BE49-F238E27FC236}">
                <a16:creationId xmlns:a16="http://schemas.microsoft.com/office/drawing/2014/main" id="{EBA84793-B631-2411-88E6-D3D106A46302}"/>
              </a:ext>
            </a:extLst>
          </p:cNvPr>
          <p:cNvSpPr/>
          <p:nvPr/>
        </p:nvSpPr>
        <p:spPr>
          <a:xfrm>
            <a:off x="658709" y="1996846"/>
            <a:ext cx="2459053" cy="4061054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73DC48-C9DE-E348-E792-5EC746BC974B}"/>
              </a:ext>
            </a:extLst>
          </p:cNvPr>
          <p:cNvSpPr/>
          <p:nvPr/>
        </p:nvSpPr>
        <p:spPr>
          <a:xfrm>
            <a:off x="682788" y="2175610"/>
            <a:ext cx="6976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01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67CC2B-5B39-5BE8-164B-29018C09246B}"/>
              </a:ext>
            </a:extLst>
          </p:cNvPr>
          <p:cNvSpPr/>
          <p:nvPr/>
        </p:nvSpPr>
        <p:spPr>
          <a:xfrm>
            <a:off x="764043" y="3205905"/>
            <a:ext cx="2248383" cy="2312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振动信号在短时窗内近似平稳，轴承故障产生的周期性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调制特征（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BPFO/BPFI/BSF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及其谐波）能通过去噪、包络解调与时频分析可靠提取并作为判别特征。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35BE55-33A4-792F-ADC2-11559C91A8CE}"/>
              </a:ext>
            </a:extLst>
          </p:cNvPr>
          <p:cNvSpPr/>
          <p:nvPr/>
        </p:nvSpPr>
        <p:spPr>
          <a:xfrm>
            <a:off x="1274618" y="2195871"/>
            <a:ext cx="1837811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  <a:sym typeface="+mn-lt"/>
              </a:rPr>
              <a:t>数据与特征可提取</a:t>
            </a:r>
          </a:p>
        </p:txBody>
      </p:sp>
      <p:sp>
        <p:nvSpPr>
          <p:cNvPr id="9" name="圆角矩形 24">
            <a:extLst>
              <a:ext uri="{FF2B5EF4-FFF2-40B4-BE49-F238E27FC236}">
                <a16:creationId xmlns:a16="http://schemas.microsoft.com/office/drawing/2014/main" id="{D52DFE80-4CAC-E180-29C4-CE1E22C21E92}"/>
              </a:ext>
            </a:extLst>
          </p:cNvPr>
          <p:cNvSpPr/>
          <p:nvPr/>
        </p:nvSpPr>
        <p:spPr>
          <a:xfrm>
            <a:off x="3459088" y="1996846"/>
            <a:ext cx="2459053" cy="4061054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0" name="圆角矩形 29">
            <a:extLst>
              <a:ext uri="{FF2B5EF4-FFF2-40B4-BE49-F238E27FC236}">
                <a16:creationId xmlns:a16="http://schemas.microsoft.com/office/drawing/2014/main" id="{7799F81A-1D2F-6505-F817-EB67C3C0059C}"/>
              </a:ext>
            </a:extLst>
          </p:cNvPr>
          <p:cNvSpPr/>
          <p:nvPr/>
        </p:nvSpPr>
        <p:spPr>
          <a:xfrm>
            <a:off x="6259467" y="1996846"/>
            <a:ext cx="2459053" cy="4061054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1" name="圆角矩形 29">
            <a:extLst>
              <a:ext uri="{FF2B5EF4-FFF2-40B4-BE49-F238E27FC236}">
                <a16:creationId xmlns:a16="http://schemas.microsoft.com/office/drawing/2014/main" id="{0122B7E6-DA88-34EE-4AFE-3765978511D5}"/>
              </a:ext>
            </a:extLst>
          </p:cNvPr>
          <p:cNvSpPr/>
          <p:nvPr/>
        </p:nvSpPr>
        <p:spPr>
          <a:xfrm>
            <a:off x="9059847" y="1996846"/>
            <a:ext cx="2459053" cy="4061054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8FBFBC-D1EC-9BAE-18B1-AA416AEDC244}"/>
              </a:ext>
            </a:extLst>
          </p:cNvPr>
          <p:cNvSpPr/>
          <p:nvPr/>
        </p:nvSpPr>
        <p:spPr>
          <a:xfrm>
            <a:off x="3476787" y="2175610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02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5D6B88-2245-01D5-150D-94347B16212F}"/>
              </a:ext>
            </a:extLst>
          </p:cNvPr>
          <p:cNvSpPr/>
          <p:nvPr/>
        </p:nvSpPr>
        <p:spPr>
          <a:xfrm>
            <a:off x="4136687" y="2195871"/>
            <a:ext cx="1786337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  <a:sym typeface="+mn-lt"/>
              </a:rPr>
              <a:t>源域标签与代表性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EBD941-5DF8-3941-B491-0AD84BF6B72C}"/>
              </a:ext>
            </a:extLst>
          </p:cNvPr>
          <p:cNvSpPr/>
          <p:nvPr/>
        </p:nvSpPr>
        <p:spPr>
          <a:xfrm>
            <a:off x="6229223" y="2175610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03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4B82A0-43C9-A69A-371D-7E8846B9DD8F}"/>
              </a:ext>
            </a:extLst>
          </p:cNvPr>
          <p:cNvSpPr/>
          <p:nvPr/>
        </p:nvSpPr>
        <p:spPr>
          <a:xfrm>
            <a:off x="6926851" y="2195871"/>
            <a:ext cx="1786337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  <a:sym typeface="+mn-lt"/>
              </a:rPr>
              <a:t>可迁移性与测量可校正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D9877B-D98C-485C-E147-86B66D5409EF}"/>
              </a:ext>
            </a:extLst>
          </p:cNvPr>
          <p:cNvSpPr/>
          <p:nvPr/>
        </p:nvSpPr>
        <p:spPr>
          <a:xfrm>
            <a:off x="9019387" y="2175610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04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6694C4-6DF3-5441-9AB7-0946905E3C5C}"/>
              </a:ext>
            </a:extLst>
          </p:cNvPr>
          <p:cNvSpPr/>
          <p:nvPr/>
        </p:nvSpPr>
        <p:spPr>
          <a:xfrm>
            <a:off x="9717015" y="2195871"/>
            <a:ext cx="1801885" cy="494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  <a:sym typeface="+mn-lt"/>
              </a:rPr>
              <a:t>可解释性成立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E50E7A-9226-348A-27C3-567366332040}"/>
              </a:ext>
            </a:extLst>
          </p:cNvPr>
          <p:cNvSpPr/>
          <p:nvPr/>
        </p:nvSpPr>
        <p:spPr>
          <a:xfrm>
            <a:off x="3564423" y="3205904"/>
            <a:ext cx="2248383" cy="198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源域试验台数据为单点故障、标签准确且样本覆盖目标域主要故障模式与一定工况变异，故可用于训练具有泛化能力的源域诊断模型。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839DC3-014A-A924-4AC6-9585EF44C5E4}"/>
              </a:ext>
            </a:extLst>
          </p:cNvPr>
          <p:cNvSpPr/>
          <p:nvPr/>
        </p:nvSpPr>
        <p:spPr>
          <a:xfrm>
            <a:off x="6364801" y="3072535"/>
            <a:ext cx="2248383" cy="2958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源域与目标域在某一映射后的判别性特征空间上具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有足够相似性，且采样率／传感器响应等测量差异可通过预处理或模型层（重采样、归一化、域专用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BN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、重要性加权等）有效补偿，从而使无监督迁移可行。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D7226FF-4C4B-B87D-150D-94C9A770F6FA}"/>
              </a:ext>
            </a:extLst>
          </p:cNvPr>
          <p:cNvSpPr/>
          <p:nvPr/>
        </p:nvSpPr>
        <p:spPr>
          <a:xfrm>
            <a:off x="9165180" y="3200587"/>
            <a:ext cx="2248383" cy="2635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模型的判决依据能映射回物理机理（例如包络谱峰或调制成分），且事前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/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事后解释方法（原型约束、特征重要性、频谱贡献分析等）能够揭示主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要驱动因子，供专家验证以提高工程可信度。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7800859-D6DC-1E3F-F219-5D2F84D7EFDB}"/>
              </a:ext>
            </a:extLst>
          </p:cNvPr>
          <p:cNvSpPr/>
          <p:nvPr/>
        </p:nvSpPr>
        <p:spPr>
          <a:xfrm>
            <a:off x="660400" y="1193799"/>
            <a:ext cx="1996209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研究目标</a:t>
            </a:r>
          </a:p>
        </p:txBody>
      </p:sp>
    </p:spTree>
    <p:extLst>
      <p:ext uri="{BB962C8B-B14F-4D97-AF65-F5344CB8AC3E}">
        <p14:creationId xmlns:p14="http://schemas.microsoft.com/office/powerpoint/2010/main" val="4024389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29" dur="10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39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44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49" dur="12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54" dur="10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59" dur="125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64" dur="10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69" dur="125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74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79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84" dur="10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  <p:bldP spid="4" grpId="1"/>
      <p:bldP spid="5" grpId="0"/>
      <p:bldP spid="5" grpId="1"/>
      <p:bldP spid="7" grpId="0"/>
      <p:bldP spid="7" grpId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A13C-441E-EEAB-7CE2-90B5FD82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7A25981-926C-2F00-CBD7-B7121DFE8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24522" y="1193798"/>
            <a:ext cx="5730257" cy="5641071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6FF2CDC1-B23A-5D7F-26C5-B87E9BF51F53}"/>
              </a:ext>
            </a:extLst>
          </p:cNvPr>
          <p:cNvSpPr/>
          <p:nvPr/>
        </p:nvSpPr>
        <p:spPr>
          <a:xfrm>
            <a:off x="660400" y="1193799"/>
            <a:ext cx="1996209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研究内容</a:t>
            </a:r>
          </a:p>
        </p:txBody>
      </p:sp>
    </p:spTree>
    <p:extLst>
      <p:ext uri="{BB962C8B-B14F-4D97-AF65-F5344CB8AC3E}">
        <p14:creationId xmlns:p14="http://schemas.microsoft.com/office/powerpoint/2010/main" val="1669761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2D0AD-1161-E39C-78D6-E74BCCB14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92DFF47-8643-C4C7-278F-AB3FC78D6A62}"/>
              </a:ext>
            </a:extLst>
          </p:cNvPr>
          <p:cNvSpPr txBox="1"/>
          <p:nvPr/>
        </p:nvSpPr>
        <p:spPr>
          <a:xfrm>
            <a:off x="4058239" y="2473025"/>
            <a:ext cx="407552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5416"/>
                </a:solidFill>
                <a:effectLst/>
                <a:uLnTx/>
                <a:uFillTx/>
                <a:cs typeface="+mn-ea"/>
                <a:sym typeface="+mn-lt"/>
              </a:rPr>
              <a:t>PART 04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541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24FEB0-732B-F5DE-43E4-9916B78C0D1D}"/>
              </a:ext>
            </a:extLst>
          </p:cNvPr>
          <p:cNvSpPr txBox="1"/>
          <p:nvPr/>
        </p:nvSpPr>
        <p:spPr>
          <a:xfrm>
            <a:off x="660400" y="3183235"/>
            <a:ext cx="10858499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zh-CN" altLang="en-US" sz="5400" dirty="0">
                <a:solidFill>
                  <a:srgbClr val="005416"/>
                </a:solidFill>
                <a:latin typeface="微软雅黑" panose="020B0503020204020204" charset="-122"/>
                <a:ea typeface="微软雅黑" panose="020B0503020204020204" charset="-122"/>
              </a:rPr>
              <a:t>研究方法与技术路线</a:t>
            </a:r>
          </a:p>
        </p:txBody>
      </p:sp>
    </p:spTree>
    <p:extLst>
      <p:ext uri="{BB962C8B-B14F-4D97-AF65-F5344CB8AC3E}">
        <p14:creationId xmlns:p14="http://schemas.microsoft.com/office/powerpoint/2010/main" val="2446775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41036-889B-CFBB-F64D-6789D4A53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EFFD462-A6A9-A7B4-6803-F350A1F09073}"/>
              </a:ext>
            </a:extLst>
          </p:cNvPr>
          <p:cNvSpPr/>
          <p:nvPr/>
        </p:nvSpPr>
        <p:spPr>
          <a:xfrm>
            <a:off x="660400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关键步骤</a:t>
            </a:r>
          </a:p>
        </p:txBody>
      </p:sp>
      <p:sp>
        <p:nvSpPr>
          <p:cNvPr id="8" name="圆角矩形 9">
            <a:extLst>
              <a:ext uri="{FF2B5EF4-FFF2-40B4-BE49-F238E27FC236}">
                <a16:creationId xmlns:a16="http://schemas.microsoft.com/office/drawing/2014/main" id="{C9757B90-0C55-716D-80BB-80B2760EAB2F}"/>
              </a:ext>
            </a:extLst>
          </p:cNvPr>
          <p:cNvSpPr/>
          <p:nvPr/>
        </p:nvSpPr>
        <p:spPr>
          <a:xfrm>
            <a:off x="682788" y="1996846"/>
            <a:ext cx="2459053" cy="3709010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431C329-5525-5927-3FBD-7E2551728E72}"/>
              </a:ext>
            </a:extLst>
          </p:cNvPr>
          <p:cNvSpPr/>
          <p:nvPr/>
        </p:nvSpPr>
        <p:spPr>
          <a:xfrm>
            <a:off x="682788" y="2005518"/>
            <a:ext cx="6976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01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24A87DC-8BD0-CAEF-303F-A0F78B637668}"/>
              </a:ext>
            </a:extLst>
          </p:cNvPr>
          <p:cNvSpPr/>
          <p:nvPr/>
        </p:nvSpPr>
        <p:spPr>
          <a:xfrm>
            <a:off x="764043" y="2998872"/>
            <a:ext cx="224838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源域：优先选择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DE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传感器数据，排除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BA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通道，覆盖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12/48kHz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采样率、全故障类型（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B/IR/OR/N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），筛选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60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个有效文件。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目标域：加载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16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个无标签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DE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文件，固定采样率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32kHz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19F109-41F7-DE35-4432-AD30F7CCC4F9}"/>
              </a:ext>
            </a:extLst>
          </p:cNvPr>
          <p:cNvSpPr/>
          <p:nvPr/>
        </p:nvSpPr>
        <p:spPr>
          <a:xfrm>
            <a:off x="1274618" y="2025779"/>
            <a:ext cx="1837811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数据筛选与加载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32D059EA-F77B-CC3C-974B-FE621FCC7A49}"/>
              </a:ext>
            </a:extLst>
          </p:cNvPr>
          <p:cNvSpPr/>
          <p:nvPr/>
        </p:nvSpPr>
        <p:spPr>
          <a:xfrm>
            <a:off x="3483167" y="1996846"/>
            <a:ext cx="2459053" cy="3709010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6" name="圆角矩形 29">
            <a:extLst>
              <a:ext uri="{FF2B5EF4-FFF2-40B4-BE49-F238E27FC236}">
                <a16:creationId xmlns:a16="http://schemas.microsoft.com/office/drawing/2014/main" id="{7269884B-23D2-AC5F-8E49-45C5C5B5F6EE}"/>
              </a:ext>
            </a:extLst>
          </p:cNvPr>
          <p:cNvSpPr/>
          <p:nvPr/>
        </p:nvSpPr>
        <p:spPr>
          <a:xfrm>
            <a:off x="6283546" y="1996846"/>
            <a:ext cx="2459053" cy="3709010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圆角矩形 29">
            <a:extLst>
              <a:ext uri="{FF2B5EF4-FFF2-40B4-BE49-F238E27FC236}">
                <a16:creationId xmlns:a16="http://schemas.microsoft.com/office/drawing/2014/main" id="{93F3B74D-19D1-FDF0-E755-529F5398639C}"/>
              </a:ext>
            </a:extLst>
          </p:cNvPr>
          <p:cNvSpPr/>
          <p:nvPr/>
        </p:nvSpPr>
        <p:spPr>
          <a:xfrm>
            <a:off x="9083926" y="1996846"/>
            <a:ext cx="2459053" cy="3709010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E58EBAB-092C-B1CE-4760-8B3DE4D4B00C}"/>
              </a:ext>
            </a:extLst>
          </p:cNvPr>
          <p:cNvSpPr/>
          <p:nvPr/>
        </p:nvSpPr>
        <p:spPr>
          <a:xfrm>
            <a:off x="3476787" y="2005518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02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9F7CE8C-B310-8E17-9A26-C7D8A68064FC}"/>
              </a:ext>
            </a:extLst>
          </p:cNvPr>
          <p:cNvSpPr/>
          <p:nvPr/>
        </p:nvSpPr>
        <p:spPr>
          <a:xfrm>
            <a:off x="4136687" y="2025779"/>
            <a:ext cx="1786337" cy="958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信号预处理阶段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FDDD776-F51F-BFE3-7F82-FC469CF11C1B}"/>
              </a:ext>
            </a:extLst>
          </p:cNvPr>
          <p:cNvSpPr/>
          <p:nvPr/>
        </p:nvSpPr>
        <p:spPr>
          <a:xfrm>
            <a:off x="6229223" y="2005518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03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A790400-4A9C-46EF-B5EC-17756668257F}"/>
              </a:ext>
            </a:extLst>
          </p:cNvPr>
          <p:cNvSpPr/>
          <p:nvPr/>
        </p:nvSpPr>
        <p:spPr>
          <a:xfrm>
            <a:off x="6926851" y="2025779"/>
            <a:ext cx="1786337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多维度特征提取（共 </a:t>
            </a:r>
            <a:r>
              <a:rPr lang="en-US" altLang="zh-CN" sz="2000" b="1" dirty="0">
                <a:solidFill>
                  <a:srgbClr val="323F4F"/>
                </a:solidFill>
                <a:cs typeface="+mn-ea"/>
              </a:rPr>
              <a:t>49 </a:t>
            </a: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维）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76DD05C-E5F1-6F6B-4626-AE03581D6856}"/>
              </a:ext>
            </a:extLst>
          </p:cNvPr>
          <p:cNvSpPr/>
          <p:nvPr/>
        </p:nvSpPr>
        <p:spPr>
          <a:xfrm>
            <a:off x="9019387" y="2005518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04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DAFA7B2-C6B2-C422-4EDA-B2A105AF4345}"/>
              </a:ext>
            </a:extLst>
          </p:cNvPr>
          <p:cNvSpPr/>
          <p:nvPr/>
        </p:nvSpPr>
        <p:spPr>
          <a:xfrm>
            <a:off x="9717015" y="2025779"/>
            <a:ext cx="1801885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域间适配性分析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80D23BC-F001-52CA-DA5A-23EF1387E189}"/>
              </a:ext>
            </a:extLst>
          </p:cNvPr>
          <p:cNvSpPr/>
          <p:nvPr/>
        </p:nvSpPr>
        <p:spPr>
          <a:xfrm>
            <a:off x="3564423" y="2998871"/>
            <a:ext cx="224838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重采样：统一源域信号至 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32000Hz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。</a:t>
            </a:r>
            <a:endParaRPr lang="en-US" altLang="zh-CN" sz="1400" dirty="0">
              <a:solidFill>
                <a:prstClr val="black">
                  <a:lumMod val="50000"/>
                  <a:lumOff val="50000"/>
                </a:prstClr>
              </a:solidFill>
              <a:cs typeface="+mn-ea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去噪：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4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阶巴特沃斯低通滤波（截止频率为奈奎斯特频率 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80%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）。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分段：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2048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点 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/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段、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50%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重叠度，得到 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180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个源域样本、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48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个目标域样本。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3D7526E-B762-8DB7-7FBC-8DC00F1764BF}"/>
              </a:ext>
            </a:extLst>
          </p:cNvPr>
          <p:cNvSpPr/>
          <p:nvPr/>
        </p:nvSpPr>
        <p:spPr>
          <a:xfrm>
            <a:off x="6364801" y="3004311"/>
            <a:ext cx="224838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时域特征（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12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个）：均值、标准差、峰度等</a:t>
            </a:r>
            <a:endParaRPr lang="en-US" altLang="zh-CN" sz="1400" dirty="0">
              <a:solidFill>
                <a:prstClr val="black">
                  <a:lumMod val="50000"/>
                  <a:lumOff val="50000"/>
                </a:prstClr>
              </a:solidFill>
              <a:cs typeface="+mn-ea"/>
              <a:sym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频域特征（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8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个）：频谱质心、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PSD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均值等，核心公式含功率谱密度</a:t>
            </a:r>
            <a:r>
              <a:rPr lang="en-US" altLang="zh-CN" sz="1400" dirty="0" err="1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Sxx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,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重心频率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rPr>
              <a:t>FC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时频域特征（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29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个）：希尔伯特包络峰度、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VMD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模态能量、小波多尺度特征等，核心公式含 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VMD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模态能量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Ek</a:t>
            </a:r>
            <a:endParaRPr lang="en-US" altLang="zh-CN" sz="1400" dirty="0">
              <a:solidFill>
                <a:prstClr val="black">
                  <a:lumMod val="50000"/>
                  <a:lumOff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3536D85-B82E-6651-912C-D7F81F261C38}"/>
              </a:ext>
            </a:extLst>
          </p:cNvPr>
          <p:cNvSpPr/>
          <p:nvPr/>
        </p:nvSpPr>
        <p:spPr>
          <a:xfrm>
            <a:off x="9165181" y="3004310"/>
            <a:ext cx="224838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可视化：核密度估计（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KDE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）绘制特征分布曲线。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量化指标：瓦瑟斯坦距离、重叠度，计算鲁棒性得分。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筛选结果：保留波峰因子（重叠度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0.7672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）、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PSD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均值（鲁棒性得分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0.5601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）等高适配特征。</a:t>
            </a:r>
          </a:p>
        </p:txBody>
      </p:sp>
    </p:spTree>
    <p:extLst>
      <p:ext uri="{BB962C8B-B14F-4D97-AF65-F5344CB8AC3E}">
        <p14:creationId xmlns:p14="http://schemas.microsoft.com/office/powerpoint/2010/main" val="76279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29" dur="1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39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44" dur="10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49" dur="125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54" dur="10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59" dur="125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64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69" dur="125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74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79" dur="10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84" dur="10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22" grpId="0"/>
      <p:bldP spid="22" grpId="1"/>
      <p:bldP spid="23" grpId="0"/>
      <p:bldP spid="23" grpId="1"/>
      <p:bldP spid="24" grpId="0"/>
      <p:bldP spid="24" grpId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  <p:bldP spid="36" grpId="0"/>
      <p:bldP spid="3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CEDA0-5338-ADDD-3A87-17CFE7D9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E221BA4F-DE4D-F515-B7B6-B65AAE7F1DAD}"/>
              </a:ext>
            </a:extLst>
          </p:cNvPr>
          <p:cNvSpPr/>
          <p:nvPr/>
        </p:nvSpPr>
        <p:spPr>
          <a:xfrm>
            <a:off x="660400" y="1193799"/>
            <a:ext cx="4072534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信号预处理阶段详解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8D994C1-0903-BEF4-00DE-8A774E8BD6EB}"/>
                  </a:ext>
                </a:extLst>
              </p:cNvPr>
              <p:cNvSpPr txBox="1"/>
              <p:nvPr/>
            </p:nvSpPr>
            <p:spPr>
              <a:xfrm>
                <a:off x="666750" y="2015534"/>
                <a:ext cx="10858500" cy="1304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zh-CN" altLang="en-US" sz="2400" b="1" dirty="0">
                    <a:solidFill>
                      <a:srgbClr val="005416"/>
                    </a:solidFill>
                  </a:rPr>
                  <a:t>重采样</a:t>
                </a:r>
              </a:p>
              <a:p>
                <a:endParaRPr lang="en-US" altLang="zh-CN" dirty="0"/>
              </a:p>
              <a:p>
                <a:r>
                  <a:rPr lang="zh-CN" altLang="en-US" dirty="0"/>
                  <a:t>将源域信号（</a:t>
                </a:r>
                <a:r>
                  <a:rPr lang="en-US" altLang="zh-CN" dirty="0"/>
                  <a:t>12kHz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48kHz</a:t>
                </a:r>
                <a:r>
                  <a:rPr lang="zh-CN" altLang="en-US" dirty="0"/>
                  <a:t>）统一重采样至目标域采样率（</a:t>
                </a:r>
                <a:r>
                  <a:rPr lang="en-US" altLang="zh-CN" dirty="0"/>
                  <a:t>32000Hz</a:t>
                </a:r>
                <a:r>
                  <a:rPr lang="zh-CN" altLang="en-US" dirty="0"/>
                  <a:t>），通过</a:t>
                </a:r>
                <a:r>
                  <a:rPr lang="en-US" altLang="zh-CN" dirty="0"/>
                  <a:t>resample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dirty="0">
                            <a:latin typeface="Cambria Math" panose="02040503050406030204" pitchFamily="18" charset="0"/>
                          </a:rPr>
                          <m:t>函数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p>
                  </m:oMath>
                </a14:m>
                <a:r>
                  <a:rPr lang="zh-CN" altLang="en-US" dirty="0"/>
                  <a:t>调整样本数量。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8D994C1-0903-BEF4-00DE-8A774E8BD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2015534"/>
                <a:ext cx="10858500" cy="1304460"/>
              </a:xfrm>
              <a:prstGeom prst="rect">
                <a:avLst/>
              </a:prstGeom>
              <a:blipFill>
                <a:blip r:embed="rId2"/>
                <a:stretch>
                  <a:fillRect l="-730" t="-5140" b="-5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014B9625-ABD5-5E11-927A-F232F3445E87}"/>
              </a:ext>
            </a:extLst>
          </p:cNvPr>
          <p:cNvSpPr txBox="1"/>
          <p:nvPr/>
        </p:nvSpPr>
        <p:spPr>
          <a:xfrm>
            <a:off x="666750" y="3920671"/>
            <a:ext cx="108585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dirty="0"/>
              <a:t>Resample </a:t>
            </a:r>
            <a:r>
              <a:rPr lang="zh-CN" altLang="en-US" sz="1600" dirty="0">
                <a:latin typeface="+mn-ea"/>
              </a:rPr>
              <a:t>函数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/>
              <a:t>Resample </a:t>
            </a:r>
            <a:r>
              <a:rPr lang="zh-CN" altLang="en-US" sz="1600" dirty="0">
                <a:latin typeface="+mn-ea"/>
              </a:rPr>
              <a:t>函数常用于按新的时间频率（如按天、按周、按月）重新采样时间序列数据。它会根据你指定的规则对原始数据进行分组，并对每组应用聚合操作（如 </a:t>
            </a:r>
            <a:r>
              <a:rPr lang="en-US" altLang="zh-CN" sz="1600" dirty="0">
                <a:latin typeface="+mn-ea"/>
              </a:rPr>
              <a:t>mean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>
                <a:latin typeface="+mn-ea"/>
              </a:rPr>
              <a:t>sum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>
                <a:latin typeface="+mn-ea"/>
              </a:rPr>
              <a:t>max </a:t>
            </a:r>
            <a:r>
              <a:rPr lang="zh-CN" altLang="en-US" sz="1600" dirty="0">
                <a:latin typeface="+mn-ea"/>
              </a:rPr>
              <a:t>等）。简单来说：把时间轴重新切块，然后对每块数据做一次统计。</a:t>
            </a:r>
            <a:endParaRPr lang="en-US" altLang="zh-CN" sz="1600" dirty="0">
              <a:latin typeface="+mn-ea"/>
            </a:endParaRPr>
          </a:p>
          <a:p>
            <a:pPr algn="ctr"/>
            <a:r>
              <a:rPr lang="en-US" altLang="zh-CN" sz="1600" dirty="0"/>
              <a:t>PS</a:t>
            </a:r>
            <a:r>
              <a:rPr lang="zh-CN" altLang="en-US" sz="1600" dirty="0"/>
              <a:t>：</a:t>
            </a:r>
            <a:r>
              <a:rPr lang="en-US" altLang="zh-CN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df.resample</a:t>
            </a:r>
            <a:r>
              <a:rPr lang="en-US" altLang="zh-CN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(rule='M').sum()</a:t>
            </a:r>
            <a:endParaRPr lang="en-US" altLang="zh-CN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567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D754-AC77-E28D-51F5-DF8C3571C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1BC5C1F-BFC4-F881-1E8E-74A58F08A737}"/>
              </a:ext>
            </a:extLst>
          </p:cNvPr>
          <p:cNvSpPr/>
          <p:nvPr/>
        </p:nvSpPr>
        <p:spPr>
          <a:xfrm>
            <a:off x="660400" y="1193799"/>
            <a:ext cx="4072534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信号预处理阶段详解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338ECE6-C91B-4414-FB66-E13FB1EB9548}"/>
                  </a:ext>
                </a:extLst>
              </p:cNvPr>
              <p:cNvSpPr txBox="1"/>
              <p:nvPr/>
            </p:nvSpPr>
            <p:spPr>
              <a:xfrm>
                <a:off x="666750" y="1883862"/>
                <a:ext cx="10858500" cy="3407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 startAt="2"/>
                </a:pPr>
                <a:r>
                  <a:rPr lang="zh-CN" altLang="en-US" sz="2400" b="1" dirty="0">
                    <a:solidFill>
                      <a:srgbClr val="005416"/>
                    </a:solidFill>
                  </a:rPr>
                  <a:t>去噪</a:t>
                </a:r>
                <a:endParaRPr lang="en-US" altLang="zh-CN" sz="2400" b="1" dirty="0">
                  <a:solidFill>
                    <a:srgbClr val="005416"/>
                  </a:solidFill>
                </a:endParaRPr>
              </a:p>
              <a:p>
                <a:endParaRPr lang="en-US" altLang="zh-CN" dirty="0"/>
              </a:p>
              <a:p>
                <a:r>
                  <a:rPr lang="zh-CN" altLang="en-US" dirty="0"/>
                  <a:t>由于数据中可能包含噪声或其他干扰因素，我们需要对数据进行去噪处理。采用</a:t>
                </a:r>
                <a:r>
                  <a:rPr lang="en-US" altLang="zh-CN" dirty="0"/>
                  <a:t>4 </a:t>
                </a:r>
                <a:r>
                  <a:rPr lang="zh-CN" altLang="en-US" dirty="0"/>
                  <a:t>阶</a:t>
                </a:r>
              </a:p>
              <a:p>
                <a:r>
                  <a:rPr lang="en-US" altLang="zh-CN" dirty="0"/>
                  <a:t>Butterworth</a:t>
                </a:r>
                <a14:m>
                  <m:oMath xmlns:m="http://schemas.openxmlformats.org/officeDocument/2006/math"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低通</m:t>
                    </m:r>
                  </m:oMath>
                </a14:m>
                <a:r>
                  <a:rPr lang="zh-CN" altLang="en-US" dirty="0"/>
                  <a:t>滤波器（截止频率为奈奎斯特频率的</a:t>
                </a:r>
                <a:r>
                  <a:rPr lang="en-US" altLang="zh-CN" dirty="0"/>
                  <a:t>80%</a:t>
                </a:r>
                <a:r>
                  <a:rPr lang="zh-CN" altLang="en-US" dirty="0"/>
                  <a:t>），通过</a:t>
                </a:r>
                <a:r>
                  <a:rPr lang="en-US" altLang="zh-CN" dirty="0"/>
                  <a:t>filtfilt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函数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zh-CN" altLang="en-US" dirty="0"/>
                  <a:t>对信号去噪，减少高频噪声干扰。</a:t>
                </a:r>
                <a:endParaRPr lang="en-US" altLang="zh-CN" dirty="0"/>
              </a:p>
              <a:p>
                <a:r>
                  <a:rPr lang="zh-CN" altLang="en-US" dirty="0"/>
                  <a:t>四阶低通：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其中，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A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：直流增益（通带内低频信号的增益，有源滤波器通过运放实现，无源滤波器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A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=1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）；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𝜔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：特征角频率（与截止频率相关，通常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𝜔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c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，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CN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c</m:t>
                        </m:r>
                      </m:sub>
                    </m:sSub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CN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=2</a:t>
                </a:r>
                <a14:m>
                  <m:oMath xmlns:m="http://schemas.openxmlformats.org/officeDocument/2006/math">
                    <m:r>
                      <a:rPr kumimoji="0" lang="zh-CN" altLang="en-US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𝜋</m:t>
                    </m:r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𝑓</m:t>
                        </m:r>
                      </m:e>
                      <m:sub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𝑐</m:t>
                        </m:r>
                      </m:sub>
                    </m:sSub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为滤波器的“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-3dB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截止率”）；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	Q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：品质因数（决定二阶环节的幅频特性：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Q &gt;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altLang="zh-CN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kumimoji="0" lang="en-US" altLang="zh-CN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时通带出现峰值，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 Q 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时无峰值，</a:t>
                </a:r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 Q &lt;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altLang="zh-CN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</m:oMath>
                </a14:m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+mn-cs"/>
                  </a:rPr>
                  <a:t>时通带衰减加快）。</a:t>
                </a: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338ECE6-C91B-4414-FB66-E13FB1EB9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0" y="1883862"/>
                <a:ext cx="10858500" cy="3407728"/>
              </a:xfrm>
              <a:prstGeom prst="rect">
                <a:avLst/>
              </a:prstGeom>
              <a:blipFill>
                <a:blip r:embed="rId2"/>
                <a:stretch>
                  <a:fillRect l="-730" t="-1968" r="-337" b="-14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069E7EC7-B54D-5DEA-FFA8-5B55D6B51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386" y="3167482"/>
            <a:ext cx="4350528" cy="76213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5C6E095-9FE4-3FE2-EF84-687F1ABB08A8}"/>
              </a:ext>
            </a:extLst>
          </p:cNvPr>
          <p:cNvSpPr txBox="1"/>
          <p:nvPr/>
        </p:nvSpPr>
        <p:spPr>
          <a:xfrm>
            <a:off x="673100" y="5277335"/>
            <a:ext cx="108585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dirty="0" err="1"/>
              <a:t>Filtfilt</a:t>
            </a:r>
            <a:r>
              <a:rPr lang="en-US" altLang="zh-CN" sz="1600" dirty="0"/>
              <a:t> </a:t>
            </a:r>
            <a:r>
              <a:rPr lang="zh-CN" altLang="en-US" sz="1600" dirty="0">
                <a:latin typeface="+mn-ea"/>
              </a:rPr>
              <a:t>函数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 err="1"/>
              <a:t>Filtfilt</a:t>
            </a:r>
            <a:r>
              <a:rPr lang="en-US" altLang="zh-CN" sz="1600" dirty="0"/>
              <a:t> </a:t>
            </a:r>
            <a:r>
              <a:rPr lang="zh-CN" altLang="en-US" sz="1600" dirty="0">
                <a:latin typeface="+mn-ea"/>
              </a:rPr>
              <a:t>函数可以理解成：用同一个滤波器先正向滤一遍，再反向再滤一遍。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这样做的效果是把普通滤波会造成的相位延迟（波形被“拖后”）完全抵消，得到既平滑又“不偏移时间”的信号。</a:t>
            </a:r>
            <a:endParaRPr lang="en-US" altLang="zh-CN" sz="1600" dirty="0">
              <a:latin typeface="+mn-ea"/>
            </a:endParaRPr>
          </a:p>
          <a:p>
            <a:pPr algn="ctr"/>
            <a:r>
              <a:rPr lang="en-US" altLang="zh-CN" sz="1600" dirty="0"/>
              <a:t>PS</a:t>
            </a:r>
            <a:r>
              <a:rPr lang="zh-CN" altLang="en-US" sz="1600" dirty="0"/>
              <a:t>：</a:t>
            </a:r>
            <a:r>
              <a:rPr lang="en-US" altLang="zh-CN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from </a:t>
            </a:r>
            <a:r>
              <a:rPr lang="en-US" altLang="zh-CN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scipy.signal</a:t>
            </a:r>
            <a:r>
              <a:rPr lang="en-US" altLang="zh-CN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US" altLang="zh-CN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filtfilt</a:t>
            </a:r>
            <a:endParaRPr lang="en-US" altLang="zh-CN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algn="ctr"/>
            <a:r>
              <a:rPr lang="en-US" altLang="zh-CN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y_filtered</a:t>
            </a:r>
            <a:r>
              <a:rPr lang="en-US" altLang="zh-CN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altLang="zh-CN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filtfilt</a:t>
            </a:r>
            <a:r>
              <a:rPr lang="en-US" altLang="zh-CN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(b, a, y</a:t>
            </a:r>
            <a:r>
              <a:rPr lang="zh-CN" alt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）</a:t>
            </a:r>
            <a:endParaRPr lang="en-US" altLang="zh-CN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575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8E6AF-27ED-AACB-4062-FE357F933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E08EA1D-7163-54A8-F712-5DF8B297529C}"/>
              </a:ext>
            </a:extLst>
          </p:cNvPr>
          <p:cNvSpPr/>
          <p:nvPr/>
        </p:nvSpPr>
        <p:spPr>
          <a:xfrm>
            <a:off x="660400" y="1193799"/>
            <a:ext cx="4072534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信号预处理阶段详解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AB50138-5DE2-31D5-1184-7C152B25C9ED}"/>
                  </a:ext>
                </a:extLst>
              </p:cNvPr>
              <p:cNvSpPr txBox="1"/>
              <p:nvPr/>
            </p:nvSpPr>
            <p:spPr>
              <a:xfrm>
                <a:off x="660400" y="2015534"/>
                <a:ext cx="10858500" cy="1027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zh-CN" altLang="en-US" sz="2400" b="1" dirty="0">
                    <a:solidFill>
                      <a:srgbClr val="005416"/>
                    </a:solidFill>
                  </a:rPr>
                  <a:t>分段</a:t>
                </a:r>
              </a:p>
              <a:p>
                <a:r>
                  <a:rPr lang="zh-CN" altLang="en-US" dirty="0"/>
                  <a:t>通过</a:t>
                </a:r>
                <a:r>
                  <a:rPr lang="en-US" altLang="zh-CN" dirty="0" err="1"/>
                  <a:t>segment_signal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函数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]</m:t>
                        </m:r>
                      </m:sup>
                    </m:sSup>
                  </m:oMath>
                </a14:m>
                <a:r>
                  <a:rPr lang="zh-CN" altLang="en-US" dirty="0"/>
                  <a:t>将信号按固定长度（</a:t>
                </a:r>
                <a:r>
                  <a:rPr lang="en-US" altLang="zh-CN" dirty="0"/>
                  <a:t>2048 </a:t>
                </a:r>
                <a:r>
                  <a:rPr lang="zh-CN" altLang="en-US" dirty="0"/>
                  <a:t>点）、</a:t>
                </a:r>
                <a:r>
                  <a:rPr lang="en-US" altLang="zh-CN" dirty="0"/>
                  <a:t>50%</a:t>
                </a:r>
                <a:r>
                  <a:rPr lang="zh-CN" altLang="en-US" dirty="0"/>
                  <a:t>重叠率分段，得到若</a:t>
                </a:r>
              </a:p>
              <a:p>
                <a:r>
                  <a:rPr lang="zh-CN" altLang="en-US" dirty="0"/>
                  <a:t>干子段信号，用于后续特征提取。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AB50138-5DE2-31D5-1184-7C152B25C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2015534"/>
                <a:ext cx="10858500" cy="1027461"/>
              </a:xfrm>
              <a:prstGeom prst="rect">
                <a:avLst/>
              </a:prstGeom>
              <a:blipFill>
                <a:blip r:embed="rId2"/>
                <a:stretch>
                  <a:fillRect l="-730" t="-6548" b="-7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7EB56E92-C17C-F37B-3AE1-40834BCE9D8D}"/>
              </a:ext>
            </a:extLst>
          </p:cNvPr>
          <p:cNvSpPr txBox="1"/>
          <p:nvPr/>
        </p:nvSpPr>
        <p:spPr>
          <a:xfrm>
            <a:off x="666750" y="3920671"/>
            <a:ext cx="108585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dirty="0" err="1"/>
              <a:t>Segment_signal</a:t>
            </a:r>
            <a:r>
              <a:rPr lang="en-US" altLang="zh-CN" sz="1600" dirty="0"/>
              <a:t> </a:t>
            </a:r>
            <a:r>
              <a:rPr lang="zh-CN" altLang="en-US" sz="1600" dirty="0">
                <a:latin typeface="+mn-ea"/>
              </a:rPr>
              <a:t>函数</a:t>
            </a:r>
            <a:endParaRPr lang="en-US" altLang="zh-CN" sz="1600" dirty="0">
              <a:latin typeface="+mn-ea"/>
            </a:endParaRPr>
          </a:p>
          <a:p>
            <a:r>
              <a:rPr lang="en-US" altLang="zh-CN" sz="1600" dirty="0" err="1"/>
              <a:t>Segment_signal</a:t>
            </a:r>
            <a:r>
              <a:rPr lang="en-US" altLang="zh-CN" sz="1600" dirty="0"/>
              <a:t> </a:t>
            </a:r>
            <a:r>
              <a:rPr lang="zh-CN" altLang="en-US" sz="1600" dirty="0">
                <a:latin typeface="+mn-ea"/>
              </a:rPr>
              <a:t>函数把一整段连续信号，按指定长度和步长切成一段一段的小窗口。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也就是把一条长长的波形“裁成”好多等长的小片，用于后续特征提取、模型训练或分析。</a:t>
            </a:r>
            <a:endParaRPr lang="en-US" altLang="zh-CN" sz="1600" dirty="0">
              <a:latin typeface="+mn-ea"/>
            </a:endParaRPr>
          </a:p>
          <a:p>
            <a:r>
              <a:rPr lang="zh-CN" altLang="en-US" sz="1600" dirty="0"/>
              <a:t>一句话来讲，</a:t>
            </a:r>
            <a:r>
              <a:rPr lang="en-US" altLang="zh-CN" sz="1600" dirty="0" err="1"/>
              <a:t>segment_signal</a:t>
            </a:r>
            <a:r>
              <a:rPr lang="en-US" altLang="zh-CN" sz="1600" dirty="0"/>
              <a:t> </a:t>
            </a:r>
            <a:r>
              <a:rPr lang="zh-CN" altLang="en-US" sz="1600" dirty="0"/>
              <a:t>就是把长信号按窗口分段。</a:t>
            </a:r>
            <a:endParaRPr lang="en-US" altLang="zh-CN" sz="1600" dirty="0">
              <a:latin typeface="+mn-ea"/>
            </a:endParaRPr>
          </a:p>
          <a:p>
            <a:pPr algn="ctr"/>
            <a:r>
              <a:rPr lang="en-US" altLang="zh-CN" sz="1600" dirty="0"/>
              <a:t>PS</a:t>
            </a:r>
            <a:r>
              <a:rPr lang="zh-CN" altLang="en-US" sz="1600" dirty="0"/>
              <a:t>：</a:t>
            </a:r>
            <a:r>
              <a:rPr lang="en-US" altLang="zh-CN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segments = </a:t>
            </a:r>
            <a:r>
              <a:rPr lang="en-US" altLang="zh-CN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segment_signal</a:t>
            </a:r>
            <a:r>
              <a:rPr lang="en-US" altLang="zh-CN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(signal, </a:t>
            </a:r>
            <a:r>
              <a:rPr lang="en-US" altLang="zh-CN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segment_length</a:t>
            </a:r>
            <a:r>
              <a:rPr lang="en-US" altLang="zh-CN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altLang="zh-CN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step_size</a:t>
            </a:r>
            <a:r>
              <a:rPr lang="en-US" altLang="zh-CN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  <a:endParaRPr lang="en-US" altLang="zh-CN" sz="16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130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B3175-7C78-CD7E-031A-3862FF6F2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1510E57D-19DC-E11A-E374-A8BB151F7159}"/>
              </a:ext>
            </a:extLst>
          </p:cNvPr>
          <p:cNvSpPr/>
          <p:nvPr/>
        </p:nvSpPr>
        <p:spPr>
          <a:xfrm>
            <a:off x="4740040" y="2058175"/>
            <a:ext cx="2734340" cy="3301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73B19E-F422-CA03-6A2C-A434838F7449}"/>
              </a:ext>
            </a:extLst>
          </p:cNvPr>
          <p:cNvSpPr txBox="1"/>
          <p:nvPr/>
        </p:nvSpPr>
        <p:spPr>
          <a:xfrm>
            <a:off x="4838984" y="3403783"/>
            <a:ext cx="25364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故障与正常样本特征差异显著（如故障样本峰度均值≈</a:t>
            </a:r>
            <a:r>
              <a:rPr lang="en-US" altLang="zh-CN" dirty="0"/>
              <a:t>4.2</a:t>
            </a:r>
            <a:r>
              <a:rPr lang="zh-CN" altLang="en-US" dirty="0"/>
              <a:t>，正常样本≈</a:t>
            </a:r>
            <a:r>
              <a:rPr lang="en-US" altLang="zh-CN" dirty="0"/>
              <a:t>3.1</a:t>
            </a:r>
            <a:r>
              <a:rPr lang="zh-CN" altLang="en-US" dirty="0"/>
              <a:t>）</a:t>
            </a:r>
            <a:endParaRPr lang="en-US" altLang="zh-CN" sz="1400" kern="1400" spc="100" dirty="0">
              <a:cs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13AAC0-A4E9-394D-6D83-3AEE297E3E57}"/>
              </a:ext>
            </a:extLst>
          </p:cNvPr>
          <p:cNvSpPr/>
          <p:nvPr/>
        </p:nvSpPr>
        <p:spPr>
          <a:xfrm>
            <a:off x="4722480" y="20731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935E97-3AF6-6907-7981-310F6A5C2AF9}"/>
              </a:ext>
            </a:extLst>
          </p:cNvPr>
          <p:cNvSpPr/>
          <p:nvPr/>
        </p:nvSpPr>
        <p:spPr>
          <a:xfrm>
            <a:off x="1210211" y="2067434"/>
            <a:ext cx="2734340" cy="32934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9E35838-D23D-94E1-FBD7-DE9C84DFBFF4}"/>
              </a:ext>
            </a:extLst>
          </p:cNvPr>
          <p:cNvSpPr txBox="1"/>
          <p:nvPr/>
        </p:nvSpPr>
        <p:spPr>
          <a:xfrm>
            <a:off x="1382101" y="3403783"/>
            <a:ext cx="23905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源域 </a:t>
            </a:r>
            <a:r>
              <a:rPr lang="en-US" altLang="zh-CN" dirty="0"/>
              <a:t>60 </a:t>
            </a:r>
            <a:r>
              <a:rPr lang="zh-CN" altLang="en-US" dirty="0"/>
              <a:t>文件 </a:t>
            </a:r>
            <a:r>
              <a:rPr lang="en-US" altLang="zh-CN" dirty="0"/>
              <a:t>180 </a:t>
            </a:r>
            <a:r>
              <a:rPr lang="zh-CN" altLang="en-US" dirty="0"/>
              <a:t>样本，目标域 </a:t>
            </a:r>
            <a:r>
              <a:rPr lang="en-US" altLang="zh-CN" dirty="0"/>
              <a:t>16 </a:t>
            </a:r>
            <a:r>
              <a:rPr lang="zh-CN" altLang="en-US" dirty="0"/>
              <a:t>文件 </a:t>
            </a:r>
            <a:r>
              <a:rPr lang="en-US" altLang="zh-CN" dirty="0"/>
              <a:t>48 </a:t>
            </a:r>
            <a:r>
              <a:rPr lang="zh-CN" altLang="en-US" dirty="0"/>
              <a:t>样本</a:t>
            </a:r>
            <a:endParaRPr lang="zh-CN" altLang="en-US" sz="1400" kern="1400" spc="100" dirty="0">
              <a:cs typeface="+mn-ea"/>
              <a:sym typeface="+mn-lt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2A21AA-47E8-3315-62F6-997973EB7D24}"/>
              </a:ext>
            </a:extLst>
          </p:cNvPr>
          <p:cNvSpPr/>
          <p:nvPr/>
        </p:nvSpPr>
        <p:spPr>
          <a:xfrm>
            <a:off x="1210211" y="20731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1527822-8757-9C68-B26D-5A968AFCBF68}"/>
              </a:ext>
            </a:extLst>
          </p:cNvPr>
          <p:cNvSpPr/>
          <p:nvPr/>
        </p:nvSpPr>
        <p:spPr>
          <a:xfrm>
            <a:off x="8234749" y="2067550"/>
            <a:ext cx="2734340" cy="32933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937ECCD-A202-B638-152A-DF6E2705F58E}"/>
              </a:ext>
            </a:extLst>
          </p:cNvPr>
          <p:cNvSpPr txBox="1"/>
          <p:nvPr/>
        </p:nvSpPr>
        <p:spPr>
          <a:xfrm>
            <a:off x="8333693" y="3407430"/>
            <a:ext cx="25364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能量、功率等特征差异最大，偏度、均值等差异较小</a:t>
            </a:r>
            <a:endParaRPr lang="en-US" altLang="zh-CN" sz="1400" kern="1400" spc="100" dirty="0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994A11-2872-E489-000B-F62331522B2F}"/>
              </a:ext>
            </a:extLst>
          </p:cNvPr>
          <p:cNvSpPr/>
          <p:nvPr/>
        </p:nvSpPr>
        <p:spPr>
          <a:xfrm>
            <a:off x="8234749" y="20731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7B0A4936-4D5F-D971-EDF4-407164B04995}"/>
              </a:ext>
            </a:extLst>
          </p:cNvPr>
          <p:cNvSpPr/>
          <p:nvPr/>
        </p:nvSpPr>
        <p:spPr>
          <a:xfrm>
            <a:off x="660400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核心结果</a:t>
            </a:r>
            <a:endParaRPr lang="zh-CN" altLang="en-US" sz="3200" b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4EABE0-961C-4868-5120-4A5B3A0FA809}"/>
              </a:ext>
            </a:extLst>
          </p:cNvPr>
          <p:cNvSpPr txBox="1"/>
          <p:nvPr/>
        </p:nvSpPr>
        <p:spPr>
          <a:xfrm>
            <a:off x="8328235" y="2607963"/>
            <a:ext cx="2547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 defTabSz="91376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</a:rPr>
              <a:t>域间差异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1D957E-A435-1E6B-632E-D8B8DCD21A16}"/>
              </a:ext>
            </a:extLst>
          </p:cNvPr>
          <p:cNvSpPr txBox="1"/>
          <p:nvPr/>
        </p:nvSpPr>
        <p:spPr>
          <a:xfrm>
            <a:off x="4778680" y="2607963"/>
            <a:ext cx="2657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特征质量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E3E39B-EEFC-DFDB-C032-CEBF88484B01}"/>
              </a:ext>
            </a:extLst>
          </p:cNvPr>
          <p:cNvSpPr txBox="1"/>
          <p:nvPr/>
        </p:nvSpPr>
        <p:spPr>
          <a:xfrm>
            <a:off x="1468390" y="2607963"/>
            <a:ext cx="2217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</a:rPr>
              <a:t>数据规模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effectLst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301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0430B-6332-F12C-A55A-943BD1D53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圆角矩形 9">
            <a:extLst>
              <a:ext uri="{FF2B5EF4-FFF2-40B4-BE49-F238E27FC236}">
                <a16:creationId xmlns:a16="http://schemas.microsoft.com/office/drawing/2014/main" id="{9659F122-3FFE-6D61-8C29-D0F1B4EFFE82}"/>
              </a:ext>
            </a:extLst>
          </p:cNvPr>
          <p:cNvSpPr/>
          <p:nvPr/>
        </p:nvSpPr>
        <p:spPr>
          <a:xfrm>
            <a:off x="682788" y="1996846"/>
            <a:ext cx="2459053" cy="3709010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7" name="圆角矩形 24">
            <a:extLst>
              <a:ext uri="{FF2B5EF4-FFF2-40B4-BE49-F238E27FC236}">
                <a16:creationId xmlns:a16="http://schemas.microsoft.com/office/drawing/2014/main" id="{9CB31854-2A27-B0B8-729C-6FA8B75E5E72}"/>
              </a:ext>
            </a:extLst>
          </p:cNvPr>
          <p:cNvSpPr/>
          <p:nvPr/>
        </p:nvSpPr>
        <p:spPr>
          <a:xfrm>
            <a:off x="3483167" y="1996846"/>
            <a:ext cx="2459053" cy="3709010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8" name="圆角矩形 29">
            <a:extLst>
              <a:ext uri="{FF2B5EF4-FFF2-40B4-BE49-F238E27FC236}">
                <a16:creationId xmlns:a16="http://schemas.microsoft.com/office/drawing/2014/main" id="{02BAE9AC-5678-95EA-78AE-BA3B2D0A9949}"/>
              </a:ext>
            </a:extLst>
          </p:cNvPr>
          <p:cNvSpPr/>
          <p:nvPr/>
        </p:nvSpPr>
        <p:spPr>
          <a:xfrm>
            <a:off x="6283546" y="1996846"/>
            <a:ext cx="2459053" cy="3709010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9" name="圆角矩形 29">
            <a:extLst>
              <a:ext uri="{FF2B5EF4-FFF2-40B4-BE49-F238E27FC236}">
                <a16:creationId xmlns:a16="http://schemas.microsoft.com/office/drawing/2014/main" id="{F90C41B5-E157-7C35-B75A-BB6CD84A01A3}"/>
              </a:ext>
            </a:extLst>
          </p:cNvPr>
          <p:cNvSpPr/>
          <p:nvPr/>
        </p:nvSpPr>
        <p:spPr>
          <a:xfrm>
            <a:off x="9083926" y="1996846"/>
            <a:ext cx="2459053" cy="3709010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E84BD508-9C21-816B-6360-3BF75E76B5FC}"/>
              </a:ext>
            </a:extLst>
          </p:cNvPr>
          <p:cNvSpPr/>
          <p:nvPr/>
        </p:nvSpPr>
        <p:spPr>
          <a:xfrm>
            <a:off x="660400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关键步骤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780FD8-D2C2-440B-8183-FC2847479EBE}"/>
              </a:ext>
            </a:extLst>
          </p:cNvPr>
          <p:cNvSpPr/>
          <p:nvPr/>
        </p:nvSpPr>
        <p:spPr>
          <a:xfrm>
            <a:off x="682788" y="2005515"/>
            <a:ext cx="6976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01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21FB02-434C-BEBA-EE9F-9F33D37727C4}"/>
              </a:ext>
            </a:extLst>
          </p:cNvPr>
          <p:cNvSpPr/>
          <p:nvPr/>
        </p:nvSpPr>
        <p:spPr>
          <a:xfrm>
            <a:off x="764043" y="2998869"/>
            <a:ext cx="2248383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类别不平衡处理：计算类别权重（正常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5.000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，故障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0.714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数据分割：分层抽样划分训练集（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126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个）与测试集（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54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个），保持类别分布一致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9A5C2C4-F3D6-39C6-A8C2-FAF197C4A3BD}"/>
              </a:ext>
            </a:extLst>
          </p:cNvPr>
          <p:cNvSpPr/>
          <p:nvPr/>
        </p:nvSpPr>
        <p:spPr>
          <a:xfrm>
            <a:off x="1274618" y="2025776"/>
            <a:ext cx="1837811" cy="494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数据预处理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A1590F3-25A0-781E-1C16-83440EA43385}"/>
              </a:ext>
            </a:extLst>
          </p:cNvPr>
          <p:cNvSpPr/>
          <p:nvPr/>
        </p:nvSpPr>
        <p:spPr>
          <a:xfrm>
            <a:off x="3476787" y="2005515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02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EAD3D08-46AC-5DB3-7EB6-F022BFF4B69E}"/>
              </a:ext>
            </a:extLst>
          </p:cNvPr>
          <p:cNvSpPr/>
          <p:nvPr/>
        </p:nvSpPr>
        <p:spPr>
          <a:xfrm>
            <a:off x="4136687" y="2025776"/>
            <a:ext cx="1786337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模型构建与筛选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000594F-EB8A-13D5-3082-642C844C9A87}"/>
              </a:ext>
            </a:extLst>
          </p:cNvPr>
          <p:cNvSpPr/>
          <p:nvPr/>
        </p:nvSpPr>
        <p:spPr>
          <a:xfrm>
            <a:off x="6229223" y="2005515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03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72F6757-D13F-97D9-7DAA-B784D91CE49C}"/>
              </a:ext>
            </a:extLst>
          </p:cNvPr>
          <p:cNvSpPr/>
          <p:nvPr/>
        </p:nvSpPr>
        <p:spPr>
          <a:xfrm>
            <a:off x="6926851" y="2025776"/>
            <a:ext cx="1786337" cy="494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模型优化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257F7B2-E607-B61F-EC74-ABDDA592CD84}"/>
              </a:ext>
            </a:extLst>
          </p:cNvPr>
          <p:cNvSpPr/>
          <p:nvPr/>
        </p:nvSpPr>
        <p:spPr>
          <a:xfrm>
            <a:off x="9019387" y="2005515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04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5880137-7433-EF6F-347F-91AD3E13AAA7}"/>
              </a:ext>
            </a:extLst>
          </p:cNvPr>
          <p:cNvSpPr/>
          <p:nvPr/>
        </p:nvSpPr>
        <p:spPr>
          <a:xfrm>
            <a:off x="9717015" y="2025776"/>
            <a:ext cx="1801885" cy="494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多指标评估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2BFFABA-FE03-093D-BDA2-9A0F456EA4D7}"/>
              </a:ext>
            </a:extLst>
          </p:cNvPr>
          <p:cNvSpPr/>
          <p:nvPr/>
        </p:nvSpPr>
        <p:spPr>
          <a:xfrm>
            <a:off x="3564423" y="2998868"/>
            <a:ext cx="224838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特征工程：融合时域 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+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频域 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+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时频域 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49 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维特征。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多模型训练：随机森林、梯度提升树、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SVM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、逻辑回归。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模型筛选：随机森林最优（测试集准确率 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98.15%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，五折交叉验证 </a:t>
            </a:r>
            <a:r>
              <a:rPr lang="en-US" altLang="zh-CN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96.83%</a:t>
            </a:r>
            <a:r>
              <a:rPr lang="zh-CN" altLang="en-US" sz="1400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</a:rPr>
              <a:t>）。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78326DF-106A-4D18-F62D-176C88910D35}"/>
              </a:ext>
            </a:extLst>
          </p:cNvPr>
          <p:cNvSpPr/>
          <p:nvPr/>
        </p:nvSpPr>
        <p:spPr>
          <a:xfrm>
            <a:off x="6364801" y="3004308"/>
            <a:ext cx="224838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网格搜索调优参数：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max_depth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min_samples_split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等，交叉验证均值提升至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97.63%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4DA420E-6F34-5379-1314-5617271ABA37}"/>
              </a:ext>
            </a:extLst>
          </p:cNvPr>
          <p:cNvSpPr/>
          <p:nvPr/>
        </p:nvSpPr>
        <p:spPr>
          <a:xfrm>
            <a:off x="9165181" y="3004307"/>
            <a:ext cx="224838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整体指标：测试集准确率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98.15%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，宏平均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F1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值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0.99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。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单类指标：正常状态精确率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/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召回率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1.0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，内圈故障仅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1 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例错分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混淆矩阵：对角线占比 </a:t>
            </a: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98.15%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，验证模型鲁棒性。</a:t>
            </a:r>
          </a:p>
        </p:txBody>
      </p:sp>
    </p:spTree>
    <p:extLst>
      <p:ext uri="{BB962C8B-B14F-4D97-AF65-F5344CB8AC3E}">
        <p14:creationId xmlns:p14="http://schemas.microsoft.com/office/powerpoint/2010/main" val="148008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14" dur="125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19" dur="10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29" dur="125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39" dur="125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44" dur="10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49" dur="125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54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59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64" dur="10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69" dur="1000" spd="-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74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79" dur="1000" spd="-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84" dur="10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8" grpId="0"/>
      <p:bldP spid="8" grpId="1"/>
      <p:bldP spid="22" grpId="0"/>
      <p:bldP spid="22" grpId="1"/>
      <p:bldP spid="23" grpId="0"/>
      <p:bldP spid="23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5" grpId="0"/>
      <p:bldP spid="3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5D15F-DB3B-81FA-55D0-5171A8DAD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A97516E2-F621-49C9-8AC6-8D2A7D5615DE}"/>
              </a:ext>
            </a:extLst>
          </p:cNvPr>
          <p:cNvSpPr/>
          <p:nvPr/>
        </p:nvSpPr>
        <p:spPr>
          <a:xfrm>
            <a:off x="660400" y="1193799"/>
            <a:ext cx="3232658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核心模型与公式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CF5284B-5F91-8D41-27A6-36CCD09051C9}"/>
              </a:ext>
            </a:extLst>
          </p:cNvPr>
          <p:cNvSpPr txBox="1"/>
          <p:nvPr/>
        </p:nvSpPr>
        <p:spPr>
          <a:xfrm>
            <a:off x="660400" y="2001314"/>
            <a:ext cx="70766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随机森林核心公式：分类预测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其他模型核心公式：梯度提升树目标函数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SVM </a:t>
            </a:r>
            <a:r>
              <a:rPr lang="zh-CN" altLang="en-US" dirty="0"/>
              <a:t>决策函数：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9ECBD39B-A1E8-97FD-3967-82F3651D2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123" y="1930979"/>
            <a:ext cx="5352381" cy="54870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8C0BAB5D-B069-77C3-89AD-15022246C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000" y="2608152"/>
            <a:ext cx="5624335" cy="75763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543B849C-3CCD-FE75-78DC-04592D5DA2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798" y="3436124"/>
            <a:ext cx="5565731" cy="758123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E0A29C88-BF5E-3FA9-084D-E0D03250391C}"/>
              </a:ext>
            </a:extLst>
          </p:cNvPr>
          <p:cNvSpPr txBox="1"/>
          <p:nvPr/>
        </p:nvSpPr>
        <p:spPr>
          <a:xfrm>
            <a:off x="660400" y="5035371"/>
            <a:ext cx="91307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最优模型：调优后随机森林模型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性能指标：测试集准确率 </a:t>
            </a:r>
            <a:r>
              <a:rPr lang="en-US" altLang="zh-CN" dirty="0"/>
              <a:t>98.15%</a:t>
            </a:r>
            <a:r>
              <a:rPr lang="zh-CN" altLang="en-US" dirty="0"/>
              <a:t>，交叉验证均值 </a:t>
            </a:r>
            <a:r>
              <a:rPr lang="en-US" altLang="zh-CN" dirty="0"/>
              <a:t>97.63%</a:t>
            </a:r>
            <a:r>
              <a:rPr lang="zh-CN" altLang="en-US" dirty="0"/>
              <a:t>，可稳定区分三类轴承状态</a:t>
            </a:r>
          </a:p>
          <a:p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7AF8045-F260-8E8E-95BB-D4A6C741BA8A}"/>
              </a:ext>
            </a:extLst>
          </p:cNvPr>
          <p:cNvSpPr/>
          <p:nvPr/>
        </p:nvSpPr>
        <p:spPr>
          <a:xfrm>
            <a:off x="660400" y="4206216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核心结果</a:t>
            </a:r>
          </a:p>
        </p:txBody>
      </p:sp>
    </p:spTree>
    <p:extLst>
      <p:ext uri="{BB962C8B-B14F-4D97-AF65-F5344CB8AC3E}">
        <p14:creationId xmlns:p14="http://schemas.microsoft.com/office/powerpoint/2010/main" val="825460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1FE65-534C-A206-E75D-3569BFB84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AC21238D-5D27-8938-ED95-639E2443D93D}"/>
              </a:ext>
            </a:extLst>
          </p:cNvPr>
          <p:cNvSpPr txBox="1"/>
          <p:nvPr/>
        </p:nvSpPr>
        <p:spPr>
          <a:xfrm>
            <a:off x="660400" y="2663832"/>
            <a:ext cx="370398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/>
              <a:t>源域随机森林模型在三类轴承状态分类任务中表现优异，尤其对少样本的“正常状态”识别无误差，对故障类别的错分率仅 </a:t>
            </a:r>
            <a:r>
              <a:rPr lang="en-US" altLang="zh-CN" sz="2000" dirty="0"/>
              <a:t>1.85%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342900" indent="-342900" algn="just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/>
              <a:t>可作为后续迁移诊断的高可靠性源域基准模型。</a:t>
            </a:r>
            <a:endParaRPr lang="en-US" altLang="zh-CN" sz="2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0BA6A1-0CB1-AF52-2187-D246E53F3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005" y="1193799"/>
            <a:ext cx="6443895" cy="486410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497DCB6-9786-5DA8-2248-CD15D2C7400C}"/>
              </a:ext>
            </a:extLst>
          </p:cNvPr>
          <p:cNvSpPr txBox="1"/>
          <p:nvPr/>
        </p:nvSpPr>
        <p:spPr>
          <a:xfrm>
            <a:off x="6550636" y="6149009"/>
            <a:ext cx="3492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特征重要性图</a:t>
            </a:r>
            <a:r>
              <a:rPr lang="en-US" altLang="zh-CN" dirty="0"/>
              <a:t>-</a:t>
            </a:r>
            <a:r>
              <a:rPr lang="zh-CN" altLang="en-US" dirty="0"/>
              <a:t>随机森林（前</a:t>
            </a:r>
            <a:r>
              <a:rPr lang="en-US" altLang="zh-CN" dirty="0"/>
              <a:t>15</a:t>
            </a:r>
            <a:r>
              <a:rPr lang="zh-CN" altLang="en-US" dirty="0"/>
              <a:t>个）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209685A-B045-F615-A27C-15E143AA7984}"/>
              </a:ext>
            </a:extLst>
          </p:cNvPr>
          <p:cNvSpPr/>
          <p:nvPr/>
        </p:nvSpPr>
        <p:spPr>
          <a:xfrm>
            <a:off x="673101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关键结论</a:t>
            </a:r>
          </a:p>
        </p:txBody>
      </p:sp>
    </p:spTree>
    <p:extLst>
      <p:ext uri="{BB962C8B-B14F-4D97-AF65-F5344CB8AC3E}">
        <p14:creationId xmlns:p14="http://schemas.microsoft.com/office/powerpoint/2010/main" val="765615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926B-14FE-2E58-206B-52711EB64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5F8F027-A135-ABD6-97EF-4F8CE44A5FCF}"/>
              </a:ext>
            </a:extLst>
          </p:cNvPr>
          <p:cNvSpPr/>
          <p:nvPr/>
        </p:nvSpPr>
        <p:spPr>
          <a:xfrm>
            <a:off x="660400" y="1193799"/>
            <a:ext cx="5422900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迁移方法设计（三类对比）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805530D-F9D2-F122-363B-448362940C2C}"/>
              </a:ext>
            </a:extLst>
          </p:cNvPr>
          <p:cNvSpPr txBox="1"/>
          <p:nvPr/>
        </p:nvSpPr>
        <p:spPr>
          <a:xfrm>
            <a:off x="849156" y="1955589"/>
            <a:ext cx="1049368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1.</a:t>
            </a:r>
            <a:r>
              <a:rPr lang="zh-CN" altLang="en-US" dirty="0"/>
              <a:t>对抗式域适应（最优方案）</a:t>
            </a:r>
            <a:br>
              <a:rPr lang="en-US" altLang="zh-CN" dirty="0"/>
            </a:br>
            <a:r>
              <a:rPr lang="zh-CN" altLang="en-US" dirty="0"/>
              <a:t>原理：通过域分类器与特征提取器极小极大博弈，</a:t>
            </a:r>
            <a:r>
              <a:rPr lang="en-US" altLang="zh-CN" dirty="0"/>
              <a:t> </a:t>
            </a:r>
            <a:r>
              <a:rPr lang="zh-CN" altLang="en-US" dirty="0"/>
              <a:t>目标函数</a:t>
            </a:r>
            <a:br>
              <a:rPr lang="en-US" altLang="zh-CN" dirty="0"/>
            </a:b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步骤：检测完全域差异，筛选 </a:t>
            </a:r>
            <a:r>
              <a:rPr lang="en-US" altLang="zh-CN" dirty="0"/>
              <a:t>15 </a:t>
            </a:r>
            <a:r>
              <a:rPr lang="zh-CN" altLang="en-US" dirty="0"/>
              <a:t>个域不变特征（与 </a:t>
            </a:r>
            <a:r>
              <a:rPr lang="en-US" altLang="zh-CN" dirty="0"/>
              <a:t>BPFI</a:t>
            </a:r>
            <a:r>
              <a:rPr lang="zh-CN" altLang="en-US" dirty="0"/>
              <a:t>、</a:t>
            </a:r>
            <a:r>
              <a:rPr lang="en-US" altLang="zh-CN" dirty="0"/>
              <a:t>BSF </a:t>
            </a:r>
            <a:r>
              <a:rPr lang="zh-CN" altLang="en-US" dirty="0"/>
              <a:t>频率强相关），训练目标域模型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8C01869-FB61-0166-5CC0-0529DA743D0F}"/>
              </a:ext>
            </a:extLst>
          </p:cNvPr>
          <p:cNvSpPr txBox="1"/>
          <p:nvPr/>
        </p:nvSpPr>
        <p:spPr>
          <a:xfrm>
            <a:off x="849155" y="3561822"/>
            <a:ext cx="896820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2.</a:t>
            </a:r>
            <a:r>
              <a:rPr lang="zh-CN" altLang="en-US" dirty="0"/>
              <a:t>渐进式域适应</a:t>
            </a:r>
          </a:p>
          <a:p>
            <a:r>
              <a:rPr lang="zh-CN" altLang="en-US" dirty="0"/>
              <a:t>步骤：源域模型预训练→生成伪标签→模型微调，因无高置信伪标签未适配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7752EB8-4F21-A64A-CD28-2C0CDD510C39}"/>
              </a:ext>
            </a:extLst>
          </p:cNvPr>
          <p:cNvSpPr txBox="1"/>
          <p:nvPr/>
        </p:nvSpPr>
        <p:spPr>
          <a:xfrm>
            <a:off x="849155" y="4339023"/>
            <a:ext cx="896820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u="none" strike="noStrike" baseline="0" dirty="0">
                <a:solidFill>
                  <a:srgbClr val="1C1F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dirty="0"/>
              <a:t>多任务学习</a:t>
            </a:r>
          </a:p>
          <a:p>
            <a:r>
              <a:rPr lang="zh-CN" altLang="en-US" dirty="0"/>
              <a:t>步骤：融合源域标注数据与目标域伪标签训练统一模型，受伪标签噪声干扰效果较差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F5BE34-410D-7EBE-C349-0F543FBB8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4" t="24334" r="1985" b="13384"/>
          <a:stretch>
            <a:fillRect/>
          </a:stretch>
        </p:blipFill>
        <p:spPr>
          <a:xfrm>
            <a:off x="1602029" y="2709876"/>
            <a:ext cx="7462456" cy="32042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5B29060-CA6E-D479-9FF7-B467897FE371}"/>
              </a:ext>
            </a:extLst>
          </p:cNvPr>
          <p:cNvSpPr txBox="1"/>
          <p:nvPr/>
        </p:nvSpPr>
        <p:spPr>
          <a:xfrm>
            <a:off x="849155" y="5103793"/>
            <a:ext cx="1055434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1C1F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en-US" altLang="zh-CN" sz="2000" b="1" i="0" u="none" strike="noStrike" baseline="0" dirty="0">
                <a:solidFill>
                  <a:srgbClr val="1C1F2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dirty="0"/>
              <a:t>辅助策略</a:t>
            </a:r>
          </a:p>
          <a:p>
            <a:r>
              <a:rPr lang="zh-CN" altLang="en-US" dirty="0"/>
              <a:t>特征空间对齐：</a:t>
            </a:r>
            <a:r>
              <a:rPr lang="en-US" altLang="zh-CN" dirty="0"/>
              <a:t>MMD </a:t>
            </a:r>
            <a:r>
              <a:rPr lang="zh-CN" altLang="en-US" dirty="0"/>
              <a:t>方法量化域差异，初始 </a:t>
            </a:r>
            <a:r>
              <a:rPr lang="en-US" altLang="zh-CN" dirty="0"/>
              <a:t>MMD </a:t>
            </a:r>
            <a:r>
              <a:rPr lang="zh-CN" altLang="en-US" dirty="0"/>
              <a:t>距离 </a:t>
            </a:r>
            <a:r>
              <a:rPr lang="en-US" altLang="zh-CN" dirty="0"/>
              <a:t>0.0266</a:t>
            </a:r>
          </a:p>
          <a:p>
            <a:r>
              <a:rPr lang="zh-CN" altLang="en-US" dirty="0"/>
              <a:t>分层迁移 </a:t>
            </a:r>
            <a:r>
              <a:rPr lang="en-US" altLang="zh-CN" dirty="0"/>
              <a:t>+ </a:t>
            </a:r>
            <a:r>
              <a:rPr lang="zh-CN" altLang="en-US" dirty="0"/>
              <a:t>伪标签自训练：动态调整置信度阈值，迭代优化模型</a:t>
            </a:r>
          </a:p>
        </p:txBody>
      </p:sp>
    </p:spTree>
    <p:extLst>
      <p:ext uri="{BB962C8B-B14F-4D97-AF65-F5344CB8AC3E}">
        <p14:creationId xmlns:p14="http://schemas.microsoft.com/office/powerpoint/2010/main" val="29677291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B119E-D2F0-CCA6-5341-1807F8886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B263910-5A96-982B-0D0F-7FF4782AEC3B}"/>
              </a:ext>
            </a:extLst>
          </p:cNvPr>
          <p:cNvSpPr/>
          <p:nvPr/>
        </p:nvSpPr>
        <p:spPr>
          <a:xfrm>
            <a:off x="660400" y="1193799"/>
            <a:ext cx="3606291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核心性能指标对比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36503E-CF1B-0870-DD2C-E0AA8281B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12" y="2063663"/>
            <a:ext cx="9577677" cy="436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961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A6AFC-B223-1034-DEC7-BE1E93EF1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2209F2D-7CE8-8BD0-B23B-80E7433D6315}"/>
              </a:ext>
            </a:extLst>
          </p:cNvPr>
          <p:cNvSpPr/>
          <p:nvPr/>
        </p:nvSpPr>
        <p:spPr>
          <a:xfrm>
            <a:off x="8207150" y="2219950"/>
            <a:ext cx="2734340" cy="32933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EC097B4-9F21-A75D-A466-8A9156105F84}"/>
              </a:ext>
            </a:extLst>
          </p:cNvPr>
          <p:cNvSpPr txBox="1"/>
          <p:nvPr/>
        </p:nvSpPr>
        <p:spPr>
          <a:xfrm>
            <a:off x="8328235" y="2607963"/>
            <a:ext cx="2547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 defTabSz="91376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</a:rPr>
              <a:t>可视化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E4EC00-AAD0-B29A-FA76-1520A494568C}"/>
              </a:ext>
            </a:extLst>
          </p:cNvPr>
          <p:cNvSpPr/>
          <p:nvPr/>
        </p:nvSpPr>
        <p:spPr>
          <a:xfrm>
            <a:off x="4713600" y="2210575"/>
            <a:ext cx="2734340" cy="3301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2D3D6BA-8711-D2CF-946B-6E9B71EAF6EE}"/>
              </a:ext>
            </a:extLst>
          </p:cNvPr>
          <p:cNvSpPr txBox="1"/>
          <p:nvPr/>
        </p:nvSpPr>
        <p:spPr>
          <a:xfrm>
            <a:off x="4778680" y="2607963"/>
            <a:ext cx="2657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性能指标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BCF109-7392-1A93-AECE-AEFFC604A3D9}"/>
              </a:ext>
            </a:extLst>
          </p:cNvPr>
          <p:cNvSpPr/>
          <p:nvPr/>
        </p:nvSpPr>
        <p:spPr>
          <a:xfrm>
            <a:off x="1237810" y="2219834"/>
            <a:ext cx="2734340" cy="32934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02ACB55-8F22-2A7E-BB4F-9B9BABAADAE0}"/>
              </a:ext>
            </a:extLst>
          </p:cNvPr>
          <p:cNvSpPr txBox="1"/>
          <p:nvPr/>
        </p:nvSpPr>
        <p:spPr>
          <a:xfrm>
            <a:off x="1468390" y="2607963"/>
            <a:ext cx="2217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cs typeface="+mn-ea"/>
              </a:rPr>
              <a:t>目标域标定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7EF16C-93E8-7837-824D-88BB78E2FC83}"/>
              </a:ext>
            </a:extLst>
          </p:cNvPr>
          <p:cNvSpPr/>
          <p:nvPr/>
        </p:nvSpPr>
        <p:spPr>
          <a:xfrm>
            <a:off x="4722480" y="22255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425CFA-B2C4-6869-861A-87D57DD58E23}"/>
              </a:ext>
            </a:extLst>
          </p:cNvPr>
          <p:cNvSpPr/>
          <p:nvPr/>
        </p:nvSpPr>
        <p:spPr>
          <a:xfrm>
            <a:off x="1210211" y="22255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3FA2CF-9615-DDBE-A95B-FCD0D4ED2547}"/>
              </a:ext>
            </a:extLst>
          </p:cNvPr>
          <p:cNvSpPr/>
          <p:nvPr/>
        </p:nvSpPr>
        <p:spPr>
          <a:xfrm>
            <a:off x="8234749" y="22255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18E7555-50CE-4929-0A67-17287D8E7EA2}"/>
              </a:ext>
            </a:extLst>
          </p:cNvPr>
          <p:cNvSpPr/>
          <p:nvPr/>
        </p:nvSpPr>
        <p:spPr>
          <a:xfrm>
            <a:off x="660400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核心结果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5A7C178F-B765-9560-8A20-CEF9F23BC0BD}"/>
              </a:ext>
            </a:extLst>
          </p:cNvPr>
          <p:cNvSpPr txBox="1"/>
          <p:nvPr/>
        </p:nvSpPr>
        <p:spPr>
          <a:xfrm>
            <a:off x="4838984" y="3403783"/>
            <a:ext cx="25364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平均置信度 </a:t>
            </a:r>
            <a:r>
              <a:rPr lang="en-US" altLang="zh-CN" dirty="0"/>
              <a:t>0.700</a:t>
            </a:r>
            <a:r>
              <a:rPr lang="zh-CN" altLang="en-US" dirty="0"/>
              <a:t>，高置信样本（≥</a:t>
            </a:r>
            <a:r>
              <a:rPr lang="en-US" altLang="zh-CN" dirty="0"/>
              <a:t>0.8</a:t>
            </a:r>
            <a:r>
              <a:rPr lang="zh-CN" altLang="en-US" dirty="0"/>
              <a:t>）占比 </a:t>
            </a:r>
            <a:r>
              <a:rPr lang="en-US" altLang="zh-CN" dirty="0"/>
              <a:t>37.5%</a:t>
            </a:r>
            <a:endParaRPr lang="en-US" altLang="zh-CN" sz="1400" kern="1400" spc="100" dirty="0">
              <a:cs typeface="+mn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BD1DC0E-E1D4-D5D7-07C9-CCE97E39DD24}"/>
              </a:ext>
            </a:extLst>
          </p:cNvPr>
          <p:cNvSpPr txBox="1"/>
          <p:nvPr/>
        </p:nvSpPr>
        <p:spPr>
          <a:xfrm>
            <a:off x="1382101" y="3403783"/>
            <a:ext cx="23905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内圈故障 </a:t>
            </a:r>
            <a:r>
              <a:rPr lang="en-US" altLang="zh-CN" dirty="0"/>
              <a:t>11 </a:t>
            </a:r>
            <a:r>
              <a:rPr lang="zh-CN" altLang="en-US" dirty="0"/>
              <a:t>个、滚动体故障 </a:t>
            </a:r>
            <a:r>
              <a:rPr lang="en-US" altLang="zh-CN" dirty="0"/>
              <a:t>37 </a:t>
            </a:r>
            <a:r>
              <a:rPr lang="zh-CN" altLang="en-US" dirty="0"/>
              <a:t>个，无正常假阳性样本</a:t>
            </a:r>
            <a:endParaRPr lang="zh-CN" altLang="en-US" sz="1400" kern="1400" spc="100" dirty="0">
              <a:cs typeface="+mn-ea"/>
              <a:sym typeface="+mn-lt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02D165C-BD5D-8F6A-AF18-0883C7D96AA3}"/>
              </a:ext>
            </a:extLst>
          </p:cNvPr>
          <p:cNvSpPr txBox="1"/>
          <p:nvPr/>
        </p:nvSpPr>
        <p:spPr>
          <a:xfrm>
            <a:off x="8333693" y="3407430"/>
            <a:ext cx="25364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/>
              <a:t>2×2 </a:t>
            </a:r>
            <a:r>
              <a:rPr lang="zh-CN" altLang="en-US" dirty="0"/>
              <a:t>网格图呈现预测分布、特征空间聚类效果</a:t>
            </a:r>
            <a:endParaRPr lang="en-US" altLang="zh-CN" sz="1400" kern="1400" spc="1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00442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93E4-8BCE-E5CB-1A70-CF260BEC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9">
            <a:extLst>
              <a:ext uri="{FF2B5EF4-FFF2-40B4-BE49-F238E27FC236}">
                <a16:creationId xmlns:a16="http://schemas.microsoft.com/office/drawing/2014/main" id="{D58306E9-65AB-2A27-8398-523EE0A618D5}"/>
              </a:ext>
            </a:extLst>
          </p:cNvPr>
          <p:cNvSpPr/>
          <p:nvPr/>
        </p:nvSpPr>
        <p:spPr>
          <a:xfrm>
            <a:off x="1221375" y="2063104"/>
            <a:ext cx="2695042" cy="3988054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5E61AA-8807-DE29-3BF2-C8C4A210FA3E}"/>
              </a:ext>
            </a:extLst>
          </p:cNvPr>
          <p:cNvSpPr/>
          <p:nvPr/>
        </p:nvSpPr>
        <p:spPr>
          <a:xfrm>
            <a:off x="1274172" y="2241120"/>
            <a:ext cx="6976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01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890265-2025-B603-D852-26D6FA2DADDB}"/>
              </a:ext>
            </a:extLst>
          </p:cNvPr>
          <p:cNvSpPr/>
          <p:nvPr/>
        </p:nvSpPr>
        <p:spPr>
          <a:xfrm>
            <a:off x="1434396" y="3281398"/>
            <a:ext cx="231718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方法：特征重要性排序、排列验证、相关性分析、分布对比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结果：识别峭度、包络熵等核心特征（贡献超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80%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），排列重要性与模型固有重要性相关系数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0.92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D8C3054-527F-B969-2A45-3EEE610165C8}"/>
              </a:ext>
            </a:extLst>
          </p:cNvPr>
          <p:cNvSpPr/>
          <p:nvPr/>
        </p:nvSpPr>
        <p:spPr>
          <a:xfrm>
            <a:off x="1971799" y="2267389"/>
            <a:ext cx="2031799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事前可解释性（特征层面）</a:t>
            </a:r>
          </a:p>
        </p:txBody>
      </p:sp>
      <p:sp>
        <p:nvSpPr>
          <p:cNvPr id="9" name="圆角矩形 24">
            <a:extLst>
              <a:ext uri="{FF2B5EF4-FFF2-40B4-BE49-F238E27FC236}">
                <a16:creationId xmlns:a16="http://schemas.microsoft.com/office/drawing/2014/main" id="{624EA689-D8F0-95C7-B8A4-70DCF19FF73F}"/>
              </a:ext>
            </a:extLst>
          </p:cNvPr>
          <p:cNvSpPr/>
          <p:nvPr/>
        </p:nvSpPr>
        <p:spPr>
          <a:xfrm>
            <a:off x="4671662" y="2063104"/>
            <a:ext cx="2596454" cy="3988054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0" name="圆角矩形 29">
            <a:extLst>
              <a:ext uri="{FF2B5EF4-FFF2-40B4-BE49-F238E27FC236}">
                <a16:creationId xmlns:a16="http://schemas.microsoft.com/office/drawing/2014/main" id="{7002248A-C741-44E6-2A68-1A686057DBFB}"/>
              </a:ext>
            </a:extLst>
          </p:cNvPr>
          <p:cNvSpPr/>
          <p:nvPr/>
        </p:nvSpPr>
        <p:spPr>
          <a:xfrm>
            <a:off x="8062561" y="2063105"/>
            <a:ext cx="2695043" cy="3988053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A1B0F9-0788-330F-F597-027D205090D9}"/>
              </a:ext>
            </a:extLst>
          </p:cNvPr>
          <p:cNvSpPr/>
          <p:nvPr/>
        </p:nvSpPr>
        <p:spPr>
          <a:xfrm>
            <a:off x="4689361" y="2241869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02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CB53DC-721D-9F99-1C29-7F0698B695C5}"/>
              </a:ext>
            </a:extLst>
          </p:cNvPr>
          <p:cNvSpPr/>
          <p:nvPr/>
        </p:nvSpPr>
        <p:spPr>
          <a:xfrm>
            <a:off x="5303036" y="2262130"/>
            <a:ext cx="2038836" cy="955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事中可解释性（迁移过程）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951429E-591C-3DD1-3F9E-E96659238A96}"/>
              </a:ext>
            </a:extLst>
          </p:cNvPr>
          <p:cNvSpPr/>
          <p:nvPr/>
        </p:nvSpPr>
        <p:spPr>
          <a:xfrm>
            <a:off x="8062561" y="2241121"/>
            <a:ext cx="6976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03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EBCDA5E-AA1F-C0D2-704E-2AD2AA164212}"/>
              </a:ext>
            </a:extLst>
          </p:cNvPr>
          <p:cNvSpPr/>
          <p:nvPr/>
        </p:nvSpPr>
        <p:spPr>
          <a:xfrm>
            <a:off x="8661465" y="2241121"/>
            <a:ext cx="1786337" cy="951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事后可解释性（决策依据</a:t>
            </a:r>
            <a:r>
              <a:rPr lang="zh-CN" altLang="en-US" dirty="0"/>
              <a:t>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0199753-5ED0-0467-280A-EBF7D44E3A57}"/>
              </a:ext>
            </a:extLst>
          </p:cNvPr>
          <p:cNvSpPr/>
          <p:nvPr/>
        </p:nvSpPr>
        <p:spPr>
          <a:xfrm>
            <a:off x="4835902" y="3255210"/>
            <a:ext cx="24030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方法：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t-SNE/PCA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降维可视化、域间距离量化、特征空间对齐模拟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结果：域间距离从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1.0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降至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0.23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，高重叠样本占比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62.5%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MMD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对齐后均值偏差从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0.8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降至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0.15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84140A6-DE29-84F8-1E06-61C70F9E1B5A}"/>
              </a:ext>
            </a:extLst>
          </p:cNvPr>
          <p:cNvSpPr/>
          <p:nvPr/>
        </p:nvSpPr>
        <p:spPr>
          <a:xfrm>
            <a:off x="8285890" y="3255210"/>
            <a:ext cx="224838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方法：注意力热力图、故障模式匹配、不确定性量化（决策熵）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cs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结果：定位时域峭度（权重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0.18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）等决策特征，识别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2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个低置信样本（熵值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&gt; 0.65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），决策依据与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BPFO/BPFI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等故障频率匹配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FD063DA-45E3-24AF-ABE7-EEC2B2004149}"/>
              </a:ext>
            </a:extLst>
          </p:cNvPr>
          <p:cNvSpPr/>
          <p:nvPr/>
        </p:nvSpPr>
        <p:spPr>
          <a:xfrm>
            <a:off x="660400" y="1193799"/>
            <a:ext cx="2362708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三维度分析</a:t>
            </a:r>
          </a:p>
        </p:txBody>
      </p:sp>
    </p:spTree>
    <p:extLst>
      <p:ext uri="{BB962C8B-B14F-4D97-AF65-F5344CB8AC3E}">
        <p14:creationId xmlns:p14="http://schemas.microsoft.com/office/powerpoint/2010/main" val="96937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29" dur="10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34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3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44" dur="12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54" dur="125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59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64" dur="10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  <p:bldP spid="4" grpId="1"/>
      <p:bldP spid="5" grpId="0"/>
      <p:bldP spid="5" grpId="1"/>
      <p:bldP spid="7" grpId="0"/>
      <p:bldP spid="7" grpId="1"/>
      <p:bldP spid="9" grpId="0" animBg="1"/>
      <p:bldP spid="9" grpId="1" animBg="1"/>
      <p:bldP spid="10" grpId="0" animBg="1"/>
      <p:bldP spid="10" grpId="1" animBg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  <p:bldP spid="18" grpId="0"/>
      <p:bldP spid="18" grpId="1"/>
      <p:bldP spid="19" grpId="0"/>
      <p:bldP spid="19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5ED45-E5B3-9119-30A2-0ACC09CA1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圆角矩形 9">
            <a:extLst>
              <a:ext uri="{FF2B5EF4-FFF2-40B4-BE49-F238E27FC236}">
                <a16:creationId xmlns:a16="http://schemas.microsoft.com/office/drawing/2014/main" id="{95081FA6-1E09-3D73-41B7-783AE0ED98AF}"/>
              </a:ext>
            </a:extLst>
          </p:cNvPr>
          <p:cNvSpPr/>
          <p:nvPr/>
        </p:nvSpPr>
        <p:spPr>
          <a:xfrm>
            <a:off x="660400" y="2198114"/>
            <a:ext cx="3288749" cy="3587872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E779D8A-10EC-8462-D705-79D4BE333D32}"/>
              </a:ext>
            </a:extLst>
          </p:cNvPr>
          <p:cNvSpPr/>
          <p:nvPr/>
        </p:nvSpPr>
        <p:spPr>
          <a:xfrm>
            <a:off x="903874" y="2364476"/>
            <a:ext cx="4411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1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3E7B8B-39CC-7C20-3153-FD146B026FE5}"/>
              </a:ext>
            </a:extLst>
          </p:cNvPr>
          <p:cNvSpPr/>
          <p:nvPr/>
        </p:nvSpPr>
        <p:spPr>
          <a:xfrm>
            <a:off x="973600" y="3006648"/>
            <a:ext cx="26671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图表核心：深色区域对应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TOP15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关键特征（如频谱滚降点、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VMD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模态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3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能量）</a:t>
            </a:r>
          </a:p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关键结论：前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20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个特征贡献超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80%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，与故障冲击、频率调制机理强相关，排列重要性与模型固有重要性相关系数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0.92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，特征稳定性优异。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64BD6A-FF59-ADB1-1952-472975218D88}"/>
              </a:ext>
            </a:extLst>
          </p:cNvPr>
          <p:cNvSpPr/>
          <p:nvPr/>
        </p:nvSpPr>
        <p:spPr>
          <a:xfrm>
            <a:off x="1276995" y="2440523"/>
            <a:ext cx="2761740" cy="494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事前：核心特征识别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8F663A8-B400-DBD2-8922-D3803BE77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631" y="1193799"/>
            <a:ext cx="5450725" cy="4864100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90F5AD87-2E43-F51B-4941-D865220520FE}"/>
              </a:ext>
            </a:extLst>
          </p:cNvPr>
          <p:cNvSpPr/>
          <p:nvPr/>
        </p:nvSpPr>
        <p:spPr>
          <a:xfrm>
            <a:off x="660400" y="1193799"/>
            <a:ext cx="2362708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三维度分析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689959B-B707-F164-B75E-33D28E059DAB}"/>
              </a:ext>
            </a:extLst>
          </p:cNvPr>
          <p:cNvSpPr txBox="1"/>
          <p:nvPr/>
        </p:nvSpPr>
        <p:spPr>
          <a:xfrm>
            <a:off x="9466189" y="5462820"/>
            <a:ext cx="2065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/>
              <a:t>前</a:t>
            </a:r>
            <a:r>
              <a:rPr lang="en-US" altLang="zh-CN" dirty="0"/>
              <a:t>15</a:t>
            </a:r>
            <a:r>
              <a:rPr lang="zh-CN" altLang="en-US" dirty="0"/>
              <a:t>个</a:t>
            </a:r>
            <a:endParaRPr lang="en-US" altLang="zh-CN" dirty="0"/>
          </a:p>
          <a:p>
            <a:pPr algn="r"/>
            <a:r>
              <a:rPr lang="zh-CN" altLang="en-US" dirty="0"/>
              <a:t>特征重要性热力图</a:t>
            </a:r>
          </a:p>
        </p:txBody>
      </p:sp>
    </p:spTree>
    <p:extLst>
      <p:ext uri="{BB962C8B-B14F-4D97-AF65-F5344CB8AC3E}">
        <p14:creationId xmlns:p14="http://schemas.microsoft.com/office/powerpoint/2010/main" val="134579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A359-4EB0-8EF5-F52E-69E74B399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圆角矩形 9">
            <a:extLst>
              <a:ext uri="{FF2B5EF4-FFF2-40B4-BE49-F238E27FC236}">
                <a16:creationId xmlns:a16="http://schemas.microsoft.com/office/drawing/2014/main" id="{AA788E09-8648-C3E7-3BD7-11806FEE87D9}"/>
              </a:ext>
            </a:extLst>
          </p:cNvPr>
          <p:cNvSpPr/>
          <p:nvPr/>
        </p:nvSpPr>
        <p:spPr>
          <a:xfrm>
            <a:off x="660400" y="2198114"/>
            <a:ext cx="3378335" cy="3587872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CCE5436-4408-3894-21BB-654D85DBBCA7}"/>
              </a:ext>
            </a:extLst>
          </p:cNvPr>
          <p:cNvSpPr/>
          <p:nvPr/>
        </p:nvSpPr>
        <p:spPr>
          <a:xfrm>
            <a:off x="903874" y="2364476"/>
            <a:ext cx="4411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2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4723A0-5F99-8356-2CD2-AF42D11FC500}"/>
              </a:ext>
            </a:extLst>
          </p:cNvPr>
          <p:cNvSpPr/>
          <p:nvPr/>
        </p:nvSpPr>
        <p:spPr>
          <a:xfrm>
            <a:off x="1015991" y="3006648"/>
            <a:ext cx="26671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图表核心：迁移前源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-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目标域样本分散（域间距离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1.0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），迁移后同类故障聚类靠拢（域间距离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0.23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</a:t>
            </a:r>
          </a:p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关键结论：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MMD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对齐后，目标域数据与源域均值偏差从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0.8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降至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0.15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，共享特征空间有效形成，知识迁移路径清晰。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43538A0-AEC5-030E-789E-0A3BB04E16E5}"/>
              </a:ext>
            </a:extLst>
          </p:cNvPr>
          <p:cNvSpPr/>
          <p:nvPr/>
        </p:nvSpPr>
        <p:spPr>
          <a:xfrm>
            <a:off x="1276995" y="2440523"/>
            <a:ext cx="2761740" cy="494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事中：迁移路径可视化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523F9D-53F2-940E-AFC7-B46096901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009" y="963997"/>
            <a:ext cx="3350559" cy="263498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246F2F8-CE9F-8059-115A-2DCA515C13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470" y="1002272"/>
            <a:ext cx="3478749" cy="256547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A5827E8-87E6-AC15-D623-6C39805AF50A}"/>
              </a:ext>
            </a:extLst>
          </p:cNvPr>
          <p:cNvSpPr txBox="1"/>
          <p:nvPr/>
        </p:nvSpPr>
        <p:spPr>
          <a:xfrm>
            <a:off x="5557928" y="3540461"/>
            <a:ext cx="245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源域数据分布（</a:t>
            </a:r>
            <a:r>
              <a:rPr lang="en-US" altLang="zh-CN" dirty="0"/>
              <a:t>t-SNE</a:t>
            </a:r>
            <a:r>
              <a:rPr lang="zh-CN" altLang="en-US" dirty="0"/>
              <a:t>）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0EE5C2F-A84F-0E92-2232-F54C13074A51}"/>
              </a:ext>
            </a:extLst>
          </p:cNvPr>
          <p:cNvSpPr txBox="1"/>
          <p:nvPr/>
        </p:nvSpPr>
        <p:spPr>
          <a:xfrm>
            <a:off x="8893829" y="3540461"/>
            <a:ext cx="2636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目标域数据分布（</a:t>
            </a:r>
            <a:r>
              <a:rPr lang="en-US" altLang="zh-CN" dirty="0"/>
              <a:t>t-SNE</a:t>
            </a:r>
            <a:r>
              <a:rPr lang="zh-CN" altLang="en-US" dirty="0"/>
              <a:t>）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2C0C2CC-5E85-7663-8879-092D1EC7E9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368" y="3843958"/>
            <a:ext cx="3219840" cy="251987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425CF98F-5E20-FA71-8EC7-7EB81FA37C50}"/>
              </a:ext>
            </a:extLst>
          </p:cNvPr>
          <p:cNvSpPr txBox="1"/>
          <p:nvPr/>
        </p:nvSpPr>
        <p:spPr>
          <a:xfrm>
            <a:off x="5640529" y="6312628"/>
            <a:ext cx="229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源域数据分布（</a:t>
            </a:r>
            <a:r>
              <a:rPr lang="en-US" altLang="zh-CN" dirty="0"/>
              <a:t>PCA</a:t>
            </a:r>
            <a:r>
              <a:rPr lang="zh-CN" altLang="en-US" dirty="0"/>
              <a:t>）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315896D-01EF-1A32-492F-AC81FB69EA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0049" y="3843957"/>
            <a:ext cx="3263590" cy="251987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51E60AF3-9D49-9A91-6DEE-7CAE14B78D60}"/>
              </a:ext>
            </a:extLst>
          </p:cNvPr>
          <p:cNvSpPr txBox="1"/>
          <p:nvPr/>
        </p:nvSpPr>
        <p:spPr>
          <a:xfrm>
            <a:off x="8941262" y="6312628"/>
            <a:ext cx="2541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目标域数据分布（</a:t>
            </a:r>
            <a:r>
              <a:rPr lang="en-US" altLang="zh-CN" dirty="0"/>
              <a:t>PCA</a:t>
            </a:r>
            <a:r>
              <a:rPr lang="zh-CN" altLang="en-US" dirty="0"/>
              <a:t>）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B9DA3176-5032-D04C-C7F0-C03198B667ED}"/>
              </a:ext>
            </a:extLst>
          </p:cNvPr>
          <p:cNvSpPr/>
          <p:nvPr/>
        </p:nvSpPr>
        <p:spPr>
          <a:xfrm>
            <a:off x="660400" y="1193799"/>
            <a:ext cx="2362708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三维度分析</a:t>
            </a:r>
          </a:p>
        </p:txBody>
      </p:sp>
    </p:spTree>
    <p:extLst>
      <p:ext uri="{BB962C8B-B14F-4D97-AF65-F5344CB8AC3E}">
        <p14:creationId xmlns:p14="http://schemas.microsoft.com/office/powerpoint/2010/main" val="96270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/>
      <p:bldP spid="9" grpId="1"/>
      <p:bldP spid="13" grpId="0"/>
      <p:bldP spid="13" grpId="1"/>
      <p:bldP spid="16" grpId="0"/>
      <p:bldP spid="16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14C0C-9A4E-2963-E983-C78134F1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9">
            <a:extLst>
              <a:ext uri="{FF2B5EF4-FFF2-40B4-BE49-F238E27FC236}">
                <a16:creationId xmlns:a16="http://schemas.microsoft.com/office/drawing/2014/main" id="{AAFEF53F-99DA-B212-FD54-E9ED265087A9}"/>
              </a:ext>
            </a:extLst>
          </p:cNvPr>
          <p:cNvSpPr/>
          <p:nvPr/>
        </p:nvSpPr>
        <p:spPr>
          <a:xfrm>
            <a:off x="660400" y="2198114"/>
            <a:ext cx="3288749" cy="3587872"/>
          </a:xfrm>
          <a:prstGeom prst="roundRect">
            <a:avLst>
              <a:gd name="adj" fmla="val 5654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algn="ctr"/>
            <a:endParaRPr lang="zh-CN" altLang="en-US" kern="0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401F3F-B8D7-4319-67FA-4E7E5A99B1B3}"/>
              </a:ext>
            </a:extLst>
          </p:cNvPr>
          <p:cNvSpPr/>
          <p:nvPr/>
        </p:nvSpPr>
        <p:spPr>
          <a:xfrm>
            <a:off x="903874" y="2364476"/>
            <a:ext cx="44114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600" b="1" dirty="0">
                <a:gradFill flip="none" rotWithShape="1">
                  <a:gsLst>
                    <a:gs pos="42000">
                      <a:srgbClr val="005416">
                        <a:alpha val="83000"/>
                      </a:srgbClr>
                    </a:gs>
                    <a:gs pos="100000">
                      <a:srgbClr val="339933">
                        <a:alpha val="9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cs typeface="+mn-ea"/>
                <a:sym typeface="+mn-lt"/>
              </a:rPr>
              <a:t>3</a:t>
            </a:r>
            <a:endParaRPr lang="zh-CN" altLang="en-US" sz="3600" b="1" dirty="0">
              <a:gradFill flip="none" rotWithShape="1">
                <a:gsLst>
                  <a:gs pos="42000">
                    <a:srgbClr val="005416">
                      <a:alpha val="83000"/>
                    </a:srgbClr>
                  </a:gs>
                  <a:gs pos="100000">
                    <a:srgbClr val="339933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B3F52-92E3-B025-65FC-2D8F013DF05A}"/>
              </a:ext>
            </a:extLst>
          </p:cNvPr>
          <p:cNvSpPr/>
          <p:nvPr/>
        </p:nvSpPr>
        <p:spPr>
          <a:xfrm>
            <a:off x="973600" y="3006648"/>
            <a:ext cx="266715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图表核心：热力图凸显时域峭度（权重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0.18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）、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BPFO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峰值（权重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0.15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）等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TOP3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决策特征；故障模式图展示不同故障的特征分布差异。</a:t>
            </a:r>
          </a:p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关键结论：决策特征与轴承局部缺陷冲击、特征频率规律完全匹配，仅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2 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个样本熵值 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&gt; 0.65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</a:rPr>
              <a:t>（低置信），需人工复核。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C9D290-A6FC-1B9A-A785-20D48F332817}"/>
              </a:ext>
            </a:extLst>
          </p:cNvPr>
          <p:cNvSpPr/>
          <p:nvPr/>
        </p:nvSpPr>
        <p:spPr>
          <a:xfrm>
            <a:off x="1276995" y="2440523"/>
            <a:ext cx="2761740" cy="494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23F4F"/>
                </a:solidFill>
                <a:cs typeface="+mn-ea"/>
              </a:rPr>
              <a:t>事后：决策依据反推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999783E-0CD8-AB18-B664-69505673AB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670" y="2212096"/>
            <a:ext cx="3519989" cy="306788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4CAEDE6-F6FD-E70E-E327-B50BCABF80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6659" y="2198114"/>
            <a:ext cx="3851712" cy="309584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255A9A2-8EC6-1695-0933-94A54B4A402B}"/>
              </a:ext>
            </a:extLst>
          </p:cNvPr>
          <p:cNvSpPr txBox="1"/>
          <p:nvPr/>
        </p:nvSpPr>
        <p:spPr>
          <a:xfrm>
            <a:off x="8431586" y="5416654"/>
            <a:ext cx="2801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故障类型特征模式热力图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9942FF-0B24-716E-4D07-8F9C473B9AF6}"/>
              </a:ext>
            </a:extLst>
          </p:cNvPr>
          <p:cNvSpPr txBox="1"/>
          <p:nvPr/>
        </p:nvSpPr>
        <p:spPr>
          <a:xfrm>
            <a:off x="4673884" y="5416654"/>
            <a:ext cx="294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 </a:t>
            </a:r>
            <a:r>
              <a:rPr lang="en-US" altLang="zh-CN" dirty="0"/>
              <a:t>20 </a:t>
            </a:r>
            <a:r>
              <a:rPr lang="zh-CN" altLang="en-US" dirty="0"/>
              <a:t>个特征注意力热力图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43B1C06-5C30-3A17-08E1-24B925EF1ADD}"/>
              </a:ext>
            </a:extLst>
          </p:cNvPr>
          <p:cNvSpPr/>
          <p:nvPr/>
        </p:nvSpPr>
        <p:spPr>
          <a:xfrm>
            <a:off x="660400" y="1193799"/>
            <a:ext cx="2362708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三维度分析</a:t>
            </a:r>
          </a:p>
        </p:txBody>
      </p:sp>
    </p:spTree>
    <p:extLst>
      <p:ext uri="{BB962C8B-B14F-4D97-AF65-F5344CB8AC3E}">
        <p14:creationId xmlns:p14="http://schemas.microsoft.com/office/powerpoint/2010/main" val="58747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25E-7 1.11022E-16 L 6.25E-7 0.06991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9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1.04167E-6 2.22222E-6 L -1.04167E-6 -0.08658 " pathEditMode="relative" rAng="0" ptsTypes="AA">
                                      <p:cBhvr>
                                        <p:cTn id="14" dur="10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5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2.08333E-6 -1.48148E-6 L 0.04492 -1.48148E-6 " pathEditMode="relative" rAng="0" ptsTypes="AA">
                                      <p:cBhvr>
                                        <p:cTn id="19" dur="125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40" y="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decel="10000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75E-6 3.33333E-6 L -3.75E-6 -0.08658 " pathEditMode="relative" rAng="0" ptsTypes="AA">
                                      <p:cBhvr>
                                        <p:cTn id="24" dur="1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/>
      <p:bldP spid="4" grpId="1"/>
      <p:bldP spid="5" grpId="0"/>
      <p:bldP spid="5" grpId="1"/>
      <p:bldP spid="7" grpId="0"/>
      <p:bldP spid="7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2404-D41D-B97C-D058-8D873CF56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800D5674-9390-0842-9B2F-7C8105E5800D}"/>
              </a:ext>
            </a:extLst>
          </p:cNvPr>
          <p:cNvSpPr/>
          <p:nvPr/>
        </p:nvSpPr>
        <p:spPr>
          <a:xfrm>
            <a:off x="8229927" y="2219950"/>
            <a:ext cx="2734340" cy="32933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A7D6CD-3D81-320D-6F43-A4BDAA86B880}"/>
              </a:ext>
            </a:extLst>
          </p:cNvPr>
          <p:cNvSpPr/>
          <p:nvPr/>
        </p:nvSpPr>
        <p:spPr>
          <a:xfrm>
            <a:off x="4732744" y="2210575"/>
            <a:ext cx="2734340" cy="3301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88BCB79-45A0-0EAB-288C-47859A4EAA64}"/>
              </a:ext>
            </a:extLst>
          </p:cNvPr>
          <p:cNvSpPr/>
          <p:nvPr/>
        </p:nvSpPr>
        <p:spPr>
          <a:xfrm>
            <a:off x="1237810" y="2219834"/>
            <a:ext cx="2734340" cy="329346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D5E1A40-7DF9-322F-C745-39683762BB91}"/>
              </a:ext>
            </a:extLst>
          </p:cNvPr>
          <p:cNvSpPr/>
          <p:nvPr/>
        </p:nvSpPr>
        <p:spPr>
          <a:xfrm>
            <a:off x="4726920" y="22255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5FC9CB0-84AA-FC26-72CF-12FE1F33131F}"/>
              </a:ext>
            </a:extLst>
          </p:cNvPr>
          <p:cNvSpPr/>
          <p:nvPr/>
        </p:nvSpPr>
        <p:spPr>
          <a:xfrm>
            <a:off x="1210211" y="22255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445993E-D143-BD56-D790-215306A5FC51}"/>
              </a:ext>
            </a:extLst>
          </p:cNvPr>
          <p:cNvSpPr/>
          <p:nvPr/>
        </p:nvSpPr>
        <p:spPr>
          <a:xfrm>
            <a:off x="8234749" y="22255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09DC1A-FA06-B2FA-8ECB-CAB67E3E91EE}"/>
              </a:ext>
            </a:extLst>
          </p:cNvPr>
          <p:cNvSpPr txBox="1"/>
          <p:nvPr/>
        </p:nvSpPr>
        <p:spPr>
          <a:xfrm>
            <a:off x="5113869" y="2607963"/>
            <a:ext cx="1972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迁移层面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5501C2-10B0-0F8D-C082-992F5B72980F}"/>
              </a:ext>
            </a:extLst>
          </p:cNvPr>
          <p:cNvSpPr txBox="1"/>
          <p:nvPr/>
        </p:nvSpPr>
        <p:spPr>
          <a:xfrm>
            <a:off x="4831688" y="3429000"/>
            <a:ext cx="25364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域对齐有效缩小分布差异，知识迁移路径清晰</a:t>
            </a:r>
            <a:endParaRPr lang="en-US" altLang="zh-CN" sz="1400" kern="1400" spc="100" dirty="0">
              <a:cs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B8CD97-B54F-9B58-4F77-488C01A51255}"/>
              </a:ext>
            </a:extLst>
          </p:cNvPr>
          <p:cNvSpPr txBox="1"/>
          <p:nvPr/>
        </p:nvSpPr>
        <p:spPr>
          <a:xfrm>
            <a:off x="1409700" y="3429000"/>
            <a:ext cx="23905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核心特征与轴承故障机理强相关，跨域鲁棒性高</a:t>
            </a:r>
            <a:endParaRPr lang="zh-CN" altLang="en-US" sz="1400" kern="1400" spc="100" dirty="0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B547176-8E83-6E8A-A00C-9173EAD9F601}"/>
              </a:ext>
            </a:extLst>
          </p:cNvPr>
          <p:cNvSpPr txBox="1"/>
          <p:nvPr/>
        </p:nvSpPr>
        <p:spPr>
          <a:xfrm>
            <a:off x="1495989" y="2607964"/>
            <a:ext cx="2217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/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</a:rPr>
              <a:t>特征层面</a:t>
            </a:r>
            <a:endParaRPr lang="zh-CN" altLang="en-US" sz="2400" b="1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26B8002-5F9D-8644-D18C-7040B1A5322F}"/>
              </a:ext>
            </a:extLst>
          </p:cNvPr>
          <p:cNvSpPr txBox="1"/>
          <p:nvPr/>
        </p:nvSpPr>
        <p:spPr>
          <a:xfrm>
            <a:off x="8323413" y="2607963"/>
            <a:ext cx="25473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 defTabSz="91376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决策层面视野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0BFC8EA-DBC3-08A3-3D9D-7E0F20AB4406}"/>
              </a:ext>
            </a:extLst>
          </p:cNvPr>
          <p:cNvSpPr txBox="1"/>
          <p:nvPr/>
        </p:nvSpPr>
        <p:spPr>
          <a:xfrm>
            <a:off x="8306094" y="3432647"/>
            <a:ext cx="25364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dirty="0"/>
              <a:t>模型判决依据符合物理规律，结果可靠可验证</a:t>
            </a:r>
            <a:endParaRPr lang="en-US" altLang="zh-CN" sz="1400" kern="1400" spc="100" dirty="0">
              <a:cs typeface="+mn-ea"/>
              <a:sym typeface="+mn-lt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50B8584-5F24-B2C6-BFA5-79A0B1751382}"/>
              </a:ext>
            </a:extLst>
          </p:cNvPr>
          <p:cNvSpPr/>
          <p:nvPr/>
        </p:nvSpPr>
        <p:spPr>
          <a:xfrm>
            <a:off x="660400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核心结论</a:t>
            </a:r>
          </a:p>
        </p:txBody>
      </p:sp>
    </p:spTree>
    <p:extLst>
      <p:ext uri="{BB962C8B-B14F-4D97-AF65-F5344CB8AC3E}">
        <p14:creationId xmlns:p14="http://schemas.microsoft.com/office/powerpoint/2010/main" val="1191860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7EABE-6B2B-D056-79F7-748E9467E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C6FED0D-8477-B2E1-1229-8306EECD33D5}"/>
              </a:ext>
            </a:extLst>
          </p:cNvPr>
          <p:cNvSpPr txBox="1"/>
          <p:nvPr/>
        </p:nvSpPr>
        <p:spPr>
          <a:xfrm>
            <a:off x="4058239" y="2473025"/>
            <a:ext cx="407552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5416"/>
                </a:solidFill>
                <a:effectLst/>
                <a:uLnTx/>
                <a:uFillTx/>
                <a:cs typeface="+mn-ea"/>
                <a:sym typeface="+mn-lt"/>
              </a:rPr>
              <a:t>PART 05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541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C38B92F-C683-A3D6-471B-7918CC9CBDAA}"/>
              </a:ext>
            </a:extLst>
          </p:cNvPr>
          <p:cNvSpPr txBox="1"/>
          <p:nvPr/>
        </p:nvSpPr>
        <p:spPr>
          <a:xfrm>
            <a:off x="660400" y="3183235"/>
            <a:ext cx="10858499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zh-CN" altLang="en-US" sz="5400" dirty="0">
                <a:solidFill>
                  <a:srgbClr val="005416"/>
                </a:solidFill>
                <a:latin typeface="微软雅黑" panose="020B0503020204020204" charset="-122"/>
                <a:ea typeface="微软雅黑" panose="020B0503020204020204" charset="-122"/>
              </a:rPr>
              <a:t>可行性分析与预期结果</a:t>
            </a:r>
          </a:p>
        </p:txBody>
      </p:sp>
    </p:spTree>
    <p:extLst>
      <p:ext uri="{BB962C8B-B14F-4D97-AF65-F5344CB8AC3E}">
        <p14:creationId xmlns:p14="http://schemas.microsoft.com/office/powerpoint/2010/main" val="1280130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8">
            <a:extLst>
              <a:ext uri="{FF2B5EF4-FFF2-40B4-BE49-F238E27FC236}">
                <a16:creationId xmlns:a16="http://schemas.microsoft.com/office/drawing/2014/main" id="{5029D8D4-75D2-C151-E960-48034F8FD726}"/>
              </a:ext>
            </a:extLst>
          </p:cNvPr>
          <p:cNvSpPr/>
          <p:nvPr/>
        </p:nvSpPr>
        <p:spPr bwMode="auto">
          <a:xfrm>
            <a:off x="3425678" y="2079337"/>
            <a:ext cx="1609000" cy="512600"/>
          </a:xfrm>
          <a:custGeom>
            <a:avLst/>
            <a:gdLst>
              <a:gd name="T0" fmla="*/ 674 w 674"/>
              <a:gd name="T1" fmla="*/ 256 h 256"/>
              <a:gd name="T2" fmla="*/ 420 w 674"/>
              <a:gd name="T3" fmla="*/ 0 h 256"/>
              <a:gd name="T4" fmla="*/ 0 w 674"/>
              <a:gd name="T5" fmla="*/ 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4" h="256">
                <a:moveTo>
                  <a:pt x="674" y="256"/>
                </a:moveTo>
                <a:lnTo>
                  <a:pt x="420" y="0"/>
                </a:lnTo>
                <a:lnTo>
                  <a:pt x="0" y="0"/>
                </a:lnTo>
              </a:path>
            </a:pathLst>
          </a:custGeom>
          <a:noFill/>
          <a:ln w="3175" cap="flat">
            <a:solidFill>
              <a:schemeClr val="bg1">
                <a:lumMod val="75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Freeform 29">
            <a:extLst>
              <a:ext uri="{FF2B5EF4-FFF2-40B4-BE49-F238E27FC236}">
                <a16:creationId xmlns:a16="http://schemas.microsoft.com/office/drawing/2014/main" id="{4CD95D31-C75F-205C-81FB-7966DF25041C}"/>
              </a:ext>
            </a:extLst>
          </p:cNvPr>
          <p:cNvSpPr/>
          <p:nvPr/>
        </p:nvSpPr>
        <p:spPr bwMode="auto">
          <a:xfrm>
            <a:off x="7101101" y="2079337"/>
            <a:ext cx="1664276" cy="512600"/>
          </a:xfrm>
          <a:custGeom>
            <a:avLst/>
            <a:gdLst>
              <a:gd name="T0" fmla="*/ 0 w 674"/>
              <a:gd name="T1" fmla="*/ 256 h 256"/>
              <a:gd name="T2" fmla="*/ 254 w 674"/>
              <a:gd name="T3" fmla="*/ 0 h 256"/>
              <a:gd name="T4" fmla="*/ 674 w 674"/>
              <a:gd name="T5" fmla="*/ 0 h 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4" h="256">
                <a:moveTo>
                  <a:pt x="0" y="256"/>
                </a:moveTo>
                <a:lnTo>
                  <a:pt x="254" y="0"/>
                </a:lnTo>
                <a:lnTo>
                  <a:pt x="674" y="0"/>
                </a:lnTo>
              </a:path>
            </a:pathLst>
          </a:custGeom>
          <a:noFill/>
          <a:ln w="3175" cap="flat">
            <a:solidFill>
              <a:schemeClr val="bg1">
                <a:lumMod val="75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Freeform 30">
            <a:extLst>
              <a:ext uri="{FF2B5EF4-FFF2-40B4-BE49-F238E27FC236}">
                <a16:creationId xmlns:a16="http://schemas.microsoft.com/office/drawing/2014/main" id="{3E45D33F-0C81-1BFC-C339-3E1DE724E6E8}"/>
              </a:ext>
            </a:extLst>
          </p:cNvPr>
          <p:cNvSpPr/>
          <p:nvPr/>
        </p:nvSpPr>
        <p:spPr bwMode="auto">
          <a:xfrm>
            <a:off x="3425678" y="4106217"/>
            <a:ext cx="1609000" cy="508596"/>
          </a:xfrm>
          <a:custGeom>
            <a:avLst/>
            <a:gdLst>
              <a:gd name="T0" fmla="*/ 674 w 674"/>
              <a:gd name="T1" fmla="*/ 0 h 254"/>
              <a:gd name="T2" fmla="*/ 420 w 674"/>
              <a:gd name="T3" fmla="*/ 254 h 254"/>
              <a:gd name="T4" fmla="*/ 0 w 674"/>
              <a:gd name="T5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4" h="254">
                <a:moveTo>
                  <a:pt x="674" y="0"/>
                </a:moveTo>
                <a:lnTo>
                  <a:pt x="420" y="254"/>
                </a:lnTo>
                <a:lnTo>
                  <a:pt x="0" y="254"/>
                </a:lnTo>
              </a:path>
            </a:pathLst>
          </a:custGeom>
          <a:noFill/>
          <a:ln w="3175" cap="flat">
            <a:solidFill>
              <a:schemeClr val="bg1">
                <a:lumMod val="75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425DD4A1-8062-E639-9539-42A1CDC94D37}"/>
              </a:ext>
            </a:extLst>
          </p:cNvPr>
          <p:cNvSpPr/>
          <p:nvPr/>
        </p:nvSpPr>
        <p:spPr bwMode="auto">
          <a:xfrm>
            <a:off x="7101101" y="4106217"/>
            <a:ext cx="1664276" cy="508596"/>
          </a:xfrm>
          <a:custGeom>
            <a:avLst/>
            <a:gdLst>
              <a:gd name="T0" fmla="*/ 0 w 674"/>
              <a:gd name="T1" fmla="*/ 0 h 254"/>
              <a:gd name="T2" fmla="*/ 254 w 674"/>
              <a:gd name="T3" fmla="*/ 254 h 254"/>
              <a:gd name="T4" fmla="*/ 674 w 674"/>
              <a:gd name="T5" fmla="*/ 254 h 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74" h="254">
                <a:moveTo>
                  <a:pt x="0" y="0"/>
                </a:moveTo>
                <a:lnTo>
                  <a:pt x="254" y="254"/>
                </a:lnTo>
                <a:lnTo>
                  <a:pt x="674" y="254"/>
                </a:lnTo>
              </a:path>
            </a:pathLst>
          </a:custGeom>
          <a:noFill/>
          <a:ln w="3175" cap="flat">
            <a:solidFill>
              <a:schemeClr val="bg1">
                <a:lumMod val="75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BC383B1-9C7D-C66E-97F8-699ED34AB162}"/>
              </a:ext>
            </a:extLst>
          </p:cNvPr>
          <p:cNvGrpSpPr/>
          <p:nvPr/>
        </p:nvGrpSpPr>
        <p:grpSpPr>
          <a:xfrm>
            <a:off x="4543426" y="1680097"/>
            <a:ext cx="3105150" cy="3100882"/>
            <a:chOff x="4543426" y="1951629"/>
            <a:chExt cx="3105150" cy="3100882"/>
          </a:xfrm>
          <a:solidFill>
            <a:srgbClr val="0087CF"/>
          </a:solidFill>
          <a:effectLst/>
        </p:grpSpPr>
        <p:sp>
          <p:nvSpPr>
            <p:cNvPr id="7" name="Freeform 20">
              <a:extLst>
                <a:ext uri="{FF2B5EF4-FFF2-40B4-BE49-F238E27FC236}">
                  <a16:creationId xmlns:a16="http://schemas.microsoft.com/office/drawing/2014/main" id="{A9136BA8-A915-F27E-08CF-EF92891F1BF1}"/>
                </a:ext>
              </a:extLst>
            </p:cNvPr>
            <p:cNvSpPr/>
            <p:nvPr/>
          </p:nvSpPr>
          <p:spPr bwMode="auto">
            <a:xfrm>
              <a:off x="6189838" y="3593773"/>
              <a:ext cx="1458738" cy="1458738"/>
            </a:xfrm>
            <a:custGeom>
              <a:avLst/>
              <a:gdLst>
                <a:gd name="T0" fmla="*/ 0 w 342"/>
                <a:gd name="T1" fmla="*/ 255 h 342"/>
                <a:gd name="T2" fmla="*/ 0 w 342"/>
                <a:gd name="T3" fmla="*/ 342 h 342"/>
                <a:gd name="T4" fmla="*/ 342 w 342"/>
                <a:gd name="T5" fmla="*/ 0 h 342"/>
                <a:gd name="T6" fmla="*/ 255 w 342"/>
                <a:gd name="T7" fmla="*/ 0 h 342"/>
                <a:gd name="T8" fmla="*/ 0 w 342"/>
                <a:gd name="T9" fmla="*/ 255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2" h="342">
                  <a:moveTo>
                    <a:pt x="0" y="255"/>
                  </a:moveTo>
                  <a:cubicBezTo>
                    <a:pt x="0" y="342"/>
                    <a:pt x="0" y="342"/>
                    <a:pt x="0" y="342"/>
                  </a:cubicBezTo>
                  <a:cubicBezTo>
                    <a:pt x="184" y="331"/>
                    <a:pt x="331" y="184"/>
                    <a:pt x="342" y="0"/>
                  </a:cubicBezTo>
                  <a:cubicBezTo>
                    <a:pt x="255" y="0"/>
                    <a:pt x="255" y="0"/>
                    <a:pt x="255" y="0"/>
                  </a:cubicBezTo>
                  <a:cubicBezTo>
                    <a:pt x="244" y="136"/>
                    <a:pt x="136" y="245"/>
                    <a:pt x="0" y="255"/>
                  </a:cubicBezTo>
                  <a:close/>
                </a:path>
              </a:pathLst>
            </a:custGeom>
            <a:gradFill>
              <a:gsLst>
                <a:gs pos="0">
                  <a:srgbClr val="339933"/>
                </a:gs>
                <a:gs pos="100000">
                  <a:srgbClr val="006835"/>
                </a:gs>
              </a:gsLst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2DF063EC-BDA2-C022-B554-CF184B489D79}"/>
                </a:ext>
              </a:extLst>
            </p:cNvPr>
            <p:cNvSpPr/>
            <p:nvPr/>
          </p:nvSpPr>
          <p:spPr bwMode="auto">
            <a:xfrm>
              <a:off x="4543426" y="1951629"/>
              <a:ext cx="1458738" cy="1454472"/>
            </a:xfrm>
            <a:custGeom>
              <a:avLst/>
              <a:gdLst>
                <a:gd name="T0" fmla="*/ 342 w 342"/>
                <a:gd name="T1" fmla="*/ 86 h 341"/>
                <a:gd name="T2" fmla="*/ 342 w 342"/>
                <a:gd name="T3" fmla="*/ 0 h 341"/>
                <a:gd name="T4" fmla="*/ 0 w 342"/>
                <a:gd name="T5" fmla="*/ 341 h 341"/>
                <a:gd name="T6" fmla="*/ 87 w 342"/>
                <a:gd name="T7" fmla="*/ 341 h 341"/>
                <a:gd name="T8" fmla="*/ 342 w 342"/>
                <a:gd name="T9" fmla="*/ 8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2" h="341">
                  <a:moveTo>
                    <a:pt x="342" y="86"/>
                  </a:moveTo>
                  <a:cubicBezTo>
                    <a:pt x="342" y="0"/>
                    <a:pt x="342" y="0"/>
                    <a:pt x="342" y="0"/>
                  </a:cubicBezTo>
                  <a:cubicBezTo>
                    <a:pt x="158" y="10"/>
                    <a:pt x="11" y="158"/>
                    <a:pt x="0" y="341"/>
                  </a:cubicBezTo>
                  <a:cubicBezTo>
                    <a:pt x="87" y="341"/>
                    <a:pt x="87" y="341"/>
                    <a:pt x="87" y="341"/>
                  </a:cubicBezTo>
                  <a:cubicBezTo>
                    <a:pt x="98" y="205"/>
                    <a:pt x="206" y="97"/>
                    <a:pt x="342" y="86"/>
                  </a:cubicBezTo>
                  <a:close/>
                </a:path>
              </a:pathLst>
            </a:custGeom>
            <a:gradFill>
              <a:gsLst>
                <a:gs pos="0">
                  <a:srgbClr val="339933"/>
                </a:gs>
                <a:gs pos="100000">
                  <a:srgbClr val="006835"/>
                </a:gs>
              </a:gsLst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2000" kern="0" dirty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9" name="Freeform 22">
              <a:extLst>
                <a:ext uri="{FF2B5EF4-FFF2-40B4-BE49-F238E27FC236}">
                  <a16:creationId xmlns:a16="http://schemas.microsoft.com/office/drawing/2014/main" id="{6042A52A-0672-D624-56DC-DE98CEA6508F}"/>
                </a:ext>
              </a:extLst>
            </p:cNvPr>
            <p:cNvSpPr/>
            <p:nvPr/>
          </p:nvSpPr>
          <p:spPr bwMode="auto">
            <a:xfrm>
              <a:off x="6189838" y="1951629"/>
              <a:ext cx="1458738" cy="1454472"/>
            </a:xfrm>
            <a:custGeom>
              <a:avLst/>
              <a:gdLst>
                <a:gd name="T0" fmla="*/ 255 w 342"/>
                <a:gd name="T1" fmla="*/ 341 h 341"/>
                <a:gd name="T2" fmla="*/ 342 w 342"/>
                <a:gd name="T3" fmla="*/ 341 h 341"/>
                <a:gd name="T4" fmla="*/ 0 w 342"/>
                <a:gd name="T5" fmla="*/ 0 h 341"/>
                <a:gd name="T6" fmla="*/ 0 w 342"/>
                <a:gd name="T7" fmla="*/ 86 h 341"/>
                <a:gd name="T8" fmla="*/ 255 w 342"/>
                <a:gd name="T9" fmla="*/ 341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2" h="341">
                  <a:moveTo>
                    <a:pt x="255" y="341"/>
                  </a:moveTo>
                  <a:cubicBezTo>
                    <a:pt x="342" y="341"/>
                    <a:pt x="342" y="341"/>
                    <a:pt x="342" y="341"/>
                  </a:cubicBezTo>
                  <a:cubicBezTo>
                    <a:pt x="331" y="158"/>
                    <a:pt x="184" y="10"/>
                    <a:pt x="0" y="0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36" y="97"/>
                    <a:pt x="244" y="205"/>
                    <a:pt x="255" y="341"/>
                  </a:cubicBezTo>
                  <a:close/>
                </a:path>
              </a:pathLst>
            </a:custGeom>
            <a:gradFill>
              <a:gsLst>
                <a:gs pos="1000">
                  <a:srgbClr val="339933"/>
                </a:gs>
                <a:gs pos="100000">
                  <a:srgbClr val="006835"/>
                </a:gs>
              </a:gsLst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10" name="Freeform 23">
              <a:extLst>
                <a:ext uri="{FF2B5EF4-FFF2-40B4-BE49-F238E27FC236}">
                  <a16:creationId xmlns:a16="http://schemas.microsoft.com/office/drawing/2014/main" id="{6AA1EBEA-E211-C8C6-43BA-E544F04E795F}"/>
                </a:ext>
              </a:extLst>
            </p:cNvPr>
            <p:cNvSpPr/>
            <p:nvPr/>
          </p:nvSpPr>
          <p:spPr bwMode="auto">
            <a:xfrm>
              <a:off x="4543426" y="3593773"/>
              <a:ext cx="1458738" cy="1458738"/>
            </a:xfrm>
            <a:custGeom>
              <a:avLst/>
              <a:gdLst>
                <a:gd name="T0" fmla="*/ 87 w 342"/>
                <a:gd name="T1" fmla="*/ 0 h 342"/>
                <a:gd name="T2" fmla="*/ 0 w 342"/>
                <a:gd name="T3" fmla="*/ 0 h 342"/>
                <a:gd name="T4" fmla="*/ 342 w 342"/>
                <a:gd name="T5" fmla="*/ 342 h 342"/>
                <a:gd name="T6" fmla="*/ 342 w 342"/>
                <a:gd name="T7" fmla="*/ 255 h 342"/>
                <a:gd name="T8" fmla="*/ 87 w 342"/>
                <a:gd name="T9" fmla="*/ 0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2" h="342">
                  <a:moveTo>
                    <a:pt x="8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1" y="184"/>
                    <a:pt x="158" y="331"/>
                    <a:pt x="342" y="342"/>
                  </a:cubicBezTo>
                  <a:cubicBezTo>
                    <a:pt x="342" y="255"/>
                    <a:pt x="342" y="255"/>
                    <a:pt x="342" y="255"/>
                  </a:cubicBezTo>
                  <a:cubicBezTo>
                    <a:pt x="206" y="245"/>
                    <a:pt x="98" y="136"/>
                    <a:pt x="87" y="0"/>
                  </a:cubicBezTo>
                  <a:close/>
                </a:path>
              </a:pathLst>
            </a:custGeom>
            <a:gradFill>
              <a:gsLst>
                <a:gs pos="0">
                  <a:srgbClr val="339933"/>
                </a:gs>
                <a:gs pos="100000">
                  <a:srgbClr val="006835"/>
                </a:gs>
              </a:gsLst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en-US" sz="2000" kern="0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1" name="Oval 14">
            <a:extLst>
              <a:ext uri="{FF2B5EF4-FFF2-40B4-BE49-F238E27FC236}">
                <a16:creationId xmlns:a16="http://schemas.microsoft.com/office/drawing/2014/main" id="{1C37494F-9DCE-214F-7CF6-A163247DC715}"/>
              </a:ext>
            </a:extLst>
          </p:cNvPr>
          <p:cNvSpPr/>
          <p:nvPr/>
        </p:nvSpPr>
        <p:spPr>
          <a:xfrm flipH="1">
            <a:off x="5112465" y="2246992"/>
            <a:ext cx="1967073" cy="1967092"/>
          </a:xfrm>
          <a:prstGeom prst="ellipse">
            <a:avLst/>
          </a:prstGeom>
          <a:gradFill>
            <a:gsLst>
              <a:gs pos="27000">
                <a:srgbClr val="187F34"/>
              </a:gs>
              <a:gs pos="0">
                <a:srgbClr val="339933"/>
              </a:gs>
              <a:gs pos="66000">
                <a:srgbClr val="005416"/>
              </a:gs>
            </a:gsLst>
            <a:lin ang="2700000" scaled="0"/>
          </a:gradFill>
          <a:ln>
            <a:solidFill>
              <a:srgbClr val="005416"/>
            </a:solidFill>
          </a:ln>
          <a:effectLst>
            <a:outerShdw blurRad="254000" dist="139700" dir="5400000" sx="98000" sy="98000" algn="t" rotWithShape="0">
              <a:srgbClr val="0B54A2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dirty="0">
              <a:solidFill>
                <a:srgbClr val="E5A761"/>
              </a:solidFill>
              <a:cs typeface="+mn-ea"/>
              <a:sym typeface="+mn-lt"/>
            </a:endParaRPr>
          </a:p>
        </p:txBody>
      </p:sp>
      <p:sp>
        <p:nvSpPr>
          <p:cNvPr id="12" name="Object 5014">
            <a:extLst>
              <a:ext uri="{FF2B5EF4-FFF2-40B4-BE49-F238E27FC236}">
                <a16:creationId xmlns:a16="http://schemas.microsoft.com/office/drawing/2014/main" id="{800BA004-87DA-6C2B-8C96-6A946F8E89C8}"/>
              </a:ext>
            </a:extLst>
          </p:cNvPr>
          <p:cNvSpPr txBox="1"/>
          <p:nvPr/>
        </p:nvSpPr>
        <p:spPr>
          <a:xfrm>
            <a:off x="5203850" y="2785693"/>
            <a:ext cx="1801147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2400">
                <a:gradFill flip="none" rotWithShape="1">
                  <a:gsLst>
                    <a:gs pos="46000">
                      <a:schemeClr val="accent1"/>
                    </a:gs>
                    <a:gs pos="16000">
                      <a:schemeClr val="accent2"/>
                    </a:gs>
                  </a:gsLst>
                  <a:lin ang="5400000" scaled="0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本模型优点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37E53E6-8B95-6660-E001-27E65CB9CD1D}"/>
              </a:ext>
            </a:extLst>
          </p:cNvPr>
          <p:cNvSpPr txBox="1"/>
          <p:nvPr/>
        </p:nvSpPr>
        <p:spPr>
          <a:xfrm>
            <a:off x="660400" y="2367575"/>
            <a:ext cx="3840635" cy="17988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2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lt"/>
              </a:rPr>
              <a:t>模型充分结合实际工况，去除非核心传感器与冗余信号影响；通过优选 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lt"/>
              </a:rPr>
              <a:t>DE 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lt"/>
              </a:rPr>
              <a:t>通道、重采样统一采样率、类别权重平衡样本等策略，使模型更贴近列车轴承运维需求，可推广至其他旋转机械。</a:t>
            </a:r>
            <a:endParaRPr lang="en-US" altLang="zh-CN" sz="1600" dirty="0">
              <a:solidFill>
                <a:schemeClr val="tx1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2744249-861D-6453-6D35-F5F863BD3407}"/>
              </a:ext>
            </a:extLst>
          </p:cNvPr>
          <p:cNvSpPr txBox="1"/>
          <p:nvPr/>
        </p:nvSpPr>
        <p:spPr>
          <a:xfrm>
            <a:off x="660400" y="4982118"/>
            <a:ext cx="3883026" cy="1429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2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采用随机森林、网格搜索与对抗式域适应等多模型组合，兼具鲁棒性与对类别失衡、域差异的适应能力，有效避免单算法泛化不足，适用于跨域标签缺失场景。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6CFB6CB-7FA7-F138-D272-CCB52A58099E}"/>
              </a:ext>
            </a:extLst>
          </p:cNvPr>
          <p:cNvSpPr txBox="1"/>
          <p:nvPr/>
        </p:nvSpPr>
        <p:spPr>
          <a:xfrm>
            <a:off x="7916260" y="2358724"/>
            <a:ext cx="3602640" cy="18083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2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  <a:cs typeface="+mn-ea"/>
                <a:sym typeface="+mn-lt"/>
              </a:rPr>
              <a:t>生成所有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基于轴承冲击机理与域适配思想，将跨域诊断拆解为“特征工程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域适应</a:t>
            </a:r>
            <a:r>
              <a:rPr lang="en-US" altLang="zh-CN" sz="1600" dirty="0">
                <a:solidFill>
                  <a:schemeClr val="tx1"/>
                </a:solidFill>
                <a:latin typeface="+mn-ea"/>
                <a:ea typeface="+mn-ea"/>
              </a:rPr>
              <a:t>—</a:t>
            </a:r>
            <a:r>
              <a:rPr lang="zh-CN" altLang="en-US" sz="1600" dirty="0">
                <a:solidFill>
                  <a:schemeClr val="tx1"/>
                </a:solidFill>
                <a:latin typeface="+mn-ea"/>
                <a:ea typeface="+mn-ea"/>
              </a:rPr>
              <a:t>模型优化”流程；利用鲁棒特征筛选、重叠度阈值与权重设置，实现源域高精度和目标域有效标定。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9394A9B-AE51-2A17-0835-9BBFCBA905D6}"/>
              </a:ext>
            </a:extLst>
          </p:cNvPr>
          <p:cNvSpPr txBox="1"/>
          <p:nvPr/>
        </p:nvSpPr>
        <p:spPr>
          <a:xfrm>
            <a:off x="7916260" y="4965862"/>
            <a:ext cx="3602640" cy="14294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1200">
                <a:solidFill>
                  <a:schemeClr val="bg2">
                    <a:lumMod val="2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r>
              <a:rPr lang="zh-CN" altLang="en-US" sz="16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目标域标定结果稳定可靠，几乎无正常状态误报与严重错分，置信度波动小，整体符合实际工况需求，在现有数据条件下实现跨域诊断精度的显著提升。</a:t>
            </a:r>
            <a:endParaRPr lang="en-US" altLang="zh-CN" sz="16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矩形: 圆角 37">
            <a:extLst>
              <a:ext uri="{FF2B5EF4-FFF2-40B4-BE49-F238E27FC236}">
                <a16:creationId xmlns:a16="http://schemas.microsoft.com/office/drawing/2014/main" id="{691C1618-A583-3CCC-4034-CB0830DC7E50}"/>
              </a:ext>
            </a:extLst>
          </p:cNvPr>
          <p:cNvSpPr/>
          <p:nvPr/>
        </p:nvSpPr>
        <p:spPr>
          <a:xfrm>
            <a:off x="2105891" y="1852426"/>
            <a:ext cx="1356854" cy="44128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127000" dist="38100" dir="2700000" algn="tl" rotWithShape="0">
              <a:srgbClr val="0B54A2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2000" kern="0" dirty="0">
                <a:solidFill>
                  <a:prstClr val="white"/>
                </a:solidFill>
                <a:cs typeface="+mn-ea"/>
                <a:sym typeface="+mn-lt"/>
              </a:rPr>
              <a:t>优点一</a:t>
            </a:r>
          </a:p>
        </p:txBody>
      </p:sp>
      <p:sp>
        <p:nvSpPr>
          <p:cNvPr id="19" name="矩形: 圆角 41">
            <a:extLst>
              <a:ext uri="{FF2B5EF4-FFF2-40B4-BE49-F238E27FC236}">
                <a16:creationId xmlns:a16="http://schemas.microsoft.com/office/drawing/2014/main" id="{6B845565-C0D5-3F87-E706-D1170F975050}"/>
              </a:ext>
            </a:extLst>
          </p:cNvPr>
          <p:cNvSpPr/>
          <p:nvPr/>
        </p:nvSpPr>
        <p:spPr>
          <a:xfrm>
            <a:off x="2105891" y="4387131"/>
            <a:ext cx="1356854" cy="44128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127000" dist="38100" dir="2700000" algn="tl" rotWithShape="0">
              <a:srgbClr val="0B54A2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2000" kern="0" dirty="0">
                <a:solidFill>
                  <a:prstClr val="white"/>
                </a:solidFill>
                <a:cs typeface="+mn-ea"/>
                <a:sym typeface="+mn-lt"/>
              </a:rPr>
              <a:t>优点三</a:t>
            </a:r>
          </a:p>
        </p:txBody>
      </p:sp>
      <p:sp>
        <p:nvSpPr>
          <p:cNvPr id="21" name="矩形: 圆角 48">
            <a:extLst>
              <a:ext uri="{FF2B5EF4-FFF2-40B4-BE49-F238E27FC236}">
                <a16:creationId xmlns:a16="http://schemas.microsoft.com/office/drawing/2014/main" id="{185BE1F2-206B-D118-C446-E653D0C1FE9F}"/>
              </a:ext>
            </a:extLst>
          </p:cNvPr>
          <p:cNvSpPr/>
          <p:nvPr/>
        </p:nvSpPr>
        <p:spPr>
          <a:xfrm>
            <a:off x="8753012" y="1852426"/>
            <a:ext cx="1458738" cy="44128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127000" dist="38100" dir="2700000" algn="tl" rotWithShape="0">
              <a:srgbClr val="0B54A2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2000" kern="0" dirty="0">
                <a:solidFill>
                  <a:prstClr val="white"/>
                </a:solidFill>
                <a:cs typeface="+mn-ea"/>
                <a:sym typeface="+mn-lt"/>
              </a:rPr>
              <a:t>优点二</a:t>
            </a:r>
          </a:p>
        </p:txBody>
      </p:sp>
      <p:sp>
        <p:nvSpPr>
          <p:cNvPr id="23" name="矩形: 圆角 52">
            <a:extLst>
              <a:ext uri="{FF2B5EF4-FFF2-40B4-BE49-F238E27FC236}">
                <a16:creationId xmlns:a16="http://schemas.microsoft.com/office/drawing/2014/main" id="{79726F84-E926-39E6-B3D5-50B88E0A6F39}"/>
              </a:ext>
            </a:extLst>
          </p:cNvPr>
          <p:cNvSpPr/>
          <p:nvPr/>
        </p:nvSpPr>
        <p:spPr>
          <a:xfrm>
            <a:off x="8753012" y="4399914"/>
            <a:ext cx="1458739" cy="441286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>
            <a:outerShdw blurRad="127000" dist="38100" dir="2700000" algn="tl" rotWithShape="0">
              <a:srgbClr val="0B54A2">
                <a:alpha val="30000"/>
              </a:srgbClr>
            </a:outerShdw>
          </a:effectLst>
        </p:spPr>
        <p:txBody>
          <a:bodyPr rtlCol="0" anchor="ctr"/>
          <a:lstStyle/>
          <a:p>
            <a:pPr algn="ctr"/>
            <a:r>
              <a:rPr lang="zh-CN" altLang="en-US" sz="2000" kern="0" dirty="0">
                <a:solidFill>
                  <a:prstClr val="white"/>
                </a:solidFill>
                <a:cs typeface="+mn-ea"/>
                <a:sym typeface="+mn-lt"/>
              </a:rPr>
              <a:t>优点四</a:t>
            </a:r>
          </a:p>
        </p:txBody>
      </p:sp>
    </p:spTree>
    <p:extLst>
      <p:ext uri="{BB962C8B-B14F-4D97-AF65-F5344CB8AC3E}">
        <p14:creationId xmlns:p14="http://schemas.microsoft.com/office/powerpoint/2010/main" val="254194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11" grpId="0" animBg="1"/>
      <p:bldP spid="12" grpId="0"/>
      <p:bldP spid="13" grpId="0"/>
      <p:bldP spid="14" grpId="0"/>
      <p:bldP spid="15" grpId="0"/>
      <p:bldP spid="16" grpId="0"/>
      <p:bldP spid="17" grpId="0" animBg="1"/>
      <p:bldP spid="19" grpId="0" animBg="1"/>
      <p:bldP spid="21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24EB6-BD61-1377-8895-F2D8F5040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95D9247-CC9F-CC8C-789E-76DAD8E4CC2F}"/>
              </a:ext>
            </a:extLst>
          </p:cNvPr>
          <p:cNvSpPr/>
          <p:nvPr/>
        </p:nvSpPr>
        <p:spPr>
          <a:xfrm>
            <a:off x="660400" y="1193799"/>
            <a:ext cx="2493612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本模型不足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C5C294-7828-0DC0-80BE-42EF5CCBB2D2}"/>
              </a:ext>
            </a:extLst>
          </p:cNvPr>
          <p:cNvSpPr txBox="1"/>
          <p:nvPr/>
        </p:nvSpPr>
        <p:spPr>
          <a:xfrm>
            <a:off x="1605547" y="1876275"/>
            <a:ext cx="896820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实际应用中，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+mn-ea"/>
              </a:rPr>
              <a:t>目标域轴承不同故障尺寸</a:t>
            </a: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（如</a:t>
            </a:r>
            <a:r>
              <a:rPr lang="en-US" altLang="zh-CN" sz="2000" b="1" i="0" u="none" strike="noStrike" baseline="0" dirty="0">
                <a:solidFill>
                  <a:srgbClr val="1C1F23"/>
                </a:solidFill>
                <a:latin typeface="+mn-ea"/>
              </a:rPr>
              <a:t>0.007-0.028 </a:t>
            </a: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英寸）、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+mn-ea"/>
              </a:rPr>
              <a:t>列车不同运行速度下的转速波动</a:t>
            </a: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可能也是重要的因素，但本文未能考虑到这些因素的影响，一定程度上了影响了模型对不同故障程度、变车速场景的适配准确性。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1218C23-65D8-5870-851A-7F64A692F683}"/>
              </a:ext>
            </a:extLst>
          </p:cNvPr>
          <p:cNvSpPr txBox="1"/>
          <p:nvPr/>
        </p:nvSpPr>
        <p:spPr>
          <a:xfrm>
            <a:off x="1605546" y="3521275"/>
            <a:ext cx="896820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本文提出的模型对于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+mn-ea"/>
              </a:rPr>
              <a:t>现有单点故障</a:t>
            </a: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、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+mn-ea"/>
              </a:rPr>
              <a:t>固定采样率</a:t>
            </a: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的场景使用效果较好，由于数据限制未对其他情况进行检验。对于其他情形（如复合故障、多型号轴承（非</a:t>
            </a:r>
            <a:r>
              <a:rPr lang="en-US" altLang="zh-CN" sz="2000" b="1" i="0" u="none" strike="noStrike" baseline="0" dirty="0">
                <a:solidFill>
                  <a:srgbClr val="1C1F23"/>
                </a:solidFill>
                <a:latin typeface="+mn-ea"/>
              </a:rPr>
              <a:t>SKF6205/6203</a:t>
            </a: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）、极端噪声环境），可能无法达到较好的效果。</a:t>
            </a:r>
            <a:endParaRPr lang="zh-CN" altLang="en-US" sz="2000" b="1" dirty="0"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F5F5C4-FA55-DD28-B510-6014BECDDB4F}"/>
              </a:ext>
            </a:extLst>
          </p:cNvPr>
          <p:cNvSpPr txBox="1"/>
          <p:nvPr/>
        </p:nvSpPr>
        <p:spPr>
          <a:xfrm>
            <a:off x="1605546" y="4796943"/>
            <a:ext cx="896820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实际上信号预处理中的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+mn-ea"/>
              </a:rPr>
              <a:t>重采样、特征与故障的关联</a:t>
            </a: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可能不是线性的，而本文将重采样按线性方式处理、部分特征重要性按线性权重累加，忽略了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+mn-ea"/>
              </a:rPr>
              <a:t>信号非线性特征</a:t>
            </a: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、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+mn-ea"/>
              </a:rPr>
              <a:t>故障演化非线性规律的边际效应影响</a:t>
            </a:r>
            <a:r>
              <a:rPr lang="zh-CN" altLang="en-US" sz="2000" b="1" i="0" u="none" strike="noStrike" baseline="0" dirty="0">
                <a:solidFill>
                  <a:srgbClr val="1C1F23"/>
                </a:solidFill>
                <a:latin typeface="+mn-ea"/>
              </a:rPr>
              <a:t>。</a:t>
            </a:r>
            <a:endParaRPr lang="zh-CN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639319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23DB288-4154-88A0-8CB5-83BE30747B96}"/>
              </a:ext>
            </a:extLst>
          </p:cNvPr>
          <p:cNvSpPr/>
          <p:nvPr/>
        </p:nvSpPr>
        <p:spPr>
          <a:xfrm>
            <a:off x="660400" y="1193799"/>
            <a:ext cx="2493612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模型的推广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E93F32-B245-F197-68B5-7B2FAFDFA009}"/>
              </a:ext>
            </a:extLst>
          </p:cNvPr>
          <p:cNvSpPr txBox="1"/>
          <p:nvPr/>
        </p:nvSpPr>
        <p:spPr>
          <a:xfrm>
            <a:off x="673100" y="2031407"/>
            <a:ext cx="415878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0" u="none" strike="noStrike" baseline="0" dirty="0">
                <a:latin typeface="+mn-ea"/>
              </a:rPr>
              <a:t>在轴承型号适配方面，可以将源域</a:t>
            </a:r>
            <a:r>
              <a:rPr lang="en-US" altLang="zh-CN" sz="2000" b="1" i="0" u="none" strike="noStrike" baseline="0" dirty="0">
                <a:latin typeface="+mn-ea"/>
              </a:rPr>
              <a:t>SKF6205/6203 </a:t>
            </a:r>
            <a:r>
              <a:rPr lang="zh-CN" altLang="en-US" sz="2000" b="1" i="0" u="none" strike="noStrike" baseline="0" dirty="0">
                <a:latin typeface="+mn-ea"/>
              </a:rPr>
              <a:t>轴承参数替换成其他型号（如</a:t>
            </a:r>
            <a:r>
              <a:rPr lang="en-US" altLang="zh-CN" sz="2000" b="1" i="0" u="none" strike="noStrike" baseline="0" dirty="0">
                <a:latin typeface="+mn-ea"/>
              </a:rPr>
              <a:t>SKF7206</a:t>
            </a:r>
            <a:r>
              <a:rPr lang="zh-CN" altLang="en-US" sz="2000" b="1" i="0" u="none" strike="noStrike" baseline="0" dirty="0">
                <a:latin typeface="+mn-ea"/>
              </a:rPr>
              <a:t>）的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+mn-ea"/>
              </a:rPr>
              <a:t>滚动体数</a:t>
            </a:r>
            <a:r>
              <a:rPr lang="zh-CN" altLang="en-US" sz="2000" b="1" i="0" u="none" strike="noStrike" baseline="0" dirty="0">
                <a:latin typeface="+mn-ea"/>
              </a:rPr>
              <a:t>、</a:t>
            </a:r>
            <a:r>
              <a:rPr lang="zh-CN" altLang="en-US" sz="2400" b="1" i="0" u="none" strike="noStrike" baseline="0" dirty="0">
                <a:solidFill>
                  <a:srgbClr val="FF0000"/>
                </a:solidFill>
                <a:latin typeface="+mn-ea"/>
              </a:rPr>
              <a:t>节径</a:t>
            </a:r>
            <a:r>
              <a:rPr lang="zh-CN" altLang="en-US" sz="2000" b="1" i="0" u="none" strike="noStrike" baseline="0" dirty="0">
                <a:latin typeface="+mn-ea"/>
              </a:rPr>
              <a:t>等参数，结合故障特征频率公式调整频域特征提取逻辑，从而解决不同型号轴承的跨域诊断问题。结合轴承故障诊断相关参考文献，进一步考虑复合故障信号的耦合特征、目标域故障尺寸的量化影响，可得到更全面的诊断模型，提升在复杂故障场景的适用性。</a:t>
            </a:r>
            <a:endParaRPr lang="zh-CN" altLang="en-US" sz="2000" b="1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25A42E-B1E4-2DD3-7EE2-68F5FEEEA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516" y="1797050"/>
            <a:ext cx="6501384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59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F48E6-AE92-B1C0-97E3-1C36FF85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A66118-849C-CA22-22E6-D12D97A94785}"/>
              </a:ext>
            </a:extLst>
          </p:cNvPr>
          <p:cNvSpPr txBox="1"/>
          <p:nvPr/>
        </p:nvSpPr>
        <p:spPr>
          <a:xfrm>
            <a:off x="4058239" y="2473025"/>
            <a:ext cx="407552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5416"/>
                </a:solidFill>
                <a:effectLst/>
                <a:uLnTx/>
                <a:uFillTx/>
                <a:cs typeface="+mn-ea"/>
                <a:sym typeface="+mn-lt"/>
              </a:rPr>
              <a:t>PART </a:t>
            </a:r>
            <a:r>
              <a:rPr lang="en-US" altLang="zh-CN" sz="4800" b="1" dirty="0">
                <a:solidFill>
                  <a:srgbClr val="005416"/>
                </a:solidFill>
                <a:cs typeface="+mn-ea"/>
                <a:sym typeface="+mn-lt"/>
              </a:rPr>
              <a:t>06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541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60E2EF-DD54-3BFA-57CC-5016536039C7}"/>
              </a:ext>
            </a:extLst>
          </p:cNvPr>
          <p:cNvSpPr txBox="1"/>
          <p:nvPr/>
        </p:nvSpPr>
        <p:spPr>
          <a:xfrm>
            <a:off x="660400" y="3183235"/>
            <a:ext cx="10858499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zh-CN" altLang="en-US" sz="5400" dirty="0">
                <a:solidFill>
                  <a:srgbClr val="005416"/>
                </a:solidFill>
                <a:latin typeface="微软雅黑" panose="020B0503020204020204" charset="-122"/>
                <a:ea typeface="微软雅黑" panose="020B0503020204020204" charset="-122"/>
              </a:rPr>
              <a:t>结语</a:t>
            </a:r>
          </a:p>
        </p:txBody>
      </p:sp>
    </p:spTree>
    <p:extLst>
      <p:ext uri="{BB962C8B-B14F-4D97-AF65-F5344CB8AC3E}">
        <p14:creationId xmlns:p14="http://schemas.microsoft.com/office/powerpoint/2010/main" val="3806933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0373FE6-771E-FB91-F2BE-239BA6BC2D87}"/>
              </a:ext>
            </a:extLst>
          </p:cNvPr>
          <p:cNvSpPr/>
          <p:nvPr/>
        </p:nvSpPr>
        <p:spPr>
          <a:xfrm>
            <a:off x="4700241" y="2058175"/>
            <a:ext cx="2734340" cy="41681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903D5EA-E8DA-EB64-8B17-CAC3C9001CE6}"/>
              </a:ext>
            </a:extLst>
          </p:cNvPr>
          <p:cNvSpPr txBox="1"/>
          <p:nvPr/>
        </p:nvSpPr>
        <p:spPr>
          <a:xfrm>
            <a:off x="4767469" y="2960764"/>
            <a:ext cx="2657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不足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195D0DB-6C19-3A08-BEEB-09994546198F}"/>
              </a:ext>
            </a:extLst>
          </p:cNvPr>
          <p:cNvSpPr txBox="1"/>
          <p:nvPr/>
        </p:nvSpPr>
        <p:spPr>
          <a:xfrm>
            <a:off x="4780467" y="3264795"/>
            <a:ext cx="2536452" cy="29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1400" spc="100" dirty="0">
                <a:cs typeface="+mn-ea"/>
              </a:rPr>
              <a:t>目前模型仍依赖有限的目标域数据，跨工况泛化能力不足。</a:t>
            </a:r>
            <a:endParaRPr lang="en-US" altLang="zh-CN" sz="1400" kern="1400" spc="100" dirty="0">
              <a:cs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1400" spc="100" dirty="0">
                <a:cs typeface="+mn-ea"/>
              </a:rPr>
              <a:t>特征工程以人工提取为主，对复杂故障模式表达有限。</a:t>
            </a:r>
            <a:endParaRPr lang="en-US" altLang="zh-CN" sz="1400" kern="1400" spc="100" dirty="0">
              <a:cs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1400" spc="100" dirty="0">
                <a:cs typeface="+mn-ea"/>
              </a:rPr>
              <a:t>迁移学习稳定性与可解释性仍需加强，工程环境适应性有待提升。</a:t>
            </a:r>
            <a:endParaRPr lang="en-US" altLang="zh-CN" sz="1400" kern="1400" spc="100" dirty="0"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637B03-01A9-A509-535F-348A3464EC22}"/>
              </a:ext>
            </a:extLst>
          </p:cNvPr>
          <p:cNvSpPr/>
          <p:nvPr/>
        </p:nvSpPr>
        <p:spPr>
          <a:xfrm>
            <a:off x="4681522" y="20731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BD0595-8C5D-2B9C-0291-F74527902A00}"/>
              </a:ext>
            </a:extLst>
          </p:cNvPr>
          <p:cNvSpPr/>
          <p:nvPr/>
        </p:nvSpPr>
        <p:spPr>
          <a:xfrm>
            <a:off x="1169253" y="2067433"/>
            <a:ext cx="2734340" cy="416985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E3950E6-CB72-2FCD-D4F8-0FE47606500B}"/>
              </a:ext>
            </a:extLst>
          </p:cNvPr>
          <p:cNvSpPr txBox="1"/>
          <p:nvPr/>
        </p:nvSpPr>
        <p:spPr>
          <a:xfrm>
            <a:off x="1286917" y="3264795"/>
            <a:ext cx="2536452" cy="198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1400" spc="100" dirty="0">
                <a:cs typeface="+mn-ea"/>
                <a:sym typeface="+mn-lt"/>
              </a:rPr>
              <a:t>建立了“数据</a:t>
            </a:r>
            <a:r>
              <a:rPr lang="en-US" altLang="zh-CN" sz="1400" kern="1400" spc="100" dirty="0">
                <a:cs typeface="+mn-ea"/>
                <a:sym typeface="+mn-lt"/>
              </a:rPr>
              <a:t>-</a:t>
            </a:r>
            <a:r>
              <a:rPr lang="zh-CN" altLang="en-US" sz="1400" kern="1400" spc="100" dirty="0">
                <a:cs typeface="+mn-ea"/>
                <a:sym typeface="+mn-lt"/>
              </a:rPr>
              <a:t>特征</a:t>
            </a:r>
            <a:r>
              <a:rPr lang="en-US" altLang="zh-CN" sz="1400" kern="1400" spc="100" dirty="0">
                <a:cs typeface="+mn-ea"/>
                <a:sym typeface="+mn-lt"/>
              </a:rPr>
              <a:t>-</a:t>
            </a:r>
            <a:r>
              <a:rPr lang="zh-CN" altLang="en-US" sz="1400" kern="1400" spc="100" dirty="0">
                <a:cs typeface="+mn-ea"/>
                <a:sym typeface="+mn-lt"/>
              </a:rPr>
              <a:t>模型</a:t>
            </a:r>
            <a:r>
              <a:rPr lang="en-US" altLang="zh-CN" sz="1400" kern="1400" spc="100" dirty="0">
                <a:cs typeface="+mn-ea"/>
                <a:sym typeface="+mn-lt"/>
              </a:rPr>
              <a:t>-</a:t>
            </a:r>
            <a:r>
              <a:rPr lang="zh-CN" altLang="en-US" sz="1400" kern="1400" spc="100" dirty="0">
                <a:cs typeface="+mn-ea"/>
                <a:sym typeface="+mn-lt"/>
              </a:rPr>
              <a:t>解释”的一体化框架。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1400" spc="100" dirty="0">
                <a:cs typeface="+mn-ea"/>
                <a:sym typeface="+mn-lt"/>
              </a:rPr>
              <a:t>提出了基于</a:t>
            </a:r>
            <a:r>
              <a:rPr lang="en-US" altLang="zh-CN" sz="1400" kern="1400" spc="100" dirty="0">
                <a:cs typeface="+mn-ea"/>
                <a:sym typeface="+mn-lt"/>
              </a:rPr>
              <a:t>MMD</a:t>
            </a:r>
            <a:r>
              <a:rPr lang="zh-CN" altLang="en-US" sz="1400" kern="1400" spc="100" dirty="0">
                <a:cs typeface="+mn-ea"/>
                <a:sym typeface="+mn-lt"/>
              </a:rPr>
              <a:t>与对抗学习的复合迁移策略。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1400" spc="100" dirty="0">
                <a:cs typeface="+mn-ea"/>
                <a:sym typeface="+mn-lt"/>
              </a:rPr>
              <a:t>实现了全流程的可解释性验证。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07B127-93CD-8A09-4194-8BF962C74908}"/>
              </a:ext>
            </a:extLst>
          </p:cNvPr>
          <p:cNvSpPr txBox="1"/>
          <p:nvPr/>
        </p:nvSpPr>
        <p:spPr>
          <a:xfrm>
            <a:off x="1427431" y="2960764"/>
            <a:ext cx="221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创新点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7BD753D-D768-1019-332D-8DB04B66D466}"/>
              </a:ext>
            </a:extLst>
          </p:cNvPr>
          <p:cNvSpPr/>
          <p:nvPr/>
        </p:nvSpPr>
        <p:spPr>
          <a:xfrm>
            <a:off x="1169253" y="20731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F8BACD1-5593-2E94-C376-696A8515CE92}"/>
              </a:ext>
            </a:extLst>
          </p:cNvPr>
          <p:cNvSpPr/>
          <p:nvPr/>
        </p:nvSpPr>
        <p:spPr>
          <a:xfrm>
            <a:off x="8193791" y="2067549"/>
            <a:ext cx="2734340" cy="41681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dist="38100" dir="5400000" algn="t" rotWithShape="0">
              <a:prstClr val="black">
                <a:alpha val="1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03AA824-E44B-44E0-CB5D-041702F16E8C}"/>
              </a:ext>
            </a:extLst>
          </p:cNvPr>
          <p:cNvSpPr txBox="1"/>
          <p:nvPr/>
        </p:nvSpPr>
        <p:spPr>
          <a:xfrm>
            <a:off x="8287276" y="2966276"/>
            <a:ext cx="254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gradFill flip="none" rotWithShape="1">
                  <a:gsLst>
                    <a:gs pos="0">
                      <a:srgbClr val="F25400"/>
                    </a:gs>
                    <a:gs pos="100000">
                      <a:srgbClr val="A70E00"/>
                    </a:gs>
                  </a:gsLst>
                  <a:lin ang="5400000" scaled="1"/>
                  <a:tileRect/>
                </a:gradFill>
                <a:effectLst>
                  <a:outerShdw blurRad="38100" dist="63500" dir="2700000" algn="tl">
                    <a:srgbClr val="F25400">
                      <a:alpha val="9000"/>
                    </a:srgbClr>
                  </a:outerShdw>
                </a:effectLst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pPr lvl="0" algn="ctr" defTabSz="913765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ea"/>
                <a:sym typeface="+mn-lt"/>
              </a:rPr>
              <a:t>展望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3505B6A-09AF-E4BF-987E-DEEED1E9F41F}"/>
              </a:ext>
            </a:extLst>
          </p:cNvPr>
          <p:cNvSpPr txBox="1"/>
          <p:nvPr/>
        </p:nvSpPr>
        <p:spPr>
          <a:xfrm>
            <a:off x="8278697" y="3268442"/>
            <a:ext cx="2536452" cy="29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1400" spc="100" dirty="0">
                <a:cs typeface="+mn-ea"/>
                <a:sym typeface="+mn-lt"/>
              </a:rPr>
              <a:t>未来可加入多工况现场数据和深度特征学习，提升模型鲁棒性；进一步引入先进域适配与不确定性评估方法。</a:t>
            </a:r>
            <a:endParaRPr lang="en-US" altLang="zh-CN" sz="1400" kern="1400" spc="1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kern="1400" spc="100" dirty="0">
                <a:cs typeface="+mn-ea"/>
                <a:sym typeface="+mn-lt"/>
              </a:rPr>
              <a:t>结合机械机理实现更强的可解释诊断；推动模型向工程化、在线化方向应用。</a:t>
            </a:r>
            <a:endParaRPr lang="en-US" altLang="zh-CN" sz="1400" kern="1400" spc="100" dirty="0">
              <a:cs typeface="+mn-ea"/>
              <a:sym typeface="+mn-lt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ADD796-72E2-B662-9E67-7E9D7DFFB90E}"/>
              </a:ext>
            </a:extLst>
          </p:cNvPr>
          <p:cNvSpPr/>
          <p:nvPr/>
        </p:nvSpPr>
        <p:spPr>
          <a:xfrm>
            <a:off x="8193791" y="2073110"/>
            <a:ext cx="2734340" cy="54023"/>
          </a:xfrm>
          <a:prstGeom prst="rect">
            <a:avLst/>
          </a:prstGeom>
          <a:gradFill>
            <a:gsLst>
              <a:gs pos="0">
                <a:srgbClr val="339933"/>
              </a:gs>
              <a:gs pos="100000">
                <a:srgbClr val="006835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BEB4AB3-E1F5-FE0F-D138-00145CF7762B}"/>
              </a:ext>
            </a:extLst>
          </p:cNvPr>
          <p:cNvGrpSpPr/>
          <p:nvPr/>
        </p:nvGrpSpPr>
        <p:grpSpPr>
          <a:xfrm>
            <a:off x="2103981" y="2125248"/>
            <a:ext cx="864883" cy="864882"/>
            <a:chOff x="1821167" y="2579115"/>
            <a:chExt cx="1430512" cy="1430511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E88AC3D0-9E93-628F-2CAE-83C022A0F23F}"/>
                </a:ext>
              </a:extLst>
            </p:cNvPr>
            <p:cNvSpPr/>
            <p:nvPr/>
          </p:nvSpPr>
          <p:spPr>
            <a:xfrm>
              <a:off x="1821167" y="2579115"/>
              <a:ext cx="1430512" cy="1430511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6000"/>
              </a:schemeClr>
            </a:solidFill>
            <a:ln>
              <a:solidFill>
                <a:schemeClr val="bg1"/>
              </a:solidFill>
            </a:ln>
            <a:effectLst>
              <a:innerShdw blurRad="50800" dist="12700" dir="135000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C973B3AF-F70B-C51A-C2FD-5B50163075BB}"/>
                </a:ext>
              </a:extLst>
            </p:cNvPr>
            <p:cNvSpPr/>
            <p:nvPr/>
          </p:nvSpPr>
          <p:spPr>
            <a:xfrm>
              <a:off x="1970262" y="2728210"/>
              <a:ext cx="1132322" cy="1132321"/>
            </a:xfrm>
            <a:prstGeom prst="ellipse">
              <a:avLst/>
            </a:prstGeom>
            <a:gradFill flip="none" rotWithShape="1">
              <a:gsLst>
                <a:gs pos="0">
                  <a:srgbClr val="005416"/>
                </a:gs>
                <a:gs pos="100000">
                  <a:srgbClr val="339933"/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101600" dist="38100" dir="2700000" algn="tl" rotWithShape="0">
                <a:srgbClr val="0B54A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pic>
          <p:nvPicPr>
            <p:cNvPr id="22" name="图形 21" descr="拼图 纯色填充">
              <a:extLst>
                <a:ext uri="{FF2B5EF4-FFF2-40B4-BE49-F238E27FC236}">
                  <a16:creationId xmlns:a16="http://schemas.microsoft.com/office/drawing/2014/main" id="{5D30319D-C128-9DCE-24F5-7D7A8B1B5EB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119949" y="2825787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FE2E435-2A40-B3E6-73B9-9EB68799F479}"/>
              </a:ext>
            </a:extLst>
          </p:cNvPr>
          <p:cNvGrpSpPr/>
          <p:nvPr/>
        </p:nvGrpSpPr>
        <p:grpSpPr>
          <a:xfrm>
            <a:off x="5671056" y="2138563"/>
            <a:ext cx="849886" cy="849885"/>
            <a:chOff x="5333436" y="2579115"/>
            <a:chExt cx="1430512" cy="1430510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FE792C7-3FFD-A107-7F86-0739BA717B71}"/>
                </a:ext>
              </a:extLst>
            </p:cNvPr>
            <p:cNvSpPr/>
            <p:nvPr/>
          </p:nvSpPr>
          <p:spPr>
            <a:xfrm>
              <a:off x="5333436" y="2579115"/>
              <a:ext cx="1430512" cy="143051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6000"/>
              </a:schemeClr>
            </a:solidFill>
            <a:ln>
              <a:solidFill>
                <a:schemeClr val="bg1"/>
              </a:solidFill>
            </a:ln>
            <a:effectLst>
              <a:innerShdw blurRad="50800" dist="12700" dir="135000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9010EFDC-4B61-B414-B289-0177FAE39B3D}"/>
                </a:ext>
              </a:extLst>
            </p:cNvPr>
            <p:cNvSpPr/>
            <p:nvPr/>
          </p:nvSpPr>
          <p:spPr>
            <a:xfrm>
              <a:off x="5482531" y="2728210"/>
              <a:ext cx="1132322" cy="1132321"/>
            </a:xfrm>
            <a:prstGeom prst="ellipse">
              <a:avLst/>
            </a:prstGeom>
            <a:gradFill>
              <a:gsLst>
                <a:gs pos="0">
                  <a:srgbClr val="339933"/>
                </a:gs>
                <a:gs pos="100000">
                  <a:srgbClr val="006835"/>
                </a:gs>
              </a:gsLst>
              <a:lin ang="2700000" scaled="0"/>
            </a:gradFill>
            <a:ln>
              <a:noFill/>
            </a:ln>
            <a:effectLst>
              <a:outerShdw blurRad="101600" dist="38100" dir="2700000" algn="tl" rotWithShape="0">
                <a:srgbClr val="0B54A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pic>
          <p:nvPicPr>
            <p:cNvPr id="26" name="图形 25" descr="网络 纯色填充">
              <a:extLst>
                <a:ext uri="{FF2B5EF4-FFF2-40B4-BE49-F238E27FC236}">
                  <a16:creationId xmlns:a16="http://schemas.microsoft.com/office/drawing/2014/main" id="{75726486-DA5B-3416-C3F7-AEE0B56CB4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91492" y="2837170"/>
              <a:ext cx="914400" cy="914400"/>
            </a:xfrm>
            <a:prstGeom prst="rect">
              <a:avLst/>
            </a:prstGeom>
          </p:spPr>
        </p:pic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653B04A-9D5B-48E4-107A-7079E360CF20}"/>
              </a:ext>
            </a:extLst>
          </p:cNvPr>
          <p:cNvGrpSpPr/>
          <p:nvPr/>
        </p:nvGrpSpPr>
        <p:grpSpPr>
          <a:xfrm>
            <a:off x="9147991" y="2138563"/>
            <a:ext cx="849886" cy="849885"/>
            <a:chOff x="8845705" y="2579115"/>
            <a:chExt cx="1430512" cy="1430510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9D2A2B7-454F-EF9E-BE37-910AC098A731}"/>
                </a:ext>
              </a:extLst>
            </p:cNvPr>
            <p:cNvSpPr/>
            <p:nvPr/>
          </p:nvSpPr>
          <p:spPr>
            <a:xfrm>
              <a:off x="8845705" y="2579115"/>
              <a:ext cx="1430512" cy="143051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6000"/>
              </a:schemeClr>
            </a:solidFill>
            <a:ln>
              <a:solidFill>
                <a:schemeClr val="bg1"/>
              </a:solidFill>
            </a:ln>
            <a:effectLst>
              <a:innerShdw blurRad="50800" dist="12700" dir="13500000">
                <a:prstClr val="black">
                  <a:alpha val="2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F1291161-E702-BD14-9C12-A56FDE3793B2}"/>
                </a:ext>
              </a:extLst>
            </p:cNvPr>
            <p:cNvSpPr/>
            <p:nvPr/>
          </p:nvSpPr>
          <p:spPr>
            <a:xfrm>
              <a:off x="8994800" y="2728210"/>
              <a:ext cx="1132322" cy="1132321"/>
            </a:xfrm>
            <a:prstGeom prst="ellipse">
              <a:avLst/>
            </a:prstGeom>
            <a:gradFill>
              <a:gsLst>
                <a:gs pos="0">
                  <a:srgbClr val="339933"/>
                </a:gs>
                <a:gs pos="100000">
                  <a:srgbClr val="006835"/>
                </a:gs>
              </a:gsLst>
              <a:lin ang="2700000" scaled="0"/>
            </a:gradFill>
            <a:ln>
              <a:noFill/>
            </a:ln>
            <a:effectLst>
              <a:outerShdw blurRad="101600" dist="38100" dir="2700000" algn="tl" rotWithShape="0">
                <a:srgbClr val="0B54A2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pic>
          <p:nvPicPr>
            <p:cNvPr id="30" name="图形 29" descr="眼睛 纯色填充">
              <a:extLst>
                <a:ext uri="{FF2B5EF4-FFF2-40B4-BE49-F238E27FC236}">
                  <a16:creationId xmlns:a16="http://schemas.microsoft.com/office/drawing/2014/main" id="{6B213C62-0C05-9095-3351-54D163DAAB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103761" y="2839396"/>
              <a:ext cx="914400" cy="914400"/>
            </a:xfrm>
            <a:prstGeom prst="rect">
              <a:avLst/>
            </a:prstGeom>
          </p:spPr>
        </p:pic>
      </p:grp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BFDB383-55F4-194A-0404-6322CEEDB079}"/>
              </a:ext>
            </a:extLst>
          </p:cNvPr>
          <p:cNvSpPr/>
          <p:nvPr/>
        </p:nvSpPr>
        <p:spPr>
          <a:xfrm>
            <a:off x="660400" y="1193799"/>
            <a:ext cx="2494973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总结与展望</a:t>
            </a:r>
          </a:p>
        </p:txBody>
      </p:sp>
    </p:spTree>
    <p:extLst>
      <p:ext uri="{BB962C8B-B14F-4D97-AF65-F5344CB8AC3E}">
        <p14:creationId xmlns:p14="http://schemas.microsoft.com/office/powerpoint/2010/main" val="22540978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B2FA9-089F-AEE9-2A70-E70CA900C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679EEE0-A490-6D7A-710F-CC36892D78BA}"/>
              </a:ext>
            </a:extLst>
          </p:cNvPr>
          <p:cNvSpPr txBox="1"/>
          <p:nvPr/>
        </p:nvSpPr>
        <p:spPr>
          <a:xfrm>
            <a:off x="4058239" y="2473025"/>
            <a:ext cx="4075523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5416"/>
                </a:solidFill>
                <a:effectLst/>
                <a:uLnTx/>
                <a:uFillTx/>
                <a:cs typeface="+mn-ea"/>
                <a:sym typeface="+mn-lt"/>
              </a:rPr>
              <a:t>PART </a:t>
            </a:r>
            <a:r>
              <a:rPr lang="en-US" altLang="zh-CN" sz="4800" b="1" dirty="0">
                <a:solidFill>
                  <a:srgbClr val="005416"/>
                </a:solidFill>
                <a:cs typeface="+mn-ea"/>
                <a:sym typeface="+mn-lt"/>
              </a:rPr>
              <a:t>07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05416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4702D2E-5BB9-F2AA-FB9F-509B54FFF8F4}"/>
              </a:ext>
            </a:extLst>
          </p:cNvPr>
          <p:cNvSpPr txBox="1"/>
          <p:nvPr/>
        </p:nvSpPr>
        <p:spPr>
          <a:xfrm>
            <a:off x="660400" y="3183235"/>
            <a:ext cx="10858499" cy="92333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zh-CN" altLang="en-US" sz="5400" dirty="0">
                <a:solidFill>
                  <a:srgbClr val="005416"/>
                </a:solidFill>
                <a:latin typeface="微软雅黑" panose="020B0503020204020204" charset="-122"/>
                <a:ea typeface="微软雅黑" panose="020B0503020204020204" charset="-122"/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18074939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40656023-18E8-F27F-7FA8-7095D508020F}"/>
              </a:ext>
            </a:extLst>
          </p:cNvPr>
          <p:cNvSpPr/>
          <p:nvPr/>
        </p:nvSpPr>
        <p:spPr>
          <a:xfrm>
            <a:off x="660400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参考文献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FF1810-AAD7-16EE-0045-A8B37BF6AE8D}"/>
              </a:ext>
            </a:extLst>
          </p:cNvPr>
          <p:cNvSpPr txBox="1"/>
          <p:nvPr/>
        </p:nvSpPr>
        <p:spPr>
          <a:xfrm>
            <a:off x="849156" y="1955589"/>
            <a:ext cx="1049368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[1] </a:t>
            </a:r>
            <a:r>
              <a:rPr lang="en-US" altLang="zh-CN" sz="1600" dirty="0" err="1"/>
              <a:t>ao</a:t>
            </a:r>
            <a:r>
              <a:rPr lang="en-US" altLang="zh-CN" sz="1600" dirty="0"/>
              <a:t> C, Feng D, Feng X. Fast RANSAC algorithm with resample optimization[J]. Journal of Computer-Aided Design &amp; Computer Graphics, 2016, 28(4): 606-613.</a:t>
            </a:r>
          </a:p>
          <a:p>
            <a:r>
              <a:rPr lang="en-US" altLang="zh-CN" sz="1600" dirty="0"/>
              <a:t>[2] </a:t>
            </a:r>
            <a:r>
              <a:rPr lang="zh-CN" altLang="en-US" sz="1600" dirty="0"/>
              <a:t>钟慎</a:t>
            </a:r>
            <a:r>
              <a:rPr lang="en-US" altLang="zh-CN" sz="1600" dirty="0"/>
              <a:t>. </a:t>
            </a:r>
            <a:r>
              <a:rPr lang="zh-CN" altLang="en-US" sz="1600" dirty="0"/>
              <a:t>基于</a:t>
            </a:r>
            <a:r>
              <a:rPr lang="en-US" altLang="zh-CN" sz="1600" dirty="0"/>
              <a:t>MATLAB </a:t>
            </a:r>
            <a:r>
              <a:rPr lang="zh-CN" altLang="en-US" sz="1600" dirty="0"/>
              <a:t>设计巴特沃斯低通滤波器</a:t>
            </a:r>
            <a:r>
              <a:rPr lang="en-US" altLang="zh-CN" sz="1600" dirty="0"/>
              <a:t>[J]. </a:t>
            </a:r>
            <a:r>
              <a:rPr lang="zh-CN" altLang="en-US" sz="1600" dirty="0"/>
              <a:t>信息技术</a:t>
            </a:r>
            <a:r>
              <a:rPr lang="en-US" altLang="zh-CN" sz="1600" dirty="0"/>
              <a:t>, 2003, 27(3): 49-50.</a:t>
            </a:r>
          </a:p>
          <a:p>
            <a:r>
              <a:rPr lang="en-US" altLang="zh-CN" sz="1600" dirty="0"/>
              <a:t>[3] </a:t>
            </a:r>
            <a:r>
              <a:rPr lang="zh-CN" altLang="en-US" sz="1600" dirty="0"/>
              <a:t>高志斌</a:t>
            </a:r>
            <a:r>
              <a:rPr lang="en-US" altLang="zh-CN" sz="1600" dirty="0"/>
              <a:t>, </a:t>
            </a:r>
            <a:r>
              <a:rPr lang="zh-CN" altLang="en-US" sz="1600" dirty="0"/>
              <a:t>林和志</a:t>
            </a:r>
            <a:r>
              <a:rPr lang="en-US" altLang="zh-CN" sz="1600" dirty="0"/>
              <a:t>, </a:t>
            </a:r>
            <a:r>
              <a:rPr lang="zh-CN" altLang="en-US" sz="1600" dirty="0"/>
              <a:t>冯超</a:t>
            </a:r>
            <a:r>
              <a:rPr lang="en-US" altLang="zh-CN" sz="1600" dirty="0"/>
              <a:t>. </a:t>
            </a:r>
            <a:r>
              <a:rPr lang="zh-CN" altLang="en-US" sz="1600" dirty="0"/>
              <a:t>应用</a:t>
            </a:r>
            <a:r>
              <a:rPr lang="en-US" altLang="zh-CN" sz="1600" dirty="0"/>
              <a:t>Python </a:t>
            </a:r>
            <a:r>
              <a:rPr lang="zh-CN" altLang="en-US" sz="1600" dirty="0"/>
              <a:t>改进信号处理类实验教学</a:t>
            </a:r>
            <a:r>
              <a:rPr lang="en-US" altLang="zh-CN" sz="1600" dirty="0"/>
              <a:t>[J]. </a:t>
            </a:r>
            <a:r>
              <a:rPr lang="zh-CN" altLang="en-US" sz="1600" dirty="0"/>
              <a:t>现代计算机</a:t>
            </a:r>
            <a:r>
              <a:rPr lang="en-US" altLang="zh-CN" sz="1600" dirty="0"/>
              <a:t>(</a:t>
            </a:r>
            <a:r>
              <a:rPr lang="zh-CN" altLang="en-US" sz="1600" dirty="0"/>
              <a:t>专业版</a:t>
            </a:r>
            <a:r>
              <a:rPr lang="en-US" altLang="zh-CN" sz="1600" dirty="0"/>
              <a:t>), 2019, 4:49-52.</a:t>
            </a:r>
          </a:p>
          <a:p>
            <a:r>
              <a:rPr lang="en-US" altLang="zh-CN" sz="1600" dirty="0"/>
              <a:t>[4] </a:t>
            </a:r>
            <a:r>
              <a:rPr lang="zh-CN" altLang="en-US" sz="1600" dirty="0"/>
              <a:t>雷静</a:t>
            </a:r>
            <a:r>
              <a:rPr lang="en-US" altLang="zh-CN" sz="1600" dirty="0"/>
              <a:t>, </a:t>
            </a:r>
            <a:r>
              <a:rPr lang="zh-CN" altLang="en-US" sz="1600" dirty="0"/>
              <a:t>何培宇</a:t>
            </a:r>
            <a:r>
              <a:rPr lang="en-US" altLang="zh-CN" sz="1600" dirty="0"/>
              <a:t>, </a:t>
            </a:r>
            <a:r>
              <a:rPr lang="zh-CN" altLang="en-US" sz="1600" dirty="0"/>
              <a:t>徐自励</a:t>
            </a:r>
            <a:r>
              <a:rPr lang="en-US" altLang="zh-CN" sz="1600" dirty="0"/>
              <a:t>. </a:t>
            </a:r>
            <a:r>
              <a:rPr lang="zh-CN" altLang="en-US" sz="1600" dirty="0"/>
              <a:t>低信噪比下多参数融合的自适应语音端点检测</a:t>
            </a:r>
            <a:r>
              <a:rPr lang="en-US" altLang="zh-CN" sz="1600" dirty="0"/>
              <a:t>[J]. </a:t>
            </a:r>
            <a:r>
              <a:rPr lang="zh-CN" altLang="en-US" sz="1600" dirty="0"/>
              <a:t>信号处理</a:t>
            </a:r>
            <a:r>
              <a:rPr lang="en-US" altLang="zh-CN" sz="1600" dirty="0"/>
              <a:t>, 2020, 36(8):1205-1211.</a:t>
            </a:r>
          </a:p>
          <a:p>
            <a:r>
              <a:rPr lang="en-US" altLang="zh-CN" sz="1600" dirty="0"/>
              <a:t>[5] </a:t>
            </a:r>
            <a:r>
              <a:rPr lang="zh-CN" altLang="en-US" sz="1600" dirty="0"/>
              <a:t>史志成</a:t>
            </a:r>
            <a:r>
              <a:rPr lang="en-US" altLang="zh-CN" sz="1600" dirty="0"/>
              <a:t>, </a:t>
            </a:r>
            <a:r>
              <a:rPr lang="zh-CN" altLang="en-US" sz="1600" dirty="0"/>
              <a:t>周宇</a:t>
            </a:r>
            <a:r>
              <a:rPr lang="en-US" altLang="zh-CN" sz="1600" dirty="0"/>
              <a:t>. </a:t>
            </a:r>
            <a:r>
              <a:rPr lang="zh-CN" altLang="en-US" sz="1600" dirty="0"/>
              <a:t>代码特征自动提取方法</a:t>
            </a:r>
            <a:r>
              <a:rPr lang="en-US" altLang="zh-CN" sz="1600" dirty="0"/>
              <a:t>[J]. Journal of Frontiers of Computer Science &amp; Technology,2021, 15(3).</a:t>
            </a:r>
          </a:p>
          <a:p>
            <a:r>
              <a:rPr lang="en-US" altLang="zh-CN" sz="1600" dirty="0"/>
              <a:t>[6] </a:t>
            </a:r>
            <a:r>
              <a:rPr lang="zh-CN" altLang="en-US" sz="1600" dirty="0"/>
              <a:t>王雪</a:t>
            </a:r>
            <a:r>
              <a:rPr lang="en-US" altLang="zh-CN" sz="1600" dirty="0"/>
              <a:t>, </a:t>
            </a:r>
            <a:r>
              <a:rPr lang="zh-CN" altLang="en-US" sz="1600" dirty="0"/>
              <a:t>王增</a:t>
            </a:r>
            <a:r>
              <a:rPr lang="en-US" altLang="zh-CN" sz="1600" dirty="0"/>
              <a:t>. </a:t>
            </a:r>
            <a:r>
              <a:rPr lang="zh-CN" altLang="en-US" sz="1600" dirty="0"/>
              <a:t>基于波形时域分布特征的变压器励磁涌流识别</a:t>
            </a:r>
            <a:r>
              <a:rPr lang="en-US" altLang="zh-CN" sz="1600" dirty="0"/>
              <a:t>[D]. , 2012.</a:t>
            </a:r>
          </a:p>
          <a:p>
            <a:r>
              <a:rPr lang="en-US" altLang="zh-CN" sz="1600" dirty="0"/>
              <a:t>[7] </a:t>
            </a:r>
            <a:r>
              <a:rPr lang="zh-CN" altLang="en-US" sz="1600" dirty="0"/>
              <a:t>黄达</a:t>
            </a:r>
            <a:r>
              <a:rPr lang="en-US" altLang="zh-CN" sz="1600" dirty="0"/>
              <a:t>, </a:t>
            </a:r>
            <a:r>
              <a:rPr lang="zh-CN" altLang="en-US" sz="1600" dirty="0"/>
              <a:t>谭清</a:t>
            </a:r>
            <a:r>
              <a:rPr lang="en-US" altLang="zh-CN" sz="1600" dirty="0"/>
              <a:t>, </a:t>
            </a:r>
            <a:r>
              <a:rPr lang="zh-CN" altLang="en-US" sz="1600" dirty="0"/>
              <a:t>黄润秋</a:t>
            </a:r>
            <a:r>
              <a:rPr lang="en-US" altLang="zh-CN" sz="1600" dirty="0"/>
              <a:t>. </a:t>
            </a:r>
            <a:r>
              <a:rPr lang="zh-CN" altLang="en-US" sz="1600" dirty="0"/>
              <a:t>高围压卸荷条件下大理岩破碎块度分形特征及其与能量相关性研究</a:t>
            </a:r>
            <a:r>
              <a:rPr lang="en-US" altLang="zh-CN" sz="1600" dirty="0"/>
              <a:t>[J]. </a:t>
            </a:r>
            <a:r>
              <a:rPr lang="zh-CN" altLang="en-US" sz="1600" dirty="0"/>
              <a:t>岩石力学与工程学报</a:t>
            </a:r>
            <a:r>
              <a:rPr lang="en-US" altLang="zh-CN" sz="1600" dirty="0"/>
              <a:t>, 2012, 31(7): 1379-1389.</a:t>
            </a:r>
          </a:p>
          <a:p>
            <a:r>
              <a:rPr lang="en-US" altLang="zh-CN" sz="1600" dirty="0"/>
              <a:t>[8] </a:t>
            </a:r>
            <a:r>
              <a:rPr lang="zh-CN" altLang="en-US" sz="1600" dirty="0"/>
              <a:t>武传宇</a:t>
            </a:r>
            <a:r>
              <a:rPr lang="en-US" altLang="zh-CN" sz="1600" dirty="0"/>
              <a:t>, </a:t>
            </a:r>
            <a:r>
              <a:rPr lang="zh-CN" altLang="en-US" sz="1600" dirty="0"/>
              <a:t>金玉珍</a:t>
            </a:r>
            <a:r>
              <a:rPr lang="en-US" altLang="zh-CN" sz="1600" dirty="0"/>
              <a:t>, </a:t>
            </a:r>
            <a:r>
              <a:rPr lang="zh-CN" altLang="en-US" sz="1600" dirty="0"/>
              <a:t>贺磊盈</a:t>
            </a:r>
            <a:r>
              <a:rPr lang="en-US" altLang="zh-CN" sz="1600" dirty="0"/>
              <a:t>. </a:t>
            </a:r>
            <a:r>
              <a:rPr lang="zh-CN" altLang="en-US" sz="1600" dirty="0"/>
              <a:t>基于包络特征的非圆齿轮齿廓计算方法研究</a:t>
            </a:r>
            <a:r>
              <a:rPr lang="en-US" altLang="zh-CN" sz="1600" dirty="0"/>
              <a:t>[J]. </a:t>
            </a:r>
            <a:r>
              <a:rPr lang="zh-CN" altLang="en-US" sz="1600" dirty="0"/>
              <a:t>机械工程</a:t>
            </a:r>
            <a:r>
              <a:rPr lang="en-US" altLang="zh-CN" sz="1600" dirty="0"/>
              <a:t>, 2008, 19(15):0.</a:t>
            </a:r>
          </a:p>
          <a:p>
            <a:r>
              <a:rPr lang="en-US" altLang="zh-CN" sz="1600" dirty="0"/>
              <a:t>[9] </a:t>
            </a:r>
            <a:r>
              <a:rPr lang="zh-CN" altLang="en-US" sz="1600" dirty="0"/>
              <a:t>顾东祥</a:t>
            </a:r>
            <a:r>
              <a:rPr lang="en-US" altLang="zh-CN" sz="1600" dirty="0"/>
              <a:t>, </a:t>
            </a:r>
            <a:r>
              <a:rPr lang="zh-CN" altLang="en-US" sz="1600" dirty="0"/>
              <a:t>汤亮</a:t>
            </a:r>
            <a:r>
              <a:rPr lang="en-US" altLang="zh-CN" sz="1600" dirty="0"/>
              <a:t>, </a:t>
            </a:r>
            <a:r>
              <a:rPr lang="zh-CN" altLang="en-US" sz="1600" dirty="0"/>
              <a:t>曹卫星</a:t>
            </a:r>
            <a:r>
              <a:rPr lang="en-US" altLang="zh-CN" sz="1600" dirty="0"/>
              <a:t>, </a:t>
            </a:r>
            <a:r>
              <a:rPr lang="zh-CN" altLang="en-US" sz="1600" dirty="0"/>
              <a:t>等</a:t>
            </a:r>
            <a:r>
              <a:rPr lang="en-US" altLang="zh-CN" sz="1600" dirty="0"/>
              <a:t>. </a:t>
            </a:r>
            <a:r>
              <a:rPr lang="zh-CN" altLang="en-US" sz="1600" dirty="0"/>
              <a:t>基于图像分析方法的水稻根系形态特征指标的定量分析</a:t>
            </a:r>
            <a:r>
              <a:rPr lang="en-US" altLang="zh-CN" sz="1600" dirty="0"/>
              <a:t>[J]. </a:t>
            </a:r>
            <a:r>
              <a:rPr lang="zh-CN" altLang="en-US" sz="1600" dirty="0"/>
              <a:t>作物学报</a:t>
            </a:r>
            <a:r>
              <a:rPr lang="en-US" altLang="zh-CN" sz="1600" dirty="0"/>
              <a:t>,2010, 36(5): 810-817.</a:t>
            </a:r>
          </a:p>
          <a:p>
            <a:r>
              <a:rPr lang="en-US" altLang="zh-CN" sz="1600" dirty="0"/>
              <a:t>[10] </a:t>
            </a:r>
            <a:r>
              <a:rPr lang="zh-CN" altLang="en-US" sz="1600" dirty="0"/>
              <a:t>程军圣</a:t>
            </a:r>
            <a:r>
              <a:rPr lang="en-US" altLang="zh-CN" sz="1600" dirty="0"/>
              <a:t>, </a:t>
            </a:r>
            <a:r>
              <a:rPr lang="zh-CN" altLang="en-US" sz="1600" dirty="0"/>
              <a:t>杨宇</a:t>
            </a:r>
            <a:r>
              <a:rPr lang="en-US" altLang="zh-CN" sz="1600" dirty="0"/>
              <a:t>, </a:t>
            </a:r>
            <a:r>
              <a:rPr lang="zh-CN" altLang="en-US" sz="1600" dirty="0"/>
              <a:t>于德介</a:t>
            </a:r>
            <a:r>
              <a:rPr lang="en-US" altLang="zh-CN" sz="1600" dirty="0"/>
              <a:t>. </a:t>
            </a:r>
            <a:r>
              <a:rPr lang="zh-CN" altLang="en-US" sz="1600" dirty="0"/>
              <a:t>局部均值分解方法及其在齿轮故障诊断中的应用</a:t>
            </a:r>
            <a:r>
              <a:rPr lang="en-US" altLang="zh-CN" sz="1600" dirty="0"/>
              <a:t>[J]. </a:t>
            </a:r>
            <a:r>
              <a:rPr lang="zh-CN" altLang="en-US" sz="1600" dirty="0"/>
              <a:t>振动工程学报</a:t>
            </a:r>
            <a:r>
              <a:rPr lang="en-US" altLang="zh-CN" sz="1600" dirty="0"/>
              <a:t>, 2009,22(1): 76-84.</a:t>
            </a:r>
          </a:p>
          <a:p>
            <a:r>
              <a:rPr lang="en-US" altLang="zh-CN" sz="1600" dirty="0"/>
              <a:t>[11] </a:t>
            </a:r>
            <a:r>
              <a:rPr lang="zh-CN" altLang="en-US" sz="1600" dirty="0"/>
              <a:t>郝拉娣</a:t>
            </a:r>
            <a:r>
              <a:rPr lang="en-US" altLang="zh-CN" sz="1600" dirty="0"/>
              <a:t>, </a:t>
            </a:r>
            <a:r>
              <a:rPr lang="zh-CN" altLang="en-US" sz="1600" dirty="0"/>
              <a:t>于化东</a:t>
            </a:r>
            <a:r>
              <a:rPr lang="en-US" altLang="zh-CN" sz="1600" dirty="0"/>
              <a:t>. </a:t>
            </a:r>
            <a:r>
              <a:rPr lang="zh-CN" altLang="en-US" sz="1600" dirty="0"/>
              <a:t>标准差与标准误</a:t>
            </a:r>
            <a:r>
              <a:rPr lang="en-US" altLang="zh-CN" sz="1600" dirty="0"/>
              <a:t>[J]. </a:t>
            </a:r>
            <a:r>
              <a:rPr lang="zh-CN" altLang="en-US" sz="1600" dirty="0"/>
              <a:t>编辑学报</a:t>
            </a:r>
            <a:r>
              <a:rPr lang="en-US" altLang="zh-CN" sz="1600" dirty="0"/>
              <a:t>, 2005, 17(2): 116-118.</a:t>
            </a:r>
          </a:p>
          <a:p>
            <a:r>
              <a:rPr lang="en-US" altLang="zh-CN" sz="1600" dirty="0"/>
              <a:t>[12] </a:t>
            </a:r>
            <a:r>
              <a:rPr lang="zh-CN" altLang="en-US" sz="1600" dirty="0"/>
              <a:t>王学民</a:t>
            </a:r>
            <a:r>
              <a:rPr lang="en-US" altLang="zh-CN" sz="1600" dirty="0"/>
              <a:t>. </a:t>
            </a:r>
            <a:r>
              <a:rPr lang="zh-CN" altLang="en-US" sz="1600" dirty="0"/>
              <a:t>偏度和峰度概念的认识误区</a:t>
            </a:r>
            <a:r>
              <a:rPr lang="en-US" altLang="zh-CN" sz="1600" dirty="0"/>
              <a:t>[J]. </a:t>
            </a:r>
            <a:r>
              <a:rPr lang="zh-CN" altLang="en-US" sz="1600" dirty="0"/>
              <a:t>统计与决策</a:t>
            </a:r>
            <a:r>
              <a:rPr lang="en-US" altLang="zh-CN" sz="1600" dirty="0"/>
              <a:t>, 2008 (12): 145-146.</a:t>
            </a:r>
          </a:p>
          <a:p>
            <a:r>
              <a:rPr lang="en-US" altLang="zh-CN" sz="1600" dirty="0"/>
              <a:t>[13] </a:t>
            </a:r>
            <a:r>
              <a:rPr lang="zh-CN" altLang="en-US" sz="1600" dirty="0"/>
              <a:t>夏英杰</a:t>
            </a:r>
            <a:r>
              <a:rPr lang="en-US" altLang="zh-CN" sz="1600" dirty="0"/>
              <a:t>, </a:t>
            </a:r>
            <a:r>
              <a:rPr lang="zh-CN" altLang="en-US" sz="1600" dirty="0"/>
              <a:t>连崇</a:t>
            </a:r>
            <a:r>
              <a:rPr lang="en-US" altLang="zh-CN" sz="1600" dirty="0"/>
              <a:t>, </a:t>
            </a:r>
            <a:r>
              <a:rPr lang="zh-CN" altLang="en-US" sz="1600" dirty="0"/>
              <a:t>唐春安</a:t>
            </a:r>
            <a:r>
              <a:rPr lang="en-US" altLang="zh-CN" sz="1600" dirty="0"/>
              <a:t>, </a:t>
            </a:r>
            <a:r>
              <a:rPr lang="zh-CN" altLang="en-US" sz="1600" dirty="0"/>
              <a:t>等</a:t>
            </a:r>
            <a:r>
              <a:rPr lang="en-US" altLang="zh-CN" sz="1600" dirty="0"/>
              <a:t>. </a:t>
            </a:r>
            <a:r>
              <a:rPr lang="zh-CN" altLang="en-US" sz="1600" dirty="0"/>
              <a:t>基于峰后应力跌落速率及能量比的岩体脆性特征评价方法</a:t>
            </a:r>
            <a:r>
              <a:rPr lang="en-US" altLang="zh-CN" sz="1600" dirty="0"/>
              <a:t>[J]. </a:t>
            </a:r>
            <a:r>
              <a:rPr lang="zh-CN" altLang="en-US" sz="1600" dirty="0"/>
              <a:t>岩石力学与工程学报</a:t>
            </a:r>
            <a:r>
              <a:rPr lang="en-US" altLang="zh-CN" sz="1600" dirty="0"/>
              <a:t>, 2016, 35(6): 1141-1154.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046165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B9C2C-F44C-0EDD-5CCD-DE2E7634A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D131C884-8403-5933-10C2-8D0178F89AAC}"/>
              </a:ext>
            </a:extLst>
          </p:cNvPr>
          <p:cNvSpPr/>
          <p:nvPr/>
        </p:nvSpPr>
        <p:spPr>
          <a:xfrm>
            <a:off x="660400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参考文献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E48300-4F8C-B877-FE49-40E763E39596}"/>
              </a:ext>
            </a:extLst>
          </p:cNvPr>
          <p:cNvSpPr txBox="1"/>
          <p:nvPr/>
        </p:nvSpPr>
        <p:spPr>
          <a:xfrm>
            <a:off x="849156" y="1955589"/>
            <a:ext cx="1049368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[14] </a:t>
            </a:r>
            <a:r>
              <a:rPr lang="zh-CN" altLang="en-US" sz="1600" dirty="0"/>
              <a:t>张绪省</a:t>
            </a:r>
            <a:r>
              <a:rPr lang="en-US" altLang="zh-CN" sz="1600" dirty="0"/>
              <a:t>, </a:t>
            </a:r>
            <a:r>
              <a:rPr lang="zh-CN" altLang="en-US" sz="1600" dirty="0"/>
              <a:t>朱贻盛</a:t>
            </a:r>
            <a:r>
              <a:rPr lang="en-US" altLang="zh-CN" sz="1600" dirty="0"/>
              <a:t>, </a:t>
            </a:r>
            <a:r>
              <a:rPr lang="zh-CN" altLang="en-US" sz="1600" dirty="0"/>
              <a:t>成晓雄</a:t>
            </a:r>
            <a:r>
              <a:rPr lang="en-US" altLang="zh-CN" sz="1600" dirty="0"/>
              <a:t>, </a:t>
            </a:r>
            <a:r>
              <a:rPr lang="zh-CN" altLang="en-US" sz="1600" dirty="0"/>
              <a:t>等</a:t>
            </a:r>
            <a:r>
              <a:rPr lang="en-US" altLang="zh-CN" sz="1600" dirty="0"/>
              <a:t>. </a:t>
            </a:r>
            <a:r>
              <a:rPr lang="zh-CN" altLang="en-US" sz="1600" dirty="0"/>
              <a:t>信号包络提取方法从希尔伯特变换到小波变换</a:t>
            </a:r>
            <a:r>
              <a:rPr lang="en-US" altLang="zh-CN" sz="1600" dirty="0"/>
              <a:t>[J]. </a:t>
            </a:r>
            <a:r>
              <a:rPr lang="zh-CN" altLang="en-US" sz="1600" dirty="0"/>
              <a:t>电子与信息学报</a:t>
            </a:r>
            <a:r>
              <a:rPr lang="en-US" altLang="zh-CN" sz="1600" dirty="0"/>
              <a:t>,1997, 19(1): 120-123.</a:t>
            </a:r>
          </a:p>
          <a:p>
            <a:r>
              <a:rPr lang="en-US" altLang="zh-CN" sz="1600" dirty="0"/>
              <a:t>[15] </a:t>
            </a:r>
            <a:r>
              <a:rPr lang="zh-CN" altLang="en-US" sz="1600" dirty="0"/>
              <a:t>吴超一</a:t>
            </a:r>
            <a:r>
              <a:rPr lang="en-US" altLang="zh-CN" sz="1600" dirty="0"/>
              <a:t>, </a:t>
            </a:r>
            <a:r>
              <a:rPr lang="zh-CN" altLang="en-US" sz="1600" dirty="0"/>
              <a:t>钟力生</a:t>
            </a:r>
            <a:r>
              <a:rPr lang="en-US" altLang="zh-CN" sz="1600" dirty="0"/>
              <a:t>, </a:t>
            </a:r>
            <a:r>
              <a:rPr lang="zh-CN" altLang="en-US" sz="1600" dirty="0"/>
              <a:t>王霞</a:t>
            </a:r>
            <a:r>
              <a:rPr lang="en-US" altLang="zh-CN" sz="1600" dirty="0"/>
              <a:t>, </a:t>
            </a:r>
            <a:r>
              <a:rPr lang="zh-CN" altLang="en-US" sz="1600" dirty="0"/>
              <a:t>等</a:t>
            </a:r>
            <a:r>
              <a:rPr lang="en-US" altLang="zh-CN" sz="1600" dirty="0"/>
              <a:t>. </a:t>
            </a:r>
            <a:r>
              <a:rPr lang="zh-CN" altLang="en-US" sz="1600" dirty="0"/>
              <a:t>脉冲电声法空间电荷测量波形恢复的数据处理</a:t>
            </a:r>
            <a:r>
              <a:rPr lang="en-US" altLang="zh-CN" sz="1600" dirty="0"/>
              <a:t>[J]. </a:t>
            </a:r>
            <a:r>
              <a:rPr lang="zh-CN" altLang="en-US" sz="1600" dirty="0"/>
              <a:t>电机工程学报</a:t>
            </a:r>
            <a:r>
              <a:rPr lang="en-US" altLang="zh-CN" sz="1600" dirty="0"/>
              <a:t>, 2005,25(16): 137-140.</a:t>
            </a:r>
          </a:p>
          <a:p>
            <a:r>
              <a:rPr lang="en-US" altLang="zh-CN" sz="1600" dirty="0"/>
              <a:t>[16] </a:t>
            </a:r>
            <a:r>
              <a:rPr lang="zh-CN" altLang="en-US" sz="1600" dirty="0"/>
              <a:t>肖胜春</a:t>
            </a:r>
            <a:r>
              <a:rPr lang="en-US" altLang="zh-CN" sz="1600" dirty="0"/>
              <a:t>, </a:t>
            </a:r>
            <a:r>
              <a:rPr lang="zh-CN" altLang="en-US" sz="1600" dirty="0"/>
              <a:t>卢兴</a:t>
            </a:r>
            <a:r>
              <a:rPr lang="en-US" altLang="zh-CN" sz="1600" dirty="0"/>
              <a:t>, </a:t>
            </a:r>
            <a:r>
              <a:rPr lang="zh-CN" altLang="en-US" sz="1600" dirty="0"/>
              <a:t>王步青</a:t>
            </a:r>
            <a:r>
              <a:rPr lang="en-US" altLang="zh-CN" sz="1600" dirty="0"/>
              <a:t>. </a:t>
            </a:r>
            <a:r>
              <a:rPr lang="zh-CN" altLang="en-US" sz="1600" dirty="0"/>
              <a:t>波峰因子在高频电刀工作模式检测中应用的研究</a:t>
            </a:r>
            <a:r>
              <a:rPr lang="en-US" altLang="zh-CN" sz="1600" dirty="0"/>
              <a:t>[J].</a:t>
            </a:r>
            <a:r>
              <a:rPr lang="zh-CN" altLang="en-US" sz="1600" dirty="0"/>
              <a:t>医疗设备</a:t>
            </a:r>
            <a:r>
              <a:rPr lang="en-US" altLang="zh-CN" sz="1600" dirty="0"/>
              <a:t>, 2008, 23(4):15-17.</a:t>
            </a:r>
          </a:p>
          <a:p>
            <a:r>
              <a:rPr lang="en-US" altLang="zh-CN" sz="1600" dirty="0"/>
              <a:t>[17] </a:t>
            </a:r>
            <a:r>
              <a:rPr lang="zh-CN" altLang="en-US" sz="1600" dirty="0"/>
              <a:t>宇燕</a:t>
            </a:r>
            <a:r>
              <a:rPr lang="en-US" altLang="zh-CN" sz="1600" dirty="0"/>
              <a:t>, </a:t>
            </a:r>
            <a:r>
              <a:rPr lang="zh-CN" altLang="en-US" sz="1600" dirty="0"/>
              <a:t>黄协清</a:t>
            </a:r>
            <a:r>
              <a:rPr lang="en-US" altLang="zh-CN" sz="1600" dirty="0"/>
              <a:t>. </a:t>
            </a:r>
            <a:r>
              <a:rPr lang="zh-CN" altLang="en-US" sz="1600" dirty="0"/>
              <a:t>密度和形状因子变化时金属橡胶材料的本构关系</a:t>
            </a:r>
            <a:r>
              <a:rPr lang="en-US" altLang="zh-CN" sz="1600" dirty="0"/>
              <a:t>[J]. </a:t>
            </a:r>
            <a:r>
              <a:rPr lang="zh-CN" altLang="en-US" sz="1600" dirty="0"/>
              <a:t>航空学报</a:t>
            </a:r>
            <a:r>
              <a:rPr lang="en-US" altLang="zh-CN" sz="1600" dirty="0"/>
              <a:t>, 2008, 29(4):1084-1090.</a:t>
            </a:r>
          </a:p>
          <a:p>
            <a:r>
              <a:rPr lang="en-US" altLang="zh-CN" sz="1600" dirty="0"/>
              <a:t>[18] </a:t>
            </a:r>
            <a:r>
              <a:rPr lang="zh-CN" altLang="en-US" sz="1600" dirty="0"/>
              <a:t>徐东彬</a:t>
            </a:r>
            <a:r>
              <a:rPr lang="en-US" altLang="zh-CN" sz="1600" dirty="0"/>
              <a:t>, </a:t>
            </a:r>
            <a:r>
              <a:rPr lang="zh-CN" altLang="en-US" sz="1600" dirty="0"/>
              <a:t>黄磊</a:t>
            </a:r>
            <a:r>
              <a:rPr lang="en-US" altLang="zh-CN" sz="1600" dirty="0"/>
              <a:t>, </a:t>
            </a:r>
            <a:r>
              <a:rPr lang="zh-CN" altLang="en-US" sz="1600" dirty="0"/>
              <a:t>刘昌</a:t>
            </a:r>
            <a:r>
              <a:rPr lang="en-US" altLang="zh-CN" sz="1600" dirty="0"/>
              <a:t>. </a:t>
            </a:r>
            <a:r>
              <a:rPr lang="zh-CN" altLang="en-US" sz="1600" dirty="0"/>
              <a:t>自适应核密度估计运动检测方法</a:t>
            </a:r>
            <a:r>
              <a:rPr lang="en-US" altLang="zh-CN" sz="1600" dirty="0"/>
              <a:t>[J]. </a:t>
            </a:r>
            <a:r>
              <a:rPr lang="zh-CN" altLang="en-US" sz="1600" dirty="0"/>
              <a:t>自动化学报</a:t>
            </a:r>
            <a:r>
              <a:rPr lang="en-US" altLang="zh-CN" sz="1600" dirty="0"/>
              <a:t>, 2009, 35(4): 379-385.</a:t>
            </a:r>
          </a:p>
          <a:p>
            <a:r>
              <a:rPr lang="en-US" altLang="zh-CN" sz="1600" dirty="0"/>
              <a:t>[19] </a:t>
            </a:r>
            <a:r>
              <a:rPr lang="zh-CN" altLang="en-US" sz="1600" dirty="0"/>
              <a:t>肖忠源</a:t>
            </a:r>
            <a:r>
              <a:rPr lang="en-US" altLang="zh-CN" sz="1600" dirty="0"/>
              <a:t>, </a:t>
            </a:r>
            <a:r>
              <a:rPr lang="zh-CN" altLang="en-US" sz="1600" dirty="0"/>
              <a:t>徐华</a:t>
            </a:r>
            <a:r>
              <a:rPr lang="en-US" altLang="zh-CN" sz="1600" dirty="0"/>
              <a:t>, </a:t>
            </a:r>
            <a:r>
              <a:rPr lang="zh-CN" altLang="en-US" sz="1600" dirty="0"/>
              <a:t>春升</a:t>
            </a:r>
            <a:r>
              <a:rPr lang="en-US" altLang="zh-CN" sz="1600" dirty="0"/>
              <a:t>. </a:t>
            </a:r>
            <a:r>
              <a:rPr lang="zh-CN" altLang="en-US" sz="1600" dirty="0"/>
              <a:t>基于俯冲模型的频域距离走动校</a:t>
            </a:r>
            <a:r>
              <a:rPr lang="en-US" altLang="zh-CN" sz="1600" dirty="0"/>
              <a:t>NLCS-SAR </a:t>
            </a:r>
            <a:r>
              <a:rPr lang="zh-CN" altLang="en-US" sz="1600" dirty="0"/>
              <a:t>成像算法</a:t>
            </a:r>
            <a:r>
              <a:rPr lang="en-US" altLang="zh-CN" sz="1600" dirty="0"/>
              <a:t>[J]. </a:t>
            </a:r>
            <a:r>
              <a:rPr lang="zh-CN" altLang="en-US" sz="1600" dirty="0"/>
              <a:t>电子与信息学报</a:t>
            </a:r>
            <a:r>
              <a:rPr lang="en-US" altLang="zh-CN" sz="1600" dirty="0"/>
              <a:t>,2013, 35(5): 1090-1096.</a:t>
            </a:r>
          </a:p>
          <a:p>
            <a:r>
              <a:rPr lang="en-US" altLang="zh-CN" sz="1600" dirty="0"/>
              <a:t>[20] </a:t>
            </a:r>
            <a:r>
              <a:rPr lang="zh-CN" altLang="en-US" sz="1600" dirty="0"/>
              <a:t>王杰</a:t>
            </a:r>
            <a:r>
              <a:rPr lang="en-US" altLang="zh-CN" sz="1600" dirty="0"/>
              <a:t>, </a:t>
            </a:r>
            <a:r>
              <a:rPr lang="zh-CN" altLang="en-US" sz="1600" dirty="0"/>
              <a:t>毛玉泉</a:t>
            </a:r>
            <a:r>
              <a:rPr lang="en-US" altLang="zh-CN" sz="1600" dirty="0"/>
              <a:t>, </a:t>
            </a:r>
            <a:r>
              <a:rPr lang="zh-CN" altLang="en-US" sz="1600" dirty="0"/>
              <a:t>思佳</a:t>
            </a:r>
            <a:r>
              <a:rPr lang="en-US" altLang="zh-CN" sz="1600" dirty="0"/>
              <a:t>, </a:t>
            </a:r>
            <a:r>
              <a:rPr lang="zh-CN" altLang="en-US" sz="1600" dirty="0"/>
              <a:t>等</a:t>
            </a:r>
            <a:r>
              <a:rPr lang="en-US" altLang="zh-CN" sz="1600" dirty="0"/>
              <a:t>. </a:t>
            </a:r>
            <a:r>
              <a:rPr lang="zh-CN" altLang="en-US" sz="1600" dirty="0"/>
              <a:t>图像的频域倒数</a:t>
            </a:r>
            <a:r>
              <a:rPr lang="en-US" altLang="zh-CN" sz="1600" dirty="0"/>
              <a:t>—</a:t>
            </a:r>
            <a:r>
              <a:rPr lang="zh-CN" altLang="en-US" sz="1600" dirty="0"/>
              <a:t>高斯级联低通滤波去噪方法</a:t>
            </a:r>
            <a:r>
              <a:rPr lang="en-US" altLang="zh-CN" sz="1600" dirty="0"/>
              <a:t>[J]. </a:t>
            </a:r>
            <a:r>
              <a:rPr lang="zh-CN" altLang="en-US" sz="1600" dirty="0"/>
              <a:t>计算机应用研究</a:t>
            </a:r>
            <a:r>
              <a:rPr lang="en-US" altLang="zh-CN" sz="1600" dirty="0"/>
              <a:t>, 2012,29(12): 4775-4778.</a:t>
            </a:r>
          </a:p>
          <a:p>
            <a:r>
              <a:rPr lang="en-US" altLang="zh-CN" sz="1600" dirty="0"/>
              <a:t>[21] </a:t>
            </a:r>
            <a:r>
              <a:rPr lang="zh-CN" altLang="en-US" sz="1600" dirty="0"/>
              <a:t>杨丽娟</a:t>
            </a:r>
            <a:r>
              <a:rPr lang="en-US" altLang="zh-CN" sz="1600" dirty="0"/>
              <a:t>, </a:t>
            </a:r>
            <a:r>
              <a:rPr lang="zh-CN" altLang="en-US" sz="1600" dirty="0"/>
              <a:t>张白桦</a:t>
            </a:r>
            <a:r>
              <a:rPr lang="en-US" altLang="zh-CN" sz="1600" dirty="0"/>
              <a:t>, </a:t>
            </a:r>
            <a:r>
              <a:rPr lang="zh-CN" altLang="en-US" sz="1600" dirty="0"/>
              <a:t>叶旭桢</a:t>
            </a:r>
            <a:r>
              <a:rPr lang="en-US" altLang="zh-CN" sz="1600" dirty="0"/>
              <a:t>. </a:t>
            </a:r>
            <a:r>
              <a:rPr lang="zh-CN" altLang="en-US" sz="1600" dirty="0"/>
              <a:t>快速傅里叶变换</a:t>
            </a:r>
            <a:r>
              <a:rPr lang="en-US" altLang="zh-CN" sz="1600" dirty="0"/>
              <a:t>FFT </a:t>
            </a:r>
            <a:r>
              <a:rPr lang="zh-CN" altLang="en-US" sz="1600" dirty="0"/>
              <a:t>及其应用</a:t>
            </a:r>
            <a:r>
              <a:rPr lang="en-US" altLang="zh-CN" sz="1600" dirty="0"/>
              <a:t>[J]. Opto-Electronic Engineering, 2004,31(z1): 1-3.</a:t>
            </a:r>
          </a:p>
          <a:p>
            <a:r>
              <a:rPr lang="en-US" altLang="zh-CN" sz="1600" dirty="0"/>
              <a:t>[22] </a:t>
            </a:r>
            <a:r>
              <a:rPr lang="zh-CN" altLang="en-US" sz="1600" dirty="0"/>
              <a:t>张杏莉</a:t>
            </a:r>
            <a:r>
              <a:rPr lang="en-US" altLang="zh-CN" sz="1600" dirty="0"/>
              <a:t>, </a:t>
            </a:r>
            <a:r>
              <a:rPr lang="zh-CN" altLang="en-US" sz="1600" dirty="0"/>
              <a:t>卢新明</a:t>
            </a:r>
            <a:r>
              <a:rPr lang="en-US" altLang="zh-CN" sz="1600" dirty="0"/>
              <a:t>, </a:t>
            </a:r>
            <a:r>
              <a:rPr lang="zh-CN" altLang="en-US" sz="1600" dirty="0"/>
              <a:t>贾瑞生</a:t>
            </a:r>
            <a:r>
              <a:rPr lang="en-US" altLang="zh-CN" sz="1600" dirty="0"/>
              <a:t>, </a:t>
            </a:r>
            <a:r>
              <a:rPr lang="zh-CN" altLang="en-US" sz="1600" dirty="0"/>
              <a:t>等</a:t>
            </a:r>
            <a:r>
              <a:rPr lang="en-US" altLang="zh-CN" sz="1600" dirty="0"/>
              <a:t>. </a:t>
            </a:r>
            <a:r>
              <a:rPr lang="zh-CN" altLang="en-US" sz="1600" dirty="0"/>
              <a:t>基于变分模态分解及能量熵的微震信号降噪方法</a:t>
            </a:r>
            <a:r>
              <a:rPr lang="en-US" altLang="zh-CN" sz="1600" dirty="0"/>
              <a:t>[J]. </a:t>
            </a:r>
            <a:r>
              <a:rPr lang="zh-CN" altLang="en-US" sz="1600" dirty="0"/>
              <a:t>煤炭学报</a:t>
            </a:r>
            <a:r>
              <a:rPr lang="en-US" altLang="zh-CN" sz="1600" dirty="0"/>
              <a:t>, 2018(2): 356-363.</a:t>
            </a:r>
          </a:p>
          <a:p>
            <a:r>
              <a:rPr lang="en-US" altLang="zh-CN" sz="1600" dirty="0"/>
              <a:t>[23] </a:t>
            </a:r>
            <a:r>
              <a:rPr lang="zh-CN" altLang="en-US" sz="1600" dirty="0"/>
              <a:t>严志</a:t>
            </a:r>
            <a:r>
              <a:rPr lang="en-US" altLang="zh-CN" sz="1600" dirty="0"/>
              <a:t>. </a:t>
            </a:r>
            <a:r>
              <a:rPr lang="zh-CN" altLang="en-US" sz="1600" dirty="0"/>
              <a:t>一种基于高斯和滤波的蓝牙信标室内定位算法</a:t>
            </a:r>
            <a:r>
              <a:rPr lang="en-US" altLang="zh-CN" sz="1600" dirty="0"/>
              <a:t>[J]. </a:t>
            </a:r>
            <a:r>
              <a:rPr lang="zh-CN" altLang="en-US" sz="1600" dirty="0"/>
              <a:t>全球定位系统</a:t>
            </a:r>
            <a:r>
              <a:rPr lang="en-US" altLang="zh-CN" sz="1600" dirty="0"/>
              <a:t>, 2021, 46(3): 94-98.</a:t>
            </a:r>
          </a:p>
          <a:p>
            <a:r>
              <a:rPr lang="en-US" altLang="zh-CN" sz="1600" dirty="0"/>
              <a:t>[24] </a:t>
            </a:r>
            <a:r>
              <a:rPr lang="zh-CN" altLang="en-US" sz="1600" dirty="0"/>
              <a:t>张永军</a:t>
            </a:r>
            <a:r>
              <a:rPr lang="en-US" altLang="zh-CN" sz="1600" dirty="0"/>
              <a:t>, </a:t>
            </a:r>
            <a:r>
              <a:rPr lang="zh-CN" altLang="en-US" sz="1600" dirty="0"/>
              <a:t>张勇</a:t>
            </a:r>
            <a:r>
              <a:rPr lang="en-US" altLang="zh-CN" sz="1600" dirty="0"/>
              <a:t>. </a:t>
            </a:r>
            <a:r>
              <a:rPr lang="zh-CN" altLang="en-US" sz="1600" dirty="0"/>
              <a:t>大重叠度影像的相对定向与前方交会精度分析</a:t>
            </a:r>
            <a:r>
              <a:rPr lang="en-US" altLang="zh-CN" sz="1600" dirty="0"/>
              <a:t>[J]. </a:t>
            </a:r>
            <a:r>
              <a:rPr lang="zh-CN" altLang="en-US" sz="1600" dirty="0"/>
              <a:t>武汉大学学报</a:t>
            </a:r>
            <a:r>
              <a:rPr lang="en-US" altLang="zh-CN" sz="1600" dirty="0"/>
              <a:t>(</a:t>
            </a:r>
            <a:r>
              <a:rPr lang="zh-CN" altLang="en-US" sz="1600" dirty="0"/>
              <a:t>信息科学版</a:t>
            </a:r>
            <a:r>
              <a:rPr lang="en-US" altLang="zh-CN" sz="1600" dirty="0"/>
              <a:t>),2005, 30(2): 126-130.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686766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EBE82-2FC1-D839-5753-6B0A359CB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00CFF826-D590-6ADA-7059-8D9D82720527}"/>
              </a:ext>
            </a:extLst>
          </p:cNvPr>
          <p:cNvSpPr/>
          <p:nvPr/>
        </p:nvSpPr>
        <p:spPr>
          <a:xfrm>
            <a:off x="660400" y="1193799"/>
            <a:ext cx="1876136" cy="607291"/>
          </a:xfrm>
          <a:prstGeom prst="roundRect">
            <a:avLst/>
          </a:prstGeom>
          <a:gradFill flip="none" rotWithShape="1">
            <a:gsLst>
              <a:gs pos="17000">
                <a:srgbClr val="005416"/>
              </a:gs>
              <a:gs pos="54000">
                <a:srgbClr val="006835"/>
              </a:gs>
              <a:gs pos="97000">
                <a:srgbClr val="339933"/>
              </a:gs>
            </a:gsLst>
            <a:lin ang="10800000" scaled="1"/>
            <a:tileRect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参考文献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12CD73-10DA-D873-191E-3919021C8517}"/>
              </a:ext>
            </a:extLst>
          </p:cNvPr>
          <p:cNvSpPr txBox="1"/>
          <p:nvPr/>
        </p:nvSpPr>
        <p:spPr>
          <a:xfrm>
            <a:off x="849156" y="1955589"/>
            <a:ext cx="1049368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[25] </a:t>
            </a:r>
            <a:r>
              <a:rPr lang="zh-CN" altLang="en-US" sz="1600" dirty="0"/>
              <a:t>徐久成</a:t>
            </a:r>
            <a:r>
              <a:rPr lang="en-US" altLang="zh-CN" sz="1600" dirty="0"/>
              <a:t>, </a:t>
            </a:r>
            <a:r>
              <a:rPr lang="zh-CN" altLang="en-US" sz="1600" dirty="0"/>
              <a:t>侯钦臣</a:t>
            </a:r>
            <a:r>
              <a:rPr lang="en-US" altLang="zh-CN" sz="1600" dirty="0"/>
              <a:t>, </a:t>
            </a:r>
            <a:r>
              <a:rPr lang="zh-CN" altLang="en-US" sz="1600" dirty="0"/>
              <a:t>瞿康林</a:t>
            </a:r>
            <a:r>
              <a:rPr lang="en-US" altLang="zh-CN" sz="1600" dirty="0"/>
              <a:t>, </a:t>
            </a:r>
            <a:r>
              <a:rPr lang="zh-CN" altLang="en-US" sz="1600" dirty="0"/>
              <a:t>等</a:t>
            </a:r>
            <a:r>
              <a:rPr lang="en-US" altLang="zh-CN" sz="1600" dirty="0"/>
              <a:t>. </a:t>
            </a:r>
            <a:r>
              <a:rPr lang="zh-CN" altLang="en-US" sz="1600" dirty="0"/>
              <a:t>面向时间序列的鲁棒性半监督模糊</a:t>
            </a:r>
            <a:r>
              <a:rPr lang="en-US" altLang="zh-CN" sz="1600" dirty="0"/>
              <a:t>C </a:t>
            </a:r>
            <a:r>
              <a:rPr lang="zh-CN" altLang="en-US" sz="1600" dirty="0"/>
              <a:t>均值聚类</a:t>
            </a:r>
            <a:r>
              <a:rPr lang="en-US" altLang="zh-CN" sz="1600" dirty="0"/>
              <a:t>[J]. Journal of Computer Engineering &amp; Applications, 2023, 59(8).</a:t>
            </a:r>
          </a:p>
          <a:p>
            <a:r>
              <a:rPr lang="en-US" altLang="zh-CN" sz="1600" dirty="0"/>
              <a:t>[26] </a:t>
            </a:r>
            <a:r>
              <a:rPr lang="zh-CN" altLang="en-US" sz="1600" dirty="0"/>
              <a:t>王乐等</a:t>
            </a:r>
            <a:r>
              <a:rPr lang="en-US" altLang="zh-CN" sz="1600" dirty="0"/>
              <a:t>. </a:t>
            </a:r>
            <a:r>
              <a:rPr lang="zh-CN" altLang="en-US" sz="1600" dirty="0"/>
              <a:t>不衡数据集分类方法综述</a:t>
            </a:r>
            <a:r>
              <a:rPr lang="en-US" altLang="zh-CN" sz="1600" dirty="0"/>
              <a:t>[J]. Journal of Computer Engineering &amp; Applications, 2021, 57(22).</a:t>
            </a:r>
          </a:p>
          <a:p>
            <a:r>
              <a:rPr lang="en-US" altLang="zh-CN" sz="1600" dirty="0"/>
              <a:t>[27] </a:t>
            </a:r>
            <a:r>
              <a:rPr lang="zh-CN" altLang="en-US" sz="1600" dirty="0"/>
              <a:t>周凌孟</a:t>
            </a:r>
            <a:r>
              <a:rPr lang="en-US" altLang="zh-CN" sz="1600" dirty="0"/>
              <a:t>, </a:t>
            </a:r>
            <a:r>
              <a:rPr lang="zh-CN" altLang="en-US" sz="1600" dirty="0"/>
              <a:t>邓飞其</a:t>
            </a:r>
            <a:r>
              <a:rPr lang="en-US" altLang="zh-CN" sz="1600" dirty="0"/>
              <a:t>, </a:t>
            </a:r>
            <a:r>
              <a:rPr lang="zh-CN" altLang="en-US" sz="1600" dirty="0"/>
              <a:t>张清华</a:t>
            </a:r>
            <a:r>
              <a:rPr lang="en-US" altLang="zh-CN" sz="1600" dirty="0"/>
              <a:t>, </a:t>
            </a:r>
            <a:r>
              <a:rPr lang="zh-CN" altLang="en-US" sz="1600" dirty="0"/>
              <a:t>等</a:t>
            </a:r>
            <a:r>
              <a:rPr lang="en-US" altLang="zh-CN" sz="1600" dirty="0"/>
              <a:t>. </a:t>
            </a:r>
            <a:r>
              <a:rPr lang="zh-CN" altLang="en-US" sz="1600" dirty="0"/>
              <a:t>基于主成分分析的多域特征融合轴承故障诊断</a:t>
            </a:r>
            <a:r>
              <a:rPr lang="en-US" altLang="zh-CN" sz="1600" dirty="0"/>
              <a:t>[J]. Machine Tool &amp; Hydraulics, 2024, 52(6).</a:t>
            </a:r>
          </a:p>
          <a:p>
            <a:r>
              <a:rPr lang="en-US" altLang="zh-CN" sz="1600" dirty="0"/>
              <a:t>[28] </a:t>
            </a:r>
            <a:r>
              <a:rPr lang="zh-CN" altLang="en-US" sz="1600" dirty="0"/>
              <a:t>董师师</a:t>
            </a:r>
            <a:r>
              <a:rPr lang="en-US" altLang="zh-CN" sz="1600" dirty="0"/>
              <a:t>, </a:t>
            </a:r>
            <a:r>
              <a:rPr lang="zh-CN" altLang="en-US" sz="1600" dirty="0"/>
              <a:t>黄哲学</a:t>
            </a:r>
            <a:r>
              <a:rPr lang="en-US" altLang="zh-CN" sz="1600" dirty="0"/>
              <a:t>. </a:t>
            </a:r>
            <a:r>
              <a:rPr lang="zh-CN" altLang="en-US" sz="1600" dirty="0"/>
              <a:t>随机森林理论浅析</a:t>
            </a:r>
            <a:r>
              <a:rPr lang="en-US" altLang="zh-CN" sz="1600" dirty="0"/>
              <a:t>[J]. </a:t>
            </a:r>
            <a:r>
              <a:rPr lang="zh-CN" altLang="en-US" sz="1600" dirty="0"/>
              <a:t>集成技术</a:t>
            </a:r>
            <a:r>
              <a:rPr lang="en-US" altLang="zh-CN" sz="1600" dirty="0"/>
              <a:t>, 2013, 2(1): 1-7.</a:t>
            </a:r>
          </a:p>
          <a:p>
            <a:r>
              <a:rPr lang="en-US" altLang="zh-CN" sz="1600" dirty="0"/>
              <a:t>[29] </a:t>
            </a:r>
            <a:r>
              <a:rPr lang="zh-CN" altLang="en-US" sz="1600" dirty="0"/>
              <a:t>孔英会</a:t>
            </a:r>
            <a:r>
              <a:rPr lang="en-US" altLang="zh-CN" sz="1600" dirty="0"/>
              <a:t>, </a:t>
            </a:r>
            <a:r>
              <a:rPr lang="zh-CN" altLang="en-US" sz="1600" dirty="0"/>
              <a:t>景美丽</a:t>
            </a:r>
            <a:r>
              <a:rPr lang="en-US" altLang="zh-CN" sz="1600" dirty="0"/>
              <a:t>. </a:t>
            </a:r>
            <a:r>
              <a:rPr lang="zh-CN" altLang="en-US" sz="1600" dirty="0"/>
              <a:t>基于混淆矩阵和集成学的分类方法研究</a:t>
            </a:r>
            <a:r>
              <a:rPr lang="en-US" altLang="zh-CN" sz="1600" dirty="0"/>
              <a:t>[J]. </a:t>
            </a:r>
            <a:r>
              <a:rPr lang="zh-CN" altLang="en-US" sz="1600" dirty="0"/>
              <a:t>计算机工程与科学</a:t>
            </a:r>
            <a:r>
              <a:rPr lang="en-US" altLang="zh-CN" sz="1600" dirty="0"/>
              <a:t>, 2012, 34(6): 111.</a:t>
            </a:r>
          </a:p>
          <a:p>
            <a:r>
              <a:rPr lang="en-US" altLang="zh-CN" sz="1600" dirty="0"/>
              <a:t>[30] </a:t>
            </a:r>
            <a:r>
              <a:rPr lang="zh-CN" altLang="en-US" sz="1600" dirty="0"/>
              <a:t>杨国庆</a:t>
            </a:r>
            <a:r>
              <a:rPr lang="en-US" altLang="zh-CN" sz="1600" dirty="0"/>
              <a:t>, </a:t>
            </a:r>
            <a:r>
              <a:rPr lang="zh-CN" altLang="en-US" sz="1600" dirty="0"/>
              <a:t>郭本华</a:t>
            </a:r>
            <a:r>
              <a:rPr lang="en-US" altLang="zh-CN" sz="1600" dirty="0"/>
              <a:t>, </a:t>
            </a:r>
            <a:r>
              <a:rPr lang="zh-CN" altLang="en-US" sz="1600" dirty="0"/>
              <a:t>钱淑渠</a:t>
            </a:r>
            <a:r>
              <a:rPr lang="en-US" altLang="zh-CN" sz="1600" dirty="0"/>
              <a:t>, </a:t>
            </a:r>
            <a:r>
              <a:rPr lang="zh-CN" altLang="en-US" sz="1600" dirty="0"/>
              <a:t>等</a:t>
            </a:r>
            <a:r>
              <a:rPr lang="en-US" altLang="zh-CN" sz="1600" dirty="0"/>
              <a:t>. </a:t>
            </a:r>
            <a:r>
              <a:rPr lang="zh-CN" altLang="en-US" sz="1600" dirty="0"/>
              <a:t>基于伪标签的无监督领域自适应分类方法</a:t>
            </a:r>
            <a:r>
              <a:rPr lang="en-US" altLang="zh-CN" sz="1600" dirty="0"/>
              <a:t>[J]. Application Research of Computers/</a:t>
            </a:r>
            <a:r>
              <a:rPr lang="en-US" altLang="zh-CN" sz="1600" dirty="0" err="1"/>
              <a:t>Jisuanji</a:t>
            </a:r>
            <a:r>
              <a:rPr lang="en-US" altLang="zh-CN" sz="1600" dirty="0"/>
              <a:t> Yingyong </a:t>
            </a:r>
            <a:r>
              <a:rPr lang="en-US" altLang="zh-CN" sz="1600" dirty="0" err="1"/>
              <a:t>Yanjiu</a:t>
            </a:r>
            <a:r>
              <a:rPr lang="en-US" altLang="zh-CN" sz="1600" dirty="0"/>
              <a:t>, 2022, 39(5).</a:t>
            </a:r>
          </a:p>
          <a:p>
            <a:r>
              <a:rPr lang="en-US" altLang="zh-CN" sz="1600" dirty="0"/>
              <a:t>[31] Li C L, Chang W C, Cheng Y, et al. </a:t>
            </a:r>
            <a:r>
              <a:rPr lang="en-US" altLang="zh-CN" sz="1600" dirty="0" err="1"/>
              <a:t>Mmd</a:t>
            </a:r>
            <a:r>
              <a:rPr lang="en-US" altLang="zh-CN" sz="1600" dirty="0"/>
              <a:t> </a:t>
            </a:r>
            <a:r>
              <a:rPr lang="en-US" altLang="zh-CN" sz="1600" dirty="0" err="1"/>
              <a:t>gan</a:t>
            </a:r>
            <a:r>
              <a:rPr lang="en-US" altLang="zh-CN" sz="1600" dirty="0"/>
              <a:t>: Towards deeper understanding of moment matching network[J]. Advances in neural information processing systems, 2017, 30.</a:t>
            </a:r>
          </a:p>
          <a:p>
            <a:r>
              <a:rPr lang="en-US" altLang="zh-CN" sz="1600" dirty="0"/>
              <a:t>[32] </a:t>
            </a:r>
            <a:r>
              <a:rPr lang="zh-CN" altLang="en-US" sz="1600" dirty="0"/>
              <a:t>孙权森</a:t>
            </a:r>
            <a:r>
              <a:rPr lang="en-US" altLang="zh-CN" sz="1600" dirty="0"/>
              <a:t>, </a:t>
            </a:r>
            <a:r>
              <a:rPr lang="zh-CN" altLang="en-US" sz="1600" dirty="0"/>
              <a:t>曾生根</a:t>
            </a:r>
            <a:r>
              <a:rPr lang="en-US" altLang="zh-CN" sz="1600" dirty="0"/>
              <a:t>, </a:t>
            </a:r>
            <a:r>
              <a:rPr lang="zh-CN" altLang="en-US" sz="1600" dirty="0"/>
              <a:t>王安</a:t>
            </a:r>
            <a:r>
              <a:rPr lang="en-US" altLang="zh-CN" sz="1600" dirty="0"/>
              <a:t>, </a:t>
            </a:r>
            <a:r>
              <a:rPr lang="zh-CN" altLang="en-US" sz="1600" dirty="0"/>
              <a:t>等</a:t>
            </a:r>
            <a:r>
              <a:rPr lang="en-US" altLang="zh-CN" sz="1600" dirty="0"/>
              <a:t>. </a:t>
            </a:r>
            <a:r>
              <a:rPr lang="zh-CN" altLang="en-US" sz="1600" dirty="0"/>
              <a:t>典型相关分析的理论及其在特征融合中的应用</a:t>
            </a:r>
            <a:r>
              <a:rPr lang="en-US" altLang="zh-CN" sz="1600" dirty="0"/>
              <a:t>[D]. , 2005.</a:t>
            </a:r>
          </a:p>
          <a:p>
            <a:r>
              <a:rPr lang="en-US" altLang="zh-CN" sz="1600" dirty="0"/>
              <a:t>[33] </a:t>
            </a:r>
            <a:r>
              <a:rPr lang="en-US" altLang="zh-CN" sz="1600" dirty="0" err="1"/>
              <a:t>Maaten</a:t>
            </a:r>
            <a:r>
              <a:rPr lang="en-US" altLang="zh-CN" sz="1600" dirty="0"/>
              <a:t> L, Hinton G. Visualizing data using t-SNE[J]. Journal of machine learning research, 2008, 9(Nov):</a:t>
            </a:r>
          </a:p>
          <a:p>
            <a:r>
              <a:rPr lang="en-US" altLang="zh-CN" sz="1600" dirty="0"/>
              <a:t>2579-2605.</a:t>
            </a:r>
          </a:p>
          <a:p>
            <a:r>
              <a:rPr lang="en-US" altLang="zh-CN" sz="1600" dirty="0"/>
              <a:t>[34] </a:t>
            </a:r>
            <a:r>
              <a:rPr lang="zh-CN" altLang="en-US" sz="1600" dirty="0"/>
              <a:t>孙灿</a:t>
            </a:r>
            <a:r>
              <a:rPr lang="en-US" altLang="zh-CN" sz="1600" dirty="0"/>
              <a:t>, </a:t>
            </a:r>
            <a:r>
              <a:rPr lang="zh-CN" altLang="en-US" sz="1600" dirty="0"/>
              <a:t>胡志刚</a:t>
            </a:r>
            <a:r>
              <a:rPr lang="en-US" altLang="zh-CN" sz="1600" dirty="0"/>
              <a:t>, </a:t>
            </a:r>
            <a:r>
              <a:rPr lang="zh-CN" altLang="en-US" sz="1600" dirty="0"/>
              <a:t>郑浩</a:t>
            </a:r>
            <a:r>
              <a:rPr lang="en-US" altLang="zh-CN" sz="1600" dirty="0"/>
              <a:t>. </a:t>
            </a:r>
            <a:r>
              <a:rPr lang="zh-CN" altLang="en-US" sz="1600" dirty="0"/>
              <a:t>单源域泛化中种基于域增和特征对齐的元学方案</a:t>
            </a:r>
            <a:r>
              <a:rPr lang="en-US" altLang="zh-CN" sz="1600" dirty="0"/>
              <a:t>[J]. Application Research of Computers/</a:t>
            </a:r>
            <a:r>
              <a:rPr lang="en-US" altLang="zh-CN" sz="1600" dirty="0" err="1"/>
              <a:t>Jisuanji</a:t>
            </a:r>
            <a:r>
              <a:rPr lang="en-US" altLang="zh-CN" sz="1600" dirty="0"/>
              <a:t> Yingyong </a:t>
            </a:r>
            <a:r>
              <a:rPr lang="en-US" altLang="zh-CN" sz="1600" dirty="0" err="1"/>
              <a:t>Yanjiu</a:t>
            </a:r>
            <a:r>
              <a:rPr lang="en-US" altLang="zh-CN" sz="1600" dirty="0"/>
              <a:t>, 2024, 41(8).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716573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8AE75-92CF-8438-A657-47AEDEF41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EE98405-2FED-E55A-96C7-EBFB4FCC6287}"/>
              </a:ext>
            </a:extLst>
          </p:cNvPr>
          <p:cNvSpPr txBox="1">
            <a:spLocks/>
          </p:cNvSpPr>
          <p:nvPr/>
        </p:nvSpPr>
        <p:spPr>
          <a:xfrm>
            <a:off x="0" y="1916854"/>
            <a:ext cx="12192000" cy="6434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Times New Roman" panose="02020603050405020304" pitchFamily="18" charset="0"/>
              </a:rPr>
              <a:t>谢谢观看！</a:t>
            </a:r>
            <a:endParaRPr lang="zh-CN" altLang="en-US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Times New Roman" panose="02020603050405020304" pitchFamily="18" charset="0"/>
            </a:endParaRPr>
          </a:p>
        </p:txBody>
      </p:sp>
      <p:sp>
        <p:nvSpPr>
          <p:cNvPr id="5" name="圆角矩形 1">
            <a:extLst>
              <a:ext uri="{FF2B5EF4-FFF2-40B4-BE49-F238E27FC236}">
                <a16:creationId xmlns:a16="http://schemas.microsoft.com/office/drawing/2014/main" id="{8FAE52D3-5F26-07AB-5801-389B53B73511}"/>
              </a:ext>
            </a:extLst>
          </p:cNvPr>
          <p:cNvSpPr/>
          <p:nvPr/>
        </p:nvSpPr>
        <p:spPr>
          <a:xfrm>
            <a:off x="1536832" y="4492871"/>
            <a:ext cx="2642262" cy="343448"/>
          </a:xfrm>
          <a:prstGeom prst="roundRect">
            <a:avLst>
              <a:gd name="adj" fmla="val 50000"/>
            </a:avLst>
          </a:prstGeom>
          <a:solidFill>
            <a:srgbClr val="006835"/>
          </a:solidFill>
          <a:ln>
            <a:noFill/>
          </a:ln>
          <a:effectLst>
            <a:outerShdw blurRad="1905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小组成员：高寅烽 侯奕安 王俊咏</a:t>
            </a:r>
            <a:endParaRPr lang="en-US" altLang="zh-CN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圆角矩形 21">
            <a:extLst>
              <a:ext uri="{FF2B5EF4-FFF2-40B4-BE49-F238E27FC236}">
                <a16:creationId xmlns:a16="http://schemas.microsoft.com/office/drawing/2014/main" id="{F8D72781-6F91-0C2D-8980-2A36C2817978}"/>
              </a:ext>
            </a:extLst>
          </p:cNvPr>
          <p:cNvSpPr/>
          <p:nvPr/>
        </p:nvSpPr>
        <p:spPr>
          <a:xfrm>
            <a:off x="1536832" y="5021509"/>
            <a:ext cx="1563556" cy="34344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rgbClr val="006835"/>
            </a:solidFill>
          </a:ln>
          <a:effectLst>
            <a:outerShdw blurRad="190500" dist="635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时间：</a:t>
            </a: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2025.12 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098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Wide&quot;,&quot;Name&quot;:&quot;GuidesStyle_Wide&quot;,&quot;Kind&quot;:0,&quot;OldGuidesSetting&quot;:{&quot;HeaderHeight&quot;:15.0,&quot;FooterHeight&quot;:9.0,&quot;SideMargin&quot;:5.5,&quot;TopMargin&quot;:0.0,&quot;BottomMargin&quot;:0.0,&quot;IntervalMargin&quot;:2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6806</Words>
  <Application>Microsoft Office PowerPoint</Application>
  <PresentationFormat>宽屏</PresentationFormat>
  <Paragraphs>286</Paragraphs>
  <Slides>39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黑体</vt:lpstr>
      <vt:lpstr>宋体</vt:lpstr>
      <vt:lpstr>Arial</vt:lpstr>
      <vt:lpstr>Cambria Math</vt:lpstr>
      <vt:lpstr>Cascadia Code</vt:lpstr>
      <vt:lpstr>Times New Roman</vt:lpstr>
      <vt:lpstr>Wingdings</vt:lpstr>
      <vt:lpstr>等线</vt:lpstr>
      <vt:lpstr>楷体</vt:lpstr>
      <vt:lpstr>微软雅黑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寅烽 高</dc:creator>
  <cp:lastModifiedBy>寅烽 高</cp:lastModifiedBy>
  <cp:revision>44</cp:revision>
  <dcterms:created xsi:type="dcterms:W3CDTF">2025-12-08T07:22:00Z</dcterms:created>
  <dcterms:modified xsi:type="dcterms:W3CDTF">2026-09-11T07:01:23Z</dcterms:modified>
</cp:coreProperties>
</file>